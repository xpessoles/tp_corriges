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5" r:id="rId3"/>
    <p:sldId id="266" r:id="rId4"/>
    <p:sldId id="279" r:id="rId5"/>
    <p:sldId id="269" r:id="rId6"/>
    <p:sldId id="282" r:id="rId7"/>
    <p:sldId id="281" r:id="rId8"/>
    <p:sldId id="272" r:id="rId9"/>
    <p:sldId id="271" r:id="rId10"/>
    <p:sldId id="278" r:id="rId11"/>
    <p:sldId id="274" r:id="rId12"/>
    <p:sldId id="275" r:id="rId13"/>
    <p:sldId id="283" r:id="rId14"/>
    <p:sldId id="276" r:id="rId15"/>
    <p:sldId id="277" r:id="rId16"/>
    <p:sldId id="28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7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3AED1"/>
    <a:srgbClr val="00547F"/>
    <a:srgbClr val="DFE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6" d="100"/>
          <a:sy n="56" d="100"/>
        </p:scale>
        <p:origin x="88" y="48"/>
      </p:cViewPr>
      <p:guideLst>
        <p:guide orient="horz" pos="2183"/>
        <p:guide pos="37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841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fr-FR" dirty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71463" indent="-269875">
              <a:defRPr/>
            </a:lvl1pPr>
            <a:lvl2pPr marL="449263" indent="-249238">
              <a:buClr>
                <a:schemeClr val="accent1"/>
              </a:buClr>
              <a:buSzPct val="80000"/>
              <a:defRPr/>
            </a:lvl2pPr>
            <a:lvl3pPr>
              <a:buClr>
                <a:schemeClr val="accent2"/>
              </a:buClr>
              <a:buSzPct val="80000"/>
              <a:defRPr/>
            </a:lvl3pPr>
            <a:lvl4pPr>
              <a:buClr>
                <a:schemeClr val="accent3"/>
              </a:buClr>
              <a:buSzPct val="80000"/>
              <a:defRPr/>
            </a:lvl4pPr>
            <a:lvl5pPr>
              <a:buClr>
                <a:schemeClr val="accent4"/>
              </a:buClr>
              <a:buSzPct val="80000"/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7385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3236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28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7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2387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261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F135F6-2A09-4FDD-9ECA-096E230CA0FA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1946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9534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3010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135F6-2A09-4FDD-9ECA-096E230CA0FA}" type="datetimeFigureOut">
              <a:rPr lang="fr-FR" smtClean="0"/>
              <a:t>19/01/2026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A6A38F-5C8E-497F-8761-3C4E0EEEA33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112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2"/>
            <a:ext cx="12192000" cy="8827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795" y="981887"/>
            <a:ext cx="11956410" cy="52533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45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7F135F6-2A09-4FDD-9ECA-096E230CA0FA}" type="datetimeFigureOut">
              <a:rPr lang="fr-FR" smtClean="0"/>
              <a:t>19/01/2026</a:t>
            </a:fld>
            <a:endParaRPr lang="fr-F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84474" y="6459785"/>
            <a:ext cx="66262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0429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7A6A38F-5C8E-497F-8761-3C4E0EEEA33A}" type="slidenum">
              <a:rPr lang="fr-FR" smtClean="0"/>
              <a:t>‹N°›</a:t>
            </a:fld>
            <a:endParaRPr lang="fr-FR" dirty="0"/>
          </a:p>
        </p:txBody>
      </p:sp>
      <p:cxnSp>
        <p:nvCxnSpPr>
          <p:cNvPr id="10" name="Straight Connector 9"/>
          <p:cNvCxnSpPr>
            <a:cxnSpLocks/>
          </p:cNvCxnSpPr>
          <p:nvPr/>
        </p:nvCxnSpPr>
        <p:spPr>
          <a:xfrm>
            <a:off x="117795" y="891152"/>
            <a:ext cx="1195641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199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71463" indent="-271463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2"/>
        </a:buClr>
        <a:buSzPct val="80000"/>
        <a:buFont typeface="Wingdings" panose="05000000000000000000" pitchFamily="2" charset="2"/>
        <a:buChar char="q"/>
        <a:defRPr lang="fr-FR" sz="2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9263" indent="-24923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Wingdings" panose="05000000000000000000" pitchFamily="2" charset="2"/>
        <a:buChar char="q"/>
        <a:defRPr lang="fr-FR" sz="24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063" indent="-242888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4863" indent="-238125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SzPct val="80000"/>
        <a:buFont typeface="Wingdings" panose="05000000000000000000" pitchFamily="2" charset="2"/>
        <a:buChar char="q"/>
        <a:defRPr lang="fr-FR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663" indent="-233363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4"/>
        </a:buClr>
        <a:buSzPct val="80000"/>
        <a:buFont typeface="Wingdings" panose="05000000000000000000" pitchFamily="2" charset="2"/>
        <a:buChar char="q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17" Type="http://schemas.openxmlformats.org/officeDocument/2006/relationships/image" Target="../media/image55.png"/><Relationship Id="rId2" Type="http://schemas.openxmlformats.org/officeDocument/2006/relationships/image" Target="../media/image40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169B8C-C613-5194-0894-54831B3305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Cordeuse de raquette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2914DB3-05EE-DC10-8133-D85DE6A654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Éléments de corrigés des </a:t>
            </a:r>
            <a:r>
              <a:rPr lang="fr-FR" dirty="0" err="1"/>
              <a:t>tp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89843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23CFB6-C96F-2738-656C-799A569A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A0F49C-2000-CFFA-4CC2-9D86BC1329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6684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02</a:t>
            </a:r>
            <a:br>
              <a:rPr lang="fr-FR" dirty="0"/>
            </a:br>
            <a:r>
              <a:rPr lang="fr-FR" dirty="0"/>
              <a:t>Chaîne fonctionnelle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8494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8E05F-43A5-7872-A688-559E20C6C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F54075C4-E0D0-D390-0DCD-E7BF1AA3E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Chaine fonctionnelle de la </a:t>
            </a:r>
            <a:r>
              <a:rPr lang="fr-FR" dirty="0" err="1"/>
              <a:t>cordeuse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3274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04 </a:t>
            </a:r>
            <a:r>
              <a:rPr lang="fr-FR"/>
              <a:t>Résolution cinématique</a:t>
            </a:r>
            <a:br>
              <a:rPr lang="fr-FR"/>
            </a:br>
            <a:endParaRPr lang="fr-FR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227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E461D7-4D60-F5CA-061F-9CD814D27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Loi entrée sortie géométrique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20AF941-BE5D-C520-EE45-EA9BDBAD3B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 Rapport de réduction du réducteur :</a:t>
                </a:r>
              </a:p>
              <a:p>
                <a:pPr lvl="1"/>
                <a:r>
                  <a:rPr lang="fr-FR" dirty="0"/>
                  <a:t>Roue et vis sans fin : 2 filets 29 dents</a:t>
                </a:r>
              </a:p>
              <a:p>
                <a:pPr lvl="1"/>
                <a:r>
                  <a:rPr lang="fr-FR" dirty="0"/>
                  <a:t>Engrenage 15 – 55</a:t>
                </a:r>
              </a:p>
              <a:p>
                <a:pPr lvl="1"/>
                <a:endParaRPr lang="fr-FR" dirty="0"/>
              </a:p>
              <a:p>
                <a:r>
                  <a:rPr lang="fr-FR" dirty="0"/>
                  <a:t>Rayon du pignon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=10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mm</m:t>
                    </m:r>
                  </m:oMath>
                </a14:m>
                <a:endParaRPr lang="fr-FR" b="0" dirty="0"/>
              </a:p>
              <a:p>
                <a:endParaRPr lang="fr-F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𝑐h</m:t>
                        </m:r>
                      </m:sub>
                    </m:sSub>
                    <m:r>
                      <a:rPr lang="fr-F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55</m:t>
                        </m:r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×10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0,18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  <a:p>
                <a:endParaRPr lang="fr-FR" dirty="0"/>
              </a:p>
              <a:p>
                <a:pPr marL="1588" indent="0">
                  <a:buNone/>
                </a:pPr>
                <a:endParaRPr lang="fr-FR" dirty="0"/>
              </a:p>
              <a:p>
                <a:endParaRPr lang="fr-FR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20AF941-BE5D-C520-EE45-EA9BDBAD3B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5" t="-1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4772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DD68A-E16C-6412-0693-26A3D0F08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98820592-B42F-86C6-2B84-6D0830A7F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07</a:t>
            </a:r>
            <a:br>
              <a:rPr lang="fr-FR" dirty="0"/>
            </a:br>
            <a:r>
              <a:rPr lang="fr-FR" dirty="0"/>
              <a:t>Modélisation composants ou phénomènes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8F96706-D0AC-35B1-9E61-ADB22B4A7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1213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B794E1E6-E0CB-0314-482E-A48AE59E0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09</a:t>
            </a:r>
            <a:br>
              <a:rPr lang="fr-FR" dirty="0"/>
            </a:br>
            <a:r>
              <a:rPr lang="fr-FR" dirty="0"/>
              <a:t>Dimensionnement d’un actionneur en dynamique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1164354-1A91-E980-2D9B-9062246D6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5822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23115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65BCFA-4E1C-6F10-2880-6849F538E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Modélisation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9F1E50-AA20-B060-A17A-B154F6048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6257" y="981887"/>
            <a:ext cx="6097948" cy="5253339"/>
          </a:xfrm>
        </p:spPr>
        <p:txBody>
          <a:bodyPr/>
          <a:lstStyle/>
          <a:p>
            <a:endParaRPr lang="fr-FR" dirty="0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FD3BC413-285F-CB58-58F0-8A4DFC6DF3F8}"/>
              </a:ext>
            </a:extLst>
          </p:cNvPr>
          <p:cNvGrpSpPr/>
          <p:nvPr/>
        </p:nvGrpSpPr>
        <p:grpSpPr>
          <a:xfrm>
            <a:off x="215285" y="1885789"/>
            <a:ext cx="742857" cy="432000"/>
            <a:chOff x="647085" y="2152383"/>
            <a:chExt cx="742857" cy="432000"/>
          </a:xfrm>
        </p:grpSpPr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D496010F-FB1D-0454-CAC2-27629C4AB8F0}"/>
                </a:ext>
              </a:extLst>
            </p:cNvPr>
            <p:cNvSpPr/>
            <p:nvPr/>
          </p:nvSpPr>
          <p:spPr>
            <a:xfrm>
              <a:off x="957942" y="2152383"/>
              <a:ext cx="432000" cy="432000"/>
            </a:xfrm>
            <a:prstGeom prst="ellipse">
              <a:avLst/>
            </a:prstGeom>
            <a:noFill/>
            <a:ln w="19050">
              <a:solidFill>
                <a:srgbClr val="6834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dirty="0">
                  <a:solidFill>
                    <a:srgbClr val="68348B"/>
                  </a:solidFill>
                  <a:latin typeface="Arial Nova" panose="020B0504020202020204" pitchFamily="34" charset="0"/>
                </a:rPr>
                <a:t>B</a:t>
              </a:r>
            </a:p>
          </p:txBody>
        </p:sp>
        <p:grpSp>
          <p:nvGrpSpPr>
            <p:cNvPr id="17" name="Groupe 16">
              <a:extLst>
                <a:ext uri="{FF2B5EF4-FFF2-40B4-BE49-F238E27FC236}">
                  <a16:creationId xmlns:a16="http://schemas.microsoft.com/office/drawing/2014/main" id="{98935AF5-F4EA-FDD6-319F-4CD5B5AFF5BD}"/>
                </a:ext>
              </a:extLst>
            </p:cNvPr>
            <p:cNvGrpSpPr/>
            <p:nvPr/>
          </p:nvGrpSpPr>
          <p:grpSpPr>
            <a:xfrm rot="5400000">
              <a:off x="622923" y="2212954"/>
              <a:ext cx="359181" cy="310857"/>
              <a:chOff x="771193" y="3008074"/>
              <a:chExt cx="359181" cy="310857"/>
            </a:xfrm>
          </p:grpSpPr>
          <p:cxnSp>
            <p:nvCxnSpPr>
              <p:cNvPr id="14" name="Connecteur droit 13">
                <a:extLst>
                  <a:ext uri="{FF2B5EF4-FFF2-40B4-BE49-F238E27FC236}">
                    <a16:creationId xmlns:a16="http://schemas.microsoft.com/office/drawing/2014/main" id="{175FA55B-88C5-C835-8FDB-5F131BC03573}"/>
                  </a:ext>
                </a:extLst>
              </p:cNvPr>
              <p:cNvCxnSpPr/>
              <p:nvPr/>
            </p:nvCxnSpPr>
            <p:spPr>
              <a:xfrm flipH="1">
                <a:off x="951990" y="3008074"/>
                <a:ext cx="0" cy="180000"/>
              </a:xfrm>
              <a:prstGeom prst="line">
                <a:avLst/>
              </a:prstGeom>
              <a:noFill/>
              <a:ln w="19050">
                <a:solidFill>
                  <a:srgbClr val="6834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5DFD61-58E8-5A03-AB69-8F9DD8D701D0}"/>
                  </a:ext>
                </a:extLst>
              </p:cNvPr>
              <p:cNvSpPr/>
              <p:nvPr/>
            </p:nvSpPr>
            <p:spPr>
              <a:xfrm>
                <a:off x="771194" y="3188074"/>
                <a:ext cx="359180" cy="130857"/>
              </a:xfrm>
              <a:prstGeom prst="rect">
                <a:avLst/>
              </a:prstGeom>
              <a:solidFill>
                <a:srgbClr val="C3AED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13" name="Connecteur droit 12">
                <a:extLst>
                  <a:ext uri="{FF2B5EF4-FFF2-40B4-BE49-F238E27FC236}">
                    <a16:creationId xmlns:a16="http://schemas.microsoft.com/office/drawing/2014/main" id="{89A2028F-F21D-FA3C-FA59-6C2297BCC3EC}"/>
                  </a:ext>
                </a:extLst>
              </p:cNvPr>
              <p:cNvCxnSpPr/>
              <p:nvPr/>
            </p:nvCxnSpPr>
            <p:spPr>
              <a:xfrm flipH="1">
                <a:off x="771193" y="3188074"/>
                <a:ext cx="359181" cy="0"/>
              </a:xfrm>
              <a:prstGeom prst="line">
                <a:avLst/>
              </a:prstGeom>
              <a:noFill/>
              <a:ln w="19050">
                <a:solidFill>
                  <a:srgbClr val="68348B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18" name="Ellipse 17">
            <a:extLst>
              <a:ext uri="{FF2B5EF4-FFF2-40B4-BE49-F238E27FC236}">
                <a16:creationId xmlns:a16="http://schemas.microsoft.com/office/drawing/2014/main" id="{8C3E21F9-4E18-0A22-E215-148E7EDF77F8}"/>
              </a:ext>
            </a:extLst>
          </p:cNvPr>
          <p:cNvSpPr/>
          <p:nvPr/>
        </p:nvSpPr>
        <p:spPr>
          <a:xfrm>
            <a:off x="1322134" y="1885789"/>
            <a:ext cx="432000" cy="432000"/>
          </a:xfrm>
          <a:prstGeom prst="ellipse">
            <a:avLst/>
          </a:prstGeom>
          <a:noFill/>
          <a:ln w="19050">
            <a:solidFill>
              <a:srgbClr val="EE685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EE685D"/>
                </a:solidFill>
                <a:latin typeface="Arial Nova" panose="020B0504020202020204" pitchFamily="34" charset="0"/>
              </a:rPr>
              <a:t>R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A3CF82C4-C843-D17A-33ED-31C4889FACB4}"/>
              </a:ext>
            </a:extLst>
          </p:cNvPr>
          <p:cNvSpPr/>
          <p:nvPr/>
        </p:nvSpPr>
        <p:spPr>
          <a:xfrm>
            <a:off x="1318540" y="2667745"/>
            <a:ext cx="432000" cy="432000"/>
          </a:xfrm>
          <a:prstGeom prst="ellipse">
            <a:avLst/>
          </a:prstGeom>
          <a:noFill/>
          <a:ln w="19050">
            <a:solidFill>
              <a:srgbClr val="08A5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solidFill>
                  <a:srgbClr val="08A559"/>
                </a:solidFill>
                <a:latin typeface="Arial Nova" panose="020B0504020202020204" pitchFamily="34" charset="0"/>
              </a:rPr>
              <a:t>P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65470277-80B0-94A9-B34C-922A652D6CE8}"/>
              </a:ext>
            </a:extLst>
          </p:cNvPr>
          <p:cNvSpPr/>
          <p:nvPr/>
        </p:nvSpPr>
        <p:spPr>
          <a:xfrm>
            <a:off x="1318540" y="3449701"/>
            <a:ext cx="432000" cy="432000"/>
          </a:xfrm>
          <a:prstGeom prst="ellipse">
            <a:avLst/>
          </a:prstGeom>
          <a:noFill/>
          <a:ln w="19050">
            <a:solidFill>
              <a:srgbClr val="FDAD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fr-FR" sz="1400" b="1" dirty="0" err="1">
                <a:solidFill>
                  <a:srgbClr val="FDAD57"/>
                </a:solidFill>
                <a:latin typeface="Arial Nova" panose="020B0504020202020204" pitchFamily="34" charset="0"/>
              </a:rPr>
              <a:t>Ch</a:t>
            </a:r>
            <a:endParaRPr lang="fr-FR" b="1" dirty="0">
              <a:solidFill>
                <a:srgbClr val="FDAD57"/>
              </a:solidFill>
              <a:latin typeface="Arial Nova" panose="020B0504020202020204" pitchFamily="34" charset="0"/>
            </a:endParaRPr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C6D8BB7C-BA67-02B8-66C4-9225BD0FC491}"/>
              </a:ext>
            </a:extLst>
          </p:cNvPr>
          <p:cNvCxnSpPr>
            <a:cxnSpLocks/>
          </p:cNvCxnSpPr>
          <p:nvPr/>
        </p:nvCxnSpPr>
        <p:spPr>
          <a:xfrm flipV="1">
            <a:off x="1145800" y="4153002"/>
            <a:ext cx="58040" cy="980870"/>
          </a:xfrm>
          <a:prstGeom prst="straightConnector1">
            <a:avLst/>
          </a:prstGeom>
          <a:ln>
            <a:solidFill>
              <a:srgbClr val="C0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F976A5C2-1044-3692-279E-10FD84DB0DC4}"/>
              </a:ext>
            </a:extLst>
          </p:cNvPr>
          <p:cNvCxnSpPr>
            <a:cxnSpLocks/>
          </p:cNvCxnSpPr>
          <p:nvPr/>
        </p:nvCxnSpPr>
        <p:spPr>
          <a:xfrm flipH="1">
            <a:off x="526142" y="5133872"/>
            <a:ext cx="611695" cy="269514"/>
          </a:xfrm>
          <a:prstGeom prst="straightConnector1">
            <a:avLst/>
          </a:prstGeom>
          <a:ln>
            <a:solidFill>
              <a:srgbClr val="C0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eur droit avec flèche 29">
            <a:extLst>
              <a:ext uri="{FF2B5EF4-FFF2-40B4-BE49-F238E27FC236}">
                <a16:creationId xmlns:a16="http://schemas.microsoft.com/office/drawing/2014/main" id="{750F35C4-A4B2-C80F-5246-EFF75239480F}"/>
              </a:ext>
            </a:extLst>
          </p:cNvPr>
          <p:cNvCxnSpPr>
            <a:cxnSpLocks/>
          </p:cNvCxnSpPr>
          <p:nvPr/>
        </p:nvCxnSpPr>
        <p:spPr>
          <a:xfrm>
            <a:off x="1143599" y="5124411"/>
            <a:ext cx="526878" cy="231277"/>
          </a:xfrm>
          <a:prstGeom prst="straightConnector1">
            <a:avLst/>
          </a:prstGeom>
          <a:ln>
            <a:solidFill>
              <a:srgbClr val="C00000"/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1C5A1F01-6F5B-AC35-B376-D2AEFC961313}"/>
                  </a:ext>
                </a:extLst>
              </p:cNvPr>
              <p:cNvSpPr txBox="1"/>
              <p:nvPr/>
            </p:nvSpPr>
            <p:spPr>
              <a:xfrm>
                <a:off x="342822" y="5339204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1C5A1F01-6F5B-AC35-B376-D2AEFC961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822" y="5339204"/>
                <a:ext cx="183320" cy="276999"/>
              </a:xfrm>
              <a:prstGeom prst="rect">
                <a:avLst/>
              </a:prstGeom>
              <a:blipFill>
                <a:blip r:embed="rId3"/>
                <a:stretch>
                  <a:fillRect l="-33333" t="-48889" r="-103333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A2A0D029-FA3E-ADF3-5C8E-1A86A0483E8E}"/>
                  </a:ext>
                </a:extLst>
              </p:cNvPr>
              <p:cNvSpPr txBox="1"/>
              <p:nvPr/>
            </p:nvSpPr>
            <p:spPr>
              <a:xfrm>
                <a:off x="1502905" y="4963050"/>
                <a:ext cx="1867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A2A0D029-FA3E-ADF3-5C8E-1A86A0483E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905" y="4963050"/>
                <a:ext cx="186718" cy="276999"/>
              </a:xfrm>
              <a:prstGeom prst="rect">
                <a:avLst/>
              </a:prstGeom>
              <a:blipFill>
                <a:blip r:embed="rId4"/>
                <a:stretch>
                  <a:fillRect l="-33333" t="-45652" r="-103333" b="-239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A2B65EDB-B72E-AF45-DFFA-7C61EF75E658}"/>
                  </a:ext>
                </a:extLst>
              </p:cNvPr>
              <p:cNvSpPr txBox="1"/>
              <p:nvPr/>
            </p:nvSpPr>
            <p:spPr>
              <a:xfrm>
                <a:off x="1245856" y="4130411"/>
                <a:ext cx="1690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A2B65EDB-B72E-AF45-DFFA-7C61EF75E6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856" y="4130411"/>
                <a:ext cx="169084" cy="276999"/>
              </a:xfrm>
              <a:prstGeom prst="rect">
                <a:avLst/>
              </a:prstGeom>
              <a:blipFill>
                <a:blip r:embed="rId5"/>
                <a:stretch>
                  <a:fillRect l="-35714" t="-48889" r="-110714" b="-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3A25A51B-CDDB-1CE0-AA7C-255583E6C134}"/>
              </a:ext>
            </a:extLst>
          </p:cNvPr>
          <p:cNvCxnSpPr>
            <a:cxnSpLocks/>
            <a:stCxn id="18" idx="2"/>
            <a:endCxn id="6" idx="6"/>
          </p:cNvCxnSpPr>
          <p:nvPr/>
        </p:nvCxnSpPr>
        <p:spPr>
          <a:xfrm flipH="1">
            <a:off x="958142" y="2101789"/>
            <a:ext cx="363992" cy="0"/>
          </a:xfrm>
          <a:prstGeom prst="lin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EA2CB81E-0522-723B-DDB7-75CEA9C72B2A}"/>
              </a:ext>
            </a:extLst>
          </p:cNvPr>
          <p:cNvCxnSpPr>
            <a:cxnSpLocks/>
            <a:stCxn id="18" idx="4"/>
            <a:endCxn id="19" idx="0"/>
          </p:cNvCxnSpPr>
          <p:nvPr/>
        </p:nvCxnSpPr>
        <p:spPr>
          <a:xfrm flipH="1">
            <a:off x="1534540" y="2317789"/>
            <a:ext cx="3594" cy="349956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2" name="Connecteur droit 41">
            <a:extLst>
              <a:ext uri="{FF2B5EF4-FFF2-40B4-BE49-F238E27FC236}">
                <a16:creationId xmlns:a16="http://schemas.microsoft.com/office/drawing/2014/main" id="{DD4FBDB6-3E0B-30E4-7AA0-726878E3F000}"/>
              </a:ext>
            </a:extLst>
          </p:cNvPr>
          <p:cNvCxnSpPr>
            <a:cxnSpLocks/>
            <a:stCxn id="20" idx="0"/>
            <a:endCxn id="19" idx="4"/>
          </p:cNvCxnSpPr>
          <p:nvPr/>
        </p:nvCxnSpPr>
        <p:spPr>
          <a:xfrm flipV="1">
            <a:off x="1534540" y="3099745"/>
            <a:ext cx="0" cy="349956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2B21137E-A635-72A1-83BD-FB95B390820A}"/>
              </a:ext>
            </a:extLst>
          </p:cNvPr>
          <p:cNvCxnSpPr>
            <a:cxnSpLocks/>
            <a:stCxn id="6" idx="4"/>
            <a:endCxn id="20" idx="2"/>
          </p:cNvCxnSpPr>
          <p:nvPr/>
        </p:nvCxnSpPr>
        <p:spPr>
          <a:xfrm>
            <a:off x="742142" y="2317789"/>
            <a:ext cx="576398" cy="1347912"/>
          </a:xfrm>
          <a:prstGeom prst="lin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B795D72C-202A-D2AB-CF12-8269495B2D7E}"/>
              </a:ext>
            </a:extLst>
          </p:cNvPr>
          <p:cNvCxnSpPr>
            <a:cxnSpLocks/>
            <a:stCxn id="6" idx="5"/>
            <a:endCxn id="19" idx="1"/>
          </p:cNvCxnSpPr>
          <p:nvPr/>
        </p:nvCxnSpPr>
        <p:spPr>
          <a:xfrm>
            <a:off x="894877" y="2254524"/>
            <a:ext cx="486928" cy="476486"/>
          </a:xfrm>
          <a:prstGeom prst="line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8B674DBF-268C-68AF-C74D-7E7FA77C9CB6}"/>
                  </a:ext>
                </a:extLst>
              </p:cNvPr>
              <p:cNvSpPr txBox="1"/>
              <p:nvPr/>
            </p:nvSpPr>
            <p:spPr>
              <a:xfrm>
                <a:off x="634431" y="1152575"/>
                <a:ext cx="1138817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050" dirty="0"/>
                  <a:t>Pivot d’axe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05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05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fr-F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fr-FR" sz="1050" dirty="0"/>
              </a:p>
              <a:p>
                <a:pPr algn="ctr"/>
                <a:r>
                  <a:rPr lang="fr-FR" sz="1050" dirty="0"/>
                  <a:t>Couple moteur</a:t>
                </a:r>
              </a:p>
            </p:txBody>
          </p:sp>
        </mc:Choice>
        <mc:Fallback xmlns="">
          <p:sp>
            <p:nvSpPr>
              <p:cNvPr id="52" name="ZoneTexte 51">
                <a:extLst>
                  <a:ext uri="{FF2B5EF4-FFF2-40B4-BE49-F238E27FC236}">
                    <a16:creationId xmlns:a16="http://schemas.microsoft.com/office/drawing/2014/main" id="{8B674DBF-268C-68AF-C74D-7E7FA77C9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431" y="1152575"/>
                <a:ext cx="1138817" cy="415498"/>
              </a:xfrm>
              <a:prstGeom prst="rect">
                <a:avLst/>
              </a:prstGeom>
              <a:blipFill>
                <a:blip r:embed="rId6"/>
                <a:stretch>
                  <a:fillRect t="-1471" r="-6952" b="-88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2538D0F8-BED7-ACE3-D484-92A6F37883E2}"/>
                  </a:ext>
                </a:extLst>
              </p:cNvPr>
              <p:cNvSpPr txBox="1"/>
              <p:nvPr/>
            </p:nvSpPr>
            <p:spPr>
              <a:xfrm>
                <a:off x="9061" y="2537723"/>
                <a:ext cx="1138817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50" dirty="0"/>
                  <a:t>Glissière de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fr-FR" sz="105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fr-FR" sz="1050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</m:oMath>
                </a14:m>
                <a:endParaRPr lang="fr-FR" sz="1050" dirty="0"/>
              </a:p>
            </p:txBody>
          </p:sp>
        </mc:Choice>
        <mc:Fallback xmlns="">
          <p:sp>
            <p:nvSpPr>
              <p:cNvPr id="53" name="ZoneTexte 52">
                <a:extLst>
                  <a:ext uri="{FF2B5EF4-FFF2-40B4-BE49-F238E27FC236}">
                    <a16:creationId xmlns:a16="http://schemas.microsoft.com/office/drawing/2014/main" id="{2538D0F8-BED7-ACE3-D484-92A6F3788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1" y="2537723"/>
                <a:ext cx="1138817" cy="415498"/>
              </a:xfrm>
              <a:prstGeom prst="rect">
                <a:avLst/>
              </a:prstGeom>
              <a:blipFill>
                <a:blip r:embed="rId7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CC231D0F-3CA8-1973-D715-4C5DBD2D970E}"/>
                  </a:ext>
                </a:extLst>
              </p:cNvPr>
              <p:cNvSpPr txBox="1"/>
              <p:nvPr/>
            </p:nvSpPr>
            <p:spPr>
              <a:xfrm rot="2596376">
                <a:off x="743261" y="2313734"/>
                <a:ext cx="863117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050" dirty="0"/>
                  <a:t>Pivot d’axe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05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05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fr-F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fr-FR" sz="1050" dirty="0"/>
              </a:p>
            </p:txBody>
          </p:sp>
        </mc:Choice>
        <mc:Fallback xmlns=""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CC231D0F-3CA8-1973-D715-4C5DBD2D9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596376">
                <a:off x="743261" y="2313734"/>
                <a:ext cx="863117" cy="41549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ZoneTexte 56">
            <a:extLst>
              <a:ext uri="{FF2B5EF4-FFF2-40B4-BE49-F238E27FC236}">
                <a16:creationId xmlns:a16="http://schemas.microsoft.com/office/drawing/2014/main" id="{26755C24-C4B6-C8A5-3303-786E3985977F}"/>
              </a:ext>
            </a:extLst>
          </p:cNvPr>
          <p:cNvSpPr txBox="1"/>
          <p:nvPr/>
        </p:nvSpPr>
        <p:spPr>
          <a:xfrm>
            <a:off x="1596264" y="3135325"/>
            <a:ext cx="11388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Pignon - Chaine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5BF08727-6262-AD09-CCCB-0E8673CAA393}"/>
              </a:ext>
            </a:extLst>
          </p:cNvPr>
          <p:cNvSpPr txBox="1"/>
          <p:nvPr/>
        </p:nvSpPr>
        <p:spPr>
          <a:xfrm>
            <a:off x="1622897" y="2385067"/>
            <a:ext cx="11388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RSG, RV sans fin</a:t>
            </a:r>
          </a:p>
        </p:txBody>
      </p:sp>
      <p:sp>
        <p:nvSpPr>
          <p:cNvPr id="59" name="Éclair 58">
            <a:extLst>
              <a:ext uri="{FF2B5EF4-FFF2-40B4-BE49-F238E27FC236}">
                <a16:creationId xmlns:a16="http://schemas.microsoft.com/office/drawing/2014/main" id="{1BE58A0E-8407-8E5B-829F-B7F802090640}"/>
              </a:ext>
            </a:extLst>
          </p:cNvPr>
          <p:cNvSpPr/>
          <p:nvPr/>
        </p:nvSpPr>
        <p:spPr>
          <a:xfrm rot="15660828" flipH="1">
            <a:off x="907686" y="3413079"/>
            <a:ext cx="250398" cy="438875"/>
          </a:xfrm>
          <a:prstGeom prst="lightningBol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ZoneTexte 59">
            <a:extLst>
              <a:ext uri="{FF2B5EF4-FFF2-40B4-BE49-F238E27FC236}">
                <a16:creationId xmlns:a16="http://schemas.microsoft.com/office/drawing/2014/main" id="{827F0F8C-FDDF-D433-9828-54BBC9CD5536}"/>
              </a:ext>
            </a:extLst>
          </p:cNvPr>
          <p:cNvSpPr txBox="1"/>
          <p:nvPr/>
        </p:nvSpPr>
        <p:spPr>
          <a:xfrm>
            <a:off x="138350" y="3405036"/>
            <a:ext cx="11388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Pesanteur</a:t>
            </a:r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8B52C3FD-1CC5-DC59-6B79-308BD02ED7CD}"/>
              </a:ext>
            </a:extLst>
          </p:cNvPr>
          <p:cNvSpPr/>
          <p:nvPr/>
        </p:nvSpPr>
        <p:spPr>
          <a:xfrm>
            <a:off x="759077" y="1561580"/>
            <a:ext cx="792398" cy="571315"/>
          </a:xfrm>
          <a:prstGeom prst="arc">
            <a:avLst>
              <a:gd name="adj1" fmla="val 10891815"/>
              <a:gd name="adj2" fmla="val 0"/>
            </a:avLst>
          </a:prstGeom>
          <a:ln w="28575">
            <a:solidFill>
              <a:srgbClr val="C00000"/>
            </a:solidFill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4BB040D0-4753-1639-C25A-12D4A857DBF1}"/>
                  </a:ext>
                </a:extLst>
              </p:cNvPr>
              <p:cNvSpPr txBox="1"/>
              <p:nvPr/>
            </p:nvSpPr>
            <p:spPr>
              <a:xfrm>
                <a:off x="695831" y="1677162"/>
                <a:ext cx="891744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sz="1050" dirty="0"/>
                  <a:t>Pivot d’axe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fr-FR" sz="105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05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fr-FR" sz="105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105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endParaRPr lang="fr-FR" sz="1050" dirty="0"/>
              </a:p>
            </p:txBody>
          </p:sp>
        </mc:Choice>
        <mc:Fallback xmlns="">
          <p:sp>
            <p:nvSpPr>
              <p:cNvPr id="62" name="ZoneTexte 61">
                <a:extLst>
                  <a:ext uri="{FF2B5EF4-FFF2-40B4-BE49-F238E27FC236}">
                    <a16:creationId xmlns:a16="http://schemas.microsoft.com/office/drawing/2014/main" id="{4BB040D0-4753-1639-C25A-12D4A857D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831" y="1677162"/>
                <a:ext cx="891744" cy="41549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Éclair 10">
            <a:extLst>
              <a:ext uri="{FF2B5EF4-FFF2-40B4-BE49-F238E27FC236}">
                <a16:creationId xmlns:a16="http://schemas.microsoft.com/office/drawing/2014/main" id="{61E6698B-C3E0-A548-7266-2EE920A751FB}"/>
              </a:ext>
            </a:extLst>
          </p:cNvPr>
          <p:cNvSpPr/>
          <p:nvPr/>
        </p:nvSpPr>
        <p:spPr>
          <a:xfrm rot="5939172" flipH="1" flipV="1">
            <a:off x="895758" y="3726841"/>
            <a:ext cx="250398" cy="438875"/>
          </a:xfrm>
          <a:prstGeom prst="lightningBol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6E34505-7980-EBE5-0D25-E14B84333EEA}"/>
              </a:ext>
            </a:extLst>
          </p:cNvPr>
          <p:cNvSpPr txBox="1"/>
          <p:nvPr/>
        </p:nvSpPr>
        <p:spPr>
          <a:xfrm>
            <a:off x="117795" y="3877202"/>
            <a:ext cx="113881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dirty="0"/>
              <a:t>Corde</a:t>
            </a:r>
          </a:p>
        </p:txBody>
      </p:sp>
    </p:spTree>
    <p:extLst>
      <p:ext uri="{BB962C8B-B14F-4D97-AF65-F5344CB8AC3E}">
        <p14:creationId xmlns:p14="http://schemas.microsoft.com/office/powerpoint/2010/main" val="305958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Stratégie – TEC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7795" y="981887"/>
            <a:ext cx="5978205" cy="5253339"/>
          </a:xfrm>
        </p:spPr>
        <p:txBody>
          <a:bodyPr>
            <a:normAutofit fontScale="85000" lnSpcReduction="20000"/>
          </a:bodyPr>
          <a:lstStyle/>
          <a:p>
            <a:r>
              <a:rPr lang="fr-FR" dirty="0"/>
              <a:t>Energie cinétique</a:t>
            </a:r>
          </a:p>
          <a:p>
            <a:pPr lvl="1"/>
            <a:r>
              <a:rPr lang="fr-FR" dirty="0"/>
              <a:t>Rotor moteur</a:t>
            </a:r>
          </a:p>
          <a:p>
            <a:pPr lvl="1"/>
            <a:r>
              <a:rPr lang="fr-FR" dirty="0"/>
              <a:t>Réducteur</a:t>
            </a:r>
          </a:p>
          <a:p>
            <a:pPr lvl="1"/>
            <a:r>
              <a:rPr lang="fr-FR" dirty="0"/>
              <a:t>Pignon</a:t>
            </a:r>
          </a:p>
          <a:p>
            <a:pPr lvl="1"/>
            <a:r>
              <a:rPr lang="fr-FR" dirty="0"/>
              <a:t>Chariot</a:t>
            </a:r>
          </a:p>
          <a:p>
            <a:pPr lvl="1"/>
            <a:r>
              <a:rPr lang="fr-FR" dirty="0"/>
              <a:t>Relation cinématique</a:t>
            </a:r>
          </a:p>
          <a:p>
            <a:r>
              <a:rPr lang="fr-FR" dirty="0"/>
              <a:t>Puissance intérieure</a:t>
            </a:r>
          </a:p>
          <a:p>
            <a:pPr lvl="1"/>
            <a:r>
              <a:rPr lang="fr-FR" dirty="0"/>
              <a:t>Puissance dans les liaisons</a:t>
            </a:r>
          </a:p>
          <a:p>
            <a:pPr lvl="1"/>
            <a:r>
              <a:rPr lang="fr-FR" strike="sngStrike" dirty="0">
                <a:solidFill>
                  <a:srgbClr val="FF0000"/>
                </a:solidFill>
              </a:rPr>
              <a:t>Puissance dissipée par frottements</a:t>
            </a:r>
          </a:p>
          <a:p>
            <a:r>
              <a:rPr lang="fr-FR" dirty="0"/>
              <a:t>Puissance extérieure</a:t>
            </a:r>
          </a:p>
          <a:p>
            <a:pPr lvl="1"/>
            <a:r>
              <a:rPr lang="fr-FR" dirty="0"/>
              <a:t>Puissance du moteur</a:t>
            </a:r>
          </a:p>
          <a:p>
            <a:pPr lvl="1"/>
            <a:r>
              <a:rPr lang="fr-FR" dirty="0"/>
              <a:t>Puissance dans les liaisons</a:t>
            </a:r>
          </a:p>
          <a:p>
            <a:pPr lvl="1"/>
            <a:r>
              <a:rPr lang="fr-FR" strike="sngStrike" dirty="0">
                <a:solidFill>
                  <a:srgbClr val="FF0000"/>
                </a:solidFill>
              </a:rPr>
              <a:t>Puissance dissipée par frottements</a:t>
            </a:r>
          </a:p>
          <a:p>
            <a:r>
              <a:rPr lang="fr-FR" b="1" dirty="0">
                <a:solidFill>
                  <a:srgbClr val="FF0000"/>
                </a:solidFill>
              </a:rPr>
              <a:t>Puissance dissipée par frottements (intérieurs et extérieurs) ramenée au rotor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4602F5FE-C78A-4ABD-DF80-81031D8364CC}"/>
              </a:ext>
            </a:extLst>
          </p:cNvPr>
          <p:cNvSpPr txBox="1">
            <a:spLocks/>
          </p:cNvSpPr>
          <p:nvPr/>
        </p:nvSpPr>
        <p:spPr>
          <a:xfrm>
            <a:off x="6096000" y="2090057"/>
            <a:ext cx="6021748" cy="414516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71463" indent="-269875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q"/>
              <a:defRPr lang="fr-FR"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49263" indent="-249238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q"/>
              <a:defRPr lang="fr-FR"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27063" indent="-242888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q"/>
              <a:defRPr lang="fr-FR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04863" indent="-238125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SzPct val="80000"/>
              <a:buFont typeface="Wingdings" panose="05000000000000000000" pitchFamily="2" charset="2"/>
              <a:buChar char="q"/>
              <a:defRPr lang="fr-FR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82663" indent="-233363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q"/>
              <a:defRPr lang="en-US"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fr-FR" sz="2400" dirty="0"/>
              <a:t>Il est rarement possible de déterminer les frottements dans chacune des liaisons. On cherche donc souvent un modèle de frottement « ramené » à un des mouvements.</a:t>
            </a:r>
          </a:p>
          <a:p>
            <a:pPr algn="just"/>
            <a:endParaRPr lang="fr-FR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777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80FE2C-A2DB-EC9F-19A8-C313B729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/>
              <a:t>Stratégie TEC</a:t>
            </a:r>
            <a:br>
              <a:rPr lang="fr-FR" sz="2800" dirty="0"/>
            </a:br>
            <a:r>
              <a:rPr lang="fr-FR" sz="2800" dirty="0"/>
              <a:t>Energie cinétique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BAA89F-0FFE-0B50-3319-445849FF9A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95" y="981887"/>
            <a:ext cx="5248862" cy="5253339"/>
          </a:xfrm>
        </p:spPr>
        <p:txBody>
          <a:bodyPr/>
          <a:lstStyle/>
          <a:p>
            <a:r>
              <a:rPr lang="fr-FR" dirty="0"/>
              <a:t> Energie cinétique</a:t>
            </a:r>
          </a:p>
          <a:p>
            <a:pPr lvl="1"/>
            <a:r>
              <a:rPr lang="fr-FR" dirty="0"/>
              <a:t>Relation cinématique</a:t>
            </a:r>
          </a:p>
          <a:p>
            <a:pPr lvl="2"/>
            <a:r>
              <a:rPr lang="fr-FR" dirty="0"/>
              <a:t>Expérimentalement</a:t>
            </a:r>
          </a:p>
          <a:p>
            <a:pPr lvl="2"/>
            <a:r>
              <a:rPr lang="fr-FR" dirty="0"/>
              <a:t>Avec la documentation</a:t>
            </a:r>
          </a:p>
          <a:p>
            <a:pPr lvl="1"/>
            <a:r>
              <a:rPr lang="fr-FR" dirty="0"/>
              <a:t>Inertie du moteur</a:t>
            </a:r>
          </a:p>
          <a:p>
            <a:pPr lvl="2"/>
            <a:r>
              <a:rPr lang="fr-FR" dirty="0"/>
              <a:t>Documentation</a:t>
            </a:r>
          </a:p>
          <a:p>
            <a:pPr lvl="1"/>
            <a:r>
              <a:rPr lang="fr-FR" dirty="0"/>
              <a:t>Inertie du réducteur</a:t>
            </a:r>
          </a:p>
          <a:p>
            <a:pPr lvl="2"/>
            <a:r>
              <a:rPr lang="fr-FR" dirty="0"/>
              <a:t>Documentation</a:t>
            </a:r>
          </a:p>
          <a:p>
            <a:pPr lvl="1"/>
            <a:r>
              <a:rPr lang="fr-FR" dirty="0"/>
              <a:t>Inertie du pignon</a:t>
            </a:r>
          </a:p>
          <a:p>
            <a:pPr lvl="1"/>
            <a:r>
              <a:rPr lang="fr-FR" dirty="0"/>
              <a:t>Masse en translation</a:t>
            </a:r>
          </a:p>
          <a:p>
            <a:pPr lvl="2"/>
            <a:r>
              <a:rPr lang="fr-FR" dirty="0"/>
              <a:t>Documentation</a:t>
            </a:r>
          </a:p>
          <a:p>
            <a:pPr lvl="2"/>
            <a:r>
              <a:rPr lang="fr-FR" dirty="0"/>
              <a:t>Expérimentation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E7512A05-D1EA-5493-6918-5F2C2DCF52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9085" y="981887"/>
                <a:ext cx="7184571" cy="5253339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271463" indent="-269875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q"/>
                  <a:defRPr lang="fr-FR"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49263" indent="-24923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q"/>
                  <a:defRPr lang="fr-FR"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627063" indent="-24288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04863" indent="-238125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3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82663" indent="-233363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4"/>
                  </a:buClr>
                  <a:buSzPct val="80000"/>
                  <a:buFont typeface="Wingdings" panose="05000000000000000000" pitchFamily="2" charset="2"/>
                  <a:buChar char="q"/>
                  <a:defRPr lang="en-US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lit/>
                          </m:r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lit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𝑐h</m:t>
                        </m:r>
                      </m:sub>
                    </m:sSub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𝑐h</m:t>
                                </m:r>
                                <m:r>
                                  <m:rPr>
                                    <m:lit/>
                                  </m:rP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acc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sz="3200" dirty="0"/>
              </a:p>
            </p:txBody>
          </p:sp>
        </mc:Choice>
        <mc:Fallback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E7512A05-D1EA-5493-6918-5F2C2DCF5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085" y="981887"/>
                <a:ext cx="7184571" cy="52533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1322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4315A-4D30-4A26-5AD5-F70DCCA09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D832B3-10FB-166A-4803-CD2032859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/>
              <a:t>Stratégie TEC</a:t>
            </a:r>
            <a:br>
              <a:rPr lang="fr-FR" sz="2800" dirty="0"/>
            </a:br>
            <a:r>
              <a:rPr lang="fr-FR" sz="2800" dirty="0"/>
              <a:t>Energie cinétique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093230-D0FC-8AFC-F761-D1885C9C4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795" y="981887"/>
            <a:ext cx="5248862" cy="5253339"/>
          </a:xfrm>
        </p:spPr>
        <p:txBody>
          <a:bodyPr/>
          <a:lstStyle/>
          <a:p>
            <a:r>
              <a:rPr lang="fr-FR" dirty="0"/>
              <a:t> Energie cinétique</a:t>
            </a:r>
          </a:p>
          <a:p>
            <a:pPr lvl="1"/>
            <a:endParaRPr lang="fr-F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49F257C8-BC44-4FB6-E78E-E38442B865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59085" y="981887"/>
                <a:ext cx="7184571" cy="5253339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271463" indent="-269875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tx2"/>
                  </a:buClr>
                  <a:buSzPct val="80000"/>
                  <a:buFont typeface="Wingdings" panose="05000000000000000000" pitchFamily="2" charset="2"/>
                  <a:buChar char="q"/>
                  <a:defRPr lang="fr-FR" sz="2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49263" indent="-24923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SzPct val="80000"/>
                  <a:buFont typeface="Wingdings" panose="05000000000000000000" pitchFamily="2" charset="2"/>
                  <a:buChar char="q"/>
                  <a:defRPr lang="fr-FR"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627063" indent="-242888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804863" indent="-238125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3"/>
                  </a:buClr>
                  <a:buSzPct val="80000"/>
                  <a:buFont typeface="Wingdings" panose="05000000000000000000" pitchFamily="2" charset="2"/>
                  <a:buChar char="q"/>
                  <a:defRPr lang="fr-FR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82663" indent="-233363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4"/>
                  </a:buClr>
                  <a:buSzPct val="80000"/>
                  <a:buFont typeface="Wingdings" panose="05000000000000000000" pitchFamily="2" charset="2"/>
                  <a:buChar char="q"/>
                  <a:defRPr lang="en-US"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ℰ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r>
                          <m:rPr>
                            <m:lit/>
                          </m:r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sub>
                        </m:sSub>
                      </m:e>
                    </m:d>
                    <m:sSubSup>
                      <m:sSubSup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lit/>
                          </m:r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sub>
                    </m:sSub>
                    <m:sSubSup>
                      <m:sSubSup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lit/>
                          </m:r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𝑐h</m:t>
                        </m:r>
                      </m:sub>
                    </m:sSub>
                    <m:sSup>
                      <m:sSup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𝑐h</m:t>
                                </m:r>
                                <m:r>
                                  <m:rPr>
                                    <m:lit/>
                                  </m:rP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d>
                          </m:e>
                        </m:acc>
                      </m:e>
                      <m:sup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fr-FR" sz="3200" dirty="0"/>
              </a:p>
            </p:txBody>
          </p:sp>
        </mc:Choice>
        <mc:Fallback>
          <p:sp>
            <p:nvSpPr>
              <p:cNvPr id="4" name="Espace réservé du contenu 2">
                <a:extLst>
                  <a:ext uri="{FF2B5EF4-FFF2-40B4-BE49-F238E27FC236}">
                    <a16:creationId xmlns:a16="http://schemas.microsoft.com/office/drawing/2014/main" id="{49F257C8-BC44-4FB6-E78E-E38442B86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9085" y="981887"/>
                <a:ext cx="7184571" cy="52533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9601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80FE2C-A2DB-EC9F-19A8-C313B7295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/>
              <a:t>Stratégie TEC</a:t>
            </a:r>
            <a:br>
              <a:rPr lang="fr-FR" sz="2800" dirty="0"/>
            </a:br>
            <a:r>
              <a:rPr lang="fr-FR" sz="2800" dirty="0"/>
              <a:t>Puissances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7BAA89F-0FFE-0B50-3319-445849FF9A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Puissances dans les liaisons</a:t>
                </a:r>
              </a:p>
              <a:p>
                <a:pPr lvl="1"/>
                <a:r>
                  <a:rPr lang="fr-FR" dirty="0"/>
                  <a:t>Hypothèses des liaisons parfaites</a:t>
                </a:r>
              </a:p>
              <a:p>
                <a:pPr lvl="1"/>
                <a:r>
                  <a:rPr lang="fr-FR" dirty="0"/>
                  <a:t>Savoir montrer que hypothèse RSG </a:t>
                </a:r>
                <a14:m>
                  <m:oMath xmlns:m="http://schemas.openxmlformats.org/officeDocument/2006/math">
                    <m:r>
                      <a:rPr lang="fr-FR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fr-FR" dirty="0"/>
                  <a:t> puissance nulle</a:t>
                </a:r>
              </a:p>
              <a:p>
                <a:pPr lvl="1"/>
                <a:r>
                  <a:rPr lang="fr-FR" dirty="0"/>
                  <a:t>Hypothèse de courroie non déformable</a:t>
                </a:r>
              </a:p>
              <a:p>
                <a:endParaRPr lang="fr-FR" dirty="0"/>
              </a:p>
              <a:p>
                <a:r>
                  <a:rPr lang="fr-FR" dirty="0"/>
                  <a:t>Puissance du moteur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𝓟</m:t>
                    </m:r>
                    <m:d>
                      <m:d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𝒔𝒕𝒂𝒕𝒐𝒓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𝒓𝒐𝒕𝒐𝒓</m:t>
                        </m:r>
                        <m:r>
                          <m:rPr>
                            <m:lit/>
                          </m:r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</m:e>
                    </m:d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𝝎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m:rPr>
                        <m:lit/>
                      </m:rP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fr-F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fr-FR" b="1" dirty="0"/>
              </a:p>
              <a:p>
                <a:pPr lvl="1"/>
                <a:r>
                  <a:rPr lang="fr-FR" dirty="0"/>
                  <a:t>Dans le moteur à courant continu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  <m:r>
                      <a:rPr lang="fr-FR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𝑲</m:t>
                    </m:r>
                    <m:r>
                      <a:rPr lang="fr-FR" b="1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fr-F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</m:e>
                      <m:sub>
                        <m:r>
                          <a:rPr lang="fr-FR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</m:sub>
                    </m:sSub>
                  </m:oMath>
                </a14:m>
                <a:endParaRPr lang="fr-FR" b="1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7BAA89F-0FFE-0B50-3319-445849FF9A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5" t="-1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5986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B24450-578A-883B-C938-C55292701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/>
              <a:t>Stratégie TEC</a:t>
            </a:r>
            <a:br>
              <a:rPr lang="fr-FR" sz="3200" dirty="0"/>
            </a:br>
            <a:r>
              <a:rPr lang="fr-FR" sz="3200" dirty="0"/>
              <a:t>Evaluation de la puissance dissipée par frottement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AA68C51-D64F-074E-ADB8-2A4026F471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fr-FR" dirty="0"/>
                  <a:t> Choix d’un modèle</a:t>
                </a:r>
              </a:p>
              <a:p>
                <a:r>
                  <a:rPr lang="fr-F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𝑓𝑠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⋅</m:t>
                    </m:r>
                    <m:sSubSup>
                      <m:sSub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fr-FR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fr-FR" b="0" dirty="0"/>
              </a:p>
              <a:p>
                <a:pPr lvl="1"/>
                <a:r>
                  <a:rPr lang="fr-FR" dirty="0"/>
                  <a:t>Vérifier expérimentalement si les frottements dépendent de la vitesse ou non.</a:t>
                </a:r>
              </a:p>
              <a:p>
                <a:pPr lvl="1"/>
                <a:r>
                  <a:rPr lang="fr-FR" dirty="0"/>
                  <a:t>Les évaluer le </a:t>
                </a:r>
                <a:r>
                  <a:rPr lang="fr-FR"/>
                  <a:t>cas échéant… </a:t>
                </a:r>
              </a:p>
              <a:p>
                <a:pPr lvl="1"/>
                <a:endParaRPr lang="fr-FR" dirty="0"/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AA68C51-D64F-074E-ADB8-2A4026F471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25" t="-18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566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89957-E9C9-8FA8-2FDB-FEFA3B4EA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6B85F6D6-56CD-6C33-1388-B7664B1DA7F3}"/>
                  </a:ext>
                </a:extLst>
              </p:cNvPr>
              <p:cNvSpPr/>
              <p:nvPr/>
            </p:nvSpPr>
            <p:spPr>
              <a:xfrm>
                <a:off x="1427479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noFill/>
              <a:ln w="19050">
                <a:solidFill>
                  <a:srgbClr val="004F7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6B85F6D6-56CD-6C33-1388-B7664B1DA7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7479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rgbClr val="004F77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rganigramme : Jonction de sommaire 5">
            <a:extLst>
              <a:ext uri="{FF2B5EF4-FFF2-40B4-BE49-F238E27FC236}">
                <a16:creationId xmlns:a16="http://schemas.microsoft.com/office/drawing/2014/main" id="{310BDCD4-DDB9-AE45-56E5-42003C42A9C1}"/>
              </a:ext>
            </a:extLst>
          </p:cNvPr>
          <p:cNvSpPr/>
          <p:nvPr/>
        </p:nvSpPr>
        <p:spPr>
          <a:xfrm>
            <a:off x="965200" y="1902370"/>
            <a:ext cx="180000" cy="180000"/>
          </a:xfrm>
          <a:prstGeom prst="flowChartSummingJunction">
            <a:avLst/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i="1">
              <a:solidFill>
                <a:schemeClr val="tx2"/>
              </a:solidFill>
              <a:latin typeface="Cambria Math" panose="02040503050406030204" pitchFamily="18" charset="0"/>
            </a:endParaRPr>
          </a:p>
        </p:txBody>
      </p:sp>
      <p:sp>
        <p:nvSpPr>
          <p:cNvPr id="7" name="Organigramme : Jonction de sommaire 6">
            <a:extLst>
              <a:ext uri="{FF2B5EF4-FFF2-40B4-BE49-F238E27FC236}">
                <a16:creationId xmlns:a16="http://schemas.microsoft.com/office/drawing/2014/main" id="{B1D61F79-C9C1-BAE2-744F-82035FDBCCF7}"/>
              </a:ext>
            </a:extLst>
          </p:cNvPr>
          <p:cNvSpPr/>
          <p:nvPr/>
        </p:nvSpPr>
        <p:spPr>
          <a:xfrm>
            <a:off x="2429758" y="1902370"/>
            <a:ext cx="180000" cy="180000"/>
          </a:xfrm>
          <a:prstGeom prst="flowChartSummingJunction">
            <a:avLst/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i="1">
              <a:solidFill>
                <a:schemeClr val="tx2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EE8568F5-2336-B7A5-A92D-DD6C76AF8DDB}"/>
                  </a:ext>
                </a:extLst>
              </p:cNvPr>
              <p:cNvSpPr/>
              <p:nvPr/>
            </p:nvSpPr>
            <p:spPr>
              <a:xfrm>
                <a:off x="2892037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noFill/>
              <a:ln w="19050">
                <a:solidFill>
                  <a:srgbClr val="004F7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1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" name="Rectangle : coins arrondis 7">
                <a:extLst>
                  <a:ext uri="{FF2B5EF4-FFF2-40B4-BE49-F238E27FC236}">
                    <a16:creationId xmlns:a16="http://schemas.microsoft.com/office/drawing/2014/main" id="{EE8568F5-2336-B7A5-A92D-DD6C76AF8D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2037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rgbClr val="004F77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rganigramme : Jonction de sommaire 8">
            <a:extLst>
              <a:ext uri="{FF2B5EF4-FFF2-40B4-BE49-F238E27FC236}">
                <a16:creationId xmlns:a16="http://schemas.microsoft.com/office/drawing/2014/main" id="{A8BD80CE-A693-3693-1C55-EBE082F2E649}"/>
              </a:ext>
            </a:extLst>
          </p:cNvPr>
          <p:cNvSpPr/>
          <p:nvPr/>
        </p:nvSpPr>
        <p:spPr>
          <a:xfrm>
            <a:off x="3894316" y="1902370"/>
            <a:ext cx="180000" cy="180000"/>
          </a:xfrm>
          <a:prstGeom prst="flowChartSummingJunction">
            <a:avLst/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i="1">
              <a:solidFill>
                <a:schemeClr val="tx2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4390818D-20A2-4F40-4B5C-2D25567B2B20}"/>
                  </a:ext>
                </a:extLst>
              </p:cNvPr>
              <p:cNvSpPr/>
              <p:nvPr/>
            </p:nvSpPr>
            <p:spPr>
              <a:xfrm>
                <a:off x="4356595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noFill/>
              <a:ln w="19050">
                <a:solidFill>
                  <a:srgbClr val="004F7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1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fr-FR" sz="11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11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𝐿𝑝</m:t>
                          </m:r>
                        </m:den>
                      </m:f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0" name="Rectangle : coins arrondis 9">
                <a:extLst>
                  <a:ext uri="{FF2B5EF4-FFF2-40B4-BE49-F238E27FC236}">
                    <a16:creationId xmlns:a16="http://schemas.microsoft.com/office/drawing/2014/main" id="{4390818D-20A2-4F40-4B5C-2D25567B2B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6595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blipFill>
                <a:blip r:embed="rId4"/>
                <a:stretch>
                  <a:fillRect b="-11290"/>
                </a:stretch>
              </a:blipFill>
              <a:ln w="19050">
                <a:solidFill>
                  <a:srgbClr val="004F77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17800B4A-708A-7ABF-3CCE-ABE01635588B}"/>
                  </a:ext>
                </a:extLst>
              </p:cNvPr>
              <p:cNvSpPr/>
              <p:nvPr/>
            </p:nvSpPr>
            <p:spPr>
              <a:xfrm>
                <a:off x="5358874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noFill/>
              <a:ln w="19050">
                <a:solidFill>
                  <a:srgbClr val="004F7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FR" sz="14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17800B4A-708A-7ABF-3CCE-ABE0163558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874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4F77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rganigramme : Jonction de sommaire 11">
            <a:extLst>
              <a:ext uri="{FF2B5EF4-FFF2-40B4-BE49-F238E27FC236}">
                <a16:creationId xmlns:a16="http://schemas.microsoft.com/office/drawing/2014/main" id="{4859E6EA-2478-5372-79F9-FBB6F12EA3D4}"/>
              </a:ext>
            </a:extLst>
          </p:cNvPr>
          <p:cNvSpPr/>
          <p:nvPr/>
        </p:nvSpPr>
        <p:spPr>
          <a:xfrm>
            <a:off x="6361153" y="1902370"/>
            <a:ext cx="180000" cy="180000"/>
          </a:xfrm>
          <a:prstGeom prst="flowChartSummingJunction">
            <a:avLst/>
          </a:prstGeom>
          <a:noFill/>
          <a:ln w="19050">
            <a:solidFill>
              <a:srgbClr val="004F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00" i="1">
              <a:solidFill>
                <a:schemeClr val="tx2"/>
              </a:solidFill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 : coins arrondis 12">
                <a:extLst>
                  <a:ext uri="{FF2B5EF4-FFF2-40B4-BE49-F238E27FC236}">
                    <a16:creationId xmlns:a16="http://schemas.microsoft.com/office/drawing/2014/main" id="{BB2F2F82-9E9A-C496-3727-3A6012394223}"/>
                  </a:ext>
                </a:extLst>
              </p:cNvPr>
              <p:cNvSpPr/>
              <p:nvPr/>
            </p:nvSpPr>
            <p:spPr>
              <a:xfrm>
                <a:off x="6823434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noFill/>
              <a:ln w="19050">
                <a:solidFill>
                  <a:srgbClr val="004F7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fr-FR" sz="11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1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fr-FR" sz="11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𝑒𝑞</m:t>
                              </m:r>
                            </m:sub>
                          </m:sSub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3" name="Rectangle : coins arrondis 12">
                <a:extLst>
                  <a:ext uri="{FF2B5EF4-FFF2-40B4-BE49-F238E27FC236}">
                    <a16:creationId xmlns:a16="http://schemas.microsoft.com/office/drawing/2014/main" id="{BB2F2F82-9E9A-C496-3727-3A60123942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3434" y="1812370"/>
                <a:ext cx="720000" cy="360000"/>
              </a:xfrm>
              <a:prstGeom prst="roundRect">
                <a:avLst>
                  <a:gd name="adj" fmla="val 11914"/>
                </a:avLst>
              </a:prstGeom>
              <a:blipFill>
                <a:blip r:embed="rId6"/>
                <a:stretch>
                  <a:fillRect b="-6452"/>
                </a:stretch>
              </a:blipFill>
              <a:ln w="19050">
                <a:solidFill>
                  <a:srgbClr val="004F77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 : coins arrondis 13">
                <a:extLst>
                  <a:ext uri="{FF2B5EF4-FFF2-40B4-BE49-F238E27FC236}">
                    <a16:creationId xmlns:a16="http://schemas.microsoft.com/office/drawing/2014/main" id="{9DD5EEF9-5F25-47D6-6D80-B31E7F7F7E98}"/>
                  </a:ext>
                </a:extLst>
              </p:cNvPr>
              <p:cNvSpPr/>
              <p:nvPr/>
            </p:nvSpPr>
            <p:spPr>
              <a:xfrm>
                <a:off x="5358874" y="2301320"/>
                <a:ext cx="720000" cy="360000"/>
              </a:xfrm>
              <a:prstGeom prst="roundRect">
                <a:avLst>
                  <a:gd name="adj" fmla="val 11914"/>
                </a:avLst>
              </a:prstGeom>
              <a:noFill/>
              <a:ln w="19050">
                <a:solidFill>
                  <a:srgbClr val="004F7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fr-FR" sz="14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14" name="Rectangle : coins arrondis 13">
                <a:extLst>
                  <a:ext uri="{FF2B5EF4-FFF2-40B4-BE49-F238E27FC236}">
                    <a16:creationId xmlns:a16="http://schemas.microsoft.com/office/drawing/2014/main" id="{9DD5EEF9-5F25-47D6-6D80-B31E7F7F7E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8874" y="2301320"/>
                <a:ext cx="720000" cy="360000"/>
              </a:xfrm>
              <a:prstGeom prst="roundRect">
                <a:avLst>
                  <a:gd name="adj" fmla="val 11914"/>
                </a:avLst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rgbClr val="004F77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2920A564-2257-29FC-22AB-7EFAAC80CBE3}"/>
              </a:ext>
            </a:extLst>
          </p:cNvPr>
          <p:cNvCxnSpPr>
            <a:endCxn id="6" idx="2"/>
          </p:cNvCxnSpPr>
          <p:nvPr/>
        </p:nvCxnSpPr>
        <p:spPr>
          <a:xfrm>
            <a:off x="577850" y="1992370"/>
            <a:ext cx="387350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B6E8080B-6922-AC6E-4F6B-1D7CD84C13FB}"/>
              </a:ext>
            </a:extLst>
          </p:cNvPr>
          <p:cNvCxnSpPr>
            <a:cxnSpLocks/>
            <a:stCxn id="6" idx="6"/>
            <a:endCxn id="4" idx="1"/>
          </p:cNvCxnSpPr>
          <p:nvPr/>
        </p:nvCxnSpPr>
        <p:spPr>
          <a:xfrm>
            <a:off x="1145200" y="1992370"/>
            <a:ext cx="282279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A226D682-2AF3-EEFB-2460-FAEE799AD202}"/>
              </a:ext>
            </a:extLst>
          </p:cNvPr>
          <p:cNvCxnSpPr>
            <a:cxnSpLocks/>
            <a:stCxn id="4" idx="3"/>
            <a:endCxn id="7" idx="2"/>
          </p:cNvCxnSpPr>
          <p:nvPr/>
        </p:nvCxnSpPr>
        <p:spPr>
          <a:xfrm>
            <a:off x="2147479" y="1992370"/>
            <a:ext cx="282279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A2E58B60-FE80-EEB9-B91C-62AB650A26E3}"/>
              </a:ext>
            </a:extLst>
          </p:cNvPr>
          <p:cNvCxnSpPr>
            <a:cxnSpLocks/>
            <a:stCxn id="7" idx="6"/>
            <a:endCxn id="8" idx="1"/>
          </p:cNvCxnSpPr>
          <p:nvPr/>
        </p:nvCxnSpPr>
        <p:spPr>
          <a:xfrm>
            <a:off x="2609758" y="1992370"/>
            <a:ext cx="282279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ED158364-4C8B-6F3C-8EBF-B46371D9D476}"/>
              </a:ext>
            </a:extLst>
          </p:cNvPr>
          <p:cNvCxnSpPr>
            <a:cxnSpLocks/>
            <a:stCxn id="8" idx="3"/>
            <a:endCxn id="9" idx="2"/>
          </p:cNvCxnSpPr>
          <p:nvPr/>
        </p:nvCxnSpPr>
        <p:spPr>
          <a:xfrm>
            <a:off x="3612037" y="1992370"/>
            <a:ext cx="282279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AA2A3271-40B8-FBA3-38D1-1744EBAE5FD4}"/>
              </a:ext>
            </a:extLst>
          </p:cNvPr>
          <p:cNvCxnSpPr>
            <a:cxnSpLocks/>
            <a:stCxn id="9" idx="6"/>
            <a:endCxn id="10" idx="1"/>
          </p:cNvCxnSpPr>
          <p:nvPr/>
        </p:nvCxnSpPr>
        <p:spPr>
          <a:xfrm>
            <a:off x="4074316" y="1992370"/>
            <a:ext cx="282279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3DB429D4-C211-E55B-07E0-C895CD5F96DC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>
            <a:off x="5076595" y="1992370"/>
            <a:ext cx="282279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29728094-4D70-70D2-B62C-E7952B1C228D}"/>
              </a:ext>
            </a:extLst>
          </p:cNvPr>
          <p:cNvCxnSpPr>
            <a:cxnSpLocks/>
            <a:stCxn id="11" idx="3"/>
            <a:endCxn id="12" idx="2"/>
          </p:cNvCxnSpPr>
          <p:nvPr/>
        </p:nvCxnSpPr>
        <p:spPr>
          <a:xfrm>
            <a:off x="6078874" y="1992370"/>
            <a:ext cx="282279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8B3EFCEE-99E6-C361-41F5-264FFAADD505}"/>
              </a:ext>
            </a:extLst>
          </p:cNvPr>
          <p:cNvCxnSpPr>
            <a:cxnSpLocks/>
            <a:stCxn id="12" idx="6"/>
            <a:endCxn id="13" idx="1"/>
          </p:cNvCxnSpPr>
          <p:nvPr/>
        </p:nvCxnSpPr>
        <p:spPr>
          <a:xfrm>
            <a:off x="6541153" y="1992370"/>
            <a:ext cx="282281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F6A4D42D-B7EC-1A76-3343-D3A1972F56CA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7543434" y="1992370"/>
            <a:ext cx="533766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358F8327-2896-A555-C0B4-FFCA77F4413C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6078874" y="2481320"/>
            <a:ext cx="1599808" cy="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cteur droit avec flèche 47">
            <a:extLst>
              <a:ext uri="{FF2B5EF4-FFF2-40B4-BE49-F238E27FC236}">
                <a16:creationId xmlns:a16="http://schemas.microsoft.com/office/drawing/2014/main" id="{3C749E40-640B-C2CD-445A-C151F2F43A24}"/>
              </a:ext>
            </a:extLst>
          </p:cNvPr>
          <p:cNvCxnSpPr>
            <a:cxnSpLocks/>
          </p:cNvCxnSpPr>
          <p:nvPr/>
        </p:nvCxnSpPr>
        <p:spPr>
          <a:xfrm>
            <a:off x="7678682" y="1992370"/>
            <a:ext cx="0" cy="488950"/>
          </a:xfrm>
          <a:prstGeom prst="straightConnector1">
            <a:avLst/>
          </a:prstGeom>
          <a:ln>
            <a:solidFill>
              <a:schemeClr val="tx2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droit avec flèche 53">
            <a:extLst>
              <a:ext uri="{FF2B5EF4-FFF2-40B4-BE49-F238E27FC236}">
                <a16:creationId xmlns:a16="http://schemas.microsoft.com/office/drawing/2014/main" id="{3456D801-8D09-2E63-20A9-2331F874A9FF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3984316" y="2082370"/>
            <a:ext cx="0" cy="39895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avec flèche 56">
            <a:extLst>
              <a:ext uri="{FF2B5EF4-FFF2-40B4-BE49-F238E27FC236}">
                <a16:creationId xmlns:a16="http://schemas.microsoft.com/office/drawing/2014/main" id="{7735BE04-313F-54BF-63C2-1AAB70F5CC7A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3984316" y="2481320"/>
            <a:ext cx="1374558" cy="0"/>
          </a:xfrm>
          <a:prstGeom prst="straightConnector1">
            <a:avLst/>
          </a:prstGeom>
          <a:ln>
            <a:solidFill>
              <a:schemeClr val="tx2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avec flèche 59">
            <a:extLst>
              <a:ext uri="{FF2B5EF4-FFF2-40B4-BE49-F238E27FC236}">
                <a16:creationId xmlns:a16="http://schemas.microsoft.com/office/drawing/2014/main" id="{4406002E-5146-DD15-2CA9-0E8D21DC82F7}"/>
              </a:ext>
            </a:extLst>
          </p:cNvPr>
          <p:cNvCxnSpPr>
            <a:cxnSpLocks/>
          </p:cNvCxnSpPr>
          <p:nvPr/>
        </p:nvCxnSpPr>
        <p:spPr>
          <a:xfrm>
            <a:off x="2518814" y="1503420"/>
            <a:ext cx="0" cy="39895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avec flèche 61">
            <a:extLst>
              <a:ext uri="{FF2B5EF4-FFF2-40B4-BE49-F238E27FC236}">
                <a16:creationId xmlns:a16="http://schemas.microsoft.com/office/drawing/2014/main" id="{64AF7D45-3158-226E-21EC-71E5AE717732}"/>
              </a:ext>
            </a:extLst>
          </p:cNvPr>
          <p:cNvCxnSpPr>
            <a:cxnSpLocks/>
          </p:cNvCxnSpPr>
          <p:nvPr/>
        </p:nvCxnSpPr>
        <p:spPr>
          <a:xfrm flipV="1">
            <a:off x="5178043" y="1503420"/>
            <a:ext cx="0" cy="488950"/>
          </a:xfrm>
          <a:prstGeom prst="straightConnector1">
            <a:avLst/>
          </a:prstGeom>
          <a:ln>
            <a:solidFill>
              <a:schemeClr val="tx2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avec flèche 65">
            <a:extLst>
              <a:ext uri="{FF2B5EF4-FFF2-40B4-BE49-F238E27FC236}">
                <a16:creationId xmlns:a16="http://schemas.microsoft.com/office/drawing/2014/main" id="{73B52E7F-417A-23E6-7E57-EB57CA13D173}"/>
              </a:ext>
            </a:extLst>
          </p:cNvPr>
          <p:cNvCxnSpPr>
            <a:cxnSpLocks/>
          </p:cNvCxnSpPr>
          <p:nvPr/>
        </p:nvCxnSpPr>
        <p:spPr>
          <a:xfrm flipH="1">
            <a:off x="2518814" y="1503420"/>
            <a:ext cx="2659229" cy="0"/>
          </a:xfrm>
          <a:prstGeom prst="straightConnector1">
            <a:avLst/>
          </a:prstGeom>
          <a:ln>
            <a:solidFill>
              <a:schemeClr val="tx2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34FDEE8C-6C87-D6A1-9ECF-95BDB8639661}"/>
              </a:ext>
            </a:extLst>
          </p:cNvPr>
          <p:cNvCxnSpPr>
            <a:cxnSpLocks/>
          </p:cNvCxnSpPr>
          <p:nvPr/>
        </p:nvCxnSpPr>
        <p:spPr>
          <a:xfrm flipV="1">
            <a:off x="1055200" y="2059165"/>
            <a:ext cx="0" cy="676155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avec flèche 71">
            <a:extLst>
              <a:ext uri="{FF2B5EF4-FFF2-40B4-BE49-F238E27FC236}">
                <a16:creationId xmlns:a16="http://schemas.microsoft.com/office/drawing/2014/main" id="{8EBB725E-61F3-2D0C-6E96-0ACA39226AB1}"/>
              </a:ext>
            </a:extLst>
          </p:cNvPr>
          <p:cNvCxnSpPr>
            <a:cxnSpLocks/>
          </p:cNvCxnSpPr>
          <p:nvPr/>
        </p:nvCxnSpPr>
        <p:spPr>
          <a:xfrm flipH="1">
            <a:off x="1055200" y="2735320"/>
            <a:ext cx="6755117" cy="0"/>
          </a:xfrm>
          <a:prstGeom prst="straightConnector1">
            <a:avLst/>
          </a:prstGeom>
          <a:ln>
            <a:solidFill>
              <a:schemeClr val="tx2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743A4798-4503-BA1D-4EBC-3A34D88344C3}"/>
              </a:ext>
            </a:extLst>
          </p:cNvPr>
          <p:cNvCxnSpPr>
            <a:cxnSpLocks/>
          </p:cNvCxnSpPr>
          <p:nvPr/>
        </p:nvCxnSpPr>
        <p:spPr>
          <a:xfrm flipH="1">
            <a:off x="7810317" y="1992370"/>
            <a:ext cx="0" cy="742950"/>
          </a:xfrm>
          <a:prstGeom prst="straightConnector1">
            <a:avLst/>
          </a:prstGeom>
          <a:ln>
            <a:solidFill>
              <a:schemeClr val="tx2"/>
            </a:solidFill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02846812-9300-AE00-8C35-AD622C4770F8}"/>
              </a:ext>
            </a:extLst>
          </p:cNvPr>
          <p:cNvCxnSpPr>
            <a:cxnSpLocks/>
          </p:cNvCxnSpPr>
          <p:nvPr/>
        </p:nvCxnSpPr>
        <p:spPr>
          <a:xfrm>
            <a:off x="6451153" y="1484195"/>
            <a:ext cx="0" cy="398950"/>
          </a:xfrm>
          <a:prstGeom prst="straightConnector1">
            <a:avLst/>
          </a:prstGeom>
          <a:ln>
            <a:solidFill>
              <a:schemeClr val="tx2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4BC804F1-4CBA-8232-5C40-B6DB35FD3701}"/>
                  </a:ext>
                </a:extLst>
              </p:cNvPr>
              <p:cNvSpPr txBox="1"/>
              <p:nvPr/>
            </p:nvSpPr>
            <p:spPr>
              <a:xfrm>
                <a:off x="281144" y="1735432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𝑚𝑐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1" name="ZoneTexte 80">
                <a:extLst>
                  <a:ext uri="{FF2B5EF4-FFF2-40B4-BE49-F238E27FC236}">
                    <a16:creationId xmlns:a16="http://schemas.microsoft.com/office/drawing/2014/main" id="{4BC804F1-4CBA-8232-5C40-B6DB35FD37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44" y="1735432"/>
                <a:ext cx="748521" cy="261610"/>
              </a:xfrm>
              <a:prstGeom prst="rect">
                <a:avLst/>
              </a:prstGeom>
              <a:blipFill>
                <a:blip r:embed="rId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CDABEB94-EDDE-45D9-EE8F-37BCFE106C0A}"/>
                  </a:ext>
                </a:extLst>
              </p:cNvPr>
              <p:cNvSpPr txBox="1"/>
              <p:nvPr/>
            </p:nvSpPr>
            <p:spPr>
              <a:xfrm>
                <a:off x="1954048" y="1613285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2" name="ZoneTexte 81">
                <a:extLst>
                  <a:ext uri="{FF2B5EF4-FFF2-40B4-BE49-F238E27FC236}">
                    <a16:creationId xmlns:a16="http://schemas.microsoft.com/office/drawing/2014/main" id="{CDABEB94-EDDE-45D9-EE8F-37BCFE106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4048" y="1613285"/>
                <a:ext cx="748521" cy="261610"/>
              </a:xfrm>
              <a:prstGeom prst="rect">
                <a:avLst/>
              </a:prstGeom>
              <a:blipFill>
                <a:blip r:embed="rId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ZoneTexte 82">
                <a:extLst>
                  <a:ext uri="{FF2B5EF4-FFF2-40B4-BE49-F238E27FC236}">
                    <a16:creationId xmlns:a16="http://schemas.microsoft.com/office/drawing/2014/main" id="{C85B2718-EB0D-475B-101C-840D1C2DF902}"/>
                  </a:ext>
                </a:extLst>
              </p:cNvPr>
              <p:cNvSpPr txBox="1"/>
              <p:nvPr/>
            </p:nvSpPr>
            <p:spPr>
              <a:xfrm>
                <a:off x="4896074" y="1527090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3" name="ZoneTexte 82">
                <a:extLst>
                  <a:ext uri="{FF2B5EF4-FFF2-40B4-BE49-F238E27FC236}">
                    <a16:creationId xmlns:a16="http://schemas.microsoft.com/office/drawing/2014/main" id="{C85B2718-EB0D-475B-101C-840D1C2DF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6074" y="1527090"/>
                <a:ext cx="748521" cy="2616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794C1320-7C55-F2ED-2871-D52EAA3B90A7}"/>
                  </a:ext>
                </a:extLst>
              </p:cNvPr>
              <p:cNvSpPr txBox="1"/>
              <p:nvPr/>
            </p:nvSpPr>
            <p:spPr>
              <a:xfrm>
                <a:off x="5885443" y="1549983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4" name="ZoneTexte 83">
                <a:extLst>
                  <a:ext uri="{FF2B5EF4-FFF2-40B4-BE49-F238E27FC236}">
                    <a16:creationId xmlns:a16="http://schemas.microsoft.com/office/drawing/2014/main" id="{794C1320-7C55-F2ED-2871-D52EAA3B9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5443" y="1549983"/>
                <a:ext cx="748521" cy="261610"/>
              </a:xfrm>
              <a:prstGeom prst="rect">
                <a:avLst/>
              </a:prstGeom>
              <a:blipFill>
                <a:blip r:embed="rId10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644B6B2E-703A-8658-ED1C-25C77F809607}"/>
                  </a:ext>
                </a:extLst>
              </p:cNvPr>
              <p:cNvSpPr txBox="1"/>
              <p:nvPr/>
            </p:nvSpPr>
            <p:spPr>
              <a:xfrm>
                <a:off x="7555302" y="1680788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fr-FR" sz="11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5" name="ZoneTexte 84">
                <a:extLst>
                  <a:ext uri="{FF2B5EF4-FFF2-40B4-BE49-F238E27FC236}">
                    <a16:creationId xmlns:a16="http://schemas.microsoft.com/office/drawing/2014/main" id="{644B6B2E-703A-8658-ED1C-25C77F809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302" y="1680788"/>
                <a:ext cx="748521" cy="261610"/>
              </a:xfrm>
              <a:prstGeom prst="rect">
                <a:avLst/>
              </a:prstGeom>
              <a:blipFill>
                <a:blip r:embed="rId1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4BDC3A14-5EFB-8AC5-7CF9-68D5A6F4D79A}"/>
                  </a:ext>
                </a:extLst>
              </p:cNvPr>
              <p:cNvSpPr txBox="1"/>
              <p:nvPr/>
            </p:nvSpPr>
            <p:spPr>
              <a:xfrm>
                <a:off x="6428277" y="1384956"/>
                <a:ext cx="1648923" cy="2746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110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1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𝑝𝑒𝑠</m:t>
                        </m:r>
                      </m:sub>
                    </m:sSub>
                    <m:d>
                      <m:dPr>
                        <m:ctrlPr>
                          <a:rPr lang="fr-FR" sz="11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110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fr-FR" sz="11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fr-FR" sz="11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1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fr-FR" sz="11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𝑟𝑒𝑠</m:t>
                        </m:r>
                      </m:sub>
                    </m:sSub>
                    <m:r>
                      <a:rPr lang="fr-FR" sz="110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11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fr-FR" sz="11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fr-FR" sz="110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sz="1100" dirty="0">
                    <a:solidFill>
                      <a:schemeClr val="tx2"/>
                    </a:solidFill>
                    <a:latin typeface="Arial Nova" panose="020B05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6" name="ZoneTexte 85">
                <a:extLst>
                  <a:ext uri="{FF2B5EF4-FFF2-40B4-BE49-F238E27FC236}">
                    <a16:creationId xmlns:a16="http://schemas.microsoft.com/office/drawing/2014/main" id="{4BDC3A14-5EFB-8AC5-7CF9-68D5A6F4D7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8277" y="1384956"/>
                <a:ext cx="1648923" cy="274627"/>
              </a:xfrm>
              <a:prstGeom prst="rect">
                <a:avLst/>
              </a:prstGeom>
              <a:blipFill>
                <a:blip r:embed="rId12"/>
                <a:stretch>
                  <a:fillRect b="-222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94A1FB64-D211-D0F8-063F-693D8C774C86}"/>
                  </a:ext>
                </a:extLst>
              </p:cNvPr>
              <p:cNvSpPr txBox="1"/>
              <p:nvPr/>
            </p:nvSpPr>
            <p:spPr>
              <a:xfrm>
                <a:off x="588014" y="1735432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7" name="ZoneTexte 86">
                <a:extLst>
                  <a:ext uri="{FF2B5EF4-FFF2-40B4-BE49-F238E27FC236}">
                    <a16:creationId xmlns:a16="http://schemas.microsoft.com/office/drawing/2014/main" id="{94A1FB64-D211-D0F8-063F-693D8C774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8014" y="1735432"/>
                <a:ext cx="748521" cy="2616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ZoneTexte 87">
                <a:extLst>
                  <a:ext uri="{FF2B5EF4-FFF2-40B4-BE49-F238E27FC236}">
                    <a16:creationId xmlns:a16="http://schemas.microsoft.com/office/drawing/2014/main" id="{59F7EBCE-B256-4E8B-5797-34E15CE28159}"/>
                  </a:ext>
                </a:extLst>
              </p:cNvPr>
              <p:cNvSpPr txBox="1"/>
              <p:nvPr/>
            </p:nvSpPr>
            <p:spPr>
              <a:xfrm>
                <a:off x="795809" y="1959423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8" name="ZoneTexte 87">
                <a:extLst>
                  <a:ext uri="{FF2B5EF4-FFF2-40B4-BE49-F238E27FC236}">
                    <a16:creationId xmlns:a16="http://schemas.microsoft.com/office/drawing/2014/main" id="{59F7EBCE-B256-4E8B-5797-34E15CE28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5809" y="1959423"/>
                <a:ext cx="748521" cy="2616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184EA7C6-30D6-FE8A-11BE-87E3B29EF58D}"/>
                  </a:ext>
                </a:extLst>
              </p:cNvPr>
              <p:cNvSpPr txBox="1"/>
              <p:nvPr/>
            </p:nvSpPr>
            <p:spPr>
              <a:xfrm>
                <a:off x="2035791" y="1757420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184EA7C6-30D6-FE8A-11BE-87E3B29EF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791" y="1757420"/>
                <a:ext cx="748521" cy="26161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3C18294F-56E1-09D0-9D81-ABCAA9456963}"/>
                  </a:ext>
                </a:extLst>
              </p:cNvPr>
              <p:cNvSpPr txBox="1"/>
              <p:nvPr/>
            </p:nvSpPr>
            <p:spPr>
              <a:xfrm>
                <a:off x="2260918" y="1604080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90" name="ZoneTexte 89">
                <a:extLst>
                  <a:ext uri="{FF2B5EF4-FFF2-40B4-BE49-F238E27FC236}">
                    <a16:creationId xmlns:a16="http://schemas.microsoft.com/office/drawing/2014/main" id="{3C18294F-56E1-09D0-9D81-ABCAA9456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0918" y="1604080"/>
                <a:ext cx="748521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C0FE81E1-9BE0-9A92-50D9-BE05135EBAD1}"/>
                  </a:ext>
                </a:extLst>
              </p:cNvPr>
              <p:cNvSpPr txBox="1"/>
              <p:nvPr/>
            </p:nvSpPr>
            <p:spPr>
              <a:xfrm>
                <a:off x="3483568" y="1779408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C0FE81E1-9BE0-9A92-50D9-BE05135EB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3568" y="1779408"/>
                <a:ext cx="748521" cy="2616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7BC5D899-9962-3A5E-42F8-8939A5FD97A0}"/>
                  </a:ext>
                </a:extLst>
              </p:cNvPr>
              <p:cNvSpPr txBox="1"/>
              <p:nvPr/>
            </p:nvSpPr>
            <p:spPr>
              <a:xfrm>
                <a:off x="3534224" y="1971431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7BC5D899-9962-3A5E-42F8-8939A5FD9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224" y="1971431"/>
                <a:ext cx="748521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20F2696F-1FC7-25BD-836E-353728FE67D0}"/>
                  </a:ext>
                </a:extLst>
              </p:cNvPr>
              <p:cNvSpPr txBox="1"/>
              <p:nvPr/>
            </p:nvSpPr>
            <p:spPr>
              <a:xfrm>
                <a:off x="5959694" y="1769495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20F2696F-1FC7-25BD-836E-353728FE6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9694" y="1769495"/>
                <a:ext cx="748521" cy="26161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id="{11B4D7D0-A749-3CB5-54F3-B4B675FA8225}"/>
                  </a:ext>
                </a:extLst>
              </p:cNvPr>
              <p:cNvSpPr txBox="1"/>
              <p:nvPr/>
            </p:nvSpPr>
            <p:spPr>
              <a:xfrm>
                <a:off x="6201290" y="1702895"/>
                <a:ext cx="748521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1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fr-FR" sz="1100" dirty="0">
                  <a:solidFill>
                    <a:schemeClr val="tx2"/>
                  </a:solidFill>
                  <a:latin typeface="Arial Nova" panose="020B0504020202020204" pitchFamily="34" charset="0"/>
                </a:endParaRPr>
              </a:p>
            </p:txBody>
          </p:sp>
        </mc:Choice>
        <mc:Fallback xmlns="">
          <p:sp>
            <p:nvSpPr>
              <p:cNvPr id="94" name="ZoneTexte 93">
                <a:extLst>
                  <a:ext uri="{FF2B5EF4-FFF2-40B4-BE49-F238E27FC236}">
                    <a16:creationId xmlns:a16="http://schemas.microsoft.com/office/drawing/2014/main" id="{11B4D7D0-A749-3CB5-54F3-B4B675FA8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290" y="1702895"/>
                <a:ext cx="748521" cy="26161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1059323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Bleu vert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392</Words>
  <Application>Microsoft Office PowerPoint</Application>
  <PresentationFormat>Grand écran</PresentationFormat>
  <Paragraphs>103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Arial Nova</vt:lpstr>
      <vt:lpstr>Calibri</vt:lpstr>
      <vt:lpstr>Calibri Light</vt:lpstr>
      <vt:lpstr>Cambria Math</vt:lpstr>
      <vt:lpstr>Wingdings</vt:lpstr>
      <vt:lpstr>Rétrospective</vt:lpstr>
      <vt:lpstr>Cordeuse de raquette</vt:lpstr>
      <vt:lpstr>Présentation PowerPoint</vt:lpstr>
      <vt:lpstr>02 Chaîne fonctionnelle</vt:lpstr>
      <vt:lpstr>Chaine fonctionnelle de la cordeuse</vt:lpstr>
      <vt:lpstr>04 Résolution cinématique </vt:lpstr>
      <vt:lpstr>Loi entrée sortie géométrique</vt:lpstr>
      <vt:lpstr>07 Modélisation composants ou phénomènes</vt:lpstr>
      <vt:lpstr>09 Dimensionnement d’un actionneur en dynamique</vt:lpstr>
      <vt:lpstr>Objectifs</vt:lpstr>
      <vt:lpstr>Modélisation</vt:lpstr>
      <vt:lpstr>Stratégie – TEC</vt:lpstr>
      <vt:lpstr>Stratégie TEC Energie cinétique</vt:lpstr>
      <vt:lpstr>Stratégie TEC Energie cinétique</vt:lpstr>
      <vt:lpstr>Stratégie TEC Puissances</vt:lpstr>
      <vt:lpstr>Stratégie TEC Evaluation de la puissance dissipée par frottement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Xavier Pessoles</dc:creator>
  <cp:lastModifiedBy>Xavier Pessoles</cp:lastModifiedBy>
  <cp:revision>75</cp:revision>
  <dcterms:created xsi:type="dcterms:W3CDTF">2023-03-22T10:05:05Z</dcterms:created>
  <dcterms:modified xsi:type="dcterms:W3CDTF">2026-01-19T14:36:15Z</dcterms:modified>
</cp:coreProperties>
</file>