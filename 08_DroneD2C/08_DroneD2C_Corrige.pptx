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69" r:id="rId6"/>
    <p:sldId id="270" r:id="rId7"/>
    <p:sldId id="271" r:id="rId8"/>
    <p:sldId id="273" r:id="rId9"/>
    <p:sldId id="274" r:id="rId10"/>
    <p:sldId id="275" r:id="rId11"/>
    <p:sldId id="27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>
        <p:scale>
          <a:sx n="66" d="100"/>
          <a:sy n="66" d="100"/>
        </p:scale>
        <p:origin x="136" y="-396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24/11/2025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3.png"/><Relationship Id="rId21" Type="http://schemas.openxmlformats.org/officeDocument/2006/relationships/image" Target="../media/image20.png"/><Relationship Id="rId7" Type="http://schemas.openxmlformats.org/officeDocument/2006/relationships/image" Target="../media/image7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2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10" Type="http://schemas.openxmlformats.org/officeDocument/2006/relationships/image" Target="../media/image8.png"/><Relationship Id="rId19" Type="http://schemas.openxmlformats.org/officeDocument/2006/relationships/image" Target="../media/image18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image" Target="../media/image24.png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image" Target="../media/image23.png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Drone D2C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Éléments de corrigés des </a:t>
            </a:r>
            <a:r>
              <a:rPr lang="fr-FR" dirty="0" err="1"/>
              <a:t>tp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3CFB6-C96F-2738-656C-799A569A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A0F49C-2000-CFFA-4CC2-9D86BC132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668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</a:t>
            </a:r>
            <a:br>
              <a:rPr lang="fr-FR" dirty="0"/>
            </a:br>
            <a:r>
              <a:rPr lang="fr-FR" dirty="0"/>
              <a:t>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Control’X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F7822C3A-6752-03D9-8DF8-C9BF49763BD8}"/>
              </a:ext>
            </a:extLst>
          </p:cNvPr>
          <p:cNvSpPr/>
          <p:nvPr/>
        </p:nvSpPr>
        <p:spPr>
          <a:xfrm>
            <a:off x="1056905" y="133037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EC70D79-FF53-E1E6-8F5D-7DB4552BDEB8}"/>
              </a:ext>
            </a:extLst>
          </p:cNvPr>
          <p:cNvSpPr/>
          <p:nvPr/>
        </p:nvSpPr>
        <p:spPr>
          <a:xfrm>
            <a:off x="1056905" y="2105523"/>
            <a:ext cx="1440000" cy="946211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Détecteurs fin de course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Codeur incrémental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de tension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de courant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Génératrice tachymétrique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Règle magnétique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d’effort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92C39D7-C7C7-3458-7E55-FC4FCBD955B0}"/>
              </a:ext>
            </a:extLst>
          </p:cNvPr>
          <p:cNvSpPr/>
          <p:nvPr/>
        </p:nvSpPr>
        <p:spPr>
          <a:xfrm>
            <a:off x="3229319" y="132884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5E73C37F-4A2D-AB41-B3A3-7332F9A357A2}"/>
              </a:ext>
            </a:extLst>
          </p:cNvPr>
          <p:cNvSpPr/>
          <p:nvPr/>
        </p:nvSpPr>
        <p:spPr>
          <a:xfrm>
            <a:off x="3218894" y="212170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de commande NI</a:t>
            </a:r>
          </a:p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Processeur du PC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BE8DB55-CD2C-9609-869B-BFB5FBA5A6D3}"/>
              </a:ext>
            </a:extLst>
          </p:cNvPr>
          <p:cNvSpPr/>
          <p:nvPr/>
        </p:nvSpPr>
        <p:spPr>
          <a:xfrm>
            <a:off x="5389319" y="1306501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7C50B13-9945-267C-9C0F-3901C1922B55}"/>
              </a:ext>
            </a:extLst>
          </p:cNvPr>
          <p:cNvSpPr/>
          <p:nvPr/>
        </p:nvSpPr>
        <p:spPr>
          <a:xfrm>
            <a:off x="5389319" y="2100470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8A559"/>
                </a:solidFill>
                <a:latin typeface="Arial Nova" panose="020B0504020202020204" pitchFamily="34" charset="0"/>
              </a:rPr>
              <a:t>Carte de commande NI</a:t>
            </a:r>
          </a:p>
          <a:p>
            <a:pPr algn="ctr"/>
            <a:r>
              <a:rPr lang="fr-FR" sz="1200" dirty="0">
                <a:solidFill>
                  <a:srgbClr val="08A559"/>
                </a:solidFill>
                <a:latin typeface="Arial Nova" panose="020B0504020202020204" pitchFamily="34" charset="0"/>
              </a:rPr>
              <a:t>PC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CFBB7BE-C306-859A-CF41-F04DD9BC455C}"/>
              </a:ext>
            </a:extLst>
          </p:cNvPr>
          <p:cNvSpPr/>
          <p:nvPr/>
        </p:nvSpPr>
        <p:spPr>
          <a:xfrm>
            <a:off x="1056905" y="332323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364B3FD-91A8-1B5F-5FD3-55E164E3B9AE}"/>
              </a:ext>
            </a:extLst>
          </p:cNvPr>
          <p:cNvSpPr/>
          <p:nvPr/>
        </p:nvSpPr>
        <p:spPr>
          <a:xfrm>
            <a:off x="1056905" y="4017987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Alimentation à découpage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96A2B729-7EE6-8CA6-72B2-5A16AA5A785A}"/>
              </a:ext>
            </a:extLst>
          </p:cNvPr>
          <p:cNvSpPr/>
          <p:nvPr/>
        </p:nvSpPr>
        <p:spPr>
          <a:xfrm>
            <a:off x="3218894" y="3318469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841B1B6-C546-170C-78BF-906D65F5DAA8}"/>
              </a:ext>
            </a:extLst>
          </p:cNvPr>
          <p:cNvSpPr/>
          <p:nvPr/>
        </p:nvSpPr>
        <p:spPr>
          <a:xfrm>
            <a:off x="3229319" y="4003689"/>
            <a:ext cx="1440000" cy="572255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C7391"/>
                </a:solidFill>
                <a:latin typeface="Arial Nova" panose="020B0504020202020204" pitchFamily="34" charset="0"/>
              </a:rPr>
              <a:t>Pont en H 4Q (Variateur ESCON)</a:t>
            </a:r>
            <a:endParaRPr lang="fr-FR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8181AD4-9AB8-CA7B-EFBF-8B9CD4369264}"/>
              </a:ext>
            </a:extLst>
          </p:cNvPr>
          <p:cNvSpPr/>
          <p:nvPr/>
        </p:nvSpPr>
        <p:spPr>
          <a:xfrm>
            <a:off x="5380883" y="332323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7E462E27-42D7-734B-5E6F-B78EF40987B6}"/>
              </a:ext>
            </a:extLst>
          </p:cNvPr>
          <p:cNvSpPr/>
          <p:nvPr/>
        </p:nvSpPr>
        <p:spPr>
          <a:xfrm>
            <a:off x="5389319" y="4003690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à courant continu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AA76E29F-1BCE-DD76-499C-CE8F3E850A8E}"/>
              </a:ext>
            </a:extLst>
          </p:cNvPr>
          <p:cNvSpPr/>
          <p:nvPr/>
        </p:nvSpPr>
        <p:spPr>
          <a:xfrm>
            <a:off x="7542872" y="3326339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66FC087-C9BC-9FD1-6C13-AD7571852AD4}"/>
              </a:ext>
            </a:extLst>
          </p:cNvPr>
          <p:cNvSpPr/>
          <p:nvPr/>
        </p:nvSpPr>
        <p:spPr>
          <a:xfrm>
            <a:off x="7549319" y="3983186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Train épicycloïdal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Joint de Oldham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Poulie courroie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282EFC0-8E54-A4E0-6953-44E98A7B8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826" y="1384349"/>
            <a:ext cx="434918" cy="152010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BE599621-6A35-D218-9184-0073520A41FC}"/>
              </a:ext>
            </a:extLst>
          </p:cNvPr>
          <p:cNvCxnSpPr>
            <a:cxnSpLocks/>
          </p:cNvCxnSpPr>
          <p:nvPr/>
        </p:nvCxnSpPr>
        <p:spPr>
          <a:xfrm flipV="1">
            <a:off x="2496905" y="1608451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25CB3708-D27C-9C0F-920D-E2174EF1D3C1}"/>
              </a:ext>
            </a:extLst>
          </p:cNvPr>
          <p:cNvCxnSpPr/>
          <p:nvPr/>
        </p:nvCxnSpPr>
        <p:spPr>
          <a:xfrm flipV="1">
            <a:off x="4669319" y="1594501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Image 22">
            <a:extLst>
              <a:ext uri="{FF2B5EF4-FFF2-40B4-BE49-F238E27FC236}">
                <a16:creationId xmlns:a16="http://schemas.microsoft.com/office/drawing/2014/main" id="{6B85577F-75F2-AC91-9B29-7674830D4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894" y="1199142"/>
            <a:ext cx="360000" cy="360000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4D3E9C84-1558-D9D2-B9AE-51FFDFD2ACAC}"/>
              </a:ext>
            </a:extLst>
          </p:cNvPr>
          <p:cNvCxnSpPr>
            <a:cxnSpLocks/>
          </p:cNvCxnSpPr>
          <p:nvPr/>
        </p:nvCxnSpPr>
        <p:spPr>
          <a:xfrm flipV="1">
            <a:off x="2509319" y="3591696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F7A18018-C728-6B01-3037-0421AF781FBB}"/>
              </a:ext>
            </a:extLst>
          </p:cNvPr>
          <p:cNvGrpSpPr/>
          <p:nvPr/>
        </p:nvGrpSpPr>
        <p:grpSpPr>
          <a:xfrm>
            <a:off x="1596905" y="3760610"/>
            <a:ext cx="360000" cy="360000"/>
            <a:chOff x="4197400" y="3547713"/>
            <a:chExt cx="1800000" cy="1800000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AF615AC5-8CF6-FF34-1EF7-5C5D2FE5B9E8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7" name="Image 26">
              <a:extLst>
                <a:ext uri="{FF2B5EF4-FFF2-40B4-BE49-F238E27FC236}">
                  <a16:creationId xmlns:a16="http://schemas.microsoft.com/office/drawing/2014/main" id="{D99F6707-A222-D5E1-C4A9-E878E9F04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28" name="Image 27">
            <a:extLst>
              <a:ext uri="{FF2B5EF4-FFF2-40B4-BE49-F238E27FC236}">
                <a16:creationId xmlns:a16="http://schemas.microsoft.com/office/drawing/2014/main" id="{35145E60-25D8-7A86-65AE-7F3729EC7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4" y="3446765"/>
            <a:ext cx="360000" cy="360000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3C7DD139-EB5F-1D13-171E-251FB77C6B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905" y="3173953"/>
            <a:ext cx="360000" cy="360000"/>
          </a:xfrm>
          <a:prstGeom prst="rect">
            <a:avLst/>
          </a:prstGeom>
        </p:spPr>
      </p:pic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6E52C4D0-B55B-30AA-F92B-6E09F0A4D9C9}"/>
              </a:ext>
            </a:extLst>
          </p:cNvPr>
          <p:cNvCxnSpPr>
            <a:cxnSpLocks/>
          </p:cNvCxnSpPr>
          <p:nvPr/>
        </p:nvCxnSpPr>
        <p:spPr>
          <a:xfrm flipV="1">
            <a:off x="4669319" y="3578864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Image 34">
            <a:extLst>
              <a:ext uri="{FF2B5EF4-FFF2-40B4-BE49-F238E27FC236}">
                <a16:creationId xmlns:a16="http://schemas.microsoft.com/office/drawing/2014/main" id="{F31071D2-3D9A-9512-E018-EA9EA1D5A0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894" y="3173953"/>
            <a:ext cx="360000" cy="360000"/>
          </a:xfrm>
          <a:prstGeom prst="rect">
            <a:avLst/>
          </a:prstGeom>
        </p:spPr>
      </p:pic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75B4C387-2DFC-8DD6-0817-E4B93F7F3F85}"/>
              </a:ext>
            </a:extLst>
          </p:cNvPr>
          <p:cNvCxnSpPr>
            <a:cxnSpLocks/>
          </p:cNvCxnSpPr>
          <p:nvPr/>
        </p:nvCxnSpPr>
        <p:spPr>
          <a:xfrm flipV="1">
            <a:off x="6829319" y="3588469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Image 42">
            <a:extLst>
              <a:ext uri="{FF2B5EF4-FFF2-40B4-BE49-F238E27FC236}">
                <a16:creationId xmlns:a16="http://schemas.microsoft.com/office/drawing/2014/main" id="{F1B5964F-3473-92A5-6A3A-F03DA766A9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3108" y="3199220"/>
            <a:ext cx="360000" cy="360000"/>
          </a:xfrm>
          <a:prstGeom prst="rect">
            <a:avLst/>
          </a:prstGeom>
        </p:spPr>
      </p:pic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2C5943AA-979A-103D-FC4E-264A925A4FF0}"/>
              </a:ext>
            </a:extLst>
          </p:cNvPr>
          <p:cNvCxnSpPr>
            <a:cxnSpLocks/>
            <a:stCxn id="10" idx="3"/>
            <a:endCxn id="45" idx="3"/>
          </p:cNvCxnSpPr>
          <p:nvPr/>
        </p:nvCxnSpPr>
        <p:spPr>
          <a:xfrm flipH="1">
            <a:off x="6795600" y="1594501"/>
            <a:ext cx="33719" cy="1346496"/>
          </a:xfrm>
          <a:prstGeom prst="bentConnector3">
            <a:avLst>
              <a:gd name="adj1" fmla="val -1067152"/>
            </a:avLst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4EDA86AC-B60C-0765-FBC6-4E7119B8D620}"/>
              </a:ext>
            </a:extLst>
          </p:cNvPr>
          <p:cNvSpPr/>
          <p:nvPr/>
        </p:nvSpPr>
        <p:spPr>
          <a:xfrm>
            <a:off x="5389319" y="2775318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46" name="Connecteur : en angle 45">
            <a:extLst>
              <a:ext uri="{FF2B5EF4-FFF2-40B4-BE49-F238E27FC236}">
                <a16:creationId xmlns:a16="http://schemas.microsoft.com/office/drawing/2014/main" id="{C9DF5005-6531-4D0B-0B32-A0A73479B4F0}"/>
              </a:ext>
            </a:extLst>
          </p:cNvPr>
          <p:cNvCxnSpPr>
            <a:cxnSpLocks/>
            <a:stCxn id="45" idx="1"/>
            <a:endCxn id="14" idx="0"/>
          </p:cNvCxnSpPr>
          <p:nvPr/>
        </p:nvCxnSpPr>
        <p:spPr>
          <a:xfrm rot="10800000" flipV="1">
            <a:off x="3938895" y="2940997"/>
            <a:ext cx="145042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Image 46">
            <a:extLst>
              <a:ext uri="{FF2B5EF4-FFF2-40B4-BE49-F238E27FC236}">
                <a16:creationId xmlns:a16="http://schemas.microsoft.com/office/drawing/2014/main" id="{5684C887-250C-3EE4-51A9-97E49BAEE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108" y="2723464"/>
            <a:ext cx="180000" cy="180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A2DBB512-E0D6-1DCF-AD42-945E61453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152" y="2999093"/>
            <a:ext cx="180000" cy="180000"/>
          </a:xfrm>
          <a:prstGeom prst="rect">
            <a:avLst/>
          </a:prstGeom>
        </p:spPr>
      </p:pic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1C8C10B-28B1-AAD9-17B3-48F680D32BCC}"/>
              </a:ext>
            </a:extLst>
          </p:cNvPr>
          <p:cNvSpPr/>
          <p:nvPr/>
        </p:nvSpPr>
        <p:spPr>
          <a:xfrm>
            <a:off x="9634981" y="3314700"/>
            <a:ext cx="1365662" cy="1194790"/>
          </a:xfrm>
          <a:prstGeom prst="roundRect">
            <a:avLst>
              <a:gd name="adj" fmla="val 11914"/>
            </a:avLst>
          </a:prstGeom>
          <a:solidFill>
            <a:srgbClr val="B2CAD6"/>
          </a:solidFill>
          <a:ln w="19050">
            <a:solidFill>
              <a:srgbClr val="B2CA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D587E"/>
                </a:solidFill>
                <a:latin typeface="Arial Nova" panose="020B0504020202020204" pitchFamily="34" charset="0"/>
              </a:rPr>
              <a:t>Chariot</a:t>
            </a:r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505D6021-1B16-1674-733B-C648AC112904}"/>
              </a:ext>
            </a:extLst>
          </p:cNvPr>
          <p:cNvCxnSpPr>
            <a:cxnSpLocks/>
          </p:cNvCxnSpPr>
          <p:nvPr/>
        </p:nvCxnSpPr>
        <p:spPr>
          <a:xfrm flipV="1">
            <a:off x="8911620" y="3588469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C3681FD9-BFE4-7350-1964-9C093DDF1B5E}"/>
              </a:ext>
            </a:extLst>
          </p:cNvPr>
          <p:cNvGrpSpPr/>
          <p:nvPr/>
        </p:nvGrpSpPr>
        <p:grpSpPr>
          <a:xfrm>
            <a:off x="3770117" y="1810931"/>
            <a:ext cx="360000" cy="360000"/>
            <a:chOff x="6138169" y="4069439"/>
            <a:chExt cx="1800000" cy="1800000"/>
          </a:xfrm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599396A5-DEE6-FF8C-4576-A72DC9E6130D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F05DEF27-F929-BD20-2E07-1628A11DB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CEC25A5B-4B64-B67F-296D-04E6B189266D}"/>
              </a:ext>
            </a:extLst>
          </p:cNvPr>
          <p:cNvCxnSpPr/>
          <p:nvPr/>
        </p:nvCxnSpPr>
        <p:spPr>
          <a:xfrm flipV="1">
            <a:off x="6829319" y="1516430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7F3E2C-9FA7-42D8-DEF0-9439478A5709}"/>
              </a:ext>
            </a:extLst>
          </p:cNvPr>
          <p:cNvGrpSpPr/>
          <p:nvPr/>
        </p:nvGrpSpPr>
        <p:grpSpPr>
          <a:xfrm rot="5400000" flipV="1">
            <a:off x="10181964" y="3934713"/>
            <a:ext cx="835963" cy="1617775"/>
            <a:chOff x="9150640" y="2423323"/>
            <a:chExt cx="835963" cy="2135794"/>
          </a:xfrm>
        </p:grpSpPr>
        <p:sp>
          <p:nvSpPr>
            <p:cNvPr id="58" name="Flèche : virage 57">
              <a:extLst>
                <a:ext uri="{FF2B5EF4-FFF2-40B4-BE49-F238E27FC236}">
                  <a16:creationId xmlns:a16="http://schemas.microsoft.com/office/drawing/2014/main" id="{A404FB7A-E23C-BD6A-6263-4B2DE2013DB7}"/>
                </a:ext>
              </a:extLst>
            </p:cNvPr>
            <p:cNvSpPr/>
            <p:nvPr/>
          </p:nvSpPr>
          <p:spPr>
            <a:xfrm rot="5400000">
              <a:off x="8500725" y="3073238"/>
              <a:ext cx="2135794" cy="835963"/>
            </a:xfrm>
            <a:prstGeom prst="bentArrow">
              <a:avLst>
                <a:gd name="adj1" fmla="val 31434"/>
                <a:gd name="adj2" fmla="val 25000"/>
                <a:gd name="adj3" fmla="val 17852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D9969D2B-BFBA-54A7-C4C5-06DFD5138BC1}"/>
                </a:ext>
              </a:extLst>
            </p:cNvPr>
            <p:cNvSpPr txBox="1"/>
            <p:nvPr/>
          </p:nvSpPr>
          <p:spPr>
            <a:xfrm rot="16200000">
              <a:off x="8815678" y="3317013"/>
              <a:ext cx="1918043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Chariot en position finale</a:t>
              </a:r>
            </a:p>
          </p:txBody>
        </p: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32A82909-C4F5-9AA0-D150-C388F421C774}"/>
              </a:ext>
            </a:extLst>
          </p:cNvPr>
          <p:cNvGrpSpPr/>
          <p:nvPr/>
        </p:nvGrpSpPr>
        <p:grpSpPr>
          <a:xfrm>
            <a:off x="8594944" y="2722269"/>
            <a:ext cx="1566153" cy="577809"/>
            <a:chOff x="9058474" y="2836569"/>
            <a:chExt cx="1566153" cy="577809"/>
          </a:xfrm>
        </p:grpSpPr>
        <p:sp>
          <p:nvSpPr>
            <p:cNvPr id="61" name="Flèche : virage 60">
              <a:extLst>
                <a:ext uri="{FF2B5EF4-FFF2-40B4-BE49-F238E27FC236}">
                  <a16:creationId xmlns:a16="http://schemas.microsoft.com/office/drawing/2014/main" id="{FED08932-ADD7-D2A1-8E5A-D62CEEB1B93F}"/>
                </a:ext>
              </a:extLst>
            </p:cNvPr>
            <p:cNvSpPr/>
            <p:nvPr/>
          </p:nvSpPr>
          <p:spPr>
            <a:xfrm rot="5400000">
              <a:off x="9563593" y="2353345"/>
              <a:ext cx="572849" cy="1549218"/>
            </a:xfrm>
            <a:prstGeom prst="bentArrow">
              <a:avLst>
                <a:gd name="adj1" fmla="val 38639"/>
                <a:gd name="adj2" fmla="val 38302"/>
                <a:gd name="adj3" fmla="val 16744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2C25BFE2-5262-D3BC-BDD8-923C0B8002AD}"/>
                </a:ext>
              </a:extLst>
            </p:cNvPr>
            <p:cNvSpPr txBox="1"/>
            <p:nvPr/>
          </p:nvSpPr>
          <p:spPr>
            <a:xfrm>
              <a:off x="9058474" y="2836569"/>
              <a:ext cx="14737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Chariot en position initiale</a:t>
              </a:r>
            </a:p>
          </p:txBody>
        </p:sp>
      </p:grpSp>
      <p:pic>
        <p:nvPicPr>
          <p:cNvPr id="63" name="Image 62">
            <a:extLst>
              <a:ext uri="{FF2B5EF4-FFF2-40B4-BE49-F238E27FC236}">
                <a16:creationId xmlns:a16="http://schemas.microsoft.com/office/drawing/2014/main" id="{8DAAFC9A-79A3-4B2C-A73E-32BE33F62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545" y="1536359"/>
            <a:ext cx="434918" cy="1520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/>
              <p:nvPr/>
            </p:nvSpPr>
            <p:spPr>
              <a:xfrm>
                <a:off x="170158" y="3784816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230 V </a:t>
                </a:r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~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58" y="3784816"/>
                <a:ext cx="1161960" cy="276999"/>
              </a:xfrm>
              <a:prstGeom prst="rect">
                <a:avLst/>
              </a:prstGeom>
              <a:blipFill>
                <a:blip r:embed="rId9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/>
              <p:nvPr/>
            </p:nvSpPr>
            <p:spPr>
              <a:xfrm>
                <a:off x="2282648" y="3611652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44 V </a:t>
                </a:r>
                <a14:m>
                  <m:oMath xmlns:m="http://schemas.openxmlformats.org/officeDocument/2006/math">
                    <m:r>
                      <a:rPr lang="fr-FR" sz="1200" b="1" i="0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648" y="3611652"/>
                <a:ext cx="1161960" cy="276999"/>
              </a:xfrm>
              <a:prstGeom prst="rect">
                <a:avLst/>
              </a:prstGeom>
              <a:blipFill>
                <a:blip r:embed="rId10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7" name="Groupe 86">
            <a:extLst>
              <a:ext uri="{FF2B5EF4-FFF2-40B4-BE49-F238E27FC236}">
                <a16:creationId xmlns:a16="http://schemas.microsoft.com/office/drawing/2014/main" id="{E9153400-DF88-441B-1F32-AE824AB4C9D0}"/>
              </a:ext>
            </a:extLst>
          </p:cNvPr>
          <p:cNvGrpSpPr/>
          <p:nvPr/>
        </p:nvGrpSpPr>
        <p:grpSpPr>
          <a:xfrm>
            <a:off x="810280" y="1780222"/>
            <a:ext cx="360000" cy="360000"/>
            <a:chOff x="262758" y="2633974"/>
            <a:chExt cx="720000" cy="720000"/>
          </a:xfrm>
        </p:grpSpPr>
        <p:sp>
          <p:nvSpPr>
            <p:cNvPr id="88" name="Ellipse 87">
              <a:extLst>
                <a:ext uri="{FF2B5EF4-FFF2-40B4-BE49-F238E27FC236}">
                  <a16:creationId xmlns:a16="http://schemas.microsoft.com/office/drawing/2014/main" id="{903AB8DF-F4D2-7C8B-5ECC-CCE645EB9C9A}"/>
                </a:ext>
              </a:extLst>
            </p:cNvPr>
            <p:cNvSpPr/>
            <p:nvPr/>
          </p:nvSpPr>
          <p:spPr>
            <a:xfrm>
              <a:off x="262758" y="2633974"/>
              <a:ext cx="720000" cy="72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9" name="Image 88">
              <a:extLst>
                <a:ext uri="{FF2B5EF4-FFF2-40B4-BE49-F238E27FC236}">
                  <a16:creationId xmlns:a16="http://schemas.microsoft.com/office/drawing/2014/main" id="{D2C60E2E-75A4-B407-4649-EE5EC044068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63558" y="2734774"/>
              <a:ext cx="518400" cy="518400"/>
            </a:xfrm>
            <a:prstGeom prst="rect">
              <a:avLst/>
            </a:prstGeom>
          </p:spPr>
        </p:pic>
      </p:grpSp>
      <p:grpSp>
        <p:nvGrpSpPr>
          <p:cNvPr id="93" name="Groupe 92">
            <a:extLst>
              <a:ext uri="{FF2B5EF4-FFF2-40B4-BE49-F238E27FC236}">
                <a16:creationId xmlns:a16="http://schemas.microsoft.com/office/drawing/2014/main" id="{633A414C-079F-72BC-C836-01640E3DA896}"/>
              </a:ext>
            </a:extLst>
          </p:cNvPr>
          <p:cNvGrpSpPr/>
          <p:nvPr/>
        </p:nvGrpSpPr>
        <p:grpSpPr>
          <a:xfrm>
            <a:off x="1216851" y="1780222"/>
            <a:ext cx="360000" cy="360000"/>
            <a:chOff x="5404964" y="4396133"/>
            <a:chExt cx="1800000" cy="1800000"/>
          </a:xfrm>
        </p:grpSpPr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DA91EB8-E9B2-6DC6-B932-B3F8200FCB4C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5" name="Image 94">
              <a:extLst>
                <a:ext uri="{FF2B5EF4-FFF2-40B4-BE49-F238E27FC236}">
                  <a16:creationId xmlns:a16="http://schemas.microsoft.com/office/drawing/2014/main" id="{C57FF404-E034-F790-1839-6255F70696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pic>
        <p:nvPicPr>
          <p:cNvPr id="110" name="Image 109">
            <a:extLst>
              <a:ext uri="{FF2B5EF4-FFF2-40B4-BE49-F238E27FC236}">
                <a16:creationId xmlns:a16="http://schemas.microsoft.com/office/drawing/2014/main" id="{85C6EE0C-C52A-6134-EB1B-6F3C5749233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82791" y="3441988"/>
            <a:ext cx="288000" cy="105516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61781" y="4858776"/>
            <a:ext cx="8528438" cy="1018492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Les détecteurs de fin de course permettent l’initialisation des codeurs.</a:t>
            </a:r>
          </a:p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Le codeur incrémental (ou la règle magnétique selon le choix) permet de contrôler la position du chariot. Le capteur de courant peut être utilisé pour une régulation de courant. </a:t>
            </a:r>
          </a:p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les autres capteurs sont à but pédagogique.</a:t>
            </a:r>
          </a:p>
        </p:txBody>
      </p: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8AD15BE-FF0B-AB8F-1B32-BB8FEEBA2DEA}"/>
              </a:ext>
            </a:extLst>
          </p:cNvPr>
          <p:cNvGrpSpPr/>
          <p:nvPr/>
        </p:nvGrpSpPr>
        <p:grpSpPr>
          <a:xfrm>
            <a:off x="3747478" y="3711688"/>
            <a:ext cx="360000" cy="360000"/>
            <a:chOff x="4235640" y="2696679"/>
            <a:chExt cx="1800000" cy="1800000"/>
          </a:xfrm>
        </p:grpSpPr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617E9B91-42CB-D7A6-CB9D-2F41FFC4BB96}"/>
                </a:ext>
              </a:extLst>
            </p:cNvPr>
            <p:cNvSpPr/>
            <p:nvPr/>
          </p:nvSpPr>
          <p:spPr>
            <a:xfrm>
              <a:off x="4235640" y="2696679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5" name="Image 104">
              <a:extLst>
                <a:ext uri="{FF2B5EF4-FFF2-40B4-BE49-F238E27FC236}">
                  <a16:creationId xmlns:a16="http://schemas.microsoft.com/office/drawing/2014/main" id="{99E60331-B84D-5566-9183-29714B6CE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451640" y="3100228"/>
              <a:ext cx="1368000" cy="992903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/>
              <p:nvPr/>
            </p:nvSpPr>
            <p:spPr>
              <a:xfrm>
                <a:off x="4452429" y="3639956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40 V </a:t>
                </a:r>
                <a14:m>
                  <m:oMath xmlns:m="http://schemas.openxmlformats.org/officeDocument/2006/math">
                    <m:r>
                      <a:rPr lang="fr-FR" sz="1200" b="1" i="0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429" y="3639956"/>
                <a:ext cx="1161960" cy="276999"/>
              </a:xfrm>
              <a:prstGeom prst="rect">
                <a:avLst/>
              </a:prstGeom>
              <a:blipFill>
                <a:blip r:embed="rId15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e 2">
            <a:extLst>
              <a:ext uri="{FF2B5EF4-FFF2-40B4-BE49-F238E27FC236}">
                <a16:creationId xmlns:a16="http://schemas.microsoft.com/office/drawing/2014/main" id="{9A19CA4C-6716-A13D-581A-49247D9C8054}"/>
              </a:ext>
            </a:extLst>
          </p:cNvPr>
          <p:cNvGrpSpPr/>
          <p:nvPr/>
        </p:nvGrpSpPr>
        <p:grpSpPr>
          <a:xfrm>
            <a:off x="1613285" y="1770768"/>
            <a:ext cx="360000" cy="360000"/>
            <a:chOff x="3056845" y="1528414"/>
            <a:chExt cx="3454284" cy="3454284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E64C2532-4B47-B17E-3C77-C817CAE59FF5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23F22FB1-C429-397E-B898-D9AF1DF15B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89225F91-8C4A-4D28-806F-C285AA8AEAEF}"/>
              </a:ext>
            </a:extLst>
          </p:cNvPr>
          <p:cNvGrpSpPr/>
          <p:nvPr/>
        </p:nvGrpSpPr>
        <p:grpSpPr>
          <a:xfrm>
            <a:off x="2017649" y="1767756"/>
            <a:ext cx="360000" cy="360000"/>
            <a:chOff x="6054233" y="4960569"/>
            <a:chExt cx="1800000" cy="1800000"/>
          </a:xfrm>
        </p:grpSpPr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002BBCC8-7149-2E70-FA08-89D364A2E7EE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C676998-302E-BC6E-6F7D-BB576DC31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4EF7F7D8-2F1F-EFB2-7B01-FE36DBE37CAC}"/>
              </a:ext>
            </a:extLst>
          </p:cNvPr>
          <p:cNvGrpSpPr/>
          <p:nvPr/>
        </p:nvGrpSpPr>
        <p:grpSpPr>
          <a:xfrm>
            <a:off x="2426887" y="2177380"/>
            <a:ext cx="360000" cy="360000"/>
            <a:chOff x="8612196" y="3801520"/>
            <a:chExt cx="1800000" cy="1800000"/>
          </a:xfrm>
        </p:grpSpPr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592B6240-4C9F-EF53-43C9-2EF4042F1297}"/>
                </a:ext>
              </a:extLst>
            </p:cNvPr>
            <p:cNvSpPr/>
            <p:nvPr/>
          </p:nvSpPr>
          <p:spPr>
            <a:xfrm>
              <a:off x="8612196" y="3801520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38" name="Image 37">
              <a:extLst>
                <a:ext uri="{FF2B5EF4-FFF2-40B4-BE49-F238E27FC236}">
                  <a16:creationId xmlns:a16="http://schemas.microsoft.com/office/drawing/2014/main" id="{9B612B94-26B1-6868-1365-E552161EFE7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8696428" y="3885752"/>
              <a:ext cx="1631536" cy="1631536"/>
            </a:xfrm>
            <a:prstGeom prst="rect">
              <a:avLst/>
            </a:prstGeom>
          </p:spPr>
        </p:pic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35931AB4-0EF3-CC11-6A37-25E736DC8855}"/>
              </a:ext>
            </a:extLst>
          </p:cNvPr>
          <p:cNvGrpSpPr/>
          <p:nvPr/>
        </p:nvGrpSpPr>
        <p:grpSpPr>
          <a:xfrm>
            <a:off x="2430172" y="1780222"/>
            <a:ext cx="360000" cy="360000"/>
            <a:chOff x="7698044" y="3453428"/>
            <a:chExt cx="1800000" cy="1800000"/>
          </a:xfrm>
        </p:grpSpPr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662F5EF4-F0F0-CACE-D022-BD474B949765}"/>
                </a:ext>
              </a:extLst>
            </p:cNvPr>
            <p:cNvSpPr/>
            <p:nvPr/>
          </p:nvSpPr>
          <p:spPr>
            <a:xfrm>
              <a:off x="7698044" y="3453428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42" name="Image 41">
              <a:extLst>
                <a:ext uri="{FF2B5EF4-FFF2-40B4-BE49-F238E27FC236}">
                  <a16:creationId xmlns:a16="http://schemas.microsoft.com/office/drawing/2014/main" id="{207B4028-D127-40B0-9A2E-251E6B641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7939554" y="3812716"/>
              <a:ext cx="1316981" cy="1081424"/>
            </a:xfrm>
            <a:prstGeom prst="rect">
              <a:avLst/>
            </a:prstGeom>
          </p:spPr>
        </p:pic>
      </p:grpSp>
      <p:grpSp>
        <p:nvGrpSpPr>
          <p:cNvPr id="51" name="Groupe 50">
            <a:extLst>
              <a:ext uri="{FF2B5EF4-FFF2-40B4-BE49-F238E27FC236}">
                <a16:creationId xmlns:a16="http://schemas.microsoft.com/office/drawing/2014/main" id="{90192F0C-E06B-A7A0-99A2-7C7C5CBAD7E6}"/>
              </a:ext>
            </a:extLst>
          </p:cNvPr>
          <p:cNvGrpSpPr/>
          <p:nvPr/>
        </p:nvGrpSpPr>
        <p:grpSpPr>
          <a:xfrm>
            <a:off x="10675426" y="3370013"/>
            <a:ext cx="288000" cy="288000"/>
            <a:chOff x="8612196" y="3801520"/>
            <a:chExt cx="1800000" cy="1800000"/>
          </a:xfrm>
        </p:grpSpPr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9126D4A5-ABA9-E350-05D0-9D7192081282}"/>
                </a:ext>
              </a:extLst>
            </p:cNvPr>
            <p:cNvSpPr/>
            <p:nvPr/>
          </p:nvSpPr>
          <p:spPr>
            <a:xfrm>
              <a:off x="8612196" y="3801520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67" name="Image 66">
              <a:extLst>
                <a:ext uri="{FF2B5EF4-FFF2-40B4-BE49-F238E27FC236}">
                  <a16:creationId xmlns:a16="http://schemas.microsoft.com/office/drawing/2014/main" id="{B2474781-7BE1-7E02-9B96-01C2DA2C0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8696428" y="3885752"/>
              <a:ext cx="1631536" cy="1631536"/>
            </a:xfrm>
            <a:prstGeom prst="rect">
              <a:avLst/>
            </a:prstGeom>
          </p:spPr>
        </p:pic>
      </p:grpSp>
      <p:grpSp>
        <p:nvGrpSpPr>
          <p:cNvPr id="68" name="Groupe 67">
            <a:extLst>
              <a:ext uri="{FF2B5EF4-FFF2-40B4-BE49-F238E27FC236}">
                <a16:creationId xmlns:a16="http://schemas.microsoft.com/office/drawing/2014/main" id="{B841AA18-EE52-BF71-8A77-FCA95EC11591}"/>
              </a:ext>
            </a:extLst>
          </p:cNvPr>
          <p:cNvGrpSpPr/>
          <p:nvPr/>
        </p:nvGrpSpPr>
        <p:grpSpPr>
          <a:xfrm>
            <a:off x="6799383" y="3934954"/>
            <a:ext cx="288000" cy="288000"/>
            <a:chOff x="5404964" y="4396133"/>
            <a:chExt cx="1800000" cy="1800000"/>
          </a:xfrm>
        </p:grpSpPr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65F49912-F500-977C-390A-F4CE59EA478C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70" name="Image 69">
              <a:extLst>
                <a:ext uri="{FF2B5EF4-FFF2-40B4-BE49-F238E27FC236}">
                  <a16:creationId xmlns:a16="http://schemas.microsoft.com/office/drawing/2014/main" id="{E46C5A9A-E0F4-935F-E346-29D344A63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grpSp>
        <p:nvGrpSpPr>
          <p:cNvPr id="71" name="Groupe 70">
            <a:extLst>
              <a:ext uri="{FF2B5EF4-FFF2-40B4-BE49-F238E27FC236}">
                <a16:creationId xmlns:a16="http://schemas.microsoft.com/office/drawing/2014/main" id="{6E2DB5A2-88D8-9BD6-E420-B883EEA8731A}"/>
              </a:ext>
            </a:extLst>
          </p:cNvPr>
          <p:cNvGrpSpPr/>
          <p:nvPr/>
        </p:nvGrpSpPr>
        <p:grpSpPr>
          <a:xfrm>
            <a:off x="6807192" y="4243826"/>
            <a:ext cx="288000" cy="288000"/>
            <a:chOff x="3056845" y="1528414"/>
            <a:chExt cx="3454284" cy="3454284"/>
          </a:xfrm>
        </p:grpSpPr>
        <p:sp>
          <p:nvSpPr>
            <p:cNvPr id="73" name="Ellipse 72">
              <a:extLst>
                <a:ext uri="{FF2B5EF4-FFF2-40B4-BE49-F238E27FC236}">
                  <a16:creationId xmlns:a16="http://schemas.microsoft.com/office/drawing/2014/main" id="{FBCE808C-DE72-BDAB-20B9-B3F4648DADD5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74" name="Image 73">
              <a:extLst>
                <a:ext uri="{FF2B5EF4-FFF2-40B4-BE49-F238E27FC236}">
                  <a16:creationId xmlns:a16="http://schemas.microsoft.com/office/drawing/2014/main" id="{4DDD7701-B36E-5122-2296-250A5932B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19663B7E-D161-9EFA-9C0C-DD72CA7CD5F3}"/>
              </a:ext>
            </a:extLst>
          </p:cNvPr>
          <p:cNvGrpSpPr/>
          <p:nvPr/>
        </p:nvGrpSpPr>
        <p:grpSpPr>
          <a:xfrm>
            <a:off x="4569414" y="3996930"/>
            <a:ext cx="288000" cy="288000"/>
            <a:chOff x="6054233" y="4960569"/>
            <a:chExt cx="1800000" cy="1800000"/>
          </a:xfrm>
        </p:grpSpPr>
        <p:sp>
          <p:nvSpPr>
            <p:cNvPr id="83" name="Ellipse 82">
              <a:extLst>
                <a:ext uri="{FF2B5EF4-FFF2-40B4-BE49-F238E27FC236}">
                  <a16:creationId xmlns:a16="http://schemas.microsoft.com/office/drawing/2014/main" id="{16D5DB05-5A42-D1F5-377B-CDBD0872CC09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84" name="Image 83">
              <a:extLst>
                <a:ext uri="{FF2B5EF4-FFF2-40B4-BE49-F238E27FC236}">
                  <a16:creationId xmlns:a16="http://schemas.microsoft.com/office/drawing/2014/main" id="{7369074B-A1C6-2F25-51BF-F9B097312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85" name="Groupe 84">
            <a:extLst>
              <a:ext uri="{FF2B5EF4-FFF2-40B4-BE49-F238E27FC236}">
                <a16:creationId xmlns:a16="http://schemas.microsoft.com/office/drawing/2014/main" id="{F437ECE9-9E2D-BFC7-A0DF-EF636FA1ABBB}"/>
              </a:ext>
            </a:extLst>
          </p:cNvPr>
          <p:cNvGrpSpPr/>
          <p:nvPr/>
        </p:nvGrpSpPr>
        <p:grpSpPr>
          <a:xfrm>
            <a:off x="4569414" y="4316881"/>
            <a:ext cx="288000" cy="288000"/>
            <a:chOff x="7698044" y="3453428"/>
            <a:chExt cx="1800000" cy="1800000"/>
          </a:xfrm>
        </p:grpSpPr>
        <p:sp>
          <p:nvSpPr>
            <p:cNvPr id="86" name="Ellipse 85">
              <a:extLst>
                <a:ext uri="{FF2B5EF4-FFF2-40B4-BE49-F238E27FC236}">
                  <a16:creationId xmlns:a16="http://schemas.microsoft.com/office/drawing/2014/main" id="{E6CC4587-1D7D-076B-B029-3A21569085CF}"/>
                </a:ext>
              </a:extLst>
            </p:cNvPr>
            <p:cNvSpPr/>
            <p:nvPr/>
          </p:nvSpPr>
          <p:spPr>
            <a:xfrm>
              <a:off x="7698044" y="3453428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91" name="Image 90">
              <a:extLst>
                <a:ext uri="{FF2B5EF4-FFF2-40B4-BE49-F238E27FC236}">
                  <a16:creationId xmlns:a16="http://schemas.microsoft.com/office/drawing/2014/main" id="{41791507-689A-EC44-DCDE-0324A105C19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7939554" y="3812716"/>
              <a:ext cx="1316981" cy="1081424"/>
            </a:xfrm>
            <a:prstGeom prst="rect">
              <a:avLst/>
            </a:prstGeom>
          </p:spPr>
        </p:pic>
      </p:grpSp>
      <p:grpSp>
        <p:nvGrpSpPr>
          <p:cNvPr id="92" name="Groupe 91">
            <a:extLst>
              <a:ext uri="{FF2B5EF4-FFF2-40B4-BE49-F238E27FC236}">
                <a16:creationId xmlns:a16="http://schemas.microsoft.com/office/drawing/2014/main" id="{9F95A1EA-9092-5D0B-B7AC-F7CE46698DF0}"/>
              </a:ext>
            </a:extLst>
          </p:cNvPr>
          <p:cNvGrpSpPr/>
          <p:nvPr/>
        </p:nvGrpSpPr>
        <p:grpSpPr>
          <a:xfrm>
            <a:off x="2443733" y="2577720"/>
            <a:ext cx="360000" cy="360000"/>
            <a:chOff x="-2063262" y="2086237"/>
            <a:chExt cx="1800000" cy="1800000"/>
          </a:xfrm>
        </p:grpSpPr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845FC769-0299-0B5A-BCD6-DE55695F83D2}"/>
                </a:ext>
              </a:extLst>
            </p:cNvPr>
            <p:cNvSpPr/>
            <p:nvPr/>
          </p:nvSpPr>
          <p:spPr>
            <a:xfrm>
              <a:off x="-2063262" y="2086237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7" name="Image 96">
              <a:extLst>
                <a:ext uri="{FF2B5EF4-FFF2-40B4-BE49-F238E27FC236}">
                  <a16:creationId xmlns:a16="http://schemas.microsoft.com/office/drawing/2014/main" id="{6A7943FD-8BE6-B490-32BF-D4F134197C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-1609131" y="2149544"/>
              <a:ext cx="891738" cy="1673385"/>
            </a:xfrm>
            <a:prstGeom prst="rect">
              <a:avLst/>
            </a:prstGeom>
          </p:spPr>
        </p:pic>
      </p:grpSp>
      <p:grpSp>
        <p:nvGrpSpPr>
          <p:cNvPr id="98" name="Groupe 97">
            <a:extLst>
              <a:ext uri="{FF2B5EF4-FFF2-40B4-BE49-F238E27FC236}">
                <a16:creationId xmlns:a16="http://schemas.microsoft.com/office/drawing/2014/main" id="{FDD7D3C5-7014-8F67-1947-2626275503E2}"/>
              </a:ext>
            </a:extLst>
          </p:cNvPr>
          <p:cNvGrpSpPr/>
          <p:nvPr/>
        </p:nvGrpSpPr>
        <p:grpSpPr>
          <a:xfrm>
            <a:off x="10679278" y="3696059"/>
            <a:ext cx="288000" cy="288000"/>
            <a:chOff x="-2063262" y="2086237"/>
            <a:chExt cx="1800000" cy="1800000"/>
          </a:xfrm>
        </p:grpSpPr>
        <p:sp>
          <p:nvSpPr>
            <p:cNvPr id="99" name="Ellipse 98">
              <a:extLst>
                <a:ext uri="{FF2B5EF4-FFF2-40B4-BE49-F238E27FC236}">
                  <a16:creationId xmlns:a16="http://schemas.microsoft.com/office/drawing/2014/main" id="{B35256CE-9660-7734-0E5B-65E73BB68D56}"/>
                </a:ext>
              </a:extLst>
            </p:cNvPr>
            <p:cNvSpPr/>
            <p:nvPr/>
          </p:nvSpPr>
          <p:spPr>
            <a:xfrm>
              <a:off x="-2063262" y="2086237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0" name="Image 99">
              <a:extLst>
                <a:ext uri="{FF2B5EF4-FFF2-40B4-BE49-F238E27FC236}">
                  <a16:creationId xmlns:a16="http://schemas.microsoft.com/office/drawing/2014/main" id="{1B83FA9B-7FFD-974D-50C2-183E2ECB2E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-1609131" y="2149544"/>
              <a:ext cx="891738" cy="1673385"/>
            </a:xfrm>
            <a:prstGeom prst="rect">
              <a:avLst/>
            </a:prstGeom>
          </p:spPr>
        </p:pic>
      </p:grpSp>
      <p:grpSp>
        <p:nvGrpSpPr>
          <p:cNvPr id="101" name="Groupe 100">
            <a:extLst>
              <a:ext uri="{FF2B5EF4-FFF2-40B4-BE49-F238E27FC236}">
                <a16:creationId xmlns:a16="http://schemas.microsoft.com/office/drawing/2014/main" id="{3A416195-885D-B412-950E-1F349C5CC6AB}"/>
              </a:ext>
            </a:extLst>
          </p:cNvPr>
          <p:cNvGrpSpPr/>
          <p:nvPr/>
        </p:nvGrpSpPr>
        <p:grpSpPr>
          <a:xfrm>
            <a:off x="7528615" y="3732095"/>
            <a:ext cx="360000" cy="360000"/>
            <a:chOff x="5447928" y="2816932"/>
            <a:chExt cx="1800000" cy="1800000"/>
          </a:xfrm>
        </p:grpSpPr>
        <p:sp>
          <p:nvSpPr>
            <p:cNvPr id="108" name="Ellipse 107">
              <a:extLst>
                <a:ext uri="{FF2B5EF4-FFF2-40B4-BE49-F238E27FC236}">
                  <a16:creationId xmlns:a16="http://schemas.microsoft.com/office/drawing/2014/main" id="{689719FF-319E-F4C6-E150-B6C708728D00}"/>
                </a:ext>
              </a:extLst>
            </p:cNvPr>
            <p:cNvSpPr/>
            <p:nvPr/>
          </p:nvSpPr>
          <p:spPr>
            <a:xfrm>
              <a:off x="5447928" y="2816932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9" name="Image 108">
              <a:extLst>
                <a:ext uri="{FF2B5EF4-FFF2-40B4-BE49-F238E27FC236}">
                  <a16:creationId xmlns:a16="http://schemas.microsoft.com/office/drawing/2014/main" id="{1AC2262C-D76B-934A-5E65-99DB0E926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 flipH="1">
              <a:off x="5627848" y="2996852"/>
              <a:ext cx="1440160" cy="1440160"/>
            </a:xfrm>
            <a:prstGeom prst="rect">
              <a:avLst/>
            </a:prstGeom>
          </p:spPr>
        </p:pic>
      </p:grpSp>
      <p:grpSp>
        <p:nvGrpSpPr>
          <p:cNvPr id="141" name="Groupe 140">
            <a:extLst>
              <a:ext uri="{FF2B5EF4-FFF2-40B4-BE49-F238E27FC236}">
                <a16:creationId xmlns:a16="http://schemas.microsoft.com/office/drawing/2014/main" id="{BE6A74D9-C192-5A17-F5FE-88BC5C4327DA}"/>
              </a:ext>
            </a:extLst>
          </p:cNvPr>
          <p:cNvGrpSpPr/>
          <p:nvPr/>
        </p:nvGrpSpPr>
        <p:grpSpPr>
          <a:xfrm>
            <a:off x="8038574" y="3730141"/>
            <a:ext cx="360000" cy="360000"/>
            <a:chOff x="7534505" y="2636912"/>
            <a:chExt cx="1800000" cy="1800000"/>
          </a:xfrm>
        </p:grpSpPr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66699E75-99C4-8197-BA1A-E52C8118131B}"/>
                </a:ext>
              </a:extLst>
            </p:cNvPr>
            <p:cNvSpPr/>
            <p:nvPr/>
          </p:nvSpPr>
          <p:spPr>
            <a:xfrm>
              <a:off x="7534505" y="2636912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43" name="Image 142">
              <a:extLst>
                <a:ext uri="{FF2B5EF4-FFF2-40B4-BE49-F238E27FC236}">
                  <a16:creationId xmlns:a16="http://schemas.microsoft.com/office/drawing/2014/main" id="{4849A5C3-1A54-AD62-A58A-3C5A67A72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7630919" y="3092160"/>
              <a:ext cx="1607172" cy="889504"/>
            </a:xfrm>
            <a:prstGeom prst="rect">
              <a:avLst/>
            </a:prstGeom>
          </p:spPr>
        </p:pic>
      </p:grpSp>
      <p:grpSp>
        <p:nvGrpSpPr>
          <p:cNvPr id="144" name="Groupe 143">
            <a:extLst>
              <a:ext uri="{FF2B5EF4-FFF2-40B4-BE49-F238E27FC236}">
                <a16:creationId xmlns:a16="http://schemas.microsoft.com/office/drawing/2014/main" id="{F42FC7BB-0D90-60BC-4620-E57EB1B5005E}"/>
              </a:ext>
            </a:extLst>
          </p:cNvPr>
          <p:cNvGrpSpPr/>
          <p:nvPr/>
        </p:nvGrpSpPr>
        <p:grpSpPr>
          <a:xfrm>
            <a:off x="8572631" y="3750151"/>
            <a:ext cx="360000" cy="360000"/>
            <a:chOff x="5537408" y="1765068"/>
            <a:chExt cx="1800000" cy="1800000"/>
          </a:xfrm>
        </p:grpSpPr>
        <p:sp>
          <p:nvSpPr>
            <p:cNvPr id="145" name="Ellipse 144">
              <a:extLst>
                <a:ext uri="{FF2B5EF4-FFF2-40B4-BE49-F238E27FC236}">
                  <a16:creationId xmlns:a16="http://schemas.microsoft.com/office/drawing/2014/main" id="{007B21D5-7097-F0FF-F65C-BD19FFB67165}"/>
                </a:ext>
              </a:extLst>
            </p:cNvPr>
            <p:cNvSpPr/>
            <p:nvPr/>
          </p:nvSpPr>
          <p:spPr>
            <a:xfrm>
              <a:off x="5537408" y="1765068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46" name="Image 145">
              <a:extLst>
                <a:ext uri="{FF2B5EF4-FFF2-40B4-BE49-F238E27FC236}">
                  <a16:creationId xmlns:a16="http://schemas.microsoft.com/office/drawing/2014/main" id="{33AF1F32-6023-D462-64ED-2F325B3B52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5717408" y="1945068"/>
              <a:ext cx="1440000" cy="1440000"/>
            </a:xfrm>
            <a:prstGeom prst="rect">
              <a:avLst/>
            </a:prstGeom>
          </p:spPr>
        </p:pic>
      </p:grpSp>
      <p:cxnSp>
        <p:nvCxnSpPr>
          <p:cNvPr id="75" name="Connecteur droit 74">
            <a:extLst>
              <a:ext uri="{FF2B5EF4-FFF2-40B4-BE49-F238E27FC236}">
                <a16:creationId xmlns:a16="http://schemas.microsoft.com/office/drawing/2014/main" id="{EAF133E7-7F15-78AB-8E22-C0C0B994F02E}"/>
              </a:ext>
            </a:extLst>
          </p:cNvPr>
          <p:cNvCxnSpPr>
            <a:endCxn id="58" idx="0"/>
          </p:cNvCxnSpPr>
          <p:nvPr/>
        </p:nvCxnSpPr>
        <p:spPr>
          <a:xfrm>
            <a:off x="-114300" y="1199142"/>
            <a:ext cx="11373897" cy="3962441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05</a:t>
            </a:r>
            <a:br>
              <a:rPr lang="fr-FR" dirty="0"/>
            </a:br>
            <a:r>
              <a:rPr lang="fr-FR" dirty="0"/>
              <a:t>Résolution Cinématique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33998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AE76C-9DD9-A097-4AF3-D58DA55C6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0ADF847-D117-615F-3419-76BB84B51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09</a:t>
            </a:r>
            <a:br>
              <a:rPr lang="fr-FR" dirty="0"/>
            </a:br>
            <a:r>
              <a:rPr lang="fr-FR" dirty="0"/>
              <a:t>Dimensionnement actionneur dynamique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331074A-9658-B14D-8F5F-C474BC03EE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91030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601E16-E4F1-44E0-72A0-9CF4D2B86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Dynamique &amp;  Commande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B07771D-CAF0-21E1-0327-A14A2B370D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4259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9BBF4B35-3921-F58E-677F-379B946BA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Déplacement de la matrice d’inertie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Espace réservé du contenu 4">
                <a:extLst>
                  <a:ext uri="{FF2B5EF4-FFF2-40B4-BE49-F238E27FC236}">
                    <a16:creationId xmlns:a16="http://schemas.microsoft.com/office/drawing/2014/main" id="{AAF013CC-045C-3C35-ABC8-9B955AF225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10900795" cy="5253339"/>
              </a:xfrm>
            </p:spPr>
            <p:txBody>
              <a:bodyPr>
                <a:normAutofit fontScale="92500"/>
              </a:bodyPr>
              <a:lstStyle/>
              <a:p>
                <a:r>
                  <a:rPr lang="fr-FR" dirty="0"/>
                  <a:t>Matrice de passage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ℬ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fr-FR" dirty="0"/>
                  <a:t>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ℬ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fr-FR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fr-FR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sub>
                    </m:sSub>
                  </m:oMath>
                </a14:m>
                <a:endParaRPr lang="fr-FR" b="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fr-FR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fr-FR" dirty="0">
                  <a:ea typeface="Cambria Math" panose="02040503050406030204" pitchFamily="18" charset="0"/>
                </a:endParaRPr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5" name="Espace réservé du contenu 4">
                <a:extLst>
                  <a:ext uri="{FF2B5EF4-FFF2-40B4-BE49-F238E27FC236}">
                    <a16:creationId xmlns:a16="http://schemas.microsoft.com/office/drawing/2014/main" id="{AAF013CC-045C-3C35-ABC8-9B955AF225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10900795" cy="5253339"/>
              </a:xfrm>
              <a:blipFill>
                <a:blip r:embed="rId2"/>
                <a:stretch>
                  <a:fillRect l="-1342" t="-174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1" name="Groupe 50">
            <a:extLst>
              <a:ext uri="{FF2B5EF4-FFF2-40B4-BE49-F238E27FC236}">
                <a16:creationId xmlns:a16="http://schemas.microsoft.com/office/drawing/2014/main" id="{DE82CCD4-AB51-0377-DD95-4A35EB13909D}"/>
              </a:ext>
            </a:extLst>
          </p:cNvPr>
          <p:cNvGrpSpPr/>
          <p:nvPr/>
        </p:nvGrpSpPr>
        <p:grpSpPr>
          <a:xfrm>
            <a:off x="7016947" y="0"/>
            <a:ext cx="4953145" cy="2905082"/>
            <a:chOff x="4068007" y="181018"/>
            <a:chExt cx="4953145" cy="2905082"/>
          </a:xfrm>
        </p:grpSpPr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2085C39A-18BE-855A-555D-6FAED40E6F22}"/>
                </a:ext>
              </a:extLst>
            </p:cNvPr>
            <p:cNvCxnSpPr>
              <a:cxnSpLocks/>
            </p:cNvCxnSpPr>
            <p:nvPr/>
          </p:nvCxnSpPr>
          <p:spPr>
            <a:xfrm>
              <a:off x="7289800" y="368300"/>
              <a:ext cx="0" cy="543881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  <a:headEnd type="stealth" w="med" len="lg"/>
              <a:tailEnd type="none"/>
            </a:ln>
            <a:effectLst/>
          </p:spPr>
        </p:cxnSp>
        <p:cxnSp>
          <p:nvCxnSpPr>
            <p:cNvPr id="7" name="Connecteur droit 6">
              <a:extLst>
                <a:ext uri="{FF2B5EF4-FFF2-40B4-BE49-F238E27FC236}">
                  <a16:creationId xmlns:a16="http://schemas.microsoft.com/office/drawing/2014/main" id="{4C28A39A-A4A9-9E40-76FB-AF2451A471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74257" y="479869"/>
              <a:ext cx="788749" cy="443431"/>
            </a:xfrm>
            <a:prstGeom prst="line">
              <a:avLst/>
            </a:prstGeom>
            <a:noFill/>
            <a:ln w="28575" cap="flat" cmpd="sng" algn="ctr">
              <a:solidFill>
                <a:srgbClr val="002060"/>
              </a:solidFill>
              <a:prstDash val="solid"/>
              <a:miter lim="800000"/>
              <a:headEnd type="stealth" w="med" len="lg"/>
              <a:tailEnd type="none"/>
            </a:ln>
            <a:effectLst/>
          </p:spPr>
        </p:cxnSp>
        <p:sp>
          <p:nvSpPr>
            <p:cNvPr id="8" name="Cylindre 7">
              <a:extLst>
                <a:ext uri="{FF2B5EF4-FFF2-40B4-BE49-F238E27FC236}">
                  <a16:creationId xmlns:a16="http://schemas.microsoft.com/office/drawing/2014/main" id="{745C857A-4E45-B63D-12BC-923D2A18BC33}"/>
                </a:ext>
              </a:extLst>
            </p:cNvPr>
            <p:cNvSpPr/>
            <p:nvPr/>
          </p:nvSpPr>
          <p:spPr>
            <a:xfrm>
              <a:off x="4789298" y="2481439"/>
              <a:ext cx="216000" cy="432000"/>
            </a:xfrm>
            <a:prstGeom prst="can">
              <a:avLst>
                <a:gd name="adj" fmla="val 52625"/>
              </a:avLst>
            </a:prstGeom>
            <a:noFill/>
            <a:ln w="2857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Connecteur droit 8">
              <a:extLst>
                <a:ext uri="{FF2B5EF4-FFF2-40B4-BE49-F238E27FC236}">
                  <a16:creationId xmlns:a16="http://schemas.microsoft.com/office/drawing/2014/main" id="{09B3E5E5-5206-21CB-CF82-579FEBE34D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09531" y="2100910"/>
              <a:ext cx="1001801" cy="596529"/>
            </a:xfrm>
            <a:prstGeom prst="line">
              <a:avLst/>
            </a:prstGeom>
            <a:noFill/>
            <a:ln w="2857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E4CB9103-A538-2E5E-0D4E-A7D22ED7650B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>
              <a:off x="4897298" y="2913439"/>
              <a:ext cx="0" cy="172661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A7009CA4-C875-E0B5-ABA9-D611C5C83B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71996" y="1410929"/>
              <a:ext cx="1029523" cy="578792"/>
            </a:xfrm>
            <a:prstGeom prst="line">
              <a:avLst/>
            </a:prstGeom>
            <a:noFill/>
            <a:ln w="2857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</p:cxn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D87698C0-D4EE-1442-C8D9-0CCB05A8864C}"/>
                </a:ext>
              </a:extLst>
            </p:cNvPr>
            <p:cNvCxnSpPr>
              <a:cxnSpLocks/>
            </p:cNvCxnSpPr>
            <p:nvPr/>
          </p:nvCxnSpPr>
          <p:spPr>
            <a:xfrm>
              <a:off x="4897298" y="2197100"/>
              <a:ext cx="0" cy="347839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</p:cxnSp>
        <p:sp>
          <p:nvSpPr>
            <p:cNvPr id="13" name="Cylindre 12">
              <a:extLst>
                <a:ext uri="{FF2B5EF4-FFF2-40B4-BE49-F238E27FC236}">
                  <a16:creationId xmlns:a16="http://schemas.microsoft.com/office/drawing/2014/main" id="{0623E184-1385-C865-3368-2FE60D016258}"/>
                </a:ext>
              </a:extLst>
            </p:cNvPr>
            <p:cNvSpPr/>
            <p:nvPr/>
          </p:nvSpPr>
          <p:spPr>
            <a:xfrm>
              <a:off x="7177667" y="1173339"/>
              <a:ext cx="216000" cy="432000"/>
            </a:xfrm>
            <a:prstGeom prst="can">
              <a:avLst>
                <a:gd name="adj" fmla="val 52625"/>
              </a:avLst>
            </a:prstGeom>
            <a:noFill/>
            <a:ln w="28575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791D3E2D-9820-C27B-4A18-2363CE4F2F54}"/>
                </a:ext>
              </a:extLst>
            </p:cNvPr>
            <p:cNvCxnSpPr>
              <a:cxnSpLocks/>
              <a:stCxn id="13" idx="3"/>
            </p:cNvCxnSpPr>
            <p:nvPr/>
          </p:nvCxnSpPr>
          <p:spPr>
            <a:xfrm>
              <a:off x="7285667" y="1605339"/>
              <a:ext cx="0" cy="172661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7C32AE4B-C41C-58B0-4690-0861DC91D8E2}"/>
                </a:ext>
              </a:extLst>
            </p:cNvPr>
            <p:cNvCxnSpPr>
              <a:cxnSpLocks/>
            </p:cNvCxnSpPr>
            <p:nvPr/>
          </p:nvCxnSpPr>
          <p:spPr>
            <a:xfrm>
              <a:off x="7285667" y="889000"/>
              <a:ext cx="0" cy="347839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</p:cxn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4FE92BA5-2E86-FAC0-1115-F2B2A2E1D3FA}"/>
                </a:ext>
              </a:extLst>
            </p:cNvPr>
            <p:cNvSpPr/>
            <p:nvPr/>
          </p:nvSpPr>
          <p:spPr>
            <a:xfrm rot="336999">
              <a:off x="4111323" y="2046673"/>
              <a:ext cx="1628118" cy="245262"/>
            </a:xfrm>
            <a:custGeom>
              <a:avLst/>
              <a:gdLst>
                <a:gd name="connsiteX0" fmla="*/ 1713372 w 1713372"/>
                <a:gd name="connsiteY0" fmla="*/ 0 h 368310"/>
                <a:gd name="connsiteX1" fmla="*/ 722772 w 1713372"/>
                <a:gd name="connsiteY1" fmla="*/ 368300 h 368310"/>
                <a:gd name="connsiteX2" fmla="*/ 5222 w 1713372"/>
                <a:gd name="connsiteY2" fmla="*/ 12700 h 368310"/>
                <a:gd name="connsiteX3" fmla="*/ 1091072 w 1713372"/>
                <a:gd name="connsiteY3" fmla="*/ 228600 h 368310"/>
                <a:gd name="connsiteX0" fmla="*/ 1128395 w 1128395"/>
                <a:gd name="connsiteY0" fmla="*/ 363008 h 457392"/>
                <a:gd name="connsiteX1" fmla="*/ 721995 w 1128395"/>
                <a:gd name="connsiteY1" fmla="*/ 356658 h 457392"/>
                <a:gd name="connsiteX2" fmla="*/ 4445 w 1128395"/>
                <a:gd name="connsiteY2" fmla="*/ 1058 h 457392"/>
                <a:gd name="connsiteX3" fmla="*/ 1090295 w 1128395"/>
                <a:gd name="connsiteY3" fmla="*/ 216958 h 457392"/>
                <a:gd name="connsiteX0" fmla="*/ 1125223 w 2320622"/>
                <a:gd name="connsiteY0" fmla="*/ 729521 h 755391"/>
                <a:gd name="connsiteX1" fmla="*/ 2306323 w 2320622"/>
                <a:gd name="connsiteY1" fmla="*/ 5621 h 755391"/>
                <a:gd name="connsiteX2" fmla="*/ 1273 w 2320622"/>
                <a:gd name="connsiteY2" fmla="*/ 367571 h 755391"/>
                <a:gd name="connsiteX3" fmla="*/ 1087123 w 2320622"/>
                <a:gd name="connsiteY3" fmla="*/ 583471 h 755391"/>
                <a:gd name="connsiteX0" fmla="*/ 1125040 w 2315966"/>
                <a:gd name="connsiteY0" fmla="*/ 833591 h 850091"/>
                <a:gd name="connsiteX1" fmla="*/ 2306140 w 2315966"/>
                <a:gd name="connsiteY1" fmla="*/ 109691 h 850091"/>
                <a:gd name="connsiteX2" fmla="*/ 1090 w 2315966"/>
                <a:gd name="connsiteY2" fmla="*/ 471641 h 850091"/>
                <a:gd name="connsiteX3" fmla="*/ 1086940 w 2315966"/>
                <a:gd name="connsiteY3" fmla="*/ 687541 h 850091"/>
                <a:gd name="connsiteX0" fmla="*/ 1125040 w 2315966"/>
                <a:gd name="connsiteY0" fmla="*/ 833591 h 850091"/>
                <a:gd name="connsiteX1" fmla="*/ 2306140 w 2315966"/>
                <a:gd name="connsiteY1" fmla="*/ 109691 h 850091"/>
                <a:gd name="connsiteX2" fmla="*/ 1090 w 2315966"/>
                <a:gd name="connsiteY2" fmla="*/ 471641 h 850091"/>
                <a:gd name="connsiteX3" fmla="*/ 1086940 w 2315966"/>
                <a:gd name="connsiteY3" fmla="*/ 687541 h 850091"/>
                <a:gd name="connsiteX0" fmla="*/ 1264858 w 2463664"/>
                <a:gd name="connsiteY0" fmla="*/ 723930 h 748460"/>
                <a:gd name="connsiteX1" fmla="*/ 2445958 w 2463664"/>
                <a:gd name="connsiteY1" fmla="*/ 30 h 748460"/>
                <a:gd name="connsiteX2" fmla="*/ 1208 w 2463664"/>
                <a:gd name="connsiteY2" fmla="*/ 692180 h 748460"/>
                <a:gd name="connsiteX3" fmla="*/ 1226758 w 2463664"/>
                <a:gd name="connsiteY3" fmla="*/ 577880 h 748460"/>
                <a:gd name="connsiteX0" fmla="*/ 1214082 w 2411615"/>
                <a:gd name="connsiteY0" fmla="*/ 728686 h 1217983"/>
                <a:gd name="connsiteX1" fmla="*/ 2395182 w 2411615"/>
                <a:gd name="connsiteY1" fmla="*/ 4786 h 1217983"/>
                <a:gd name="connsiteX2" fmla="*/ 1232 w 2411615"/>
                <a:gd name="connsiteY2" fmla="*/ 1217636 h 1217983"/>
                <a:gd name="connsiteX3" fmla="*/ 1175982 w 2411615"/>
                <a:gd name="connsiteY3" fmla="*/ 582636 h 1217983"/>
                <a:gd name="connsiteX0" fmla="*/ 1212850 w 2410383"/>
                <a:gd name="connsiteY0" fmla="*/ 728686 h 1259527"/>
                <a:gd name="connsiteX1" fmla="*/ 2393950 w 2410383"/>
                <a:gd name="connsiteY1" fmla="*/ 4786 h 1259527"/>
                <a:gd name="connsiteX2" fmla="*/ 0 w 2410383"/>
                <a:gd name="connsiteY2" fmla="*/ 1217636 h 1259527"/>
                <a:gd name="connsiteX3" fmla="*/ 1174750 w 2410383"/>
                <a:gd name="connsiteY3" fmla="*/ 582636 h 1259527"/>
                <a:gd name="connsiteX0" fmla="*/ 1212850 w 2419691"/>
                <a:gd name="connsiteY0" fmla="*/ 774951 h 1296766"/>
                <a:gd name="connsiteX1" fmla="*/ 2393950 w 2419691"/>
                <a:gd name="connsiteY1" fmla="*/ 51051 h 1296766"/>
                <a:gd name="connsiteX2" fmla="*/ 0 w 2419691"/>
                <a:gd name="connsiteY2" fmla="*/ 1263901 h 1296766"/>
                <a:gd name="connsiteX3" fmla="*/ 1174750 w 2419691"/>
                <a:gd name="connsiteY3" fmla="*/ 628901 h 1296766"/>
                <a:gd name="connsiteX0" fmla="*/ 1257575 w 2464416"/>
                <a:gd name="connsiteY0" fmla="*/ 768967 h 1361009"/>
                <a:gd name="connsiteX1" fmla="*/ 2438675 w 2464416"/>
                <a:gd name="connsiteY1" fmla="*/ 45067 h 1361009"/>
                <a:gd name="connsiteX2" fmla="*/ 44725 w 2464416"/>
                <a:gd name="connsiteY2" fmla="*/ 1257917 h 1361009"/>
                <a:gd name="connsiteX3" fmla="*/ 1219475 w 2464416"/>
                <a:gd name="connsiteY3" fmla="*/ 622917 h 1361009"/>
                <a:gd name="connsiteX0" fmla="*/ 1215327 w 2422168"/>
                <a:gd name="connsiteY0" fmla="*/ 768398 h 1369446"/>
                <a:gd name="connsiteX1" fmla="*/ 2396427 w 2422168"/>
                <a:gd name="connsiteY1" fmla="*/ 44498 h 1369446"/>
                <a:gd name="connsiteX2" fmla="*/ 2477 w 2422168"/>
                <a:gd name="connsiteY2" fmla="*/ 1257348 h 1369446"/>
                <a:gd name="connsiteX3" fmla="*/ 1177227 w 2422168"/>
                <a:gd name="connsiteY3" fmla="*/ 622348 h 1369446"/>
                <a:gd name="connsiteX0" fmla="*/ 1202578 w 2399799"/>
                <a:gd name="connsiteY0" fmla="*/ 1148279 h 1177192"/>
                <a:gd name="connsiteX1" fmla="*/ 2383678 w 2399799"/>
                <a:gd name="connsiteY1" fmla="*/ 424379 h 1177192"/>
                <a:gd name="connsiteX2" fmla="*/ 2428 w 2399799"/>
                <a:gd name="connsiteY2" fmla="*/ 144979 h 1177192"/>
                <a:gd name="connsiteX3" fmla="*/ 1164478 w 2399799"/>
                <a:gd name="connsiteY3" fmla="*/ 1002229 h 1177192"/>
                <a:gd name="connsiteX0" fmla="*/ 1202378 w 2383505"/>
                <a:gd name="connsiteY0" fmla="*/ 1148279 h 1188730"/>
                <a:gd name="connsiteX1" fmla="*/ 2383478 w 2383505"/>
                <a:gd name="connsiteY1" fmla="*/ 424379 h 1188730"/>
                <a:gd name="connsiteX2" fmla="*/ 2228 w 2383505"/>
                <a:gd name="connsiteY2" fmla="*/ 144979 h 1188730"/>
                <a:gd name="connsiteX3" fmla="*/ 1164278 w 2383505"/>
                <a:gd name="connsiteY3" fmla="*/ 1002229 h 1188730"/>
                <a:gd name="connsiteX0" fmla="*/ 1226562 w 2414042"/>
                <a:gd name="connsiteY0" fmla="*/ 1218647 h 1247430"/>
                <a:gd name="connsiteX1" fmla="*/ 2414012 w 2414042"/>
                <a:gd name="connsiteY1" fmla="*/ 234397 h 1247430"/>
                <a:gd name="connsiteX2" fmla="*/ 26412 w 2414042"/>
                <a:gd name="connsiteY2" fmla="*/ 215347 h 1247430"/>
                <a:gd name="connsiteX3" fmla="*/ 1188462 w 2414042"/>
                <a:gd name="connsiteY3" fmla="*/ 1072597 h 1247430"/>
                <a:gd name="connsiteX0" fmla="*/ 1224397 w 2411877"/>
                <a:gd name="connsiteY0" fmla="*/ 1182661 h 1211444"/>
                <a:gd name="connsiteX1" fmla="*/ 2411847 w 2411877"/>
                <a:gd name="connsiteY1" fmla="*/ 198411 h 1211444"/>
                <a:gd name="connsiteX2" fmla="*/ 24247 w 2411877"/>
                <a:gd name="connsiteY2" fmla="*/ 179361 h 1211444"/>
                <a:gd name="connsiteX3" fmla="*/ 1224397 w 2411877"/>
                <a:gd name="connsiteY3" fmla="*/ 211111 h 1211444"/>
                <a:gd name="connsiteX0" fmla="*/ 1243447 w 2428551"/>
                <a:gd name="connsiteY0" fmla="*/ 25583 h 106259"/>
                <a:gd name="connsiteX1" fmla="*/ 2411847 w 2428551"/>
                <a:gd name="connsiteY1" fmla="*/ 19233 h 106259"/>
                <a:gd name="connsiteX2" fmla="*/ 24247 w 2428551"/>
                <a:gd name="connsiteY2" fmla="*/ 183 h 106259"/>
                <a:gd name="connsiteX3" fmla="*/ 1224397 w 2428551"/>
                <a:gd name="connsiteY3" fmla="*/ 31933 h 106259"/>
                <a:gd name="connsiteX0" fmla="*/ 1243447 w 2440774"/>
                <a:gd name="connsiteY0" fmla="*/ 142292 h 200114"/>
                <a:gd name="connsiteX1" fmla="*/ 2411847 w 2440774"/>
                <a:gd name="connsiteY1" fmla="*/ 135942 h 200114"/>
                <a:gd name="connsiteX2" fmla="*/ 24247 w 2440774"/>
                <a:gd name="connsiteY2" fmla="*/ 116892 h 200114"/>
                <a:gd name="connsiteX3" fmla="*/ 1224397 w 2440774"/>
                <a:gd name="connsiteY3" fmla="*/ 148642 h 200114"/>
                <a:gd name="connsiteX0" fmla="*/ 1243447 w 2432201"/>
                <a:gd name="connsiteY0" fmla="*/ 205719 h 291131"/>
                <a:gd name="connsiteX1" fmla="*/ 2411847 w 2432201"/>
                <a:gd name="connsiteY1" fmla="*/ 199369 h 291131"/>
                <a:gd name="connsiteX2" fmla="*/ 24247 w 2432201"/>
                <a:gd name="connsiteY2" fmla="*/ 180319 h 291131"/>
                <a:gd name="connsiteX3" fmla="*/ 1224397 w 2432201"/>
                <a:gd name="connsiteY3" fmla="*/ 212069 h 291131"/>
                <a:gd name="connsiteX0" fmla="*/ 1222382 w 2411136"/>
                <a:gd name="connsiteY0" fmla="*/ 205719 h 414072"/>
                <a:gd name="connsiteX1" fmla="*/ 2390782 w 2411136"/>
                <a:gd name="connsiteY1" fmla="*/ 199369 h 414072"/>
                <a:gd name="connsiteX2" fmla="*/ 3182 w 2411136"/>
                <a:gd name="connsiteY2" fmla="*/ 180319 h 414072"/>
                <a:gd name="connsiteX3" fmla="*/ 1203332 w 2411136"/>
                <a:gd name="connsiteY3" fmla="*/ 212069 h 414072"/>
                <a:gd name="connsiteX0" fmla="*/ 1219201 w 2407955"/>
                <a:gd name="connsiteY0" fmla="*/ 205719 h 435944"/>
                <a:gd name="connsiteX1" fmla="*/ 2387601 w 2407955"/>
                <a:gd name="connsiteY1" fmla="*/ 199369 h 435944"/>
                <a:gd name="connsiteX2" fmla="*/ 1 w 2407955"/>
                <a:gd name="connsiteY2" fmla="*/ 180319 h 435944"/>
                <a:gd name="connsiteX3" fmla="*/ 1200151 w 2407955"/>
                <a:gd name="connsiteY3" fmla="*/ 212069 h 435944"/>
                <a:gd name="connsiteX0" fmla="*/ 1219201 w 2387713"/>
                <a:gd name="connsiteY0" fmla="*/ 300255 h 530480"/>
                <a:gd name="connsiteX1" fmla="*/ 2387601 w 2387713"/>
                <a:gd name="connsiteY1" fmla="*/ 293905 h 530480"/>
                <a:gd name="connsiteX2" fmla="*/ 1 w 2387713"/>
                <a:gd name="connsiteY2" fmla="*/ 274855 h 530480"/>
                <a:gd name="connsiteX3" fmla="*/ 1200151 w 2387713"/>
                <a:gd name="connsiteY3" fmla="*/ 306605 h 530480"/>
                <a:gd name="connsiteX0" fmla="*/ 1219201 w 2387713"/>
                <a:gd name="connsiteY0" fmla="*/ 300255 h 519793"/>
                <a:gd name="connsiteX1" fmla="*/ 2387601 w 2387713"/>
                <a:gd name="connsiteY1" fmla="*/ 293905 h 519793"/>
                <a:gd name="connsiteX2" fmla="*/ 1 w 2387713"/>
                <a:gd name="connsiteY2" fmla="*/ 274855 h 519793"/>
                <a:gd name="connsiteX3" fmla="*/ 1200151 w 2387713"/>
                <a:gd name="connsiteY3" fmla="*/ 306605 h 519793"/>
                <a:gd name="connsiteX0" fmla="*/ 1219246 w 2387758"/>
                <a:gd name="connsiteY0" fmla="*/ 300255 h 467398"/>
                <a:gd name="connsiteX1" fmla="*/ 2387646 w 2387758"/>
                <a:gd name="connsiteY1" fmla="*/ 293905 h 467398"/>
                <a:gd name="connsiteX2" fmla="*/ 46 w 2387758"/>
                <a:gd name="connsiteY2" fmla="*/ 274855 h 467398"/>
                <a:gd name="connsiteX3" fmla="*/ 1200196 w 2387758"/>
                <a:gd name="connsiteY3" fmla="*/ 306605 h 467398"/>
                <a:gd name="connsiteX0" fmla="*/ 1219246 w 2390051"/>
                <a:gd name="connsiteY0" fmla="*/ 249789 h 416932"/>
                <a:gd name="connsiteX1" fmla="*/ 2387646 w 2390051"/>
                <a:gd name="connsiteY1" fmla="*/ 243439 h 416932"/>
                <a:gd name="connsiteX2" fmla="*/ 46 w 2390051"/>
                <a:gd name="connsiteY2" fmla="*/ 224389 h 416932"/>
                <a:gd name="connsiteX3" fmla="*/ 1200196 w 2390051"/>
                <a:gd name="connsiteY3" fmla="*/ 256139 h 416932"/>
                <a:gd name="connsiteX0" fmla="*/ 1251010 w 2421815"/>
                <a:gd name="connsiteY0" fmla="*/ 249789 h 386974"/>
                <a:gd name="connsiteX1" fmla="*/ 2419410 w 2421815"/>
                <a:gd name="connsiteY1" fmla="*/ 243439 h 386974"/>
                <a:gd name="connsiteX2" fmla="*/ 31810 w 2421815"/>
                <a:gd name="connsiteY2" fmla="*/ 224389 h 386974"/>
                <a:gd name="connsiteX3" fmla="*/ 1111310 w 2421815"/>
                <a:gd name="connsiteY3" fmla="*/ 306939 h 386974"/>
                <a:gd name="connsiteX0" fmla="*/ 1220272 w 2391077"/>
                <a:gd name="connsiteY0" fmla="*/ 249789 h 409575"/>
                <a:gd name="connsiteX1" fmla="*/ 2388672 w 2391077"/>
                <a:gd name="connsiteY1" fmla="*/ 243439 h 409575"/>
                <a:gd name="connsiteX2" fmla="*/ 1072 w 2391077"/>
                <a:gd name="connsiteY2" fmla="*/ 224389 h 409575"/>
                <a:gd name="connsiteX3" fmla="*/ 1080572 w 2391077"/>
                <a:gd name="connsiteY3" fmla="*/ 306939 h 409575"/>
                <a:gd name="connsiteX0" fmla="*/ 1220272 w 2391215"/>
                <a:gd name="connsiteY0" fmla="*/ 200430 h 360216"/>
                <a:gd name="connsiteX1" fmla="*/ 2388672 w 2391215"/>
                <a:gd name="connsiteY1" fmla="*/ 194080 h 360216"/>
                <a:gd name="connsiteX2" fmla="*/ 1072 w 2391215"/>
                <a:gd name="connsiteY2" fmla="*/ 175030 h 360216"/>
                <a:gd name="connsiteX3" fmla="*/ 1080572 w 2391215"/>
                <a:gd name="connsiteY3" fmla="*/ 257580 h 360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1215" h="360216">
                  <a:moveTo>
                    <a:pt x="1220272" y="200430"/>
                  </a:moveTo>
                  <a:cubicBezTo>
                    <a:pt x="1718218" y="27921"/>
                    <a:pt x="2439472" y="-144587"/>
                    <a:pt x="2388672" y="194080"/>
                  </a:cubicBezTo>
                  <a:cubicBezTo>
                    <a:pt x="2337872" y="532747"/>
                    <a:pt x="34938" y="-114953"/>
                    <a:pt x="1072" y="175030"/>
                  </a:cubicBezTo>
                  <a:cubicBezTo>
                    <a:pt x="-32794" y="465013"/>
                    <a:pt x="745080" y="350713"/>
                    <a:pt x="1080572" y="257580"/>
                  </a:cubicBezTo>
                </a:path>
              </a:pathLst>
            </a:cu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01E0F0B8-3814-4795-3D95-39DDB06B70D6}"/>
                </a:ext>
              </a:extLst>
            </p:cNvPr>
            <p:cNvSpPr/>
            <p:nvPr/>
          </p:nvSpPr>
          <p:spPr>
            <a:xfrm rot="336999">
              <a:off x="6471608" y="768135"/>
              <a:ext cx="1628118" cy="245262"/>
            </a:xfrm>
            <a:custGeom>
              <a:avLst/>
              <a:gdLst>
                <a:gd name="connsiteX0" fmla="*/ 1713372 w 1713372"/>
                <a:gd name="connsiteY0" fmla="*/ 0 h 368310"/>
                <a:gd name="connsiteX1" fmla="*/ 722772 w 1713372"/>
                <a:gd name="connsiteY1" fmla="*/ 368300 h 368310"/>
                <a:gd name="connsiteX2" fmla="*/ 5222 w 1713372"/>
                <a:gd name="connsiteY2" fmla="*/ 12700 h 368310"/>
                <a:gd name="connsiteX3" fmla="*/ 1091072 w 1713372"/>
                <a:gd name="connsiteY3" fmla="*/ 228600 h 368310"/>
                <a:gd name="connsiteX0" fmla="*/ 1128395 w 1128395"/>
                <a:gd name="connsiteY0" fmla="*/ 363008 h 457392"/>
                <a:gd name="connsiteX1" fmla="*/ 721995 w 1128395"/>
                <a:gd name="connsiteY1" fmla="*/ 356658 h 457392"/>
                <a:gd name="connsiteX2" fmla="*/ 4445 w 1128395"/>
                <a:gd name="connsiteY2" fmla="*/ 1058 h 457392"/>
                <a:gd name="connsiteX3" fmla="*/ 1090295 w 1128395"/>
                <a:gd name="connsiteY3" fmla="*/ 216958 h 457392"/>
                <a:gd name="connsiteX0" fmla="*/ 1125223 w 2320622"/>
                <a:gd name="connsiteY0" fmla="*/ 729521 h 755391"/>
                <a:gd name="connsiteX1" fmla="*/ 2306323 w 2320622"/>
                <a:gd name="connsiteY1" fmla="*/ 5621 h 755391"/>
                <a:gd name="connsiteX2" fmla="*/ 1273 w 2320622"/>
                <a:gd name="connsiteY2" fmla="*/ 367571 h 755391"/>
                <a:gd name="connsiteX3" fmla="*/ 1087123 w 2320622"/>
                <a:gd name="connsiteY3" fmla="*/ 583471 h 755391"/>
                <a:gd name="connsiteX0" fmla="*/ 1125040 w 2315966"/>
                <a:gd name="connsiteY0" fmla="*/ 833591 h 850091"/>
                <a:gd name="connsiteX1" fmla="*/ 2306140 w 2315966"/>
                <a:gd name="connsiteY1" fmla="*/ 109691 h 850091"/>
                <a:gd name="connsiteX2" fmla="*/ 1090 w 2315966"/>
                <a:gd name="connsiteY2" fmla="*/ 471641 h 850091"/>
                <a:gd name="connsiteX3" fmla="*/ 1086940 w 2315966"/>
                <a:gd name="connsiteY3" fmla="*/ 687541 h 850091"/>
                <a:gd name="connsiteX0" fmla="*/ 1125040 w 2315966"/>
                <a:gd name="connsiteY0" fmla="*/ 833591 h 850091"/>
                <a:gd name="connsiteX1" fmla="*/ 2306140 w 2315966"/>
                <a:gd name="connsiteY1" fmla="*/ 109691 h 850091"/>
                <a:gd name="connsiteX2" fmla="*/ 1090 w 2315966"/>
                <a:gd name="connsiteY2" fmla="*/ 471641 h 850091"/>
                <a:gd name="connsiteX3" fmla="*/ 1086940 w 2315966"/>
                <a:gd name="connsiteY3" fmla="*/ 687541 h 850091"/>
                <a:gd name="connsiteX0" fmla="*/ 1264858 w 2463664"/>
                <a:gd name="connsiteY0" fmla="*/ 723930 h 748460"/>
                <a:gd name="connsiteX1" fmla="*/ 2445958 w 2463664"/>
                <a:gd name="connsiteY1" fmla="*/ 30 h 748460"/>
                <a:gd name="connsiteX2" fmla="*/ 1208 w 2463664"/>
                <a:gd name="connsiteY2" fmla="*/ 692180 h 748460"/>
                <a:gd name="connsiteX3" fmla="*/ 1226758 w 2463664"/>
                <a:gd name="connsiteY3" fmla="*/ 577880 h 748460"/>
                <a:gd name="connsiteX0" fmla="*/ 1214082 w 2411615"/>
                <a:gd name="connsiteY0" fmla="*/ 728686 h 1217983"/>
                <a:gd name="connsiteX1" fmla="*/ 2395182 w 2411615"/>
                <a:gd name="connsiteY1" fmla="*/ 4786 h 1217983"/>
                <a:gd name="connsiteX2" fmla="*/ 1232 w 2411615"/>
                <a:gd name="connsiteY2" fmla="*/ 1217636 h 1217983"/>
                <a:gd name="connsiteX3" fmla="*/ 1175982 w 2411615"/>
                <a:gd name="connsiteY3" fmla="*/ 582636 h 1217983"/>
                <a:gd name="connsiteX0" fmla="*/ 1212850 w 2410383"/>
                <a:gd name="connsiteY0" fmla="*/ 728686 h 1259527"/>
                <a:gd name="connsiteX1" fmla="*/ 2393950 w 2410383"/>
                <a:gd name="connsiteY1" fmla="*/ 4786 h 1259527"/>
                <a:gd name="connsiteX2" fmla="*/ 0 w 2410383"/>
                <a:gd name="connsiteY2" fmla="*/ 1217636 h 1259527"/>
                <a:gd name="connsiteX3" fmla="*/ 1174750 w 2410383"/>
                <a:gd name="connsiteY3" fmla="*/ 582636 h 1259527"/>
                <a:gd name="connsiteX0" fmla="*/ 1212850 w 2419691"/>
                <a:gd name="connsiteY0" fmla="*/ 774951 h 1296766"/>
                <a:gd name="connsiteX1" fmla="*/ 2393950 w 2419691"/>
                <a:gd name="connsiteY1" fmla="*/ 51051 h 1296766"/>
                <a:gd name="connsiteX2" fmla="*/ 0 w 2419691"/>
                <a:gd name="connsiteY2" fmla="*/ 1263901 h 1296766"/>
                <a:gd name="connsiteX3" fmla="*/ 1174750 w 2419691"/>
                <a:gd name="connsiteY3" fmla="*/ 628901 h 1296766"/>
                <a:gd name="connsiteX0" fmla="*/ 1257575 w 2464416"/>
                <a:gd name="connsiteY0" fmla="*/ 768967 h 1361009"/>
                <a:gd name="connsiteX1" fmla="*/ 2438675 w 2464416"/>
                <a:gd name="connsiteY1" fmla="*/ 45067 h 1361009"/>
                <a:gd name="connsiteX2" fmla="*/ 44725 w 2464416"/>
                <a:gd name="connsiteY2" fmla="*/ 1257917 h 1361009"/>
                <a:gd name="connsiteX3" fmla="*/ 1219475 w 2464416"/>
                <a:gd name="connsiteY3" fmla="*/ 622917 h 1361009"/>
                <a:gd name="connsiteX0" fmla="*/ 1215327 w 2422168"/>
                <a:gd name="connsiteY0" fmla="*/ 768398 h 1369446"/>
                <a:gd name="connsiteX1" fmla="*/ 2396427 w 2422168"/>
                <a:gd name="connsiteY1" fmla="*/ 44498 h 1369446"/>
                <a:gd name="connsiteX2" fmla="*/ 2477 w 2422168"/>
                <a:gd name="connsiteY2" fmla="*/ 1257348 h 1369446"/>
                <a:gd name="connsiteX3" fmla="*/ 1177227 w 2422168"/>
                <a:gd name="connsiteY3" fmla="*/ 622348 h 1369446"/>
                <a:gd name="connsiteX0" fmla="*/ 1202578 w 2399799"/>
                <a:gd name="connsiteY0" fmla="*/ 1148279 h 1177192"/>
                <a:gd name="connsiteX1" fmla="*/ 2383678 w 2399799"/>
                <a:gd name="connsiteY1" fmla="*/ 424379 h 1177192"/>
                <a:gd name="connsiteX2" fmla="*/ 2428 w 2399799"/>
                <a:gd name="connsiteY2" fmla="*/ 144979 h 1177192"/>
                <a:gd name="connsiteX3" fmla="*/ 1164478 w 2399799"/>
                <a:gd name="connsiteY3" fmla="*/ 1002229 h 1177192"/>
                <a:gd name="connsiteX0" fmla="*/ 1202378 w 2383505"/>
                <a:gd name="connsiteY0" fmla="*/ 1148279 h 1188730"/>
                <a:gd name="connsiteX1" fmla="*/ 2383478 w 2383505"/>
                <a:gd name="connsiteY1" fmla="*/ 424379 h 1188730"/>
                <a:gd name="connsiteX2" fmla="*/ 2228 w 2383505"/>
                <a:gd name="connsiteY2" fmla="*/ 144979 h 1188730"/>
                <a:gd name="connsiteX3" fmla="*/ 1164278 w 2383505"/>
                <a:gd name="connsiteY3" fmla="*/ 1002229 h 1188730"/>
                <a:gd name="connsiteX0" fmla="*/ 1226562 w 2414042"/>
                <a:gd name="connsiteY0" fmla="*/ 1218647 h 1247430"/>
                <a:gd name="connsiteX1" fmla="*/ 2414012 w 2414042"/>
                <a:gd name="connsiteY1" fmla="*/ 234397 h 1247430"/>
                <a:gd name="connsiteX2" fmla="*/ 26412 w 2414042"/>
                <a:gd name="connsiteY2" fmla="*/ 215347 h 1247430"/>
                <a:gd name="connsiteX3" fmla="*/ 1188462 w 2414042"/>
                <a:gd name="connsiteY3" fmla="*/ 1072597 h 1247430"/>
                <a:gd name="connsiteX0" fmla="*/ 1224397 w 2411877"/>
                <a:gd name="connsiteY0" fmla="*/ 1182661 h 1211444"/>
                <a:gd name="connsiteX1" fmla="*/ 2411847 w 2411877"/>
                <a:gd name="connsiteY1" fmla="*/ 198411 h 1211444"/>
                <a:gd name="connsiteX2" fmla="*/ 24247 w 2411877"/>
                <a:gd name="connsiteY2" fmla="*/ 179361 h 1211444"/>
                <a:gd name="connsiteX3" fmla="*/ 1224397 w 2411877"/>
                <a:gd name="connsiteY3" fmla="*/ 211111 h 1211444"/>
                <a:gd name="connsiteX0" fmla="*/ 1243447 w 2428551"/>
                <a:gd name="connsiteY0" fmla="*/ 25583 h 106259"/>
                <a:gd name="connsiteX1" fmla="*/ 2411847 w 2428551"/>
                <a:gd name="connsiteY1" fmla="*/ 19233 h 106259"/>
                <a:gd name="connsiteX2" fmla="*/ 24247 w 2428551"/>
                <a:gd name="connsiteY2" fmla="*/ 183 h 106259"/>
                <a:gd name="connsiteX3" fmla="*/ 1224397 w 2428551"/>
                <a:gd name="connsiteY3" fmla="*/ 31933 h 106259"/>
                <a:gd name="connsiteX0" fmla="*/ 1243447 w 2440774"/>
                <a:gd name="connsiteY0" fmla="*/ 142292 h 200114"/>
                <a:gd name="connsiteX1" fmla="*/ 2411847 w 2440774"/>
                <a:gd name="connsiteY1" fmla="*/ 135942 h 200114"/>
                <a:gd name="connsiteX2" fmla="*/ 24247 w 2440774"/>
                <a:gd name="connsiteY2" fmla="*/ 116892 h 200114"/>
                <a:gd name="connsiteX3" fmla="*/ 1224397 w 2440774"/>
                <a:gd name="connsiteY3" fmla="*/ 148642 h 200114"/>
                <a:gd name="connsiteX0" fmla="*/ 1243447 w 2432201"/>
                <a:gd name="connsiteY0" fmla="*/ 205719 h 291131"/>
                <a:gd name="connsiteX1" fmla="*/ 2411847 w 2432201"/>
                <a:gd name="connsiteY1" fmla="*/ 199369 h 291131"/>
                <a:gd name="connsiteX2" fmla="*/ 24247 w 2432201"/>
                <a:gd name="connsiteY2" fmla="*/ 180319 h 291131"/>
                <a:gd name="connsiteX3" fmla="*/ 1224397 w 2432201"/>
                <a:gd name="connsiteY3" fmla="*/ 212069 h 291131"/>
                <a:gd name="connsiteX0" fmla="*/ 1222382 w 2411136"/>
                <a:gd name="connsiteY0" fmla="*/ 205719 h 414072"/>
                <a:gd name="connsiteX1" fmla="*/ 2390782 w 2411136"/>
                <a:gd name="connsiteY1" fmla="*/ 199369 h 414072"/>
                <a:gd name="connsiteX2" fmla="*/ 3182 w 2411136"/>
                <a:gd name="connsiteY2" fmla="*/ 180319 h 414072"/>
                <a:gd name="connsiteX3" fmla="*/ 1203332 w 2411136"/>
                <a:gd name="connsiteY3" fmla="*/ 212069 h 414072"/>
                <a:gd name="connsiteX0" fmla="*/ 1219201 w 2407955"/>
                <a:gd name="connsiteY0" fmla="*/ 205719 h 435944"/>
                <a:gd name="connsiteX1" fmla="*/ 2387601 w 2407955"/>
                <a:gd name="connsiteY1" fmla="*/ 199369 h 435944"/>
                <a:gd name="connsiteX2" fmla="*/ 1 w 2407955"/>
                <a:gd name="connsiteY2" fmla="*/ 180319 h 435944"/>
                <a:gd name="connsiteX3" fmla="*/ 1200151 w 2407955"/>
                <a:gd name="connsiteY3" fmla="*/ 212069 h 435944"/>
                <a:gd name="connsiteX0" fmla="*/ 1219201 w 2387713"/>
                <a:gd name="connsiteY0" fmla="*/ 300255 h 530480"/>
                <a:gd name="connsiteX1" fmla="*/ 2387601 w 2387713"/>
                <a:gd name="connsiteY1" fmla="*/ 293905 h 530480"/>
                <a:gd name="connsiteX2" fmla="*/ 1 w 2387713"/>
                <a:gd name="connsiteY2" fmla="*/ 274855 h 530480"/>
                <a:gd name="connsiteX3" fmla="*/ 1200151 w 2387713"/>
                <a:gd name="connsiteY3" fmla="*/ 306605 h 530480"/>
                <a:gd name="connsiteX0" fmla="*/ 1219201 w 2387713"/>
                <a:gd name="connsiteY0" fmla="*/ 300255 h 519793"/>
                <a:gd name="connsiteX1" fmla="*/ 2387601 w 2387713"/>
                <a:gd name="connsiteY1" fmla="*/ 293905 h 519793"/>
                <a:gd name="connsiteX2" fmla="*/ 1 w 2387713"/>
                <a:gd name="connsiteY2" fmla="*/ 274855 h 519793"/>
                <a:gd name="connsiteX3" fmla="*/ 1200151 w 2387713"/>
                <a:gd name="connsiteY3" fmla="*/ 306605 h 519793"/>
                <a:gd name="connsiteX0" fmla="*/ 1219246 w 2387758"/>
                <a:gd name="connsiteY0" fmla="*/ 300255 h 467398"/>
                <a:gd name="connsiteX1" fmla="*/ 2387646 w 2387758"/>
                <a:gd name="connsiteY1" fmla="*/ 293905 h 467398"/>
                <a:gd name="connsiteX2" fmla="*/ 46 w 2387758"/>
                <a:gd name="connsiteY2" fmla="*/ 274855 h 467398"/>
                <a:gd name="connsiteX3" fmla="*/ 1200196 w 2387758"/>
                <a:gd name="connsiteY3" fmla="*/ 306605 h 467398"/>
                <a:gd name="connsiteX0" fmla="*/ 1219246 w 2390051"/>
                <a:gd name="connsiteY0" fmla="*/ 249789 h 416932"/>
                <a:gd name="connsiteX1" fmla="*/ 2387646 w 2390051"/>
                <a:gd name="connsiteY1" fmla="*/ 243439 h 416932"/>
                <a:gd name="connsiteX2" fmla="*/ 46 w 2390051"/>
                <a:gd name="connsiteY2" fmla="*/ 224389 h 416932"/>
                <a:gd name="connsiteX3" fmla="*/ 1200196 w 2390051"/>
                <a:gd name="connsiteY3" fmla="*/ 256139 h 416932"/>
                <a:gd name="connsiteX0" fmla="*/ 1251010 w 2421815"/>
                <a:gd name="connsiteY0" fmla="*/ 249789 h 386974"/>
                <a:gd name="connsiteX1" fmla="*/ 2419410 w 2421815"/>
                <a:gd name="connsiteY1" fmla="*/ 243439 h 386974"/>
                <a:gd name="connsiteX2" fmla="*/ 31810 w 2421815"/>
                <a:gd name="connsiteY2" fmla="*/ 224389 h 386974"/>
                <a:gd name="connsiteX3" fmla="*/ 1111310 w 2421815"/>
                <a:gd name="connsiteY3" fmla="*/ 306939 h 386974"/>
                <a:gd name="connsiteX0" fmla="*/ 1220272 w 2391077"/>
                <a:gd name="connsiteY0" fmla="*/ 249789 h 409575"/>
                <a:gd name="connsiteX1" fmla="*/ 2388672 w 2391077"/>
                <a:gd name="connsiteY1" fmla="*/ 243439 h 409575"/>
                <a:gd name="connsiteX2" fmla="*/ 1072 w 2391077"/>
                <a:gd name="connsiteY2" fmla="*/ 224389 h 409575"/>
                <a:gd name="connsiteX3" fmla="*/ 1080572 w 2391077"/>
                <a:gd name="connsiteY3" fmla="*/ 306939 h 409575"/>
                <a:gd name="connsiteX0" fmla="*/ 1220272 w 2391215"/>
                <a:gd name="connsiteY0" fmla="*/ 200430 h 360216"/>
                <a:gd name="connsiteX1" fmla="*/ 2388672 w 2391215"/>
                <a:gd name="connsiteY1" fmla="*/ 194080 h 360216"/>
                <a:gd name="connsiteX2" fmla="*/ 1072 w 2391215"/>
                <a:gd name="connsiteY2" fmla="*/ 175030 h 360216"/>
                <a:gd name="connsiteX3" fmla="*/ 1080572 w 2391215"/>
                <a:gd name="connsiteY3" fmla="*/ 257580 h 360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1215" h="360216">
                  <a:moveTo>
                    <a:pt x="1220272" y="200430"/>
                  </a:moveTo>
                  <a:cubicBezTo>
                    <a:pt x="1718218" y="27921"/>
                    <a:pt x="2439472" y="-144587"/>
                    <a:pt x="2388672" y="194080"/>
                  </a:cubicBezTo>
                  <a:cubicBezTo>
                    <a:pt x="2337872" y="532747"/>
                    <a:pt x="34938" y="-114953"/>
                    <a:pt x="1072" y="175030"/>
                  </a:cubicBezTo>
                  <a:cubicBezTo>
                    <a:pt x="-32794" y="465013"/>
                    <a:pt x="745080" y="350713"/>
                    <a:pt x="1080572" y="257580"/>
                  </a:cubicBezTo>
                </a:path>
              </a:pathLst>
            </a:cu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Parallélogramme 17">
              <a:extLst>
                <a:ext uri="{FF2B5EF4-FFF2-40B4-BE49-F238E27FC236}">
                  <a16:creationId xmlns:a16="http://schemas.microsoft.com/office/drawing/2014/main" id="{12A67B8E-5641-FA4B-8DC2-57AACBE3E0C1}"/>
                </a:ext>
              </a:extLst>
            </p:cNvPr>
            <p:cNvSpPr/>
            <p:nvPr/>
          </p:nvSpPr>
          <p:spPr>
            <a:xfrm rot="16200000" flipV="1">
              <a:off x="5528112" y="1735076"/>
              <a:ext cx="311550" cy="197740"/>
            </a:xfrm>
            <a:prstGeom prst="parallelogram">
              <a:avLst>
                <a:gd name="adj" fmla="val 65507"/>
              </a:avLst>
            </a:prstGeom>
            <a:noFill/>
            <a:ln w="28575" cap="flat" cmpd="sng" algn="ctr">
              <a:solidFill>
                <a:srgbClr val="00206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9" name="Groupe 18">
              <a:extLst>
                <a:ext uri="{FF2B5EF4-FFF2-40B4-BE49-F238E27FC236}">
                  <a16:creationId xmlns:a16="http://schemas.microsoft.com/office/drawing/2014/main" id="{0CF6FA79-EF58-935A-7057-A1E075E5D5F9}"/>
                </a:ext>
              </a:extLst>
            </p:cNvPr>
            <p:cNvGrpSpPr/>
            <p:nvPr/>
          </p:nvGrpSpPr>
          <p:grpSpPr>
            <a:xfrm>
              <a:off x="5676900" y="1818819"/>
              <a:ext cx="899790" cy="533789"/>
              <a:chOff x="5676900" y="1818819"/>
              <a:chExt cx="899790" cy="533789"/>
            </a:xfrm>
          </p:grpSpPr>
          <p:sp>
            <p:nvSpPr>
              <p:cNvPr id="20" name="Cylindre 19">
                <a:extLst>
                  <a:ext uri="{FF2B5EF4-FFF2-40B4-BE49-F238E27FC236}">
                    <a16:creationId xmlns:a16="http://schemas.microsoft.com/office/drawing/2014/main" id="{8A22C0E1-71A3-61B0-2A98-642244260D29}"/>
                  </a:ext>
                </a:extLst>
              </p:cNvPr>
              <p:cNvSpPr/>
              <p:nvPr/>
            </p:nvSpPr>
            <p:spPr>
              <a:xfrm rot="7309303">
                <a:off x="5988000" y="1846438"/>
                <a:ext cx="216000" cy="432000"/>
              </a:xfrm>
              <a:prstGeom prst="can">
                <a:avLst>
                  <a:gd name="adj" fmla="val 52625"/>
                </a:avLst>
              </a:prstGeom>
              <a:noFill/>
              <a:ln w="28575" cap="flat" cmpd="sng" algn="ctr">
                <a:solidFill>
                  <a:srgbClr val="C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FR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1" name="Groupe 20">
                <a:extLst>
                  <a:ext uri="{FF2B5EF4-FFF2-40B4-BE49-F238E27FC236}">
                    <a16:creationId xmlns:a16="http://schemas.microsoft.com/office/drawing/2014/main" id="{40195EEE-C432-8808-A959-332706FC10BD}"/>
                  </a:ext>
                </a:extLst>
              </p:cNvPr>
              <p:cNvGrpSpPr/>
              <p:nvPr/>
            </p:nvGrpSpPr>
            <p:grpSpPr>
              <a:xfrm>
                <a:off x="5676900" y="1818819"/>
                <a:ext cx="899790" cy="533789"/>
                <a:chOff x="5676900" y="1818819"/>
                <a:chExt cx="899790" cy="533789"/>
              </a:xfrm>
            </p:grpSpPr>
            <p:cxnSp>
              <p:nvCxnSpPr>
                <p:cNvPr id="22" name="Connecteur droit 21">
                  <a:extLst>
                    <a:ext uri="{FF2B5EF4-FFF2-40B4-BE49-F238E27FC236}">
                      <a16:creationId xmlns:a16="http://schemas.microsoft.com/office/drawing/2014/main" id="{A85B8E16-183F-9ABF-AA3D-3FA4B69B24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226413" y="2148948"/>
                  <a:ext cx="350277" cy="203660"/>
                </a:xfrm>
                <a:prstGeom prst="line">
                  <a:avLst/>
                </a:prstGeom>
                <a:noFill/>
                <a:ln w="28575" cap="flat" cmpd="sng" algn="ctr">
                  <a:solidFill>
                    <a:srgbClr val="002060"/>
                  </a:solidFill>
                  <a:prstDash val="solid"/>
                  <a:miter lim="800000"/>
                </a:ln>
                <a:effectLst/>
              </p:spPr>
            </p:cxnSp>
            <p:cxnSp>
              <p:nvCxnSpPr>
                <p:cNvPr id="23" name="Connecteur droit 22">
                  <a:extLst>
                    <a:ext uri="{FF2B5EF4-FFF2-40B4-BE49-F238E27FC236}">
                      <a16:creationId xmlns:a16="http://schemas.microsoft.com/office/drawing/2014/main" id="{7DE55D78-BA45-A789-AE00-BD0EB9436D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5676900" y="1818819"/>
                  <a:ext cx="224593" cy="130584"/>
                </a:xfrm>
                <a:prstGeom prst="line">
                  <a:avLst/>
                </a:prstGeom>
                <a:noFill/>
                <a:ln w="28575" cap="flat" cmpd="sng" algn="ctr">
                  <a:solidFill>
                    <a:srgbClr val="002060"/>
                  </a:solidFill>
                  <a:prstDash val="solid"/>
                  <a:miter lim="800000"/>
                </a:ln>
                <a:effectLst/>
              </p:spPr>
            </p:cxnSp>
            <p:cxnSp>
              <p:nvCxnSpPr>
                <p:cNvPr id="24" name="Connecteur droit 23">
                  <a:extLst>
                    <a:ext uri="{FF2B5EF4-FFF2-40B4-BE49-F238E27FC236}">
                      <a16:creationId xmlns:a16="http://schemas.microsoft.com/office/drawing/2014/main" id="{F5C68155-4C44-9175-5C2C-2B59CF0010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194666" y="2075134"/>
                  <a:ext cx="127204" cy="188340"/>
                </a:xfrm>
                <a:prstGeom prst="line">
                  <a:avLst/>
                </a:prstGeom>
                <a:noFill/>
                <a:ln w="28575" cap="flat" cmpd="sng" algn="ctr">
                  <a:solidFill>
                    <a:srgbClr val="002060"/>
                  </a:solidFill>
                  <a:prstDash val="solid"/>
                  <a:miter lim="800000"/>
                </a:ln>
                <a:effectLst/>
              </p:spPr>
            </p:cxnSp>
            <p:cxnSp>
              <p:nvCxnSpPr>
                <p:cNvPr id="25" name="Connecteur droit 24">
                  <a:extLst>
                    <a:ext uri="{FF2B5EF4-FFF2-40B4-BE49-F238E27FC236}">
                      <a16:creationId xmlns:a16="http://schemas.microsoft.com/office/drawing/2014/main" id="{D4E5B1E7-D2E8-EF39-05EA-818E9AF9AA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827140" y="1856779"/>
                  <a:ext cx="127204" cy="188340"/>
                </a:xfrm>
                <a:prstGeom prst="line">
                  <a:avLst/>
                </a:prstGeom>
                <a:noFill/>
                <a:ln w="28575" cap="flat" cmpd="sng" algn="ctr">
                  <a:solidFill>
                    <a:srgbClr val="002060"/>
                  </a:solidFill>
                  <a:prstDash val="solid"/>
                  <a:miter lim="800000"/>
                </a:ln>
                <a:effectLst/>
              </p:spPr>
            </p:cxnSp>
          </p:grpSp>
        </p:grp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73F074ED-8F7C-06CF-31A3-3D9CD7504393}"/>
                </a:ext>
              </a:extLst>
            </p:cNvPr>
            <p:cNvCxnSpPr>
              <a:cxnSpLocks/>
            </p:cNvCxnSpPr>
            <p:nvPr/>
          </p:nvCxnSpPr>
          <p:spPr>
            <a:xfrm>
              <a:off x="4812587" y="2444603"/>
              <a:ext cx="180000" cy="0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6FD10453-0867-09D7-0F71-F0879C30D4A0}"/>
                </a:ext>
              </a:extLst>
            </p:cNvPr>
            <p:cNvCxnSpPr>
              <a:cxnSpLocks/>
            </p:cNvCxnSpPr>
            <p:nvPr/>
          </p:nvCxnSpPr>
          <p:spPr>
            <a:xfrm>
              <a:off x="4812587" y="2955778"/>
              <a:ext cx="180000" cy="0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</p:cxnSp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43040849-0177-B35E-5950-B12CD30F2B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91151" y="1336613"/>
              <a:ext cx="788749" cy="443431"/>
            </a:xfrm>
            <a:prstGeom prst="line">
              <a:avLst/>
            </a:prstGeom>
            <a:noFill/>
            <a:ln w="28575" cap="flat" cmpd="sng" algn="ctr">
              <a:solidFill>
                <a:srgbClr val="002060"/>
              </a:solidFill>
              <a:prstDash val="solid"/>
              <a:miter lim="800000"/>
              <a:headEnd type="stealth" w="med" len="lg"/>
              <a:tailEnd type="none"/>
            </a:ln>
            <a:effectLst/>
          </p:spPr>
        </p:cxn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34C6C4DA-50E6-F3AC-C92F-152B66A556E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9434" y="2343832"/>
              <a:ext cx="642085" cy="373325"/>
            </a:xfrm>
            <a:prstGeom prst="line">
              <a:avLst/>
            </a:prstGeom>
            <a:noFill/>
            <a:ln w="28575" cap="flat" cmpd="sng" algn="ctr">
              <a:solidFill>
                <a:srgbClr val="002060"/>
              </a:solidFill>
              <a:prstDash val="solid"/>
              <a:miter lim="800000"/>
              <a:headEnd type="stealth" w="med" len="lg"/>
              <a:tailEnd type="none"/>
            </a:ln>
            <a:effectLst/>
          </p:spPr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9E719214-09E9-95C1-4D76-E46D7F3159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68831" y="874856"/>
              <a:ext cx="0" cy="873240"/>
            </a:xfrm>
            <a:prstGeom prst="line">
              <a:avLst/>
            </a:prstGeom>
            <a:noFill/>
            <a:ln w="28575" cap="flat" cmpd="sng" algn="ctr">
              <a:solidFill>
                <a:srgbClr val="002060"/>
              </a:solidFill>
              <a:prstDash val="solid"/>
              <a:miter lim="800000"/>
              <a:headEnd type="stealth" w="med" len="lg"/>
              <a:tailEnd type="non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ZoneTexte 30">
                  <a:extLst>
                    <a:ext uri="{FF2B5EF4-FFF2-40B4-BE49-F238E27FC236}">
                      <a16:creationId xmlns:a16="http://schemas.microsoft.com/office/drawing/2014/main" id="{BD9E744C-995B-C89B-675E-309736AD9624}"/>
                    </a:ext>
                  </a:extLst>
                </p:cNvPr>
                <p:cNvSpPr txBox="1"/>
                <p:nvPr/>
              </p:nvSpPr>
              <p:spPr>
                <a:xfrm>
                  <a:off x="6936212" y="2347556"/>
                  <a:ext cx="458074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kumimoji="0" lang="fr-FR" sz="11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31" name="ZoneTexte 30">
                  <a:extLst>
                    <a:ext uri="{FF2B5EF4-FFF2-40B4-BE49-F238E27FC236}">
                      <a16:creationId xmlns:a16="http://schemas.microsoft.com/office/drawing/2014/main" id="{BD9E744C-995B-C89B-675E-309736AD96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6212" y="2347556"/>
                  <a:ext cx="458074" cy="189860"/>
                </a:xfrm>
                <a:prstGeom prst="rect">
                  <a:avLst/>
                </a:prstGeom>
                <a:blipFill>
                  <a:blip r:embed="rId3"/>
                  <a:stretch>
                    <a:fillRect l="-6667" r="-2667" b="-125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ZoneTexte 31">
                  <a:extLst>
                    <a:ext uri="{FF2B5EF4-FFF2-40B4-BE49-F238E27FC236}">
                      <a16:creationId xmlns:a16="http://schemas.microsoft.com/office/drawing/2014/main" id="{F811C9B4-3D99-CA08-4D69-FC71C97EEA6B}"/>
                    </a:ext>
                  </a:extLst>
                </p:cNvPr>
                <p:cNvSpPr txBox="1"/>
                <p:nvPr/>
              </p:nvSpPr>
              <p:spPr>
                <a:xfrm>
                  <a:off x="5510431" y="867810"/>
                  <a:ext cx="118879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32" name="ZoneTexte 31">
                  <a:extLst>
                    <a:ext uri="{FF2B5EF4-FFF2-40B4-BE49-F238E27FC236}">
                      <a16:creationId xmlns:a16="http://schemas.microsoft.com/office/drawing/2014/main" id="{F811C9B4-3D99-CA08-4D69-FC71C97EEA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10431" y="867810"/>
                  <a:ext cx="118879" cy="189860"/>
                </a:xfrm>
                <a:prstGeom prst="rect">
                  <a:avLst/>
                </a:prstGeom>
                <a:blipFill>
                  <a:blip r:embed="rId4"/>
                  <a:stretch>
                    <a:fillRect l="-26316" t="-32258" r="-94737" b="-645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ZoneTexte 32">
                  <a:extLst>
                    <a:ext uri="{FF2B5EF4-FFF2-40B4-BE49-F238E27FC236}">
                      <a16:creationId xmlns:a16="http://schemas.microsoft.com/office/drawing/2014/main" id="{76AC687B-9D4F-D828-E757-5DACAA6E2DD7}"/>
                    </a:ext>
                  </a:extLst>
                </p:cNvPr>
                <p:cNvSpPr txBox="1"/>
                <p:nvPr/>
              </p:nvSpPr>
              <p:spPr>
                <a:xfrm>
                  <a:off x="6614091" y="1199479"/>
                  <a:ext cx="120481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33" name="ZoneTexte 32">
                  <a:extLst>
                    <a:ext uri="{FF2B5EF4-FFF2-40B4-BE49-F238E27FC236}">
                      <a16:creationId xmlns:a16="http://schemas.microsoft.com/office/drawing/2014/main" id="{76AC687B-9D4F-D828-E757-5DACAA6E2D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4091" y="1199479"/>
                  <a:ext cx="120481" cy="189860"/>
                </a:xfrm>
                <a:prstGeom prst="rect">
                  <a:avLst/>
                </a:prstGeom>
                <a:blipFill>
                  <a:blip r:embed="rId5"/>
                  <a:stretch>
                    <a:fillRect l="-25000" r="-25000" b="-645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4BDC41E1-0BFC-CBE6-A057-F14758CAAD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93667" y="1185822"/>
              <a:ext cx="223471" cy="125634"/>
            </a:xfrm>
            <a:prstGeom prst="line">
              <a:avLst/>
            </a:prstGeom>
            <a:noFill/>
            <a:ln w="28575" cap="flat" cmpd="sng" algn="ctr">
              <a:solidFill>
                <a:srgbClr val="C00000"/>
              </a:solidFill>
              <a:prstDash val="solid"/>
              <a:miter lim="800000"/>
              <a:headEnd type="stealth" w="med" len="lg"/>
              <a:tailEnd type="non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6A4EC271-52FB-CE57-5E1E-00F0A7320BF2}"/>
                    </a:ext>
                  </a:extLst>
                </p:cNvPr>
                <p:cNvSpPr txBox="1"/>
                <p:nvPr/>
              </p:nvSpPr>
              <p:spPr>
                <a:xfrm>
                  <a:off x="7512884" y="1294409"/>
                  <a:ext cx="155748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6A4EC271-52FB-CE57-5E1E-00F0A7320B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12884" y="1294409"/>
                  <a:ext cx="155748" cy="189860"/>
                </a:xfrm>
                <a:prstGeom prst="rect">
                  <a:avLst/>
                </a:prstGeom>
                <a:blipFill>
                  <a:blip r:embed="rId6"/>
                  <a:stretch>
                    <a:fillRect l="-19231" r="-7692" b="-161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26B286BE-7568-A073-2ACF-21AF5AA7E58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07820" y="960795"/>
              <a:ext cx="689933" cy="37585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  <a:headEnd type="stealth" w="med" len="lg"/>
              <a:tailEnd type="non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169713F8-368B-9C6D-DB89-A84EAD875B6C}"/>
                    </a:ext>
                  </a:extLst>
                </p:cNvPr>
                <p:cNvSpPr txBox="1"/>
                <p:nvPr/>
              </p:nvSpPr>
              <p:spPr>
                <a:xfrm>
                  <a:off x="7901890" y="1345713"/>
                  <a:ext cx="179087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169713F8-368B-9C6D-DB89-A84EAD875B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1890" y="1345713"/>
                  <a:ext cx="179087" cy="189860"/>
                </a:xfrm>
                <a:prstGeom prst="rect">
                  <a:avLst/>
                </a:prstGeom>
                <a:blipFill>
                  <a:blip r:embed="rId7"/>
                  <a:stretch>
                    <a:fillRect l="-17241" r="-10345" b="-161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52C29A9A-F2D8-A925-16F1-7B1431AB026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85667" y="912181"/>
              <a:ext cx="705767" cy="410351"/>
            </a:xfrm>
            <a:prstGeom prst="line">
              <a:avLst/>
            </a:prstGeom>
            <a:noFill/>
            <a:ln w="28575" cap="flat" cmpd="sng" algn="ctr">
              <a:solidFill>
                <a:srgbClr val="002060"/>
              </a:solidFill>
              <a:prstDash val="solid"/>
              <a:miter lim="800000"/>
              <a:headEnd type="stealth" w="med" len="lg"/>
              <a:tailEnd type="non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ZoneTexte 38">
                  <a:extLst>
                    <a:ext uri="{FF2B5EF4-FFF2-40B4-BE49-F238E27FC236}">
                      <a16:creationId xmlns:a16="http://schemas.microsoft.com/office/drawing/2014/main" id="{044C35E7-7898-EEC5-EFBA-499F9EA22F24}"/>
                    </a:ext>
                  </a:extLst>
                </p:cNvPr>
                <p:cNvSpPr txBox="1"/>
                <p:nvPr/>
              </p:nvSpPr>
              <p:spPr>
                <a:xfrm>
                  <a:off x="8838794" y="867810"/>
                  <a:ext cx="182358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39" name="ZoneTexte 38">
                  <a:extLst>
                    <a:ext uri="{FF2B5EF4-FFF2-40B4-BE49-F238E27FC236}">
                      <a16:creationId xmlns:a16="http://schemas.microsoft.com/office/drawing/2014/main" id="{044C35E7-7898-EEC5-EFBA-499F9EA22F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8794" y="867810"/>
                  <a:ext cx="182358" cy="189860"/>
                </a:xfrm>
                <a:prstGeom prst="rect">
                  <a:avLst/>
                </a:prstGeom>
                <a:blipFill>
                  <a:blip r:embed="rId8"/>
                  <a:stretch>
                    <a:fillRect l="-16667" r="-10000" b="-161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ZoneTexte 39">
                  <a:extLst>
                    <a:ext uri="{FF2B5EF4-FFF2-40B4-BE49-F238E27FC236}">
                      <a16:creationId xmlns:a16="http://schemas.microsoft.com/office/drawing/2014/main" id="{CCB1795A-32DA-21EC-0EC9-964FD8A9C311}"/>
                    </a:ext>
                  </a:extLst>
                </p:cNvPr>
                <p:cNvSpPr txBox="1"/>
                <p:nvPr/>
              </p:nvSpPr>
              <p:spPr>
                <a:xfrm>
                  <a:off x="4068007" y="1809366"/>
                  <a:ext cx="177806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40" name="ZoneTexte 39">
                  <a:extLst>
                    <a:ext uri="{FF2B5EF4-FFF2-40B4-BE49-F238E27FC236}">
                      <a16:creationId xmlns:a16="http://schemas.microsoft.com/office/drawing/2014/main" id="{CCB1795A-32DA-21EC-0EC9-964FD8A9C3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68007" y="1809366"/>
                  <a:ext cx="177806" cy="169277"/>
                </a:xfrm>
                <a:prstGeom prst="rect">
                  <a:avLst/>
                </a:prstGeom>
                <a:blipFill>
                  <a:blip r:embed="rId9"/>
                  <a:stretch>
                    <a:fillRect l="-17241" r="-10345" b="-1785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ZoneTexte 40">
                  <a:extLst>
                    <a:ext uri="{FF2B5EF4-FFF2-40B4-BE49-F238E27FC236}">
                      <a16:creationId xmlns:a16="http://schemas.microsoft.com/office/drawing/2014/main" id="{AB1BB84F-C5AE-4400-2995-243C9FBF9234}"/>
                    </a:ext>
                  </a:extLst>
                </p:cNvPr>
                <p:cNvSpPr txBox="1"/>
                <p:nvPr/>
              </p:nvSpPr>
              <p:spPr>
                <a:xfrm>
                  <a:off x="6376013" y="487123"/>
                  <a:ext cx="177806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41" name="ZoneTexte 40">
                  <a:extLst>
                    <a:ext uri="{FF2B5EF4-FFF2-40B4-BE49-F238E27FC236}">
                      <a16:creationId xmlns:a16="http://schemas.microsoft.com/office/drawing/2014/main" id="{AB1BB84F-C5AE-4400-2995-243C9FBF92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6013" y="487123"/>
                  <a:ext cx="177806" cy="169277"/>
                </a:xfrm>
                <a:prstGeom prst="rect">
                  <a:avLst/>
                </a:prstGeom>
                <a:blipFill>
                  <a:blip r:embed="rId10"/>
                  <a:stretch>
                    <a:fillRect l="-17241" r="-10345" b="-1785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DCACAEF4-7849-082D-61AC-6C4E8D688DDA}"/>
                    </a:ext>
                  </a:extLst>
                </p:cNvPr>
                <p:cNvSpPr txBox="1"/>
                <p:nvPr/>
              </p:nvSpPr>
              <p:spPr>
                <a:xfrm>
                  <a:off x="6377895" y="1974402"/>
                  <a:ext cx="178959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100" b="1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C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100" b="1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C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𝑺</m:t>
                            </m:r>
                          </m:e>
                          <m:sub>
                            <m:r>
                              <a:rPr kumimoji="0" lang="fr-FR" sz="1100" b="1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C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kumimoji="0" lang="fr-FR" sz="11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DCACAEF4-7849-082D-61AC-6C4E8D688D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7895" y="1974402"/>
                  <a:ext cx="178959" cy="169277"/>
                </a:xfrm>
                <a:prstGeom prst="rect">
                  <a:avLst/>
                </a:prstGeom>
                <a:blipFill>
                  <a:blip r:embed="rId11"/>
                  <a:stretch>
                    <a:fillRect l="-17241" r="-10345" b="-1785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ZoneTexte 42">
                  <a:extLst>
                    <a:ext uri="{FF2B5EF4-FFF2-40B4-BE49-F238E27FC236}">
                      <a16:creationId xmlns:a16="http://schemas.microsoft.com/office/drawing/2014/main" id="{D7FF01F8-6004-B184-E589-0696CAB52554}"/>
                    </a:ext>
                  </a:extLst>
                </p:cNvPr>
                <p:cNvSpPr txBox="1"/>
                <p:nvPr/>
              </p:nvSpPr>
              <p:spPr>
                <a:xfrm>
                  <a:off x="5379928" y="1642602"/>
                  <a:ext cx="178959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100" b="1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206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100" b="1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206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𝑺</m:t>
                            </m:r>
                          </m:e>
                          <m:sub>
                            <m:r>
                              <a:rPr kumimoji="0" lang="fr-FR" sz="1100" b="1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206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kumimoji="0" lang="fr-FR" sz="11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43" name="ZoneTexte 42">
                  <a:extLst>
                    <a:ext uri="{FF2B5EF4-FFF2-40B4-BE49-F238E27FC236}">
                      <a16:creationId xmlns:a16="http://schemas.microsoft.com/office/drawing/2014/main" id="{D7FF01F8-6004-B184-E589-0696CAB525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9928" y="1642602"/>
                  <a:ext cx="178959" cy="169277"/>
                </a:xfrm>
                <a:prstGeom prst="rect">
                  <a:avLst/>
                </a:prstGeom>
                <a:blipFill>
                  <a:blip r:embed="rId12"/>
                  <a:stretch>
                    <a:fillRect l="-16667" r="-6667" b="-1785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Connecteur droit 43">
              <a:extLst>
                <a:ext uri="{FF2B5EF4-FFF2-40B4-BE49-F238E27FC236}">
                  <a16:creationId xmlns:a16="http://schemas.microsoft.com/office/drawing/2014/main" id="{750D7035-E236-C13C-0112-8FBF365D3F07}"/>
                </a:ext>
              </a:extLst>
            </p:cNvPr>
            <p:cNvCxnSpPr>
              <a:cxnSpLocks/>
            </p:cNvCxnSpPr>
            <p:nvPr/>
          </p:nvCxnSpPr>
          <p:spPr>
            <a:xfrm>
              <a:off x="7195169" y="1642602"/>
              <a:ext cx="180000" cy="0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</p:cxnSp>
        <p:cxnSp>
          <p:nvCxnSpPr>
            <p:cNvPr id="45" name="Connecteur droit 44">
              <a:extLst>
                <a:ext uri="{FF2B5EF4-FFF2-40B4-BE49-F238E27FC236}">
                  <a16:creationId xmlns:a16="http://schemas.microsoft.com/office/drawing/2014/main" id="{3C7F8A30-5EDB-1310-7E4C-2F873446C06A}"/>
                </a:ext>
              </a:extLst>
            </p:cNvPr>
            <p:cNvCxnSpPr>
              <a:cxnSpLocks/>
            </p:cNvCxnSpPr>
            <p:nvPr/>
          </p:nvCxnSpPr>
          <p:spPr>
            <a:xfrm>
              <a:off x="7201519" y="1198592"/>
              <a:ext cx="180000" cy="0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834BAF12-F3B7-BFCE-AAA2-70167DAE70D8}"/>
                    </a:ext>
                  </a:extLst>
                </p:cNvPr>
                <p:cNvSpPr txBox="1"/>
                <p:nvPr/>
              </p:nvSpPr>
              <p:spPr>
                <a:xfrm>
                  <a:off x="4536152" y="2629342"/>
                  <a:ext cx="181268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834BAF12-F3B7-BFCE-AAA2-70167DAE70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36152" y="2629342"/>
                  <a:ext cx="181268" cy="169277"/>
                </a:xfrm>
                <a:prstGeom prst="rect">
                  <a:avLst/>
                </a:prstGeom>
                <a:blipFill>
                  <a:blip r:embed="rId13"/>
                  <a:stretch>
                    <a:fillRect l="-16667" r="-6667" b="-222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8B3BA821-304C-4D1C-D8C0-4428577F2EC0}"/>
                    </a:ext>
                  </a:extLst>
                </p:cNvPr>
                <p:cNvSpPr txBox="1"/>
                <p:nvPr/>
              </p:nvSpPr>
              <p:spPr>
                <a:xfrm>
                  <a:off x="4808746" y="1938778"/>
                  <a:ext cx="173894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8B3BA821-304C-4D1C-D8C0-4428577F2E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08746" y="1938778"/>
                  <a:ext cx="173894" cy="169277"/>
                </a:xfrm>
                <a:prstGeom prst="rect">
                  <a:avLst/>
                </a:prstGeom>
                <a:blipFill>
                  <a:blip r:embed="rId14"/>
                  <a:stretch>
                    <a:fillRect l="-17857" r="-14286" b="-1785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7EA9BCA3-F78D-FA2F-5A4C-D295574353F8}"/>
                    </a:ext>
                  </a:extLst>
                </p:cNvPr>
                <p:cNvSpPr txBox="1"/>
                <p:nvPr/>
              </p:nvSpPr>
              <p:spPr>
                <a:xfrm>
                  <a:off x="7093649" y="644258"/>
                  <a:ext cx="173894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7EA9BCA3-F78D-FA2F-5A4C-D295574353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93649" y="644258"/>
                  <a:ext cx="173894" cy="169277"/>
                </a:xfrm>
                <a:prstGeom prst="rect">
                  <a:avLst/>
                </a:prstGeom>
                <a:blipFill>
                  <a:blip r:embed="rId15"/>
                  <a:stretch>
                    <a:fillRect l="-17241" r="-10345" b="-1785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8C3E8BC9-CB79-E404-6380-EE221DFBAEC1}"/>
                    </a:ext>
                  </a:extLst>
                </p:cNvPr>
                <p:cNvSpPr txBox="1"/>
                <p:nvPr/>
              </p:nvSpPr>
              <p:spPr>
                <a:xfrm>
                  <a:off x="6932201" y="1256971"/>
                  <a:ext cx="177100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8C3E8BC9-CB79-E404-6380-EE221DFBAE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2201" y="1256971"/>
                  <a:ext cx="177100" cy="169277"/>
                </a:xfrm>
                <a:prstGeom prst="rect">
                  <a:avLst/>
                </a:prstGeom>
                <a:blipFill>
                  <a:blip r:embed="rId16"/>
                  <a:stretch>
                    <a:fillRect l="-17241" r="-10345" b="-222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813B6257-857A-7041-B453-65926E716B41}"/>
                    </a:ext>
                  </a:extLst>
                </p:cNvPr>
                <p:cNvSpPr txBox="1"/>
                <p:nvPr/>
              </p:nvSpPr>
              <p:spPr>
                <a:xfrm>
                  <a:off x="7118227" y="181018"/>
                  <a:ext cx="173189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813B6257-857A-7041-B453-65926E716B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18227" y="181018"/>
                  <a:ext cx="173189" cy="189860"/>
                </a:xfrm>
                <a:prstGeom prst="rect">
                  <a:avLst/>
                </a:prstGeom>
                <a:blipFill>
                  <a:blip r:embed="rId17"/>
                  <a:stretch>
                    <a:fillRect l="-17241" r="-6897" b="-161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96F8DB6A-2253-3CAC-3DA2-585792A953D4}"/>
              </a:ext>
            </a:extLst>
          </p:cNvPr>
          <p:cNvGrpSpPr/>
          <p:nvPr/>
        </p:nvGrpSpPr>
        <p:grpSpPr>
          <a:xfrm>
            <a:off x="10617571" y="2312647"/>
            <a:ext cx="1497288" cy="1524235"/>
            <a:chOff x="509150" y="4628303"/>
            <a:chExt cx="1497288" cy="1524235"/>
          </a:xfrm>
        </p:grpSpPr>
        <p:grpSp>
          <p:nvGrpSpPr>
            <p:cNvPr id="54" name="Groupe 53">
              <a:extLst>
                <a:ext uri="{FF2B5EF4-FFF2-40B4-BE49-F238E27FC236}">
                  <a16:creationId xmlns:a16="http://schemas.microsoft.com/office/drawing/2014/main" id="{B8286699-933C-7C3E-E657-F666496645B0}"/>
                </a:ext>
              </a:extLst>
            </p:cNvPr>
            <p:cNvGrpSpPr/>
            <p:nvPr/>
          </p:nvGrpSpPr>
          <p:grpSpPr>
            <a:xfrm rot="20700000">
              <a:off x="945585" y="4791440"/>
              <a:ext cx="720000" cy="720000"/>
              <a:chOff x="1053532" y="4870045"/>
              <a:chExt cx="720000" cy="720000"/>
            </a:xfrm>
          </p:grpSpPr>
          <p:cxnSp>
            <p:nvCxnSpPr>
              <p:cNvPr id="66" name="Connecteur droit 65">
                <a:extLst>
                  <a:ext uri="{FF2B5EF4-FFF2-40B4-BE49-F238E27FC236}">
                    <a16:creationId xmlns:a16="http://schemas.microsoft.com/office/drawing/2014/main" id="{8E8B4D6A-C3E7-07DA-D624-39919E1FE1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3532" y="5590045"/>
                <a:ext cx="720000" cy="0"/>
              </a:xfrm>
              <a:prstGeom prst="line">
                <a:avLst/>
              </a:prstGeom>
              <a:noFill/>
              <a:ln w="19050" cap="flat" cmpd="sng" algn="ctr">
                <a:solidFill>
                  <a:srgbClr val="0070C0"/>
                </a:solidFill>
                <a:prstDash val="solid"/>
                <a:miter lim="800000"/>
                <a:headEnd type="stealth" w="med" len="lg"/>
                <a:tailEnd type="none"/>
              </a:ln>
              <a:effectLst/>
            </p:spPr>
          </p:cxnSp>
          <p:cxnSp>
            <p:nvCxnSpPr>
              <p:cNvPr id="67" name="Connecteur droit 66">
                <a:extLst>
                  <a:ext uri="{FF2B5EF4-FFF2-40B4-BE49-F238E27FC236}">
                    <a16:creationId xmlns:a16="http://schemas.microsoft.com/office/drawing/2014/main" id="{A89E3681-1B36-EB04-9652-DFD2AE11E77F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694593" y="5230045"/>
                <a:ext cx="720000" cy="0"/>
              </a:xfrm>
              <a:prstGeom prst="line">
                <a:avLst/>
              </a:prstGeom>
              <a:noFill/>
              <a:ln w="19050" cap="flat" cmpd="sng" algn="ctr">
                <a:solidFill>
                  <a:srgbClr val="0070C0"/>
                </a:solidFill>
                <a:prstDash val="solid"/>
                <a:miter lim="800000"/>
                <a:headEnd type="stealth" w="med" len="lg"/>
                <a:tailEnd type="none"/>
              </a:ln>
              <a:effectLst/>
            </p:spPr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05C2A4AA-E782-8A08-AD43-125DC0556ACB}"/>
                    </a:ext>
                  </a:extLst>
                </p:cNvPr>
                <p:cNvSpPr txBox="1"/>
                <p:nvPr/>
              </p:nvSpPr>
              <p:spPr>
                <a:xfrm>
                  <a:off x="1827351" y="5492998"/>
                  <a:ext cx="179087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05C2A4AA-E782-8A08-AD43-125DC0556A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7351" y="5492998"/>
                  <a:ext cx="179087" cy="189860"/>
                </a:xfrm>
                <a:prstGeom prst="rect">
                  <a:avLst/>
                </a:prstGeom>
                <a:blipFill>
                  <a:blip r:embed="rId18"/>
                  <a:stretch>
                    <a:fillRect l="-17241" r="-10345" b="-161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F3153144-0D07-7997-DD4B-09AF2D6DC5D8}"/>
                </a:ext>
              </a:extLst>
            </p:cNvPr>
            <p:cNvGrpSpPr/>
            <p:nvPr/>
          </p:nvGrpSpPr>
          <p:grpSpPr>
            <a:xfrm>
              <a:off x="1053532" y="4870045"/>
              <a:ext cx="720000" cy="720000"/>
              <a:chOff x="1053532" y="4870045"/>
              <a:chExt cx="720000" cy="720000"/>
            </a:xfrm>
          </p:grpSpPr>
          <p:cxnSp>
            <p:nvCxnSpPr>
              <p:cNvPr id="64" name="Connecteur droit 63">
                <a:extLst>
                  <a:ext uri="{FF2B5EF4-FFF2-40B4-BE49-F238E27FC236}">
                    <a16:creationId xmlns:a16="http://schemas.microsoft.com/office/drawing/2014/main" id="{8D6A19ED-4537-82B8-8DD2-6A6B6DFFD5B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3532" y="5590045"/>
                <a:ext cx="720000" cy="0"/>
              </a:xfrm>
              <a:prstGeom prst="line">
                <a:avLst/>
              </a:prstGeom>
              <a:noFill/>
              <a:ln w="19050" cap="flat" cmpd="sng" algn="ctr">
                <a:solidFill>
                  <a:srgbClr val="002060"/>
                </a:solidFill>
                <a:prstDash val="solid"/>
                <a:miter lim="800000"/>
                <a:headEnd type="stealth" w="med" len="lg"/>
                <a:tailEnd type="none"/>
              </a:ln>
              <a:effectLst/>
            </p:spPr>
          </p:cxnSp>
          <p:cxnSp>
            <p:nvCxnSpPr>
              <p:cNvPr id="65" name="Connecteur droit 64">
                <a:extLst>
                  <a:ext uri="{FF2B5EF4-FFF2-40B4-BE49-F238E27FC236}">
                    <a16:creationId xmlns:a16="http://schemas.microsoft.com/office/drawing/2014/main" id="{71E5C922-5C30-0325-C3FD-E8C4D70964EF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694593" y="5230045"/>
                <a:ext cx="720000" cy="0"/>
              </a:xfrm>
              <a:prstGeom prst="line">
                <a:avLst/>
              </a:prstGeom>
              <a:noFill/>
              <a:ln w="19050" cap="flat" cmpd="sng" algn="ctr">
                <a:solidFill>
                  <a:srgbClr val="002060"/>
                </a:solidFill>
                <a:prstDash val="solid"/>
                <a:miter lim="800000"/>
                <a:headEnd type="stealth" w="med" len="lg"/>
                <a:tailEnd type="none"/>
              </a:ln>
              <a:effectLst/>
            </p:spPr>
          </p:cxnSp>
        </p:grpSp>
        <p:sp>
          <p:nvSpPr>
            <p:cNvPr id="57" name="Ellipse 56">
              <a:extLst>
                <a:ext uri="{FF2B5EF4-FFF2-40B4-BE49-F238E27FC236}">
                  <a16:creationId xmlns:a16="http://schemas.microsoft.com/office/drawing/2014/main" id="{2BB58091-4A1B-0262-2BD9-80797139B714}"/>
                </a:ext>
              </a:extLst>
            </p:cNvPr>
            <p:cNvSpPr/>
            <p:nvPr/>
          </p:nvSpPr>
          <p:spPr>
            <a:xfrm>
              <a:off x="1000774" y="5533928"/>
              <a:ext cx="108000" cy="108000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Ellipse 57">
              <a:extLst>
                <a:ext uri="{FF2B5EF4-FFF2-40B4-BE49-F238E27FC236}">
                  <a16:creationId xmlns:a16="http://schemas.microsoft.com/office/drawing/2014/main" id="{4C506202-9A0A-4885-2ADF-8AA6F41A7E0D}"/>
                </a:ext>
              </a:extLst>
            </p:cNvPr>
            <p:cNvSpPr/>
            <p:nvPr/>
          </p:nvSpPr>
          <p:spPr>
            <a:xfrm>
              <a:off x="1036774" y="5569928"/>
              <a:ext cx="36000" cy="36000"/>
            </a:xfrm>
            <a:prstGeom prst="ellipse">
              <a:avLst/>
            </a:prstGeom>
            <a:solidFill>
              <a:srgbClr val="002060"/>
            </a:solidFill>
            <a:ln w="127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74160F79-1561-A088-F356-58503BC8DCD0}"/>
                    </a:ext>
                  </a:extLst>
                </p:cNvPr>
                <p:cNvSpPr txBox="1"/>
                <p:nvPr/>
              </p:nvSpPr>
              <p:spPr>
                <a:xfrm>
                  <a:off x="963988" y="4628303"/>
                  <a:ext cx="155747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74160F79-1561-A088-F356-58503BC8DC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988" y="4628303"/>
                  <a:ext cx="155747" cy="189860"/>
                </a:xfrm>
                <a:prstGeom prst="rect">
                  <a:avLst/>
                </a:prstGeom>
                <a:blipFill>
                  <a:blip r:embed="rId19"/>
                  <a:stretch>
                    <a:fillRect l="-19231" r="-7692" b="-125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ZoneTexte 59">
                  <a:extLst>
                    <a:ext uri="{FF2B5EF4-FFF2-40B4-BE49-F238E27FC236}">
                      <a16:creationId xmlns:a16="http://schemas.microsoft.com/office/drawing/2014/main" id="{7C7414FA-1579-5885-60F5-44CE6CBAAF84}"/>
                    </a:ext>
                  </a:extLst>
                </p:cNvPr>
                <p:cNvSpPr txBox="1"/>
                <p:nvPr/>
              </p:nvSpPr>
              <p:spPr>
                <a:xfrm>
                  <a:off x="1746494" y="5293080"/>
                  <a:ext cx="182358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60" name="ZoneTexte 59">
                  <a:extLst>
                    <a:ext uri="{FF2B5EF4-FFF2-40B4-BE49-F238E27FC236}">
                      <a16:creationId xmlns:a16="http://schemas.microsoft.com/office/drawing/2014/main" id="{7C7414FA-1579-5885-60F5-44CE6CBAAF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6494" y="5293080"/>
                  <a:ext cx="182358" cy="189860"/>
                </a:xfrm>
                <a:prstGeom prst="rect">
                  <a:avLst/>
                </a:prstGeom>
                <a:blipFill>
                  <a:blip r:embed="rId20"/>
                  <a:stretch>
                    <a:fillRect l="-16667" r="-10000" b="-125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ZoneTexte 60">
                  <a:extLst>
                    <a:ext uri="{FF2B5EF4-FFF2-40B4-BE49-F238E27FC236}">
                      <a16:creationId xmlns:a16="http://schemas.microsoft.com/office/drawing/2014/main" id="{4E2AA123-0753-8E41-81F2-E68DBF22C442}"/>
                    </a:ext>
                  </a:extLst>
                </p:cNvPr>
                <p:cNvSpPr txBox="1"/>
                <p:nvPr/>
              </p:nvSpPr>
              <p:spPr>
                <a:xfrm>
                  <a:off x="689181" y="4724367"/>
                  <a:ext cx="159018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61" name="ZoneTexte 60">
                  <a:extLst>
                    <a:ext uri="{FF2B5EF4-FFF2-40B4-BE49-F238E27FC236}">
                      <a16:creationId xmlns:a16="http://schemas.microsoft.com/office/drawing/2014/main" id="{4E2AA123-0753-8E41-81F2-E68DBF22C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181" y="4724367"/>
                  <a:ext cx="159018" cy="189860"/>
                </a:xfrm>
                <a:prstGeom prst="rect">
                  <a:avLst/>
                </a:prstGeom>
                <a:blipFill>
                  <a:blip r:embed="rId21"/>
                  <a:stretch>
                    <a:fillRect l="-19231" r="-11538" b="-161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2" name="Arc 61">
              <a:extLst>
                <a:ext uri="{FF2B5EF4-FFF2-40B4-BE49-F238E27FC236}">
                  <a16:creationId xmlns:a16="http://schemas.microsoft.com/office/drawing/2014/main" id="{F62C0995-3724-0CD6-2E71-B80899A290E8}"/>
                </a:ext>
              </a:extLst>
            </p:cNvPr>
            <p:cNvSpPr/>
            <p:nvPr/>
          </p:nvSpPr>
          <p:spPr>
            <a:xfrm>
              <a:off x="509150" y="5042440"/>
              <a:ext cx="1110098" cy="1110098"/>
            </a:xfrm>
            <a:prstGeom prst="arc">
              <a:avLst>
                <a:gd name="adj1" fmla="val 20633020"/>
                <a:gd name="adj2" fmla="val 0"/>
              </a:avLst>
            </a:prstGeom>
            <a:noFill/>
            <a:ln w="12700" cap="flat" cmpd="sng" algn="ctr">
              <a:solidFill>
                <a:srgbClr val="002060"/>
              </a:solidFill>
              <a:prstDash val="solid"/>
              <a:miter lim="800000"/>
              <a:headEnd type="stealth" w="sm" len="med"/>
              <a:tailEnd type="none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EC095D9A-3490-62DD-3402-728F6BCFAC2E}"/>
                    </a:ext>
                  </a:extLst>
                </p:cNvPr>
                <p:cNvSpPr txBox="1"/>
                <p:nvPr/>
              </p:nvSpPr>
              <p:spPr>
                <a:xfrm>
                  <a:off x="1473149" y="5172614"/>
                  <a:ext cx="173189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EC095D9A-3490-62DD-3402-728F6BCFAC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3149" y="5172614"/>
                  <a:ext cx="173189" cy="169277"/>
                </a:xfrm>
                <a:prstGeom prst="rect">
                  <a:avLst/>
                </a:prstGeom>
                <a:blipFill>
                  <a:blip r:embed="rId22"/>
                  <a:stretch>
                    <a:fillRect l="-28571" r="-14286" b="-40741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837440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8DC39-9229-3DBC-74A3-699986EFF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9AC4118-35DA-3E0A-03D4-6B469C81B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Espace réservé du contenu 4">
                <a:extLst>
                  <a:ext uri="{FF2B5EF4-FFF2-40B4-BE49-F238E27FC236}">
                    <a16:creationId xmlns:a16="http://schemas.microsoft.com/office/drawing/2014/main" id="{25A4D41A-107B-F03A-F0AF-23C215B1CB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10900795" cy="5253339"/>
              </a:xfrm>
            </p:spPr>
            <p:txBody>
              <a:bodyPr>
                <a:normAutofit fontScale="85000" lnSpcReduction="20000"/>
              </a:bodyPr>
              <a:lstStyle/>
              <a:p>
                <a:endParaRPr lang="fr-FR" b="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fr-FR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fr-FR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func>
                                    <m:func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func>
                                    <m:func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func>
                                    <m:func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func>
                                    <m:func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/>
                    </m:sSub>
                  </m:oMath>
                </a14:m>
                <a:endParaRPr lang="fr-FR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fr-F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A</m:t>
                                      </m:r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fr-FR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e>
                                    <m:sup>
                                      <m: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  <m:func>
                                <m:func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fr-F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e>
                                    <m:sup>
                                      <m: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  <m:func>
                                <m:func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  <m:func>
                                <m:func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  <m:func>
                                    <m:funcPr>
                                      <m:ctrlPr>
                                        <a:rPr lang="fr-F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  <m:func>
                                <m:func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</m:e>
                              </m:func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  <m:func>
                                <m:func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  <m:func>
                                <m:func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  <m:func>
                                <m:func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fr-F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e>
                                    <m:sup>
                                      <m: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  <m:func>
                                <m:func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fr-F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e>
                                    <m:sup>
                                      <m:r>
                                        <a:rPr lang="fr-FR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fr-FR" dirty="0">
                  <a:ea typeface="Cambria Math" panose="02040503050406030204" pitchFamily="18" charset="0"/>
                </a:endParaRPr>
              </a:p>
              <a:p>
                <a:r>
                  <a:rPr lang="fr-FR" dirty="0">
                    <a:ea typeface="Cambria Math" panose="02040503050406030204" pitchFamily="18" charset="0"/>
                  </a:rPr>
                  <a:t>Or,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endParaRPr lang="fr-FR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>
                                  <m:r>
                                    <a:rPr lang="fr-F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endParaRPr lang="fr-FR" dirty="0">
                  <a:ea typeface="Cambria Math" panose="02040503050406030204" pitchFamily="18" charset="0"/>
                </a:endParaRPr>
              </a:p>
              <a:p>
                <a:endParaRPr lang="fr-FR" dirty="0">
                  <a:ea typeface="Cambria Math" panose="02040503050406030204" pitchFamily="18" charset="0"/>
                </a:endParaRPr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5" name="Espace réservé du contenu 4">
                <a:extLst>
                  <a:ext uri="{FF2B5EF4-FFF2-40B4-BE49-F238E27FC236}">
                    <a16:creationId xmlns:a16="http://schemas.microsoft.com/office/drawing/2014/main" id="{25A4D41A-107B-F03A-F0AF-23C215B1CB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10900795" cy="5253339"/>
              </a:xfrm>
              <a:blipFill>
                <a:blip r:embed="rId2"/>
                <a:stretch>
                  <a:fillRect l="-12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oupe 52">
            <a:extLst>
              <a:ext uri="{FF2B5EF4-FFF2-40B4-BE49-F238E27FC236}">
                <a16:creationId xmlns:a16="http://schemas.microsoft.com/office/drawing/2014/main" id="{EDD5D005-821F-7ECD-8F90-3A77103120A0}"/>
              </a:ext>
            </a:extLst>
          </p:cNvPr>
          <p:cNvGrpSpPr/>
          <p:nvPr/>
        </p:nvGrpSpPr>
        <p:grpSpPr>
          <a:xfrm>
            <a:off x="10617571" y="2312647"/>
            <a:ext cx="1497288" cy="1524235"/>
            <a:chOff x="509150" y="4628303"/>
            <a:chExt cx="1497288" cy="1524235"/>
          </a:xfrm>
        </p:grpSpPr>
        <p:grpSp>
          <p:nvGrpSpPr>
            <p:cNvPr id="54" name="Groupe 53">
              <a:extLst>
                <a:ext uri="{FF2B5EF4-FFF2-40B4-BE49-F238E27FC236}">
                  <a16:creationId xmlns:a16="http://schemas.microsoft.com/office/drawing/2014/main" id="{72D43549-A765-A2FF-8B5D-677B5E467EF6}"/>
                </a:ext>
              </a:extLst>
            </p:cNvPr>
            <p:cNvGrpSpPr/>
            <p:nvPr/>
          </p:nvGrpSpPr>
          <p:grpSpPr>
            <a:xfrm rot="20700000">
              <a:off x="945585" y="4791440"/>
              <a:ext cx="720000" cy="720000"/>
              <a:chOff x="1053532" y="4870045"/>
              <a:chExt cx="720000" cy="720000"/>
            </a:xfrm>
          </p:grpSpPr>
          <p:cxnSp>
            <p:nvCxnSpPr>
              <p:cNvPr id="66" name="Connecteur droit 65">
                <a:extLst>
                  <a:ext uri="{FF2B5EF4-FFF2-40B4-BE49-F238E27FC236}">
                    <a16:creationId xmlns:a16="http://schemas.microsoft.com/office/drawing/2014/main" id="{688DDAFB-048C-C6FD-703F-AAE5A092DCA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3532" y="5590045"/>
                <a:ext cx="720000" cy="0"/>
              </a:xfrm>
              <a:prstGeom prst="line">
                <a:avLst/>
              </a:prstGeom>
              <a:noFill/>
              <a:ln w="19050" cap="flat" cmpd="sng" algn="ctr">
                <a:solidFill>
                  <a:srgbClr val="0070C0"/>
                </a:solidFill>
                <a:prstDash val="solid"/>
                <a:miter lim="800000"/>
                <a:headEnd type="stealth" w="med" len="lg"/>
                <a:tailEnd type="none"/>
              </a:ln>
              <a:effectLst/>
            </p:spPr>
          </p:cxnSp>
          <p:cxnSp>
            <p:nvCxnSpPr>
              <p:cNvPr id="67" name="Connecteur droit 66">
                <a:extLst>
                  <a:ext uri="{FF2B5EF4-FFF2-40B4-BE49-F238E27FC236}">
                    <a16:creationId xmlns:a16="http://schemas.microsoft.com/office/drawing/2014/main" id="{8E2DAC78-25E7-0C71-E87A-4AE8EB3511C6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694593" y="5230045"/>
                <a:ext cx="720000" cy="0"/>
              </a:xfrm>
              <a:prstGeom prst="line">
                <a:avLst/>
              </a:prstGeom>
              <a:noFill/>
              <a:ln w="19050" cap="flat" cmpd="sng" algn="ctr">
                <a:solidFill>
                  <a:srgbClr val="0070C0"/>
                </a:solidFill>
                <a:prstDash val="solid"/>
                <a:miter lim="800000"/>
                <a:headEnd type="stealth" w="med" len="lg"/>
                <a:tailEnd type="none"/>
              </a:ln>
              <a:effectLst/>
            </p:spPr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AB6E3438-76EB-D0DF-FD5D-35F167959E1C}"/>
                    </a:ext>
                  </a:extLst>
                </p:cNvPr>
                <p:cNvSpPr txBox="1"/>
                <p:nvPr/>
              </p:nvSpPr>
              <p:spPr>
                <a:xfrm>
                  <a:off x="1827351" y="5492998"/>
                  <a:ext cx="179087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AB6E3438-76EB-D0DF-FD5D-35F167959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7351" y="5492998"/>
                  <a:ext cx="179087" cy="189860"/>
                </a:xfrm>
                <a:prstGeom prst="rect">
                  <a:avLst/>
                </a:prstGeom>
                <a:blipFill>
                  <a:blip r:embed="rId3"/>
                  <a:stretch>
                    <a:fillRect l="-17241" r="-10345" b="-161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A933B3B7-7C44-A612-D0CE-B69B9EFC7EDF}"/>
                </a:ext>
              </a:extLst>
            </p:cNvPr>
            <p:cNvGrpSpPr/>
            <p:nvPr/>
          </p:nvGrpSpPr>
          <p:grpSpPr>
            <a:xfrm>
              <a:off x="1053532" y="4870045"/>
              <a:ext cx="720000" cy="720000"/>
              <a:chOff x="1053532" y="4870045"/>
              <a:chExt cx="720000" cy="720000"/>
            </a:xfrm>
          </p:grpSpPr>
          <p:cxnSp>
            <p:nvCxnSpPr>
              <p:cNvPr id="64" name="Connecteur droit 63">
                <a:extLst>
                  <a:ext uri="{FF2B5EF4-FFF2-40B4-BE49-F238E27FC236}">
                    <a16:creationId xmlns:a16="http://schemas.microsoft.com/office/drawing/2014/main" id="{BAFF6099-0BD2-7577-36EC-D7B915A8D98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3532" y="5590045"/>
                <a:ext cx="720000" cy="0"/>
              </a:xfrm>
              <a:prstGeom prst="line">
                <a:avLst/>
              </a:prstGeom>
              <a:noFill/>
              <a:ln w="19050" cap="flat" cmpd="sng" algn="ctr">
                <a:solidFill>
                  <a:srgbClr val="002060"/>
                </a:solidFill>
                <a:prstDash val="solid"/>
                <a:miter lim="800000"/>
                <a:headEnd type="stealth" w="med" len="lg"/>
                <a:tailEnd type="none"/>
              </a:ln>
              <a:effectLst/>
            </p:spPr>
          </p:cxnSp>
          <p:cxnSp>
            <p:nvCxnSpPr>
              <p:cNvPr id="65" name="Connecteur droit 64">
                <a:extLst>
                  <a:ext uri="{FF2B5EF4-FFF2-40B4-BE49-F238E27FC236}">
                    <a16:creationId xmlns:a16="http://schemas.microsoft.com/office/drawing/2014/main" id="{95386FE4-BD5C-C8F8-15C3-AAB928AC8940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694593" y="5230045"/>
                <a:ext cx="720000" cy="0"/>
              </a:xfrm>
              <a:prstGeom prst="line">
                <a:avLst/>
              </a:prstGeom>
              <a:noFill/>
              <a:ln w="19050" cap="flat" cmpd="sng" algn="ctr">
                <a:solidFill>
                  <a:srgbClr val="002060"/>
                </a:solidFill>
                <a:prstDash val="solid"/>
                <a:miter lim="800000"/>
                <a:headEnd type="stealth" w="med" len="lg"/>
                <a:tailEnd type="none"/>
              </a:ln>
              <a:effectLst/>
            </p:spPr>
          </p:cxnSp>
        </p:grpSp>
        <p:sp>
          <p:nvSpPr>
            <p:cNvPr id="57" name="Ellipse 56">
              <a:extLst>
                <a:ext uri="{FF2B5EF4-FFF2-40B4-BE49-F238E27FC236}">
                  <a16:creationId xmlns:a16="http://schemas.microsoft.com/office/drawing/2014/main" id="{A9175DE7-136A-B3CD-0914-5724BF2401B1}"/>
                </a:ext>
              </a:extLst>
            </p:cNvPr>
            <p:cNvSpPr/>
            <p:nvPr/>
          </p:nvSpPr>
          <p:spPr>
            <a:xfrm>
              <a:off x="1000774" y="5533928"/>
              <a:ext cx="108000" cy="108000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Ellipse 57">
              <a:extLst>
                <a:ext uri="{FF2B5EF4-FFF2-40B4-BE49-F238E27FC236}">
                  <a16:creationId xmlns:a16="http://schemas.microsoft.com/office/drawing/2014/main" id="{E81CF91A-D97C-149B-751F-5B3C23242280}"/>
                </a:ext>
              </a:extLst>
            </p:cNvPr>
            <p:cNvSpPr/>
            <p:nvPr/>
          </p:nvSpPr>
          <p:spPr>
            <a:xfrm>
              <a:off x="1036774" y="5569928"/>
              <a:ext cx="36000" cy="36000"/>
            </a:xfrm>
            <a:prstGeom prst="ellipse">
              <a:avLst/>
            </a:prstGeom>
            <a:solidFill>
              <a:srgbClr val="002060"/>
            </a:solidFill>
            <a:ln w="127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009EB0C7-8CB9-7674-A8E8-BD90ACD9D835}"/>
                    </a:ext>
                  </a:extLst>
                </p:cNvPr>
                <p:cNvSpPr txBox="1"/>
                <p:nvPr/>
              </p:nvSpPr>
              <p:spPr>
                <a:xfrm>
                  <a:off x="963988" y="4628303"/>
                  <a:ext cx="155747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009EB0C7-8CB9-7674-A8E8-BD90ACD9D8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988" y="4628303"/>
                  <a:ext cx="155747" cy="189860"/>
                </a:xfrm>
                <a:prstGeom prst="rect">
                  <a:avLst/>
                </a:prstGeom>
                <a:blipFill>
                  <a:blip r:embed="rId4"/>
                  <a:stretch>
                    <a:fillRect l="-19231" r="-7692" b="-125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ZoneTexte 59">
                  <a:extLst>
                    <a:ext uri="{FF2B5EF4-FFF2-40B4-BE49-F238E27FC236}">
                      <a16:creationId xmlns:a16="http://schemas.microsoft.com/office/drawing/2014/main" id="{C101C66B-E0EE-E9D5-895D-53C91BA39128}"/>
                    </a:ext>
                  </a:extLst>
                </p:cNvPr>
                <p:cNvSpPr txBox="1"/>
                <p:nvPr/>
              </p:nvSpPr>
              <p:spPr>
                <a:xfrm>
                  <a:off x="1746494" y="5293080"/>
                  <a:ext cx="182358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60" name="ZoneTexte 59">
                  <a:extLst>
                    <a:ext uri="{FF2B5EF4-FFF2-40B4-BE49-F238E27FC236}">
                      <a16:creationId xmlns:a16="http://schemas.microsoft.com/office/drawing/2014/main" id="{C101C66B-E0EE-E9D5-895D-53C91BA391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6494" y="5293080"/>
                  <a:ext cx="182358" cy="189860"/>
                </a:xfrm>
                <a:prstGeom prst="rect">
                  <a:avLst/>
                </a:prstGeom>
                <a:blipFill>
                  <a:blip r:embed="rId5"/>
                  <a:stretch>
                    <a:fillRect l="-16667" r="-10000" b="-125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ZoneTexte 60">
                  <a:extLst>
                    <a:ext uri="{FF2B5EF4-FFF2-40B4-BE49-F238E27FC236}">
                      <a16:creationId xmlns:a16="http://schemas.microsoft.com/office/drawing/2014/main" id="{457B307D-1282-EC9B-F73C-2AD0B4FE55C4}"/>
                    </a:ext>
                  </a:extLst>
                </p:cNvPr>
                <p:cNvSpPr txBox="1"/>
                <p:nvPr/>
              </p:nvSpPr>
              <p:spPr>
                <a:xfrm>
                  <a:off x="689181" y="4724367"/>
                  <a:ext cx="159018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kumimoji="0" lang="fr-FR" sz="11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61" name="ZoneTexte 60">
                  <a:extLst>
                    <a:ext uri="{FF2B5EF4-FFF2-40B4-BE49-F238E27FC236}">
                      <a16:creationId xmlns:a16="http://schemas.microsoft.com/office/drawing/2014/main" id="{457B307D-1282-EC9B-F73C-2AD0B4FE5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181" y="4724367"/>
                  <a:ext cx="159018" cy="189860"/>
                </a:xfrm>
                <a:prstGeom prst="rect">
                  <a:avLst/>
                </a:prstGeom>
                <a:blipFill>
                  <a:blip r:embed="rId6"/>
                  <a:stretch>
                    <a:fillRect l="-19231" r="-11538" b="-161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2" name="Arc 61">
              <a:extLst>
                <a:ext uri="{FF2B5EF4-FFF2-40B4-BE49-F238E27FC236}">
                  <a16:creationId xmlns:a16="http://schemas.microsoft.com/office/drawing/2014/main" id="{9395252C-99AA-F7C2-3CC3-0B11203D2A2D}"/>
                </a:ext>
              </a:extLst>
            </p:cNvPr>
            <p:cNvSpPr/>
            <p:nvPr/>
          </p:nvSpPr>
          <p:spPr>
            <a:xfrm>
              <a:off x="509150" y="5042440"/>
              <a:ext cx="1110098" cy="1110098"/>
            </a:xfrm>
            <a:prstGeom prst="arc">
              <a:avLst>
                <a:gd name="adj1" fmla="val 20633020"/>
                <a:gd name="adj2" fmla="val 0"/>
              </a:avLst>
            </a:prstGeom>
            <a:noFill/>
            <a:ln w="12700" cap="flat" cmpd="sng" algn="ctr">
              <a:solidFill>
                <a:srgbClr val="002060"/>
              </a:solidFill>
              <a:prstDash val="solid"/>
              <a:miter lim="800000"/>
              <a:headEnd type="stealth" w="sm" len="med"/>
              <a:tailEnd type="none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EC149BA2-BB73-47CD-1E78-9746A9C87FA4}"/>
                    </a:ext>
                  </a:extLst>
                </p:cNvPr>
                <p:cNvSpPr txBox="1"/>
                <p:nvPr/>
              </p:nvSpPr>
              <p:spPr>
                <a:xfrm>
                  <a:off x="1473149" y="5172614"/>
                  <a:ext cx="173189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kumimoji="0" lang="fr-FR" sz="11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fr-FR" sz="11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EC149BA2-BB73-47CD-1E78-9746A9C87F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3149" y="5172614"/>
                  <a:ext cx="173189" cy="169277"/>
                </a:xfrm>
                <a:prstGeom prst="rect">
                  <a:avLst/>
                </a:prstGeom>
                <a:blipFill>
                  <a:blip r:embed="rId7"/>
                  <a:stretch>
                    <a:fillRect l="-28571" r="-14286" b="-40741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50822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36243F-8131-2080-0424-5BEA8F712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Calcul du moment d’inertie – Utilisation de Huygens	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CB5B1A0-EA55-D306-02FA-A3D285A314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10423205" cy="5253339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fr-FR" sz="2000" dirty="0"/>
                  <a:t>On a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𝑑</m:t>
                    </m:r>
                    <m:func>
                      <m:func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func>
                    <m:acc>
                      <m:accPr>
                        <m:chr m:val="⃗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fr-FR" sz="20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𝑑</m:t>
                    </m:r>
                    <m:func>
                      <m:func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2000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func>
                    <m:acc>
                      <m:accPr>
                        <m:chr m:val="⃗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</m:oMath>
                </a14:m>
                <a:endParaRPr lang="fr-FR" sz="2000" dirty="0"/>
              </a:p>
              <a:p>
                <a14:m>
                  <m:oMath xmlns:m="http://schemas.openxmlformats.org/officeDocument/2006/math"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p>
                                    <m:sSupPr>
                                      <m:ctrlP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m:rPr>
                                          <m:brk m:alnAt="7"/>
                                        </m:rP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fr-FR" sz="2000" b="0" i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fr-FR" sz="2000" b="0" i="0" smtClean="0">
                                              <a:latin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  <m:r>
                                            <a:rPr lang="fr-FR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𝑜𝑠</m:t>
                                          </m:r>
                                        </m:e>
                                        <m:sup>
                                          <m:r>
                                            <m:rPr>
                                              <m:brk m:alnAt="7"/>
                                            </m:rPr>
                                            <a:rPr lang="fr-FR" sz="2000" b="0" i="0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sz="20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 b="0" i="0" smtClean="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  <m:func>
                                    <m:funcPr>
                                      <m:ctrlP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 b="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sSup>
                                    <m:sSupPr>
                                      <m:ctrlP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fr-FR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fr-FR" sz="2000" b="0" i="0" smtClean="0">
                                              <a:latin typeface="Cambria Math" panose="02040503050406030204" pitchFamily="18" charset="0"/>
                                            </a:rPr>
                                            <m:t>sin</m:t>
                                          </m:r>
                                        </m:e>
                                        <m:sup>
                                          <m:r>
                                            <a:rPr lang="fr-FR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20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fr-FR" sz="2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fr-FR" sz="2000">
                                              <a:latin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𝑜𝑠</m:t>
                                          </m:r>
                                        </m:e>
                                        <m:sup>
                                          <m:r>
                                            <m:rPr>
                                              <m:brk m:alnAt="7"/>
                                            </m:rPr>
                                            <a:rPr lang="fr-FR" sz="200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fr-FR" sz="2000">
                                              <a:latin typeface="Cambria Math" panose="02040503050406030204" pitchFamily="18" charset="0"/>
                                            </a:rPr>
                                            <m:t>sin</m:t>
                                          </m:r>
                                        </m:e>
                                        <m:sup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sz="2000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a:rPr lang="fr-FR" sz="2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fr-FR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fr-FR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endParaRPr lang="fr-FR" sz="2000" dirty="0"/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2000">
                            <a:latin typeface="Cambria Math" panose="02040503050406030204" pitchFamily="18" charset="0"/>
                          </a:rPr>
                          <m:t>Ω</m:t>
                        </m:r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(2</m:t>
                        </m:r>
                        <m:r>
                          <m:rPr>
                            <m:lit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0)</m:t>
                        </m:r>
                      </m:e>
                    </m:acc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fr-FR" sz="20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acc>
                    <m:d>
                      <m:d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20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acc>
                          <m:accPr>
                            <m:chr m:val="⃗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20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acc>
                          <m:accPr>
                            <m:chr m:val="⃗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fr-FR" sz="2000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fr-FR" sz="20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̇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acc>
                        <m:func>
                          <m:func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20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acc>
                          <m:accPr>
                            <m:chr m:val="⃗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̇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acc>
                        <m:func>
                          <m:func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20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acc>
                          <m:accPr>
                            <m:chr m:val="⃗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fr-FR" sz="2000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</m:oMath>
                </a14:m>
                <a:endParaRPr lang="fr-FR" sz="20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,2</m:t>
                            </m:r>
                            <m:r>
                              <m:rPr>
                                <m:lit/>
                              </m:rPr>
                              <a:rPr lang="fr-FR" sz="2000" i="1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fr-FR" sz="2000">
                                              <a:latin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𝑜𝑠</m:t>
                                          </m:r>
                                        </m:e>
                                        <m:sup>
                                          <m:r>
                                            <m:rPr>
                                              <m:brk m:alnAt="7"/>
                                            </m:rPr>
                                            <a:rPr lang="fr-FR" sz="200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fr-FR" sz="2000">
                                              <a:latin typeface="Cambria Math" panose="02040503050406030204" pitchFamily="18" charset="0"/>
                                            </a:rPr>
                                            <m:t>sin</m:t>
                                          </m:r>
                                        </m:e>
                                        <m:sup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fr-F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acc>
                              </m:e>
                            </m:eqArr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endParaRPr lang="fr-FR" sz="20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d>
                                  <m:dPr>
                                    <m:ctrlPr>
                                      <a:rPr lang="fr-FR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sSup>
                                          <m:sSup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fr-FR" sz="2000">
                                                <a:latin typeface="Cambria Math" panose="02040503050406030204" pitchFamily="18" charset="0"/>
                                              </a:rPr>
                                              <m:t>c</m:t>
                                            </m:r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𝑜𝑠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fr-FR" sz="200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fName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</m:e>
                                </m:d>
                                <m:r>
                                  <a:rPr lang="fr-F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e>
                                      <m:sub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r>
                                  <a:rPr lang="fr-F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d>
                                  <m:dPr>
                                    <m:ctrlPr>
                                      <a:rPr lang="fr-FR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e>
                                      <m:sub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sSup>
                                          <m:sSup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fr-FR" sz="2000">
                                                <a:latin typeface="Cambria Math" panose="02040503050406030204" pitchFamily="18" charset="0"/>
                                              </a:rPr>
                                              <m:t>sin</m:t>
                                            </m:r>
                                          </m:e>
                                          <m:sup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</m:e>
                                </m:d>
                              </m:e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fr-FR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eqArr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fr-FR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m:rPr>
                                    <m:brk m:alnAt="7"/>
                                  </m:r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e>
                                      <m:sub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e>
                                      <m:sub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r>
                                  <a:rPr lang="fr-F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brk m:alnAt="7"/>
                                  </m:r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eqArr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endParaRPr lang="fr-FR" sz="2000" dirty="0"/>
              </a:p>
              <a:p>
                <a14:m>
                  <m:oMath xmlns:m="http://schemas.openxmlformats.org/officeDocument/2006/math">
                    <m:r>
                      <a:rPr lang="fr-FR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</m:e>
                                </m:d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  <m:acc>
                                      <m:accPr>
                                        <m:chr m:val="⃗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acc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  <m:acc>
                                      <m:accPr>
                                        <m:chr m:val="⃗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acc>
                                  </m:e>
                                </m:d>
                              </m:e>
                              <m:e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</m:e>
                                </m:d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  <m:acc>
                                      <m:accPr>
                                        <m:chr m:val="⃗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acc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  <m:acc>
                                      <m:accPr>
                                        <m:chr m:val="⃗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acc>
                                  </m:e>
                                </m:d>
                              </m:e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eqArr>
                          </m:e>
                        </m:d>
                      </m:e>
                      <m:sub/>
                    </m:sSub>
                  </m:oMath>
                </a14:m>
                <a:endParaRPr lang="fr-FR" sz="20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</m:e>
                                </m:d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</m:e>
                                </m:d>
                              </m:e>
                              <m:e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</m:e>
                                </m:d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</m:e>
                                </m:d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</m:e>
                                </m:d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</m:e>
                                </m:d>
                              </m:e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eqArr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r>
                      <a:rPr lang="fr-FR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m:rPr>
                                    <m:brk m:alnAt="7"/>
                                  </m:r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e>
                                      <m:sub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</m:e>
                              <m:e>
                                <m:r>
                                  <a:rPr lang="fr-FR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eqArr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endParaRPr lang="fr-FR" sz="2000" dirty="0"/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d>
                          <m:d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,2</m:t>
                            </m:r>
                            <m:r>
                              <m:rPr>
                                <m:lit/>
                              </m:rPr>
                              <a:rPr lang="fr-FR" sz="2000" i="1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m:rPr>
                                    <m:brk m:alnAt="7"/>
                                  </m:r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acc>
                                  <m:accPr>
                                    <m:chr m:val="̈"/>
                                    <m:ctrlPr>
                                      <a:rPr lang="fr-FR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e>
                                      <m:sub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acc>
                                  <m:accPr>
                                    <m:chr m:val="̈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</m:e>
                              <m:e>
                                <m:r>
                                  <a:rPr lang="fr-F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e>
                                <m:acc>
                                  <m:accPr>
                                    <m:chr m:val="̈"/>
                                    <m:ctrlPr>
                                      <a:rPr lang="fr-FR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eqArr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endParaRPr lang="fr-FR" sz="2000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CB5B1A0-EA55-D306-02FA-A3D285A314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10423205" cy="5253339"/>
              </a:xfrm>
              <a:blipFill>
                <a:blip r:embed="rId2"/>
                <a:stretch>
                  <a:fillRect l="-585" t="-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3">
            <a:extLst>
              <a:ext uri="{FF2B5EF4-FFF2-40B4-BE49-F238E27FC236}">
                <a16:creationId xmlns:a16="http://schemas.microsoft.com/office/drawing/2014/main" id="{91F6A394-5C0C-3A4E-6FD0-CB7CDE3D4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0268" y="622774"/>
            <a:ext cx="4013938" cy="265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6035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A51E2-71A9-E9B4-F290-AA8348362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A4DFD9-2974-D0D0-1279-77096C048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Calcul du moment d’inertie – Utilisation de Huygens	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C7ABC939-AE57-3104-8A92-9A57A1517F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10423205" cy="5253339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fr-FR" sz="2000" dirty="0"/>
                  <a:t>On a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=+</m:t>
                    </m:r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𝑑</m:t>
                    </m:r>
                    <m:acc>
                      <m:accPr>
                        <m:chr m:val="⃗"/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=+</m:t>
                    </m:r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𝑑</m:t>
                    </m:r>
                    <m:func>
                      <m:func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func>
                    <m:acc>
                      <m:accPr>
                        <m:chr m:val="⃗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𝑑</m:t>
                    </m:r>
                    <m:func>
                      <m:func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2000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func>
                    <m:acc>
                      <m:accPr>
                        <m:chr m:val="⃗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</m:oMath>
                </a14:m>
                <a:endParaRPr lang="fr-FR" sz="2000" dirty="0"/>
              </a:p>
              <a:p>
                <a14:m>
                  <m:oMath xmlns:m="http://schemas.openxmlformats.org/officeDocument/2006/math"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d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p>
                                    <m:sSupPr>
                                      <m:ctrlP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m:rPr>
                                          <m:brk m:alnAt="7"/>
                                        </m:rP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fr-FR" sz="2000" b="0" i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fr-FR" sz="2000" b="0" i="0" smtClean="0">
                                              <a:latin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  <m:r>
                                            <a:rPr lang="fr-FR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𝑜𝑠</m:t>
                                          </m:r>
                                        </m:e>
                                        <m:sup>
                                          <m:r>
                                            <m:rPr>
                                              <m:brk m:alnAt="7"/>
                                            </m:rPr>
                                            <a:rPr lang="fr-FR" sz="2000" b="0" i="0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sz="20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 b="0" i="0" smtClean="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  <m:func>
                                    <m:funcPr>
                                      <m:ctrlP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 b="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sSup>
                                    <m:sSupPr>
                                      <m:ctrlP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fr-FR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fr-FR" sz="2000" b="0" i="0" smtClean="0">
                                              <a:latin typeface="Cambria Math" panose="02040503050406030204" pitchFamily="18" charset="0"/>
                                            </a:rPr>
                                            <m:t>sin</m:t>
                                          </m:r>
                                        </m:e>
                                        <m:sup>
                                          <m:r>
                                            <a:rPr lang="fr-FR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r>
                                        <a:rPr lang="fr-FR" sz="2000" b="0" i="1" smtClean="0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20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fr-FR" sz="2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fr-FR" sz="2000">
                                              <a:latin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𝑜𝑠</m:t>
                                          </m:r>
                                        </m:e>
                                        <m:sup>
                                          <m:r>
                                            <m:rPr>
                                              <m:brk m:alnAt="7"/>
                                            </m:rPr>
                                            <a:rPr lang="fr-FR" sz="200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fr-FR" sz="2000">
                                              <a:latin typeface="Cambria Math" panose="02040503050406030204" pitchFamily="18" charset="0"/>
                                            </a:rPr>
                                            <m:t>sin</m:t>
                                          </m:r>
                                        </m:e>
                                        <m:sup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sz="2000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a:rPr lang="fr-FR" sz="20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fr-FR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fr-FR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endParaRPr lang="fr-FR" sz="2000" dirty="0"/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2000">
                            <a:latin typeface="Cambria Math" panose="02040503050406030204" pitchFamily="18" charset="0"/>
                          </a:rPr>
                          <m:t>Ω</m:t>
                        </m:r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(2</m:t>
                        </m:r>
                        <m:r>
                          <m:rPr>
                            <m:lit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0)</m:t>
                        </m:r>
                      </m:e>
                    </m:acc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fr-FR" sz="20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acc>
                    <m:d>
                      <m:d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20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acc>
                          <m:accPr>
                            <m:chr m:val="⃗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20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acc>
                          <m:accPr>
                            <m:chr m:val="⃗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fr-FR" sz="2000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fr-FR" sz="20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̇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acc>
                        <m:func>
                          <m:func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20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acc>
                          <m:accPr>
                            <m:chr m:val="⃗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̇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acc>
                        <m:func>
                          <m:func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20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acc>
                          <m:accPr>
                            <m:chr m:val="⃗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fr-FR" sz="2000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</m:oMath>
                </a14:m>
                <a:endParaRPr lang="fr-FR" sz="20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,2</m:t>
                            </m:r>
                            <m:r>
                              <m:rPr>
                                <m:lit/>
                              </m:rPr>
                              <a:rPr lang="fr-FR" sz="2000" i="1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fr-FR" sz="2000">
                                              <a:latin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𝑜𝑠</m:t>
                                          </m:r>
                                        </m:e>
                                        <m:sup>
                                          <m:r>
                                            <m:rPr>
                                              <m:brk m:alnAt="7"/>
                                            </m:rPr>
                                            <a:rPr lang="fr-FR" sz="200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20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func>
                                    <m:func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fr-FR" sz="2000">
                                              <a:latin typeface="Cambria Math" panose="02040503050406030204" pitchFamily="18" charset="0"/>
                                            </a:rPr>
                                            <m:t>sin</m:t>
                                          </m:r>
                                        </m:e>
                                        <m:sup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a:rPr lang="fr-FR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fr-FR" sz="20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m:rPr>
                                          <m:brk m:alnAt="7"/>
                                        </m:rPr>
                                        <a:rPr lang="fr-F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fr-F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acc>
                              </m:e>
                            </m:eqArr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endParaRPr lang="fr-FR" sz="20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d>
                                  <m:dPr>
                                    <m:ctrlPr>
                                      <a:rPr lang="fr-FR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sSup>
                                          <m:sSup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fr-FR" sz="2000">
                                                <a:latin typeface="Cambria Math" panose="02040503050406030204" pitchFamily="18" charset="0"/>
                                              </a:rPr>
                                              <m:t>c</m:t>
                                            </m:r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𝑜𝑠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fr-FR" sz="200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fName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</m:e>
                                </m:d>
                                <m:r>
                                  <a:rPr lang="fr-F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e>
                                      <m:sub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r>
                                  <a:rPr lang="fr-F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d>
                                  <m:dPr>
                                    <m:ctrlPr>
                                      <a:rPr lang="fr-FR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e>
                                      <m:sub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sSup>
                                          <m:sSup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fr-FR" sz="2000">
                                                <a:latin typeface="Cambria Math" panose="02040503050406030204" pitchFamily="18" charset="0"/>
                                              </a:rPr>
                                              <m:t>sin</m:t>
                                            </m:r>
                                          </m:e>
                                          <m:sup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</m:e>
                                </m:d>
                              </m:e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fr-FR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eqArr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fr-FR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m:rPr>
                                    <m:brk m:alnAt="7"/>
                                  </m:r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e>
                                      <m:sub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e>
                                      <m:sub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r>
                                  <a:rPr lang="fr-F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brk m:alnAt="7"/>
                                  </m:r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</m:e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eqArr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endParaRPr lang="fr-FR" sz="2000" dirty="0"/>
              </a:p>
              <a:p>
                <a14:m>
                  <m:oMath xmlns:m="http://schemas.openxmlformats.org/officeDocument/2006/math">
                    <m:r>
                      <a:rPr lang="fr-FR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</m:e>
                                </m:d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  <m:acc>
                                      <m:accPr>
                                        <m:chr m:val="⃗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acc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  <m:acc>
                                      <m:accPr>
                                        <m:chr m:val="⃗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acc>
                                  </m:e>
                                </m:d>
                              </m:e>
                              <m:e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</m:e>
                                </m:d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  <m:acc>
                                      <m:accPr>
                                        <m:chr m:val="⃗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acc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  <m:acc>
                                      <m:accPr>
                                        <m:chr m:val="⃗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acc>
                                  </m:e>
                                </m:d>
                              </m:e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eqArr>
                          </m:e>
                        </m:d>
                      </m:e>
                      <m:sub/>
                    </m:sSub>
                  </m:oMath>
                </a14:m>
                <a:endParaRPr lang="fr-FR" sz="20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</m:e>
                                </m:d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sz="20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func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</m:e>
                                </m:d>
                              </m:e>
                              <m:e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</m:e>
                                </m:d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</m:e>
                                </m:d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acc>
                                      <m:accPr>
                                        <m:chr m:val="̇"/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</m:e>
                                </m:d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 sz="200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fName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func>
                                  </m:e>
                                </m:d>
                              </m:e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eqArr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r>
                      <a:rPr lang="fr-FR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m:rPr>
                                    <m:brk m:alnAt="7"/>
                                  </m:r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e>
                                      <m:sub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</m:e>
                              <m:e>
                                <m:r>
                                  <a:rPr lang="fr-FR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eqArr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endParaRPr lang="fr-FR" sz="2000" dirty="0"/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d>
                          <m:d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,2</m:t>
                            </m:r>
                            <m:r>
                              <m:rPr>
                                <m:lit/>
                              </m:rPr>
                              <a:rPr lang="fr-FR" sz="2000" i="1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m:rPr>
                                    <m:brk m:alnAt="7"/>
                                  </m:rP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acc>
                                  <m:accPr>
                                    <m:chr m:val="̈"/>
                                    <m:ctrlPr>
                                      <a:rPr lang="fr-FR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r>
                                  <a:rPr lang="fr-FR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e>
                                      <m:sub>
                                        <m: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p>
                                    <m:r>
                                      <m:rPr>
                                        <m:brk m:alnAt="7"/>
                                      </m:r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acc>
                                  <m:accPr>
                                    <m:chr m:val="̈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</m:e>
                              <m:e>
                                <m:r>
                                  <a:rPr lang="fr-F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acc>
                                <m:acc>
                                  <m:accPr>
                                    <m:chr m:val="̇"/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e>
                                <m:acc>
                                  <m:accPr>
                                    <m:chr m:val="̈"/>
                                    <m:ctrlPr>
                                      <a:rPr lang="fr-FR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sz="2000" b="0" i="1" smtClean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  <m:r>
                                      <a:rPr lang="fr-FR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e>
                                          <m:sub>
                                            <m:r>
                                              <a:rPr lang="fr-FR" sz="20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brk m:alnAt="7"/>
                                          </m:rPr>
                                          <a:rPr lang="fr-FR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eqArr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endParaRPr lang="fr-FR" sz="2000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C7ABC939-AE57-3104-8A92-9A57A1517F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10423205" cy="5253339"/>
              </a:xfrm>
              <a:blipFill>
                <a:blip r:embed="rId2"/>
                <a:stretch>
                  <a:fillRect l="-585" t="-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3">
            <a:extLst>
              <a:ext uri="{FF2B5EF4-FFF2-40B4-BE49-F238E27FC236}">
                <a16:creationId xmlns:a16="http://schemas.microsoft.com/office/drawing/2014/main" id="{7F7BC50A-FEFC-A5E6-FBCA-5CC63BB397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0268" y="622774"/>
            <a:ext cx="4013938" cy="265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98770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374</Words>
  <Application>Microsoft Office PowerPoint</Application>
  <PresentationFormat>Grand écran</PresentationFormat>
  <Paragraphs>96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7" baseType="lpstr">
      <vt:lpstr>Arial Nova</vt:lpstr>
      <vt:lpstr>Calibri</vt:lpstr>
      <vt:lpstr>Calibri Light</vt:lpstr>
      <vt:lpstr>Cambria Math</vt:lpstr>
      <vt:lpstr>Wingdings</vt:lpstr>
      <vt:lpstr>Rétrospective</vt:lpstr>
      <vt:lpstr>Drone D2C</vt:lpstr>
      <vt:lpstr>Présentation PowerPoint</vt:lpstr>
      <vt:lpstr>02 Chaîne fonctionnelle</vt:lpstr>
      <vt:lpstr>Chaine fonctionnelle du Control’X</vt:lpstr>
      <vt:lpstr>05 Résolution Cinématique</vt:lpstr>
      <vt:lpstr>09 Dimensionnement actionneur dynamique</vt:lpstr>
      <vt:lpstr>Dynamique &amp;  Commande</vt:lpstr>
      <vt:lpstr>Déplacement de la matrice d’inertie</vt:lpstr>
      <vt:lpstr>Présentation PowerPoint</vt:lpstr>
      <vt:lpstr>Calcul du moment d’inertie – Utilisation de Huygens </vt:lpstr>
      <vt:lpstr>Calcul du moment d’inertie – Utilisation de Huygens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55</cp:revision>
  <dcterms:created xsi:type="dcterms:W3CDTF">2023-03-22T10:05:05Z</dcterms:created>
  <dcterms:modified xsi:type="dcterms:W3CDTF">2025-11-24T22:57:37Z</dcterms:modified>
</cp:coreProperties>
</file>