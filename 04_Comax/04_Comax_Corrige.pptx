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2" r:id="rId8"/>
    <p:sldId id="283" r:id="rId9"/>
    <p:sldId id="281" r:id="rId10"/>
    <p:sldId id="268" r:id="rId11"/>
    <p:sldId id="270" r:id="rId12"/>
    <p:sldId id="272" r:id="rId13"/>
    <p:sldId id="271" r:id="rId14"/>
    <p:sldId id="278" r:id="rId15"/>
    <p:sldId id="274" r:id="rId16"/>
    <p:sldId id="275" r:id="rId17"/>
    <p:sldId id="276" r:id="rId18"/>
    <p:sldId id="277" r:id="rId19"/>
    <p:sldId id="28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AED1"/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12/01/2026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8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Comax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Axe linéaire « Poulie courroie »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PC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  <a:endCxn id="45" idx="0"/>
          </p:cNvCxnSpPr>
          <p:nvPr/>
        </p:nvCxnSpPr>
        <p:spPr>
          <a:xfrm>
            <a:off x="4669319" y="1818298"/>
            <a:ext cx="131551" cy="1176476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9772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15883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Apporte une aide au déplacement de le charge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Continu</a:t>
                </a:r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694382" y="1656710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9335" y="3661444"/>
            <a:ext cx="288000" cy="105516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Codeur, ampèremètre et capteur d’effort 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modulée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5950287" y="4647841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9F95A1EA-9092-5D0B-B7AC-F7CE46698DF0}"/>
              </a:ext>
            </a:extLst>
          </p:cNvPr>
          <p:cNvGrpSpPr/>
          <p:nvPr/>
        </p:nvGrpSpPr>
        <p:grpSpPr>
          <a:xfrm>
            <a:off x="694382" y="1254083"/>
            <a:ext cx="360000" cy="360000"/>
            <a:chOff x="-2063262" y="2086237"/>
            <a:chExt cx="1800000" cy="1800000"/>
          </a:xfrm>
        </p:grpSpPr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845FC769-0299-0B5A-BCD6-DE55695F83D2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7" name="Image 96">
              <a:extLst>
                <a:ext uri="{FF2B5EF4-FFF2-40B4-BE49-F238E27FC236}">
                  <a16:creationId xmlns:a16="http://schemas.microsoft.com/office/drawing/2014/main" id="{6A7943FD-8BE6-B490-32BF-D4F134197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FDD7D3C5-7014-8F67-1947-2626275503E2}"/>
              </a:ext>
            </a:extLst>
          </p:cNvPr>
          <p:cNvGrpSpPr/>
          <p:nvPr/>
        </p:nvGrpSpPr>
        <p:grpSpPr>
          <a:xfrm>
            <a:off x="12416753" y="3543108"/>
            <a:ext cx="288000" cy="288000"/>
            <a:chOff x="-2063262" y="2086237"/>
            <a:chExt cx="1800000" cy="1800000"/>
          </a:xfrm>
        </p:grpSpPr>
        <p:sp>
          <p:nvSpPr>
            <p:cNvPr id="99" name="Ellipse 98">
              <a:extLst>
                <a:ext uri="{FF2B5EF4-FFF2-40B4-BE49-F238E27FC236}">
                  <a16:creationId xmlns:a16="http://schemas.microsoft.com/office/drawing/2014/main" id="{B35256CE-9660-7734-0E5B-65E73BB68D56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0" name="Image 99">
              <a:extLst>
                <a:ext uri="{FF2B5EF4-FFF2-40B4-BE49-F238E27FC236}">
                  <a16:creationId xmlns:a16="http://schemas.microsoft.com/office/drawing/2014/main" id="{1B83FA9B-7FFD-974D-50C2-183E2ECB2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8079091" y="3940734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  <a:stCxn id="69" idx="4"/>
            <a:endCxn id="95" idx="1"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  <a:stCxn id="100" idx="0"/>
            <a:endCxn id="97" idx="0"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/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7CFF18D7-B440-5F98-0242-64155E193C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5684" y="3407535"/>
            <a:ext cx="360000" cy="360000"/>
          </a:xfrm>
          <a:prstGeom prst="rect">
            <a:avLst/>
          </a:prstGeom>
        </p:spPr>
      </p:pic>
      <p:grpSp>
        <p:nvGrpSpPr>
          <p:cNvPr id="86" name="Groupe 85">
            <a:extLst>
              <a:ext uri="{FF2B5EF4-FFF2-40B4-BE49-F238E27FC236}">
                <a16:creationId xmlns:a16="http://schemas.microsoft.com/office/drawing/2014/main" id="{F7FD68FD-39E8-E3FC-751F-6F8E7EFC5E05}"/>
              </a:ext>
            </a:extLst>
          </p:cNvPr>
          <p:cNvGrpSpPr/>
          <p:nvPr/>
        </p:nvGrpSpPr>
        <p:grpSpPr>
          <a:xfrm>
            <a:off x="10151217" y="3954960"/>
            <a:ext cx="360000" cy="360000"/>
            <a:chOff x="10405167" y="2322166"/>
            <a:chExt cx="1800000" cy="1800000"/>
          </a:xfrm>
        </p:grpSpPr>
        <p:sp>
          <p:nvSpPr>
            <p:cNvPr id="87" name="Ellipse 86">
              <a:extLst>
                <a:ext uri="{FF2B5EF4-FFF2-40B4-BE49-F238E27FC236}">
                  <a16:creationId xmlns:a16="http://schemas.microsoft.com/office/drawing/2014/main" id="{1E8A1773-049E-3FE0-3A55-46B324B5F72D}"/>
                </a:ext>
              </a:extLst>
            </p:cNvPr>
            <p:cNvSpPr/>
            <p:nvPr/>
          </p:nvSpPr>
          <p:spPr>
            <a:xfrm>
              <a:off x="10405167" y="2322166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8" name="Image 87">
              <a:extLst>
                <a:ext uri="{FF2B5EF4-FFF2-40B4-BE49-F238E27FC236}">
                  <a16:creationId xmlns:a16="http://schemas.microsoft.com/office/drawing/2014/main" id="{CB10C83E-CD60-27F3-C1B3-1546FCE28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0546164" y="2642707"/>
              <a:ext cx="1518007" cy="924719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/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E05F-43A5-7872-A688-559E20C6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54075C4-E0D0-D390-0DCD-E7BF1AA3E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7640AFE-9DB9-BB25-832F-0C7F578A3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9" y="1232193"/>
            <a:ext cx="11905582" cy="446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4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 </a:t>
            </a:r>
            <a:r>
              <a:rPr lang="fr-FR"/>
              <a:t>Résolution cinématique</a:t>
            </a:r>
            <a:br>
              <a:rPr lang="fr-FR"/>
            </a:b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E461D7-4D60-F5CA-061F-9CD814D2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entrée sortie géométrique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20AF941-BE5D-C520-EE45-EA9BDBAD3B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Rapport de réduction du réducteur : 15,88</a:t>
                </a:r>
              </a:p>
              <a:p>
                <a:r>
                  <a:rPr lang="fr-FR" dirty="0"/>
                  <a:t> Transmetteur : 108,2 mm/tr soit 17,22 mm/rad</a:t>
                </a:r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×17,2 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20AF941-BE5D-C520-EE45-EA9BDBAD3B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4772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5F8D0-37ED-5538-AD49-13505153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26232B-877C-6F62-135A-9F5B3A4D1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entrée sortie en effort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19B2D4-77DE-6731-B46A-F7DF203E5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Rapport de réduction du réducteur : 15,88</a:t>
                </a:r>
              </a:p>
              <a:p>
                <a:r>
                  <a:rPr lang="fr-FR" dirty="0"/>
                  <a:t> Transmetteur : 108,2 mm/tr soit 17,22 mm/rad</a:t>
                </a:r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×17,2 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Sous l’hypothèse que le rendement est unitaire :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̇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den>
                    </m:f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17,2×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19B2D4-77DE-6731-B46A-F7DF203E5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243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DD68A-E16C-6412-0693-26A3D0F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8820592-B42F-86C6-2B84-6D0830A7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F96706-D0AC-35B1-9E61-ADB22B4A76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121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2762F0-6713-D740-7B66-903DCE9D5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de l’axe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fr-FR" dirty="0"/>
                  <a:t>On isole : </a:t>
                </a:r>
              </a:p>
              <a:p>
                <a:pPr lvl="1"/>
                <a:r>
                  <a:rPr lang="fr-FR" dirty="0"/>
                  <a:t>Le rotor du moteur</a:t>
                </a:r>
              </a:p>
              <a:p>
                <a:pPr lvl="1"/>
                <a:r>
                  <a:rPr lang="fr-FR" dirty="0"/>
                  <a:t>Les pignons du réducteur</a:t>
                </a:r>
              </a:p>
              <a:p>
                <a:pPr lvl="1"/>
                <a:r>
                  <a:rPr lang="fr-FR" dirty="0"/>
                  <a:t>La poulie</a:t>
                </a:r>
              </a:p>
              <a:p>
                <a:pPr lvl="1"/>
                <a:r>
                  <a:rPr lang="fr-FR" dirty="0"/>
                  <a:t>La courroie</a:t>
                </a:r>
              </a:p>
              <a:p>
                <a:pPr lvl="1"/>
                <a:r>
                  <a:rPr lang="fr-FR" dirty="0"/>
                  <a:t>L’axe</a:t>
                </a:r>
              </a:p>
              <a:p>
                <a:r>
                  <a:rPr lang="fr-FR" dirty="0"/>
                  <a:t>Hypothèses : </a:t>
                </a:r>
              </a:p>
              <a:p>
                <a:pPr lvl="1"/>
                <a:r>
                  <a:rPr lang="fr-FR" dirty="0"/>
                  <a:t>Courroie qui roule sans glisser sur la poulie</a:t>
                </a:r>
              </a:p>
              <a:p>
                <a:pPr lvl="1"/>
                <a:r>
                  <a:rPr lang="fr-FR" dirty="0"/>
                  <a:t>Courroie inextensible</a:t>
                </a:r>
              </a:p>
              <a:p>
                <a:pPr lvl="1"/>
                <a:endParaRPr lang="fr-FR" dirty="0"/>
              </a:p>
              <a:p>
                <a:r>
                  <a:rPr lang="fr-FR" dirty="0"/>
                  <a:t>Bilan des puissances :</a:t>
                </a:r>
              </a:p>
              <a:p>
                <a:pPr lvl="1"/>
                <a:r>
                  <a:rPr lang="fr-FR" dirty="0"/>
                  <a:t>Toutes les puissances dissipées dans les liaisons intérieures ou extérieures à l’isolement sont ramenées à l’arbre moteur (rotor, noté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dirty="0"/>
                  <a:t> On les note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𝐹𝑟𝑜𝑡𝑡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Bilan des puissances intérieures 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𝑝𝑜𝑢𝑙𝑖𝑒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𝑐𝑜𝑢𝑟𝑟𝑜𝑖𝑒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fr-FR" dirty="0"/>
                  <a:t> (Roulement sans glissement)</a:t>
                </a:r>
              </a:p>
              <a:p>
                <a:pPr lvl="1"/>
                <a:r>
                  <a:rPr lang="fr-FR" dirty="0"/>
                  <a:t>Bilan des puissances extérieures :</a:t>
                </a:r>
              </a:p>
              <a:p>
                <a:pPr lvl="2"/>
                <a:r>
                  <a:rPr lang="fr-FR" dirty="0">
                    <a:ea typeface="Cambria Math" panose="02040503050406030204" pitchFamily="18" charset="0"/>
                  </a:rPr>
                  <a:t>Puissance </a:t>
                </a:r>
                <a:r>
                  <a:rPr lang="fr-FR" dirty="0" err="1">
                    <a:ea typeface="Cambria Math" panose="02040503050406030204" pitchFamily="18" charset="0"/>
                  </a:rPr>
                  <a:t>motr</a:t>
                </a:r>
                <a:r>
                  <a:rPr lang="fr-FR" dirty="0">
                    <a:ea typeface="Cambria Math" panose="02040503050406030204" pitchFamily="18" charset="0"/>
                  </a:rPr>
                  <a:t>ice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𝑟𝑜𝑡𝑜𝑟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𝑠𝑡𝑎𝑡𝑜𝑟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:pPr lvl="2"/>
                <a:r>
                  <a:rPr lang="fr-FR" dirty="0"/>
                  <a:t>Puissance de la pesanteur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  <a:blipFill>
                <a:blip r:embed="rId2"/>
                <a:stretch>
                  <a:fillRect l="-1973" t="-2083" r="-2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fontScale="92500" lnSpcReduction="2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Calcul de l’énergie cinétique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d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dirty="0"/>
              </a:p>
              <a:p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𝑔𝐾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eq</m:t>
                        </m:r>
                      </m:sub>
                    </m:sSub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Application du TEC en régime permanent, en montée </a:t>
                </a: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𝑛𝑚</m:t>
                          </m:r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𝑔𝐾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r>
                  <a:rPr lang="fr-FR" dirty="0"/>
                  <a:t>Hors frottement, couple nécessaire pour équilibrer une masse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𝑛𝑚𝑔𝐾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  <a:blipFill>
                <a:blip r:embed="rId3"/>
                <a:stretch>
                  <a:fillRect l="-2446" t="-2894" r="-244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094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94E5B6-AD63-4F7B-E838-2B5F5160D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et du Frottement sec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fr-FR" dirty="0"/>
                  <a:t>On cherche le courant mini tel que le bras monte, puis le courant max tel que le bras descende</a:t>
                </a:r>
              </a:p>
              <a:p>
                <a:pPr lvl="1"/>
                <a:r>
                  <a:rPr lang="fr-FR" dirty="0"/>
                  <a:t>On isole le Bras</a:t>
                </a:r>
              </a:p>
              <a:p>
                <a:pPr lvl="1"/>
                <a:r>
                  <a:rPr lang="fr-FR" b="0" dirty="0"/>
                  <a:t>BAME : </a:t>
                </a:r>
              </a:p>
              <a:p>
                <a:pPr lvl="2"/>
                <a:r>
                  <a:rPr lang="fr-FR" dirty="0"/>
                  <a:t>Pesanteur</a:t>
                </a:r>
              </a:p>
              <a:p>
                <a:pPr lvl="2"/>
                <a:r>
                  <a:rPr lang="fr-FR" b="0" dirty="0"/>
                  <a:t>Force motr</a:t>
                </a:r>
                <a:r>
                  <a:rPr lang="fr-FR" dirty="0"/>
                  <a:t>ice</a:t>
                </a:r>
              </a:p>
              <a:p>
                <a:pPr lvl="2"/>
                <a:r>
                  <a:rPr lang="fr-FR" b="0" dirty="0"/>
                  <a:t>Force de frott</a:t>
                </a:r>
                <a:r>
                  <a:rPr lang="fr-FR" dirty="0"/>
                  <a:t>ement</a:t>
                </a:r>
              </a:p>
              <a:p>
                <a:pPr lvl="1"/>
                <a:r>
                  <a:rPr lang="fr-FR" b="0" dirty="0"/>
                  <a:t>A</a:t>
                </a:r>
                <a:r>
                  <a:rPr lang="fr-FR" dirty="0"/>
                  <a:t>pplication du TRS sur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b="0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haut 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bas (couple positif mais pas suffisant pour vaincre le poids):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den>
                    </m:f>
                  </m:oMath>
                </a14:m>
                <a:endParaRPr lang="fr-FR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  <a:blipFill>
                <a:blip r:embed="rId2"/>
                <a:stretch>
                  <a:fillRect l="-2650" t="-2552" r="-22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Mesure de courant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=1,1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=0,0331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=31,79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=2,7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=0,0813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=78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  <a:p>
                <a:pPr lvl="1"/>
                <a:r>
                  <a:rPr lang="fr-FR" dirty="0"/>
                  <a:t>Analyse des mesures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=5,59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=20 à 23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0,024 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  <a:blipFill>
                <a:blip r:embed="rId3"/>
                <a:stretch>
                  <a:fillRect l="-2650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6348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au codeur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7593285" cy="1462084"/>
            <a:chOff x="4452429" y="3393409"/>
            <a:chExt cx="7593285" cy="1462084"/>
          </a:xfrm>
        </p:grpSpPr>
        <p:sp>
          <p:nvSpPr>
            <p:cNvPr id="45" name="Rectangle : coins arrondis 90">
              <a:extLst>
                <a:ext uri="{FF2B5EF4-FFF2-40B4-BE49-F238E27FC236}">
                  <a16:creationId xmlns:a16="http://schemas.microsoft.com/office/drawing/2014/main" id="{6015CC9C-F06A-6145-07AB-90D570197E3C}"/>
                </a:ext>
              </a:extLst>
            </p:cNvPr>
            <p:cNvSpPr/>
            <p:nvPr/>
          </p:nvSpPr>
          <p:spPr>
            <a:xfrm>
              <a:off x="9648386" y="419009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Axe linéaire « Poulie courroie »</a:t>
              </a:r>
            </a:p>
          </p:txBody>
        </p:sp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96452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Image 5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49335" y="3661444"/>
              <a:ext cx="288000" cy="10551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/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𝑽</m:t>
                        </m:r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Rectangle : coins arrondis 65">
              <a:extLst>
                <a:ext uri="{FF2B5EF4-FFF2-40B4-BE49-F238E27FC236}">
                  <a16:creationId xmlns:a16="http://schemas.microsoft.com/office/drawing/2014/main" id="{DEFEC9DC-D44C-BD4C-C7C7-8E5A976EE82E}"/>
                </a:ext>
              </a:extLst>
            </p:cNvPr>
            <p:cNvSpPr/>
            <p:nvPr/>
          </p:nvSpPr>
          <p:spPr>
            <a:xfrm>
              <a:off x="9625448" y="3534654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F7FD68FD-39E8-E3FC-751F-6F8E7EFC5E05}"/>
                </a:ext>
              </a:extLst>
            </p:cNvPr>
            <p:cNvGrpSpPr/>
            <p:nvPr/>
          </p:nvGrpSpPr>
          <p:grpSpPr>
            <a:xfrm>
              <a:off x="10151217" y="3954960"/>
              <a:ext cx="360000" cy="360000"/>
              <a:chOff x="10405167" y="2322166"/>
              <a:chExt cx="1800000" cy="1800000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1E8A1773-049E-3FE0-3A55-46B324B5F72D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4" name="Image 83">
                <a:extLst>
                  <a:ext uri="{FF2B5EF4-FFF2-40B4-BE49-F238E27FC236}">
                    <a16:creationId xmlns:a16="http://schemas.microsoft.com/office/drawing/2014/main" id="{CB10C83E-CD60-27F3-C1B3-1546FCE28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>
            <a:extLst>
              <a:ext uri="{FF2B5EF4-FFF2-40B4-BE49-F238E27FC236}">
                <a16:creationId xmlns:a16="http://schemas.microsoft.com/office/drawing/2014/main" id="{77F0330D-2B6B-0150-1195-CA73F0C9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" y="4103586"/>
            <a:ext cx="1144335" cy="221023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A65BCFA-4E1C-6F10-2880-6849F53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9F1E50-AA20-B060-A17A-B154F6048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6257" y="981887"/>
            <a:ext cx="6097948" cy="5253339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4" name="Rectangle : coins arrondis 15">
            <a:extLst>
              <a:ext uri="{FF2B5EF4-FFF2-40B4-BE49-F238E27FC236}">
                <a16:creationId xmlns:a16="http://schemas.microsoft.com/office/drawing/2014/main" id="{65B3627A-3C72-7F56-BCED-D4E8F8AA030D}"/>
              </a:ext>
            </a:extLst>
          </p:cNvPr>
          <p:cNvSpPr/>
          <p:nvPr/>
        </p:nvSpPr>
        <p:spPr>
          <a:xfrm>
            <a:off x="4170276" y="2410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5" name="Rectangle : coins arrondis 17">
            <a:extLst>
              <a:ext uri="{FF2B5EF4-FFF2-40B4-BE49-F238E27FC236}">
                <a16:creationId xmlns:a16="http://schemas.microsoft.com/office/drawing/2014/main" id="{7AB96648-21A7-8917-9B1E-BD9756348613}"/>
              </a:ext>
            </a:extLst>
          </p:cNvPr>
          <p:cNvSpPr/>
          <p:nvPr/>
        </p:nvSpPr>
        <p:spPr>
          <a:xfrm>
            <a:off x="6332265" y="241340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A29FE64-658D-6639-76FD-401952519008}"/>
              </a:ext>
            </a:extLst>
          </p:cNvPr>
          <p:cNvSpPr/>
          <p:nvPr/>
        </p:nvSpPr>
        <p:spPr>
          <a:xfrm>
            <a:off x="3450276" y="1963423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45897D0-4AA1-7CED-4A37-56A9A9613FAC}"/>
              </a:ext>
            </a:extLst>
          </p:cNvPr>
          <p:cNvSpPr/>
          <p:nvPr/>
        </p:nvSpPr>
        <p:spPr>
          <a:xfrm>
            <a:off x="7782690" y="1939546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680AEFE4-A7B7-CB6F-D212-789FFDF7FCC3}"/>
              </a:ext>
            </a:extLst>
          </p:cNvPr>
          <p:cNvSpPr/>
          <p:nvPr/>
        </p:nvSpPr>
        <p:spPr>
          <a:xfrm>
            <a:off x="3450276" y="3956277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B8CBF83-F231-746D-A03F-9AC26E21FAB2}"/>
              </a:ext>
            </a:extLst>
          </p:cNvPr>
          <p:cNvSpPr/>
          <p:nvPr/>
        </p:nvSpPr>
        <p:spPr>
          <a:xfrm>
            <a:off x="5612265" y="395151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9B7A1F22-9E70-EF06-501D-56F534870FED}"/>
              </a:ext>
            </a:extLst>
          </p:cNvPr>
          <p:cNvSpPr/>
          <p:nvPr/>
        </p:nvSpPr>
        <p:spPr>
          <a:xfrm>
            <a:off x="2882694" y="486449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D3BC413-285F-CB58-58F0-8A4DFC6DF3F8}"/>
              </a:ext>
            </a:extLst>
          </p:cNvPr>
          <p:cNvGrpSpPr/>
          <p:nvPr/>
        </p:nvGrpSpPr>
        <p:grpSpPr>
          <a:xfrm>
            <a:off x="215285" y="1885789"/>
            <a:ext cx="742857" cy="432000"/>
            <a:chOff x="647085" y="2152383"/>
            <a:chExt cx="742857" cy="4320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D496010F-FB1D-0454-CAC2-27629C4AB8F0}"/>
                </a:ext>
              </a:extLst>
            </p:cNvPr>
            <p:cNvSpPr/>
            <p:nvPr/>
          </p:nvSpPr>
          <p:spPr>
            <a:xfrm>
              <a:off x="957942" y="2152383"/>
              <a:ext cx="432000" cy="432000"/>
            </a:xfrm>
            <a:prstGeom prst="ellipse">
              <a:avLst/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B</a:t>
              </a:r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98935AF5-F4EA-FDD6-319F-4CD5B5AFF5BD}"/>
                </a:ext>
              </a:extLst>
            </p:cNvPr>
            <p:cNvGrpSpPr/>
            <p:nvPr/>
          </p:nvGrpSpPr>
          <p:grpSpPr>
            <a:xfrm rot="5400000">
              <a:off x="622923" y="2212954"/>
              <a:ext cx="359181" cy="310857"/>
              <a:chOff x="771193" y="3008074"/>
              <a:chExt cx="359181" cy="310857"/>
            </a:xfrm>
          </p:grpSpPr>
          <p:cxnSp>
            <p:nvCxnSpPr>
              <p:cNvPr id="14" name="Connecteur droit 13">
                <a:extLst>
                  <a:ext uri="{FF2B5EF4-FFF2-40B4-BE49-F238E27FC236}">
                    <a16:creationId xmlns:a16="http://schemas.microsoft.com/office/drawing/2014/main" id="{175FA55B-88C5-C835-8FDB-5F131BC03573}"/>
                  </a:ext>
                </a:extLst>
              </p:cNvPr>
              <p:cNvCxnSpPr/>
              <p:nvPr/>
            </p:nvCxnSpPr>
            <p:spPr>
              <a:xfrm flipH="1">
                <a:off x="951990" y="3008074"/>
                <a:ext cx="0" cy="18000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5DFD61-58E8-5A03-AB69-8F9DD8D701D0}"/>
                  </a:ext>
                </a:extLst>
              </p:cNvPr>
              <p:cNvSpPr/>
              <p:nvPr/>
            </p:nvSpPr>
            <p:spPr>
              <a:xfrm>
                <a:off x="771194" y="3188074"/>
                <a:ext cx="359180" cy="130857"/>
              </a:xfrm>
              <a:prstGeom prst="rect">
                <a:avLst/>
              </a:prstGeom>
              <a:solidFill>
                <a:srgbClr val="C3AE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89A2028F-F21D-FA3C-FA59-6C2297BCC3EC}"/>
                  </a:ext>
                </a:extLst>
              </p:cNvPr>
              <p:cNvCxnSpPr/>
              <p:nvPr/>
            </p:nvCxnSpPr>
            <p:spPr>
              <a:xfrm flipH="1">
                <a:off x="771193" y="3188074"/>
                <a:ext cx="359181" cy="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18" name="Ellipse 17">
            <a:extLst>
              <a:ext uri="{FF2B5EF4-FFF2-40B4-BE49-F238E27FC236}">
                <a16:creationId xmlns:a16="http://schemas.microsoft.com/office/drawing/2014/main" id="{8C3E21F9-4E18-0A22-E215-148E7EDF77F8}"/>
              </a:ext>
            </a:extLst>
          </p:cNvPr>
          <p:cNvSpPr/>
          <p:nvPr/>
        </p:nvSpPr>
        <p:spPr>
          <a:xfrm>
            <a:off x="1322134" y="1885789"/>
            <a:ext cx="432000" cy="432000"/>
          </a:xfrm>
          <a:prstGeom prst="ellipse">
            <a:avLst/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R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3CF82C4-C843-D17A-33ED-31C4889FACB4}"/>
              </a:ext>
            </a:extLst>
          </p:cNvPr>
          <p:cNvSpPr/>
          <p:nvPr/>
        </p:nvSpPr>
        <p:spPr>
          <a:xfrm>
            <a:off x="1318540" y="2667745"/>
            <a:ext cx="432000" cy="432000"/>
          </a:xfrm>
          <a:prstGeom prst="ellipse">
            <a:avLst/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P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5470277-80B0-94A9-B34C-922A652D6CE8}"/>
              </a:ext>
            </a:extLst>
          </p:cNvPr>
          <p:cNvSpPr/>
          <p:nvPr/>
        </p:nvSpPr>
        <p:spPr>
          <a:xfrm>
            <a:off x="1318540" y="3449701"/>
            <a:ext cx="432000" cy="432000"/>
          </a:xfrm>
          <a:prstGeom prst="ellipse">
            <a:avLst/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C6D8BB7C-BA67-02B8-66C4-9225BD0FC491}"/>
              </a:ext>
            </a:extLst>
          </p:cNvPr>
          <p:cNvCxnSpPr>
            <a:cxnSpLocks/>
          </p:cNvCxnSpPr>
          <p:nvPr/>
        </p:nvCxnSpPr>
        <p:spPr>
          <a:xfrm flipV="1">
            <a:off x="1145800" y="4153002"/>
            <a:ext cx="58040" cy="980870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F976A5C2-1044-3692-279E-10FD84DB0DC4}"/>
              </a:ext>
            </a:extLst>
          </p:cNvPr>
          <p:cNvCxnSpPr>
            <a:cxnSpLocks/>
          </p:cNvCxnSpPr>
          <p:nvPr/>
        </p:nvCxnSpPr>
        <p:spPr>
          <a:xfrm flipH="1">
            <a:off x="526142" y="5133872"/>
            <a:ext cx="611695" cy="269514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750F35C4-A4B2-C80F-5246-EFF75239480F}"/>
              </a:ext>
            </a:extLst>
          </p:cNvPr>
          <p:cNvCxnSpPr>
            <a:cxnSpLocks/>
          </p:cNvCxnSpPr>
          <p:nvPr/>
        </p:nvCxnSpPr>
        <p:spPr>
          <a:xfrm>
            <a:off x="1143599" y="5124411"/>
            <a:ext cx="526878" cy="231277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/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blipFill>
                <a:blip r:embed="rId3"/>
                <a:stretch>
                  <a:fillRect l="-33333" t="-48889" r="-103333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/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blipFill>
                <a:blip r:embed="rId4"/>
                <a:stretch>
                  <a:fillRect l="-33333" t="-45652" r="-103333" b="-2391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/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blipFill>
                <a:blip r:embed="rId5"/>
                <a:stretch>
                  <a:fillRect l="-35714" t="-48889" r="-11071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3A25A51B-CDDB-1CE0-AA7C-255583E6C134}"/>
              </a:ext>
            </a:extLst>
          </p:cNvPr>
          <p:cNvCxnSpPr>
            <a:cxnSpLocks/>
            <a:stCxn id="18" idx="2"/>
            <a:endCxn id="6" idx="6"/>
          </p:cNvCxnSpPr>
          <p:nvPr/>
        </p:nvCxnSpPr>
        <p:spPr>
          <a:xfrm flipH="1">
            <a:off x="958142" y="2101789"/>
            <a:ext cx="363992" cy="0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EA2CB81E-0522-723B-DDB7-75CEA9C72B2A}"/>
              </a:ext>
            </a:extLst>
          </p:cNvPr>
          <p:cNvCxnSpPr>
            <a:cxnSpLocks/>
            <a:stCxn id="18" idx="4"/>
            <a:endCxn id="19" idx="0"/>
          </p:cNvCxnSpPr>
          <p:nvPr/>
        </p:nvCxnSpPr>
        <p:spPr>
          <a:xfrm flipH="1">
            <a:off x="1534540" y="2317789"/>
            <a:ext cx="3594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DD4FBDB6-3E0B-30E4-7AA0-726878E3F000}"/>
              </a:ext>
            </a:extLst>
          </p:cNvPr>
          <p:cNvCxnSpPr>
            <a:cxnSpLocks/>
            <a:stCxn id="20" idx="0"/>
            <a:endCxn id="19" idx="4"/>
          </p:cNvCxnSpPr>
          <p:nvPr/>
        </p:nvCxnSpPr>
        <p:spPr>
          <a:xfrm flipV="1">
            <a:off x="1534540" y="3099745"/>
            <a:ext cx="0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2B21137E-A635-72A1-83BD-FB95B390820A}"/>
              </a:ext>
            </a:extLst>
          </p:cNvPr>
          <p:cNvCxnSpPr>
            <a:cxnSpLocks/>
            <a:stCxn id="6" idx="4"/>
            <a:endCxn id="20" idx="2"/>
          </p:cNvCxnSpPr>
          <p:nvPr/>
        </p:nvCxnSpPr>
        <p:spPr>
          <a:xfrm>
            <a:off x="742142" y="2317789"/>
            <a:ext cx="576398" cy="1347912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B795D72C-202A-D2AB-CF12-8269495B2D7E}"/>
              </a:ext>
            </a:extLst>
          </p:cNvPr>
          <p:cNvCxnSpPr>
            <a:cxnSpLocks/>
            <a:stCxn id="6" idx="5"/>
            <a:endCxn id="19" idx="1"/>
          </p:cNvCxnSpPr>
          <p:nvPr/>
        </p:nvCxnSpPr>
        <p:spPr>
          <a:xfrm>
            <a:off x="894877" y="2254524"/>
            <a:ext cx="486928" cy="476486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/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  <a:p>
                <a:pPr algn="ctr"/>
                <a:r>
                  <a:rPr lang="fr-FR" sz="1050" dirty="0"/>
                  <a:t>Couple moteur</a:t>
                </a:r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blipFill>
                <a:blip r:embed="rId6"/>
                <a:stretch>
                  <a:fillRect t="-1471" r="-6952"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/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Glissière de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blipFill>
                <a:blip r:embed="rId7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/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ZoneTexte 56">
            <a:extLst>
              <a:ext uri="{FF2B5EF4-FFF2-40B4-BE49-F238E27FC236}">
                <a16:creationId xmlns:a16="http://schemas.microsoft.com/office/drawing/2014/main" id="{26755C24-C4B6-C8A5-3303-786E3985977F}"/>
              </a:ext>
            </a:extLst>
          </p:cNvPr>
          <p:cNvSpPr txBox="1"/>
          <p:nvPr/>
        </p:nvSpPr>
        <p:spPr>
          <a:xfrm>
            <a:off x="1596264" y="3135325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Poulie-courroie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5BF08727-6262-AD09-CCCB-0E8673CAA393}"/>
              </a:ext>
            </a:extLst>
          </p:cNvPr>
          <p:cNvSpPr txBox="1"/>
          <p:nvPr/>
        </p:nvSpPr>
        <p:spPr>
          <a:xfrm>
            <a:off x="1622897" y="2385067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RSG, Train épi</a:t>
            </a:r>
          </a:p>
        </p:txBody>
      </p:sp>
      <p:sp>
        <p:nvSpPr>
          <p:cNvPr id="59" name="Éclair 58">
            <a:extLst>
              <a:ext uri="{FF2B5EF4-FFF2-40B4-BE49-F238E27FC236}">
                <a16:creationId xmlns:a16="http://schemas.microsoft.com/office/drawing/2014/main" id="{1BE58A0E-8407-8E5B-829F-B7F802090640}"/>
              </a:ext>
            </a:extLst>
          </p:cNvPr>
          <p:cNvSpPr/>
          <p:nvPr/>
        </p:nvSpPr>
        <p:spPr>
          <a:xfrm rot="15660828" flipH="1">
            <a:off x="907686" y="3413079"/>
            <a:ext cx="250398" cy="438875"/>
          </a:xfrm>
          <a:prstGeom prst="lightningBol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827F0F8C-FDDF-D433-9828-54BBC9CD5536}"/>
              </a:ext>
            </a:extLst>
          </p:cNvPr>
          <p:cNvSpPr txBox="1"/>
          <p:nvPr/>
        </p:nvSpPr>
        <p:spPr>
          <a:xfrm>
            <a:off x="138350" y="3405036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Pesanteur</a:t>
            </a:r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8B52C3FD-1CC5-DC59-6B79-308BD02ED7CD}"/>
              </a:ext>
            </a:extLst>
          </p:cNvPr>
          <p:cNvSpPr/>
          <p:nvPr/>
        </p:nvSpPr>
        <p:spPr>
          <a:xfrm>
            <a:off x="759077" y="1561580"/>
            <a:ext cx="792398" cy="571315"/>
          </a:xfrm>
          <a:prstGeom prst="arc">
            <a:avLst>
              <a:gd name="adj1" fmla="val 10891815"/>
              <a:gd name="adj2" fmla="val 0"/>
            </a:avLst>
          </a:prstGeom>
          <a:ln w="28575">
            <a:solidFill>
              <a:srgbClr val="C0000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/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958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Rotor moteur</a:t>
            </a:r>
          </a:p>
          <a:p>
            <a:pPr lvl="1"/>
            <a:r>
              <a:rPr lang="fr-FR" dirty="0"/>
              <a:t>Réducteur</a:t>
            </a:r>
          </a:p>
          <a:p>
            <a:pPr lvl="1"/>
            <a:r>
              <a:rPr lang="fr-FR" dirty="0"/>
              <a:t>Axe linéaire</a:t>
            </a:r>
          </a:p>
          <a:p>
            <a:pPr lvl="1"/>
            <a:r>
              <a:rPr lang="fr-FR" dirty="0"/>
              <a:t>Relation cinématique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Courroie ?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771" y="171599"/>
            <a:ext cx="4432434" cy="860874"/>
          </a:xfrm>
          <a:prstGeom prst="rect">
            <a:avLst/>
          </a:prstGeom>
        </p:spPr>
      </p:pic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96000" y="2090057"/>
            <a:ext cx="6021748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5248862" cy="5253339"/>
          </a:xfrm>
        </p:spPr>
        <p:txBody>
          <a:bodyPr/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Inertie du moteur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m:rPr>
                                    <m:lit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</m:acc>
                      </m:e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3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</a:t>
                </a:r>
                <a:r>
                  <a:rPr lang="fr-FR"/>
                  <a:t>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89957-E9C9-8FA8-2FDB-FEFA3B4E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/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rganigramme : Jonction de sommaire 5">
            <a:extLst>
              <a:ext uri="{FF2B5EF4-FFF2-40B4-BE49-F238E27FC236}">
                <a16:creationId xmlns:a16="http://schemas.microsoft.com/office/drawing/2014/main" id="{310BDCD4-DDB9-AE45-56E5-42003C42A9C1}"/>
              </a:ext>
            </a:extLst>
          </p:cNvPr>
          <p:cNvSpPr/>
          <p:nvPr/>
        </p:nvSpPr>
        <p:spPr>
          <a:xfrm>
            <a:off x="965200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p:sp>
        <p:nvSpPr>
          <p:cNvPr id="7" name="Organigramme : Jonction de sommaire 6">
            <a:extLst>
              <a:ext uri="{FF2B5EF4-FFF2-40B4-BE49-F238E27FC236}">
                <a16:creationId xmlns:a16="http://schemas.microsoft.com/office/drawing/2014/main" id="{B1D61F79-C9C1-BAE2-744F-82035FDBCCF7}"/>
              </a:ext>
            </a:extLst>
          </p:cNvPr>
          <p:cNvSpPr/>
          <p:nvPr/>
        </p:nvSpPr>
        <p:spPr>
          <a:xfrm>
            <a:off x="2429758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/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rganigramme : Jonction de sommaire 8">
            <a:extLst>
              <a:ext uri="{FF2B5EF4-FFF2-40B4-BE49-F238E27FC236}">
                <a16:creationId xmlns:a16="http://schemas.microsoft.com/office/drawing/2014/main" id="{A8BD80CE-A693-3693-1C55-EBE082F2E649}"/>
              </a:ext>
            </a:extLst>
          </p:cNvPr>
          <p:cNvSpPr/>
          <p:nvPr/>
        </p:nvSpPr>
        <p:spPr>
          <a:xfrm>
            <a:off x="3894316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/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𝐿𝑝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4"/>
                <a:stretch>
                  <a:fillRect b="-11290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/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rganigramme : Jonction de sommaire 11">
            <a:extLst>
              <a:ext uri="{FF2B5EF4-FFF2-40B4-BE49-F238E27FC236}">
                <a16:creationId xmlns:a16="http://schemas.microsoft.com/office/drawing/2014/main" id="{4859E6EA-2478-5372-79F9-FBB6F12EA3D4}"/>
              </a:ext>
            </a:extLst>
          </p:cNvPr>
          <p:cNvSpPr/>
          <p:nvPr/>
        </p:nvSpPr>
        <p:spPr>
          <a:xfrm>
            <a:off x="6361153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/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𝑒𝑞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6"/>
                <a:stretch>
                  <a:fillRect b="-6452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/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920A564-2257-29FC-22AB-7EFAAC80CBE3}"/>
              </a:ext>
            </a:extLst>
          </p:cNvPr>
          <p:cNvCxnSpPr>
            <a:endCxn id="6" idx="2"/>
          </p:cNvCxnSpPr>
          <p:nvPr/>
        </p:nvCxnSpPr>
        <p:spPr>
          <a:xfrm>
            <a:off x="577850" y="1992370"/>
            <a:ext cx="387350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B6E8080B-6922-AC6E-4F6B-1D7CD84C13FB}"/>
              </a:ext>
            </a:extLst>
          </p:cNvPr>
          <p:cNvCxnSpPr>
            <a:cxnSpLocks/>
            <a:stCxn id="6" idx="6"/>
            <a:endCxn id="4" idx="1"/>
          </p:cNvCxnSpPr>
          <p:nvPr/>
        </p:nvCxnSpPr>
        <p:spPr>
          <a:xfrm>
            <a:off x="1145200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226D682-2AF3-EEFB-2460-FAEE799AD202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2147479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A2E58B60-FE80-EEB9-B91C-62AB650A26E3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2609758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ED158364-4C8B-6F3C-8EBF-B46371D9D476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>
            <a:off x="3612037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AA2A3271-40B8-FBA3-38D1-1744EBAE5FD4}"/>
              </a:ext>
            </a:extLst>
          </p:cNvPr>
          <p:cNvCxnSpPr>
            <a:cxnSpLocks/>
            <a:stCxn id="9" idx="6"/>
            <a:endCxn id="10" idx="1"/>
          </p:cNvCxnSpPr>
          <p:nvPr/>
        </p:nvCxnSpPr>
        <p:spPr>
          <a:xfrm>
            <a:off x="4074316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3DB429D4-C211-E55B-07E0-C895CD5F96D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076595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29728094-4D70-70D2-B62C-E7952B1C228D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>
            <a:off x="6078874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8B3EFCEE-99E6-C361-41F5-264FFAADD505}"/>
              </a:ext>
            </a:extLst>
          </p:cNvPr>
          <p:cNvCxnSpPr>
            <a:cxnSpLocks/>
            <a:stCxn id="12" idx="6"/>
            <a:endCxn id="13" idx="1"/>
          </p:cNvCxnSpPr>
          <p:nvPr/>
        </p:nvCxnSpPr>
        <p:spPr>
          <a:xfrm>
            <a:off x="6541153" y="1992370"/>
            <a:ext cx="282281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F6A4D42D-B7EC-1A76-3343-D3A1972F56CA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7543434" y="1992370"/>
            <a:ext cx="533766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358F8327-2896-A555-C0B4-FFCA77F4413C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078874" y="2481320"/>
            <a:ext cx="1599808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3C749E40-640B-C2CD-445A-C151F2F43A24}"/>
              </a:ext>
            </a:extLst>
          </p:cNvPr>
          <p:cNvCxnSpPr>
            <a:cxnSpLocks/>
          </p:cNvCxnSpPr>
          <p:nvPr/>
        </p:nvCxnSpPr>
        <p:spPr>
          <a:xfrm>
            <a:off x="7678682" y="199237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3456D801-8D09-2E63-20A9-2331F874A9FF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3984316" y="208237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7735BE04-313F-54BF-63C2-1AAB70F5CC7A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3984316" y="2481320"/>
            <a:ext cx="1374558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406002E-5146-DD15-2CA9-0E8D21DC82F7}"/>
              </a:ext>
            </a:extLst>
          </p:cNvPr>
          <p:cNvCxnSpPr>
            <a:cxnSpLocks/>
          </p:cNvCxnSpPr>
          <p:nvPr/>
        </p:nvCxnSpPr>
        <p:spPr>
          <a:xfrm>
            <a:off x="2518814" y="150342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4AF7D45-3158-226E-21EC-71E5AE717732}"/>
              </a:ext>
            </a:extLst>
          </p:cNvPr>
          <p:cNvCxnSpPr>
            <a:cxnSpLocks/>
          </p:cNvCxnSpPr>
          <p:nvPr/>
        </p:nvCxnSpPr>
        <p:spPr>
          <a:xfrm flipV="1">
            <a:off x="5178043" y="150342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73B52E7F-417A-23E6-7E57-EB57CA13D173}"/>
              </a:ext>
            </a:extLst>
          </p:cNvPr>
          <p:cNvCxnSpPr>
            <a:cxnSpLocks/>
          </p:cNvCxnSpPr>
          <p:nvPr/>
        </p:nvCxnSpPr>
        <p:spPr>
          <a:xfrm flipH="1">
            <a:off x="2518814" y="1503420"/>
            <a:ext cx="2659229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34FDEE8C-6C87-D6A1-9ECF-95BDB8639661}"/>
              </a:ext>
            </a:extLst>
          </p:cNvPr>
          <p:cNvCxnSpPr>
            <a:cxnSpLocks/>
          </p:cNvCxnSpPr>
          <p:nvPr/>
        </p:nvCxnSpPr>
        <p:spPr>
          <a:xfrm flipV="1">
            <a:off x="1055200" y="2059165"/>
            <a:ext cx="0" cy="676155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8EBB725E-61F3-2D0C-6E96-0ACA39226AB1}"/>
              </a:ext>
            </a:extLst>
          </p:cNvPr>
          <p:cNvCxnSpPr>
            <a:cxnSpLocks/>
          </p:cNvCxnSpPr>
          <p:nvPr/>
        </p:nvCxnSpPr>
        <p:spPr>
          <a:xfrm flipH="1">
            <a:off x="1055200" y="2735320"/>
            <a:ext cx="6755117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743A4798-4503-BA1D-4EBC-3A34D88344C3}"/>
              </a:ext>
            </a:extLst>
          </p:cNvPr>
          <p:cNvCxnSpPr>
            <a:cxnSpLocks/>
          </p:cNvCxnSpPr>
          <p:nvPr/>
        </p:nvCxnSpPr>
        <p:spPr>
          <a:xfrm flipH="1">
            <a:off x="7810317" y="1992370"/>
            <a:ext cx="0" cy="742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02846812-9300-AE00-8C35-AD622C4770F8}"/>
              </a:ext>
            </a:extLst>
          </p:cNvPr>
          <p:cNvCxnSpPr>
            <a:cxnSpLocks/>
          </p:cNvCxnSpPr>
          <p:nvPr/>
        </p:nvCxnSpPr>
        <p:spPr>
          <a:xfrm>
            <a:off x="6451153" y="1484195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/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blipFill>
                <a:blip r:embed="rId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/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/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/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blipFill>
                <a:blip r:embed="rId1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/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/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1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𝑝𝑒𝑠</m:t>
                        </m:r>
                      </m:sub>
                    </m:sSub>
                    <m:d>
                      <m:dPr>
                        <m:ctrlP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fr-FR" sz="11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  <m:r>
                      <a:rPr lang="fr-FR" sz="11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100" dirty="0">
                    <a:solidFill>
                      <a:schemeClr val="tx2"/>
                    </a:solidFill>
                    <a:latin typeface="Arial Nova" panose="020B05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blipFill>
                <a:blip r:embed="rId1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/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/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/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/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/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/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/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/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1059323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950</Words>
  <Application>Microsoft Office PowerPoint</Application>
  <PresentationFormat>Grand écran</PresentationFormat>
  <Paragraphs>220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 Nova</vt:lpstr>
      <vt:lpstr>Calibri</vt:lpstr>
      <vt:lpstr>Calibri Light</vt:lpstr>
      <vt:lpstr>Cambria Math</vt:lpstr>
      <vt:lpstr>Wingdings</vt:lpstr>
      <vt:lpstr>Rétrospective</vt:lpstr>
      <vt:lpstr>Comax</vt:lpstr>
      <vt:lpstr>Présentation PowerPoint</vt:lpstr>
      <vt:lpstr>02 Chaîne fonctionnelle</vt:lpstr>
      <vt:lpstr>Chaine fonctionnelle du Comax</vt:lpstr>
      <vt:lpstr>Chaine fonctionnelle du Comax</vt:lpstr>
      <vt:lpstr>04 Résolution cinématique </vt:lpstr>
      <vt:lpstr>Loi entrée sortie géométrique</vt:lpstr>
      <vt:lpstr>Loi entrée sortie en effort</vt:lpstr>
      <vt:lpstr>07 Modélisation composants ou phénomènes</vt:lpstr>
      <vt:lpstr>Identification de la masse de l’axe</vt:lpstr>
      <vt:lpstr>Identification de la masse et du Frottement sec</vt:lpstr>
      <vt:lpstr>09 Dimensionnement d’un actionneur en dynamique</vt:lpstr>
      <vt:lpstr>Objectifs</vt:lpstr>
      <vt:lpstr>Modélisation</vt:lpstr>
      <vt:lpstr>Stratégie – TEC</vt:lpstr>
      <vt:lpstr>Stratégie TEC Energie cinétique</vt:lpstr>
      <vt:lpstr>Stratégie TEC Puissances</vt:lpstr>
      <vt:lpstr>Stratégie TEC Evaluation de la puissance dissipée par frottement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73</cp:revision>
  <dcterms:created xsi:type="dcterms:W3CDTF">2023-03-22T10:05:05Z</dcterms:created>
  <dcterms:modified xsi:type="dcterms:W3CDTF">2026-01-12T09:50:47Z</dcterms:modified>
</cp:coreProperties>
</file>