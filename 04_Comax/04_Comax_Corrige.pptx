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67" r:id="rId5"/>
    <p:sldId id="285" r:id="rId6"/>
    <p:sldId id="284" r:id="rId7"/>
    <p:sldId id="279" r:id="rId8"/>
    <p:sldId id="269" r:id="rId9"/>
    <p:sldId id="282" r:id="rId10"/>
    <p:sldId id="283" r:id="rId11"/>
    <p:sldId id="281" r:id="rId12"/>
    <p:sldId id="268" r:id="rId13"/>
    <p:sldId id="270" r:id="rId14"/>
    <p:sldId id="272" r:id="rId15"/>
    <p:sldId id="271" r:id="rId16"/>
    <p:sldId id="278" r:id="rId17"/>
    <p:sldId id="274" r:id="rId18"/>
    <p:sldId id="275" r:id="rId19"/>
    <p:sldId id="276" r:id="rId20"/>
    <p:sldId id="277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C1"/>
    <a:srgbClr val="E4F2F8"/>
    <a:srgbClr val="C3AED1"/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3" d="100"/>
          <a:sy n="53" d="100"/>
        </p:scale>
        <p:origin x="224" y="5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1463" indent="-269875">
              <a:defRPr/>
            </a:lvl1pPr>
            <a:lvl2pPr marL="449263" indent="-249238">
              <a:buClr>
                <a:schemeClr val="accent1"/>
              </a:buClr>
              <a:buSzPct val="80000"/>
              <a:defRPr/>
            </a:lvl2pPr>
            <a:lvl3pPr>
              <a:buClr>
                <a:schemeClr val="accent2"/>
              </a:buClr>
              <a:buSzPct val="80000"/>
              <a:defRPr/>
            </a:lvl3pPr>
            <a:lvl4pPr>
              <a:buClr>
                <a:schemeClr val="accent3"/>
              </a:buClr>
              <a:buSzPct val="80000"/>
              <a:defRPr/>
            </a:lvl4pPr>
            <a:lvl5pPr>
              <a:buClr>
                <a:schemeClr val="accent4"/>
              </a:buClr>
              <a:buSzPct val="80000"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F135F6-2A09-4FDD-9ECA-096E230CA0FA}" type="datetimeFigureOut">
              <a:rPr lang="fr-FR" smtClean="0"/>
              <a:t>28/05/2026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2"/>
        </a:buClr>
        <a:buSzPct val="80000"/>
        <a:buFont typeface="Wingdings" panose="05000000000000000000" pitchFamily="2" charset="2"/>
        <a:buChar char="q"/>
        <a:defRPr lang="fr-FR" sz="2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9263" indent="-24923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q"/>
        <a:defRPr lang="fr-FR" sz="24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indent="-24288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4863" indent="-2381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indent="-2333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4"/>
        </a:buClr>
        <a:buSzPct val="80000"/>
        <a:buFont typeface="Wingdings" panose="05000000000000000000" pitchFamily="2" charset="2"/>
        <a:buChar char="q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3.png"/><Relationship Id="rId18" Type="http://schemas.openxmlformats.org/officeDocument/2006/relationships/image" Target="../media/image16.png"/><Relationship Id="rId3" Type="http://schemas.openxmlformats.org/officeDocument/2006/relationships/image" Target="../media/image6.png"/><Relationship Id="rId21" Type="http://schemas.openxmlformats.org/officeDocument/2006/relationships/image" Target="../media/image17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15.png"/><Relationship Id="rId2" Type="http://schemas.openxmlformats.org/officeDocument/2006/relationships/image" Target="../media/image5.png"/><Relationship Id="rId16" Type="http://schemas.openxmlformats.org/officeDocument/2006/relationships/image" Target="../media/image14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4.png"/><Relationship Id="rId10" Type="http://schemas.openxmlformats.org/officeDocument/2006/relationships/image" Target="../media/image2.png"/><Relationship Id="rId19" Type="http://schemas.openxmlformats.org/officeDocument/2006/relationships/image" Target="../media/image180.png"/><Relationship Id="rId4" Type="http://schemas.openxmlformats.org/officeDocument/2006/relationships/image" Target="../media/image7.png"/><Relationship Id="rId9" Type="http://schemas.openxmlformats.org/officeDocument/2006/relationships/image" Target="../media/image90.png"/><Relationship Id="rId14" Type="http://schemas.openxmlformats.org/officeDocument/2006/relationships/image" Target="../media/image3.png"/><Relationship Id="rId22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Comax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914DB3-05EE-DC10-8133-D85DE6A65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Éléments de corrigés des </a:t>
            </a:r>
            <a:r>
              <a:rPr lang="fr-FR" dirty="0" err="1"/>
              <a:t>tp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23CFB6-C96F-2738-656C-799A569A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A0F49C-2000-CFFA-4CC2-9D86BC132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668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02</a:t>
            </a:r>
            <a:br>
              <a:rPr lang="fr-FR" dirty="0"/>
            </a:br>
            <a:r>
              <a:rPr lang="fr-FR" dirty="0"/>
              <a:t>Chaîne fonctionnelle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 : coins arrondis 126">
            <a:extLst>
              <a:ext uri="{FF2B5EF4-FFF2-40B4-BE49-F238E27FC236}">
                <a16:creationId xmlns:a16="http://schemas.microsoft.com/office/drawing/2014/main" id="{0425F4B7-34E3-E45F-A5D6-5C8536D84414}"/>
              </a:ext>
            </a:extLst>
          </p:cNvPr>
          <p:cNvSpPr/>
          <p:nvPr/>
        </p:nvSpPr>
        <p:spPr>
          <a:xfrm>
            <a:off x="599208" y="4239788"/>
            <a:ext cx="6562868" cy="1968508"/>
          </a:xfrm>
          <a:prstGeom prst="roundRect">
            <a:avLst>
              <a:gd name="adj" fmla="val 1416"/>
            </a:avLst>
          </a:prstGeom>
          <a:solidFill>
            <a:srgbClr val="FFF0C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b="1" dirty="0">
              <a:solidFill>
                <a:srgbClr val="004F77"/>
              </a:solidFill>
              <a:latin typeface="Arial Nova" panose="020B0504020202020204" pitchFamily="34" charset="0"/>
            </a:endParaRPr>
          </a:p>
        </p:txBody>
      </p:sp>
      <p:sp>
        <p:nvSpPr>
          <p:cNvPr id="126" name="Rectangle : coins arrondis 125">
            <a:extLst>
              <a:ext uri="{FF2B5EF4-FFF2-40B4-BE49-F238E27FC236}">
                <a16:creationId xmlns:a16="http://schemas.microsoft.com/office/drawing/2014/main" id="{508D90AC-099E-5006-A331-CE6F411DF5B4}"/>
              </a:ext>
            </a:extLst>
          </p:cNvPr>
          <p:cNvSpPr/>
          <p:nvPr/>
        </p:nvSpPr>
        <p:spPr>
          <a:xfrm>
            <a:off x="599208" y="1424044"/>
            <a:ext cx="6562868" cy="2580753"/>
          </a:xfrm>
          <a:prstGeom prst="roundRect">
            <a:avLst>
              <a:gd name="adj" fmla="val 1416"/>
            </a:avLst>
          </a:prstGeom>
          <a:solidFill>
            <a:srgbClr val="E4F2F8"/>
          </a:solidFill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b="1" dirty="0">
              <a:solidFill>
                <a:srgbClr val="004F77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</a:t>
            </a:r>
            <a:r>
              <a:rPr lang="fr-FR" dirty="0" err="1"/>
              <a:t>Comax</a:t>
            </a:r>
            <a:r>
              <a:rPr lang="fr-FR" dirty="0"/>
              <a:t> Incomplète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7822C3A-6752-03D9-8DF8-C9BF49763BD8}"/>
              </a:ext>
            </a:extLst>
          </p:cNvPr>
          <p:cNvSpPr/>
          <p:nvPr/>
        </p:nvSpPr>
        <p:spPr>
          <a:xfrm>
            <a:off x="1055643" y="1549834"/>
            <a:ext cx="1440000" cy="332929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EC70D79-FF53-E1E6-8F5D-7DB4552BDEB8}"/>
              </a:ext>
            </a:extLst>
          </p:cNvPr>
          <p:cNvSpPr/>
          <p:nvPr/>
        </p:nvSpPr>
        <p:spPr>
          <a:xfrm>
            <a:off x="1055643" y="1957642"/>
            <a:ext cx="1440000" cy="234212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dirty="0">
                <a:solidFill>
                  <a:srgbClr val="004F77"/>
                </a:solidFill>
                <a:latin typeface="Arial Nova" panose="020B0504020202020204" pitchFamily="34" charset="0"/>
              </a:rPr>
              <a:t>Capteur de force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92C39D7-C7C7-3458-7E55-FC4FCBD955B0}"/>
              </a:ext>
            </a:extLst>
          </p:cNvPr>
          <p:cNvSpPr/>
          <p:nvPr/>
        </p:nvSpPr>
        <p:spPr>
          <a:xfrm>
            <a:off x="3578509" y="2249123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BE8DB55-CD2C-9609-869B-BFB5FBA5A6D3}"/>
              </a:ext>
            </a:extLst>
          </p:cNvPr>
          <p:cNvSpPr/>
          <p:nvPr/>
        </p:nvSpPr>
        <p:spPr>
          <a:xfrm>
            <a:off x="5518287" y="2229245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7C50B13-9945-267C-9C0F-3901C1922B55}"/>
              </a:ext>
            </a:extLst>
          </p:cNvPr>
          <p:cNvSpPr/>
          <p:nvPr/>
        </p:nvSpPr>
        <p:spPr>
          <a:xfrm>
            <a:off x="3605539" y="2844896"/>
            <a:ext cx="1423066" cy="408941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dirty="0">
                <a:solidFill>
                  <a:srgbClr val="004F77"/>
                </a:solidFill>
                <a:latin typeface="Arial Nova" panose="020B0504020202020204" pitchFamily="34" charset="0"/>
              </a:rPr>
              <a:t>Carte de commande EPOS 2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CB3708-D27C-9C0F-920D-E2174EF1D3C1}"/>
              </a:ext>
            </a:extLst>
          </p:cNvPr>
          <p:cNvCxnSpPr/>
          <p:nvPr/>
        </p:nvCxnSpPr>
        <p:spPr>
          <a:xfrm flipV="1">
            <a:off x="349319" y="1706258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C9DF5005-6531-4D0B-0B32-A0A73479B4F0}"/>
              </a:ext>
            </a:extLst>
          </p:cNvPr>
          <p:cNvCxnSpPr>
            <a:cxnSpLocks/>
          </p:cNvCxnSpPr>
          <p:nvPr/>
        </p:nvCxnSpPr>
        <p:spPr>
          <a:xfrm flipH="1">
            <a:off x="4298510" y="2646123"/>
            <a:ext cx="719999" cy="1731991"/>
          </a:xfrm>
          <a:prstGeom prst="bentConnector4">
            <a:avLst>
              <a:gd name="adj1" fmla="val -31750"/>
              <a:gd name="adj2" fmla="val 57794"/>
            </a:avLst>
          </a:prstGeom>
          <a:ln w="25400">
            <a:solidFill>
              <a:srgbClr val="00206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1C8C10B-28B1-AAD9-17B3-48F680D32BCC}"/>
              </a:ext>
            </a:extLst>
          </p:cNvPr>
          <p:cNvSpPr/>
          <p:nvPr/>
        </p:nvSpPr>
        <p:spPr>
          <a:xfrm>
            <a:off x="7881435" y="457174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AGIR</a:t>
            </a:r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7F3E2C-9FA7-42D8-DEF0-9439478A5709}"/>
              </a:ext>
            </a:extLst>
          </p:cNvPr>
          <p:cNvGrpSpPr/>
          <p:nvPr/>
        </p:nvGrpSpPr>
        <p:grpSpPr>
          <a:xfrm rot="5400000" flipV="1">
            <a:off x="9158263" y="5097336"/>
            <a:ext cx="840537" cy="2178926"/>
            <a:chOff x="9150639" y="2423323"/>
            <a:chExt cx="840537" cy="2876629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A404FB7A-E23C-BD6A-6263-4B2DE2013DB7}"/>
                </a:ext>
              </a:extLst>
            </p:cNvPr>
            <p:cNvSpPr/>
            <p:nvPr/>
          </p:nvSpPr>
          <p:spPr>
            <a:xfrm rot="5400000">
              <a:off x="8157634" y="3416328"/>
              <a:ext cx="2826548" cy="840537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D9969D2B-BFBA-54A7-C4C5-06DFD5138BC1}"/>
                </a:ext>
              </a:extLst>
            </p:cNvPr>
            <p:cNvSpPr txBox="1"/>
            <p:nvPr/>
          </p:nvSpPr>
          <p:spPr>
            <a:xfrm rot="16200000">
              <a:off x="8361425" y="3755873"/>
              <a:ext cx="2826549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100" dirty="0">
                  <a:latin typeface="Arial Nova" panose="020B0504020202020204" pitchFamily="34" charset="0"/>
                </a:rPr>
                <a:t>Axe COMAX en mouvement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2A82909-C4F5-9AA0-D150-C388F421C774}"/>
              </a:ext>
            </a:extLst>
          </p:cNvPr>
          <p:cNvGrpSpPr/>
          <p:nvPr/>
        </p:nvGrpSpPr>
        <p:grpSpPr>
          <a:xfrm flipH="1">
            <a:off x="8385346" y="3993931"/>
            <a:ext cx="1723502" cy="577809"/>
            <a:chOff x="9058474" y="2836569"/>
            <a:chExt cx="1566153" cy="577809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FED08932-ADD7-D2A1-8E5A-D62CEEB1B93F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C25BFE2-5262-D3BC-BDD8-923C0B8002AD}"/>
                </a:ext>
              </a:extLst>
            </p:cNvPr>
            <p:cNvSpPr txBox="1"/>
            <p:nvPr/>
          </p:nvSpPr>
          <p:spPr>
            <a:xfrm>
              <a:off x="9058474" y="2836569"/>
              <a:ext cx="147371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latin typeface="Arial Nova" panose="020B0504020202020204" pitchFamily="34" charset="0"/>
                </a:rPr>
                <a:t>Axe COMAX à l’arrêt</a:t>
              </a:r>
            </a:p>
          </p:txBody>
        </p:sp>
      </p:grp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633A414C-079F-72BC-C836-01640E3DA896}"/>
              </a:ext>
            </a:extLst>
          </p:cNvPr>
          <p:cNvGrpSpPr/>
          <p:nvPr/>
        </p:nvGrpSpPr>
        <p:grpSpPr>
          <a:xfrm>
            <a:off x="644763" y="2696925"/>
            <a:ext cx="360000" cy="360000"/>
            <a:chOff x="5404964" y="4396133"/>
            <a:chExt cx="1800000" cy="180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7DA91EB8-E9B2-6DC6-B932-B3F8200FCB4C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5" name="Image 94">
              <a:extLst>
                <a:ext uri="{FF2B5EF4-FFF2-40B4-BE49-F238E27FC236}">
                  <a16:creationId xmlns:a16="http://schemas.microsoft.com/office/drawing/2014/main" id="{C57FF404-E034-F790-1839-6255F7069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225F91-8C4A-4D28-806F-C285AA8AEAEF}"/>
              </a:ext>
            </a:extLst>
          </p:cNvPr>
          <p:cNvGrpSpPr/>
          <p:nvPr/>
        </p:nvGrpSpPr>
        <p:grpSpPr>
          <a:xfrm>
            <a:off x="644763" y="3469218"/>
            <a:ext cx="360000" cy="360000"/>
            <a:chOff x="6054233" y="4960569"/>
            <a:chExt cx="1800000" cy="180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02BBCC8-7149-2E70-FA08-89D364A2E7EE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6C676998-302E-BC6E-6F7D-BB576DC31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9F95A1EA-9092-5D0B-B7AC-F7CE46698DF0}"/>
              </a:ext>
            </a:extLst>
          </p:cNvPr>
          <p:cNvGrpSpPr/>
          <p:nvPr/>
        </p:nvGrpSpPr>
        <p:grpSpPr>
          <a:xfrm>
            <a:off x="644763" y="1894748"/>
            <a:ext cx="360000" cy="360000"/>
            <a:chOff x="-2063262" y="2086237"/>
            <a:chExt cx="1800000" cy="1800000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845FC769-0299-0B5A-BCD6-DE55695F83D2}"/>
                </a:ext>
              </a:extLst>
            </p:cNvPr>
            <p:cNvSpPr/>
            <p:nvPr/>
          </p:nvSpPr>
          <p:spPr>
            <a:xfrm>
              <a:off x="-2063262" y="2086237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7" name="Image 96">
              <a:extLst>
                <a:ext uri="{FF2B5EF4-FFF2-40B4-BE49-F238E27FC236}">
                  <a16:creationId xmlns:a16="http://schemas.microsoft.com/office/drawing/2014/main" id="{6A7943FD-8BE6-B490-32BF-D4F134197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609131" y="2149544"/>
              <a:ext cx="891738" cy="1673385"/>
            </a:xfrm>
            <a:prstGeom prst="rect">
              <a:avLst/>
            </a:prstGeom>
          </p:spPr>
        </p:pic>
      </p:grp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C8C2DF96-358E-4EA4-303F-3EA6DBBDDA2C}"/>
              </a:ext>
            </a:extLst>
          </p:cNvPr>
          <p:cNvCxnSpPr>
            <a:cxnSpLocks/>
          </p:cNvCxnSpPr>
          <p:nvPr/>
        </p:nvCxnSpPr>
        <p:spPr>
          <a:xfrm>
            <a:off x="2520129" y="2515479"/>
            <a:ext cx="1058380" cy="0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FC773C0-A109-53E8-9189-FF64C2C807BC}"/>
              </a:ext>
            </a:extLst>
          </p:cNvPr>
          <p:cNvSpPr/>
          <p:nvPr/>
        </p:nvSpPr>
        <p:spPr>
          <a:xfrm>
            <a:off x="1069319" y="2349015"/>
            <a:ext cx="1440000" cy="332929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E8C0C1A-3AF2-9CC8-C8CB-8B63FC17DDDE}"/>
              </a:ext>
            </a:extLst>
          </p:cNvPr>
          <p:cNvSpPr/>
          <p:nvPr/>
        </p:nvSpPr>
        <p:spPr>
          <a:xfrm>
            <a:off x="1069319" y="2756823"/>
            <a:ext cx="1440000" cy="234212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dirty="0">
                <a:solidFill>
                  <a:srgbClr val="004F77"/>
                </a:solidFill>
                <a:latin typeface="Arial Nova" panose="020B0504020202020204" pitchFamily="34" charset="0"/>
              </a:rPr>
              <a:t>Codeur incrémental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F7C3679A-EF77-DBCC-AAA6-238E5D667F4A}"/>
              </a:ext>
            </a:extLst>
          </p:cNvPr>
          <p:cNvSpPr/>
          <p:nvPr/>
        </p:nvSpPr>
        <p:spPr>
          <a:xfrm>
            <a:off x="1069319" y="3143908"/>
            <a:ext cx="1440000" cy="332929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FFF33EEE-CAD4-B33B-CD9F-C4E20ADBFF8B}"/>
              </a:ext>
            </a:extLst>
          </p:cNvPr>
          <p:cNvSpPr/>
          <p:nvPr/>
        </p:nvSpPr>
        <p:spPr>
          <a:xfrm>
            <a:off x="1069319" y="3551716"/>
            <a:ext cx="1440000" cy="234212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dirty="0">
                <a:solidFill>
                  <a:srgbClr val="004F77"/>
                </a:solidFill>
                <a:latin typeface="Arial Nova" panose="020B0504020202020204" pitchFamily="34" charset="0"/>
              </a:rPr>
              <a:t>Capteur de courant</a:t>
            </a:r>
          </a:p>
        </p:txBody>
      </p:sp>
      <p:cxnSp>
        <p:nvCxnSpPr>
          <p:cNvPr id="73" name="Connecteur : en angle 72">
            <a:extLst>
              <a:ext uri="{FF2B5EF4-FFF2-40B4-BE49-F238E27FC236}">
                <a16:creationId xmlns:a16="http://schemas.microsoft.com/office/drawing/2014/main" id="{D8C6BDD0-D8E1-6285-20CB-839F839C68B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95643" y="1716299"/>
            <a:ext cx="1082866" cy="675823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 : en angle 81">
            <a:extLst>
              <a:ext uri="{FF2B5EF4-FFF2-40B4-BE49-F238E27FC236}">
                <a16:creationId xmlns:a16="http://schemas.microsoft.com/office/drawing/2014/main" id="{76BC7C12-2962-A7F3-FE1A-F9DCCF6508B7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509319" y="2627112"/>
            <a:ext cx="1079286" cy="683261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avec flèche 115">
            <a:extLst>
              <a:ext uri="{FF2B5EF4-FFF2-40B4-BE49-F238E27FC236}">
                <a16:creationId xmlns:a16="http://schemas.microsoft.com/office/drawing/2014/main" id="{B2741317-CDDC-36AC-420D-4BD5FC1CD774}"/>
              </a:ext>
            </a:extLst>
          </p:cNvPr>
          <p:cNvCxnSpPr>
            <a:cxnSpLocks/>
          </p:cNvCxnSpPr>
          <p:nvPr/>
        </p:nvCxnSpPr>
        <p:spPr>
          <a:xfrm flipV="1">
            <a:off x="5018509" y="2525712"/>
            <a:ext cx="499778" cy="0"/>
          </a:xfrm>
          <a:prstGeom prst="straightConnector1">
            <a:avLst/>
          </a:prstGeom>
          <a:ln w="25400">
            <a:solidFill>
              <a:srgbClr val="00206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7911E9B6-2773-90DF-FC68-B1915749CB58}"/>
              </a:ext>
            </a:extLst>
          </p:cNvPr>
          <p:cNvSpPr txBox="1"/>
          <p:nvPr/>
        </p:nvSpPr>
        <p:spPr>
          <a:xfrm>
            <a:off x="3993350" y="3391823"/>
            <a:ext cx="1219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solidFill>
                  <a:srgbClr val="002060"/>
                </a:solidFill>
                <a:latin typeface="Arial Nova" panose="020B0504020202020204" pitchFamily="34" charset="0"/>
              </a:rPr>
              <a:t>Ordres</a:t>
            </a:r>
          </a:p>
        </p:txBody>
      </p: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2D4187AA-E398-B08C-C9FA-24A8AB60360F}"/>
              </a:ext>
            </a:extLst>
          </p:cNvPr>
          <p:cNvCxnSpPr/>
          <p:nvPr/>
        </p:nvCxnSpPr>
        <p:spPr>
          <a:xfrm flipV="1">
            <a:off x="343647" y="2510188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A2FBED1F-4333-2091-7A7C-67780B0F29F8}"/>
              </a:ext>
            </a:extLst>
          </p:cNvPr>
          <p:cNvCxnSpPr/>
          <p:nvPr/>
        </p:nvCxnSpPr>
        <p:spPr>
          <a:xfrm flipV="1">
            <a:off x="337975" y="3314118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EDE89694-D2DA-9D7D-EA11-71E138F6507D}"/>
              </a:ext>
            </a:extLst>
          </p:cNvPr>
          <p:cNvCxnSpPr>
            <a:cxnSpLocks/>
          </p:cNvCxnSpPr>
          <p:nvPr/>
        </p:nvCxnSpPr>
        <p:spPr>
          <a:xfrm>
            <a:off x="6958287" y="2517245"/>
            <a:ext cx="1203580" cy="0"/>
          </a:xfrm>
          <a:prstGeom prst="straightConnector1">
            <a:avLst/>
          </a:prstGeom>
          <a:ln w="25400">
            <a:solidFill>
              <a:srgbClr val="00206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ZoneTexte 124">
            <a:extLst>
              <a:ext uri="{FF2B5EF4-FFF2-40B4-BE49-F238E27FC236}">
                <a16:creationId xmlns:a16="http://schemas.microsoft.com/office/drawing/2014/main" id="{600C17EA-6B3A-B70D-AC3F-ECEFA23D108C}"/>
              </a:ext>
            </a:extLst>
          </p:cNvPr>
          <p:cNvSpPr txBox="1"/>
          <p:nvPr/>
        </p:nvSpPr>
        <p:spPr>
          <a:xfrm>
            <a:off x="7161435" y="2074747"/>
            <a:ext cx="12197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solidFill>
                  <a:srgbClr val="002060"/>
                </a:solidFill>
                <a:latin typeface="Arial Nova" panose="020B0504020202020204" pitchFamily="34" charset="0"/>
              </a:rPr>
              <a:t>Informations opérateur</a:t>
            </a:r>
          </a:p>
        </p:txBody>
      </p: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A22E7B56-F0A6-7759-8745-FA322665F2A1}"/>
              </a:ext>
            </a:extLst>
          </p:cNvPr>
          <p:cNvCxnSpPr>
            <a:cxnSpLocks/>
          </p:cNvCxnSpPr>
          <p:nvPr/>
        </p:nvCxnSpPr>
        <p:spPr>
          <a:xfrm flipV="1">
            <a:off x="88282" y="5206455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ZoneTexte 128">
            <a:extLst>
              <a:ext uri="{FF2B5EF4-FFF2-40B4-BE49-F238E27FC236}">
                <a16:creationId xmlns:a16="http://schemas.microsoft.com/office/drawing/2014/main" id="{6A371C0B-C02F-FE9A-C023-F22C5EE2A1EF}"/>
              </a:ext>
            </a:extLst>
          </p:cNvPr>
          <p:cNvSpPr txBox="1"/>
          <p:nvPr/>
        </p:nvSpPr>
        <p:spPr>
          <a:xfrm>
            <a:off x="-484189" y="4746488"/>
            <a:ext cx="12197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solidFill>
                  <a:srgbClr val="002060"/>
                </a:solidFill>
                <a:latin typeface="Arial Nova" panose="020B0504020202020204" pitchFamily="34" charset="0"/>
              </a:rPr>
              <a:t>Puissance électrique</a:t>
            </a:r>
          </a:p>
        </p:txBody>
      </p: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84B0A02A-63E8-0814-9B5A-7DCEA03309BB}"/>
              </a:ext>
            </a:extLst>
          </p:cNvPr>
          <p:cNvCxnSpPr>
            <a:cxnSpLocks/>
          </p:cNvCxnSpPr>
          <p:nvPr/>
        </p:nvCxnSpPr>
        <p:spPr>
          <a:xfrm flipV="1">
            <a:off x="7161435" y="5185757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ZoneTexte 130">
            <a:extLst>
              <a:ext uri="{FF2B5EF4-FFF2-40B4-BE49-F238E27FC236}">
                <a16:creationId xmlns:a16="http://schemas.microsoft.com/office/drawing/2014/main" id="{6445B850-13B4-C43E-6410-5BC30AFB763A}"/>
              </a:ext>
            </a:extLst>
          </p:cNvPr>
          <p:cNvSpPr txBox="1"/>
          <p:nvPr/>
        </p:nvSpPr>
        <p:spPr>
          <a:xfrm>
            <a:off x="5213128" y="1470968"/>
            <a:ext cx="1888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Arial Nova" panose="020B0504020202020204" pitchFamily="34" charset="0"/>
              </a:rPr>
              <a:t>Chaîne d’information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449EE4FF-AA12-4319-7BCB-CF1B72806B74}"/>
              </a:ext>
            </a:extLst>
          </p:cNvPr>
          <p:cNvSpPr txBox="1"/>
          <p:nvPr/>
        </p:nvSpPr>
        <p:spPr>
          <a:xfrm>
            <a:off x="5253568" y="4275145"/>
            <a:ext cx="1888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rgbClr val="D2A000"/>
                </a:solidFill>
                <a:latin typeface="Arial Nova" panose="020B0504020202020204" pitchFamily="34" charset="0"/>
              </a:rPr>
              <a:t>Chaîne de puissance</a:t>
            </a:r>
          </a:p>
        </p:txBody>
      </p:sp>
    </p:spTree>
    <p:extLst>
      <p:ext uri="{BB962C8B-B14F-4D97-AF65-F5344CB8AC3E}">
        <p14:creationId xmlns:p14="http://schemas.microsoft.com/office/powerpoint/2010/main" val="28406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DDCEF-2AF2-FE67-C25A-8A9C8C3C1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 : coins arrondis 126">
            <a:extLst>
              <a:ext uri="{FF2B5EF4-FFF2-40B4-BE49-F238E27FC236}">
                <a16:creationId xmlns:a16="http://schemas.microsoft.com/office/drawing/2014/main" id="{A8BB23EA-A722-5F67-A24D-D141874E9924}"/>
              </a:ext>
            </a:extLst>
          </p:cNvPr>
          <p:cNvSpPr/>
          <p:nvPr/>
        </p:nvSpPr>
        <p:spPr>
          <a:xfrm>
            <a:off x="599208" y="4239788"/>
            <a:ext cx="6562868" cy="1968508"/>
          </a:xfrm>
          <a:prstGeom prst="roundRect">
            <a:avLst>
              <a:gd name="adj" fmla="val 1416"/>
            </a:avLst>
          </a:prstGeom>
          <a:solidFill>
            <a:srgbClr val="FFF0C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b="1" dirty="0">
              <a:solidFill>
                <a:srgbClr val="004F77"/>
              </a:solidFill>
              <a:latin typeface="Arial Nova" panose="020B0504020202020204" pitchFamily="34" charset="0"/>
            </a:endParaRPr>
          </a:p>
        </p:txBody>
      </p:sp>
      <p:sp>
        <p:nvSpPr>
          <p:cNvPr id="126" name="Rectangle : coins arrondis 125">
            <a:extLst>
              <a:ext uri="{FF2B5EF4-FFF2-40B4-BE49-F238E27FC236}">
                <a16:creationId xmlns:a16="http://schemas.microsoft.com/office/drawing/2014/main" id="{890B75D0-C764-8BC5-D16D-7E1F3BF68117}"/>
              </a:ext>
            </a:extLst>
          </p:cNvPr>
          <p:cNvSpPr/>
          <p:nvPr/>
        </p:nvSpPr>
        <p:spPr>
          <a:xfrm>
            <a:off x="599208" y="1868749"/>
            <a:ext cx="6562868" cy="2136048"/>
          </a:xfrm>
          <a:prstGeom prst="roundRect">
            <a:avLst>
              <a:gd name="adj" fmla="val 1416"/>
            </a:avLst>
          </a:prstGeom>
          <a:solidFill>
            <a:srgbClr val="E4F2F8"/>
          </a:solidFill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b="1" dirty="0">
              <a:solidFill>
                <a:srgbClr val="004F77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C6510EE-C22B-023C-C253-BD127906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</a:t>
            </a:r>
            <a:r>
              <a:rPr lang="fr-FR" dirty="0" err="1"/>
              <a:t>Comax</a:t>
            </a:r>
            <a:r>
              <a:rPr lang="fr-FR" dirty="0"/>
              <a:t> Incomplète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991703A-CAA1-6968-A4C5-C033D6DA1FE2}"/>
              </a:ext>
            </a:extLst>
          </p:cNvPr>
          <p:cNvSpPr/>
          <p:nvPr/>
        </p:nvSpPr>
        <p:spPr>
          <a:xfrm>
            <a:off x="3578509" y="2249123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D125275-5E48-0E2E-486D-2E9AA4B262F8}"/>
              </a:ext>
            </a:extLst>
          </p:cNvPr>
          <p:cNvSpPr/>
          <p:nvPr/>
        </p:nvSpPr>
        <p:spPr>
          <a:xfrm>
            <a:off x="5518287" y="2229245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BF96AAA-56FB-ECE3-F733-3EE1A029F600}"/>
              </a:ext>
            </a:extLst>
          </p:cNvPr>
          <p:cNvSpPr/>
          <p:nvPr/>
        </p:nvSpPr>
        <p:spPr>
          <a:xfrm>
            <a:off x="3605539" y="2844896"/>
            <a:ext cx="1423066" cy="408941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dirty="0">
                <a:solidFill>
                  <a:srgbClr val="004F77"/>
                </a:solidFill>
                <a:latin typeface="Arial Nova" panose="020B0504020202020204" pitchFamily="34" charset="0"/>
              </a:rPr>
              <a:t>Carte de commande EPOS 2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28C5115C-818A-3FEE-E49A-19835D65791D}"/>
              </a:ext>
            </a:extLst>
          </p:cNvPr>
          <p:cNvCxnSpPr>
            <a:cxnSpLocks/>
          </p:cNvCxnSpPr>
          <p:nvPr/>
        </p:nvCxnSpPr>
        <p:spPr>
          <a:xfrm flipH="1">
            <a:off x="4298510" y="2646123"/>
            <a:ext cx="719999" cy="1731991"/>
          </a:xfrm>
          <a:prstGeom prst="bentConnector4">
            <a:avLst>
              <a:gd name="adj1" fmla="val -31750"/>
              <a:gd name="adj2" fmla="val 57794"/>
            </a:avLst>
          </a:prstGeom>
          <a:ln w="25400">
            <a:solidFill>
              <a:srgbClr val="00206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7CBD92DC-4FEB-CC9A-EB5B-35A9FCC1A99D}"/>
              </a:ext>
            </a:extLst>
          </p:cNvPr>
          <p:cNvSpPr/>
          <p:nvPr/>
        </p:nvSpPr>
        <p:spPr>
          <a:xfrm>
            <a:off x="7881435" y="457174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AGIR</a:t>
            </a:r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B9049F35-CF66-420C-3902-990825BD76DB}"/>
              </a:ext>
            </a:extLst>
          </p:cNvPr>
          <p:cNvGrpSpPr/>
          <p:nvPr/>
        </p:nvGrpSpPr>
        <p:grpSpPr>
          <a:xfrm rot="5400000" flipV="1">
            <a:off x="9158263" y="5097336"/>
            <a:ext cx="840537" cy="2178926"/>
            <a:chOff x="9150639" y="2423323"/>
            <a:chExt cx="840537" cy="2876629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10BE61E7-1AE9-3DC1-B105-B8C40D2C528D}"/>
                </a:ext>
              </a:extLst>
            </p:cNvPr>
            <p:cNvSpPr/>
            <p:nvPr/>
          </p:nvSpPr>
          <p:spPr>
            <a:xfrm rot="5400000">
              <a:off x="8157634" y="3416328"/>
              <a:ext cx="2826548" cy="840537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7F7B25FA-4D7C-6ED5-8094-1919B3B01DA0}"/>
                </a:ext>
              </a:extLst>
            </p:cNvPr>
            <p:cNvSpPr txBox="1"/>
            <p:nvPr/>
          </p:nvSpPr>
          <p:spPr>
            <a:xfrm rot="16200000">
              <a:off x="8361425" y="3755873"/>
              <a:ext cx="2826549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100" dirty="0">
                  <a:latin typeface="Arial Nova" panose="020B0504020202020204" pitchFamily="34" charset="0"/>
                </a:rPr>
                <a:t>Axe COMAX en mouvement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E272C64-446C-2AE9-2CAF-39317A9461D4}"/>
              </a:ext>
            </a:extLst>
          </p:cNvPr>
          <p:cNvGrpSpPr/>
          <p:nvPr/>
        </p:nvGrpSpPr>
        <p:grpSpPr>
          <a:xfrm flipH="1">
            <a:off x="8385346" y="3993931"/>
            <a:ext cx="1723502" cy="577809"/>
            <a:chOff x="9058474" y="2836569"/>
            <a:chExt cx="1566153" cy="577809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2F626DC2-AB1E-0113-E77F-99BE457423E2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BABB0CA4-35CC-D4AE-F39B-983AC84B18DA}"/>
                </a:ext>
              </a:extLst>
            </p:cNvPr>
            <p:cNvSpPr txBox="1"/>
            <p:nvPr/>
          </p:nvSpPr>
          <p:spPr>
            <a:xfrm>
              <a:off x="9058474" y="2836569"/>
              <a:ext cx="147371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latin typeface="Arial Nova" panose="020B0504020202020204" pitchFamily="34" charset="0"/>
                </a:rPr>
                <a:t>Axe COMAX à l’arrêt</a:t>
              </a:r>
            </a:p>
          </p:txBody>
        </p:sp>
      </p:grp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8279E3F7-31FA-8C6D-8951-572EDA323EE2}"/>
              </a:ext>
            </a:extLst>
          </p:cNvPr>
          <p:cNvGrpSpPr/>
          <p:nvPr/>
        </p:nvGrpSpPr>
        <p:grpSpPr>
          <a:xfrm>
            <a:off x="644763" y="2696925"/>
            <a:ext cx="360000" cy="360000"/>
            <a:chOff x="5404964" y="4396133"/>
            <a:chExt cx="1800000" cy="180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CA40C01A-65EA-602F-7735-BA746B5929AB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5" name="Image 94">
              <a:extLst>
                <a:ext uri="{FF2B5EF4-FFF2-40B4-BE49-F238E27FC236}">
                  <a16:creationId xmlns:a16="http://schemas.microsoft.com/office/drawing/2014/main" id="{8FB1251E-E854-35C0-CF54-DFEE9713F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796B0A52-3944-E776-6AA4-6D6F503A7A7C}"/>
              </a:ext>
            </a:extLst>
          </p:cNvPr>
          <p:cNvGrpSpPr/>
          <p:nvPr/>
        </p:nvGrpSpPr>
        <p:grpSpPr>
          <a:xfrm>
            <a:off x="644763" y="3469218"/>
            <a:ext cx="360000" cy="360000"/>
            <a:chOff x="6054233" y="4960569"/>
            <a:chExt cx="1800000" cy="180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988BFECB-7581-54AC-495A-2D08EACFE548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9E69D67E-0FC0-84F2-C02D-6FCB292A2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A4DA5924-B004-D0C7-2E4C-8DC4236288E3}"/>
              </a:ext>
            </a:extLst>
          </p:cNvPr>
          <p:cNvCxnSpPr>
            <a:cxnSpLocks/>
          </p:cNvCxnSpPr>
          <p:nvPr/>
        </p:nvCxnSpPr>
        <p:spPr>
          <a:xfrm>
            <a:off x="2520129" y="2515479"/>
            <a:ext cx="1058380" cy="0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3A43005-1C0D-31A8-71C7-428D0549AD0D}"/>
              </a:ext>
            </a:extLst>
          </p:cNvPr>
          <p:cNvSpPr/>
          <p:nvPr/>
        </p:nvSpPr>
        <p:spPr>
          <a:xfrm>
            <a:off x="1069319" y="2349015"/>
            <a:ext cx="1440000" cy="332929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C8CEFFB2-81F2-59F3-E4F9-98F62CE17438}"/>
              </a:ext>
            </a:extLst>
          </p:cNvPr>
          <p:cNvSpPr/>
          <p:nvPr/>
        </p:nvSpPr>
        <p:spPr>
          <a:xfrm>
            <a:off x="1069319" y="2756823"/>
            <a:ext cx="1440000" cy="234212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dirty="0">
                <a:solidFill>
                  <a:srgbClr val="004F77"/>
                </a:solidFill>
                <a:latin typeface="Arial Nova" panose="020B0504020202020204" pitchFamily="34" charset="0"/>
              </a:rPr>
              <a:t>Codeur incrémental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937BD259-6A4E-D359-15D0-BA763E3E18ED}"/>
              </a:ext>
            </a:extLst>
          </p:cNvPr>
          <p:cNvSpPr/>
          <p:nvPr/>
        </p:nvSpPr>
        <p:spPr>
          <a:xfrm>
            <a:off x="1069319" y="3143908"/>
            <a:ext cx="1440000" cy="332929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FE9752E9-8CBD-17F6-EEC7-ADF8EC8667D8}"/>
              </a:ext>
            </a:extLst>
          </p:cNvPr>
          <p:cNvSpPr/>
          <p:nvPr/>
        </p:nvSpPr>
        <p:spPr>
          <a:xfrm>
            <a:off x="1069319" y="3551716"/>
            <a:ext cx="1440000" cy="234212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dirty="0">
                <a:solidFill>
                  <a:srgbClr val="004F77"/>
                </a:solidFill>
                <a:latin typeface="Arial Nova" panose="020B0504020202020204" pitchFamily="34" charset="0"/>
              </a:rPr>
              <a:t>Capteur de courant</a:t>
            </a:r>
          </a:p>
        </p:txBody>
      </p:sp>
      <p:cxnSp>
        <p:nvCxnSpPr>
          <p:cNvPr id="82" name="Connecteur : en angle 81">
            <a:extLst>
              <a:ext uri="{FF2B5EF4-FFF2-40B4-BE49-F238E27FC236}">
                <a16:creationId xmlns:a16="http://schemas.microsoft.com/office/drawing/2014/main" id="{9BF568A3-D61E-72AE-BEE7-60A24D7A4C81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509319" y="2627112"/>
            <a:ext cx="1079286" cy="683261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avec flèche 115">
            <a:extLst>
              <a:ext uri="{FF2B5EF4-FFF2-40B4-BE49-F238E27FC236}">
                <a16:creationId xmlns:a16="http://schemas.microsoft.com/office/drawing/2014/main" id="{ED79F154-A15A-CECE-4111-0958E5784D39}"/>
              </a:ext>
            </a:extLst>
          </p:cNvPr>
          <p:cNvCxnSpPr>
            <a:cxnSpLocks/>
          </p:cNvCxnSpPr>
          <p:nvPr/>
        </p:nvCxnSpPr>
        <p:spPr>
          <a:xfrm flipV="1">
            <a:off x="5018509" y="2525712"/>
            <a:ext cx="499778" cy="0"/>
          </a:xfrm>
          <a:prstGeom prst="straightConnector1">
            <a:avLst/>
          </a:prstGeom>
          <a:ln w="25400">
            <a:solidFill>
              <a:srgbClr val="00206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0A10B38C-5622-1C22-B416-6792902491EA}"/>
              </a:ext>
            </a:extLst>
          </p:cNvPr>
          <p:cNvSpPr txBox="1"/>
          <p:nvPr/>
        </p:nvSpPr>
        <p:spPr>
          <a:xfrm>
            <a:off x="3993350" y="3391823"/>
            <a:ext cx="1219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solidFill>
                  <a:srgbClr val="002060"/>
                </a:solidFill>
                <a:latin typeface="Arial Nova" panose="020B0504020202020204" pitchFamily="34" charset="0"/>
              </a:rPr>
              <a:t>Ordres</a:t>
            </a:r>
          </a:p>
        </p:txBody>
      </p: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4F1448A2-74B3-CD08-E95E-7BA0F13E5E27}"/>
              </a:ext>
            </a:extLst>
          </p:cNvPr>
          <p:cNvCxnSpPr/>
          <p:nvPr/>
        </p:nvCxnSpPr>
        <p:spPr>
          <a:xfrm flipV="1">
            <a:off x="343647" y="2510188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666B5AAB-EFCD-DF08-0751-665BC1A9589D}"/>
              </a:ext>
            </a:extLst>
          </p:cNvPr>
          <p:cNvCxnSpPr/>
          <p:nvPr/>
        </p:nvCxnSpPr>
        <p:spPr>
          <a:xfrm flipV="1">
            <a:off x="337975" y="3314118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9F43978C-0A20-805A-8C24-70E6B42C9464}"/>
              </a:ext>
            </a:extLst>
          </p:cNvPr>
          <p:cNvCxnSpPr>
            <a:cxnSpLocks/>
          </p:cNvCxnSpPr>
          <p:nvPr/>
        </p:nvCxnSpPr>
        <p:spPr>
          <a:xfrm>
            <a:off x="6958287" y="2517245"/>
            <a:ext cx="1203580" cy="0"/>
          </a:xfrm>
          <a:prstGeom prst="straightConnector1">
            <a:avLst/>
          </a:prstGeom>
          <a:ln w="25400">
            <a:solidFill>
              <a:srgbClr val="00206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ZoneTexte 124">
            <a:extLst>
              <a:ext uri="{FF2B5EF4-FFF2-40B4-BE49-F238E27FC236}">
                <a16:creationId xmlns:a16="http://schemas.microsoft.com/office/drawing/2014/main" id="{C33A4B97-345F-4733-8DCF-0E0435B80966}"/>
              </a:ext>
            </a:extLst>
          </p:cNvPr>
          <p:cNvSpPr txBox="1"/>
          <p:nvPr/>
        </p:nvSpPr>
        <p:spPr>
          <a:xfrm>
            <a:off x="7161435" y="2074747"/>
            <a:ext cx="12197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solidFill>
                  <a:srgbClr val="002060"/>
                </a:solidFill>
                <a:latin typeface="Arial Nova" panose="020B0504020202020204" pitchFamily="34" charset="0"/>
              </a:rPr>
              <a:t>Informations opérateur</a:t>
            </a:r>
          </a:p>
        </p:txBody>
      </p: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F35E4ACF-A3DA-F36F-AB28-5164DC8BF136}"/>
              </a:ext>
            </a:extLst>
          </p:cNvPr>
          <p:cNvCxnSpPr>
            <a:cxnSpLocks/>
          </p:cNvCxnSpPr>
          <p:nvPr/>
        </p:nvCxnSpPr>
        <p:spPr>
          <a:xfrm flipV="1">
            <a:off x="88282" y="5206455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ZoneTexte 128">
            <a:extLst>
              <a:ext uri="{FF2B5EF4-FFF2-40B4-BE49-F238E27FC236}">
                <a16:creationId xmlns:a16="http://schemas.microsoft.com/office/drawing/2014/main" id="{A93CA1FB-3493-10EE-80E7-0AAAB9BC2AFD}"/>
              </a:ext>
            </a:extLst>
          </p:cNvPr>
          <p:cNvSpPr txBox="1"/>
          <p:nvPr/>
        </p:nvSpPr>
        <p:spPr>
          <a:xfrm>
            <a:off x="-484189" y="4746488"/>
            <a:ext cx="12197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solidFill>
                  <a:srgbClr val="002060"/>
                </a:solidFill>
                <a:latin typeface="Arial Nova" panose="020B0504020202020204" pitchFamily="34" charset="0"/>
              </a:rPr>
              <a:t>Puissance électrique</a:t>
            </a:r>
          </a:p>
        </p:txBody>
      </p: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C563877B-2D6F-217C-F840-DBDE59AE3504}"/>
              </a:ext>
            </a:extLst>
          </p:cNvPr>
          <p:cNvCxnSpPr>
            <a:cxnSpLocks/>
          </p:cNvCxnSpPr>
          <p:nvPr/>
        </p:nvCxnSpPr>
        <p:spPr>
          <a:xfrm>
            <a:off x="6958287" y="5185757"/>
            <a:ext cx="923148" cy="0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ZoneTexte 130">
            <a:extLst>
              <a:ext uri="{FF2B5EF4-FFF2-40B4-BE49-F238E27FC236}">
                <a16:creationId xmlns:a16="http://schemas.microsoft.com/office/drawing/2014/main" id="{BAB72FA5-2A67-776D-3937-3F95DB1D2A79}"/>
              </a:ext>
            </a:extLst>
          </p:cNvPr>
          <p:cNvSpPr txBox="1"/>
          <p:nvPr/>
        </p:nvSpPr>
        <p:spPr>
          <a:xfrm>
            <a:off x="5213128" y="1855980"/>
            <a:ext cx="1888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rgbClr val="002060"/>
                </a:solidFill>
                <a:latin typeface="Arial Nova" panose="020B0504020202020204" pitchFamily="34" charset="0"/>
              </a:rPr>
              <a:t>Chaîne d’information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2AFEC7B1-711F-6DD0-D438-F85F23CE819D}"/>
              </a:ext>
            </a:extLst>
          </p:cNvPr>
          <p:cNvSpPr txBox="1"/>
          <p:nvPr/>
        </p:nvSpPr>
        <p:spPr>
          <a:xfrm>
            <a:off x="5253568" y="4275145"/>
            <a:ext cx="1888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rgbClr val="D2A000"/>
                </a:solidFill>
                <a:latin typeface="Arial Nova" panose="020B0504020202020204" pitchFamily="34" charset="0"/>
              </a:rPr>
              <a:t>Chaîne de puissance</a:t>
            </a:r>
          </a:p>
        </p:txBody>
      </p:sp>
    </p:spTree>
    <p:extLst>
      <p:ext uri="{BB962C8B-B14F-4D97-AF65-F5344CB8AC3E}">
        <p14:creationId xmlns:p14="http://schemas.microsoft.com/office/powerpoint/2010/main" val="73356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22678-C64C-E0C7-9A1A-1A5F5E75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D8EEE4F6-4C39-FBE4-F31C-3D571B59E085}"/>
              </a:ext>
            </a:extLst>
          </p:cNvPr>
          <p:cNvSpPr/>
          <p:nvPr/>
        </p:nvSpPr>
        <p:spPr>
          <a:xfrm>
            <a:off x="9648386" y="4190096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Axe linéaire « Poulie courroie »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BCA277F-F71A-E968-C655-58576C71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Comax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C967A3F-BC69-04CF-AB70-F16D96C09943}"/>
              </a:ext>
            </a:extLst>
          </p:cNvPr>
          <p:cNvSpPr/>
          <p:nvPr/>
        </p:nvSpPr>
        <p:spPr>
          <a:xfrm>
            <a:off x="1056905" y="1549834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86A7601-6D7B-2E56-A1EF-29A098482F9F}"/>
              </a:ext>
            </a:extLst>
          </p:cNvPr>
          <p:cNvSpPr/>
          <p:nvPr/>
        </p:nvSpPr>
        <p:spPr>
          <a:xfrm>
            <a:off x="1056905" y="2324979"/>
            <a:ext cx="1440000" cy="946211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Codeur incrémental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de courant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Génératrice tachymétrique</a:t>
            </a: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d’effort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376F4DE-F3ED-5087-37CC-7495D4D9EA1F}"/>
              </a:ext>
            </a:extLst>
          </p:cNvPr>
          <p:cNvSpPr/>
          <p:nvPr/>
        </p:nvSpPr>
        <p:spPr>
          <a:xfrm>
            <a:off x="3229319" y="154829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13E74F6-F8A0-B559-937E-C13A541EA555}"/>
              </a:ext>
            </a:extLst>
          </p:cNvPr>
          <p:cNvSpPr/>
          <p:nvPr/>
        </p:nvSpPr>
        <p:spPr>
          <a:xfrm>
            <a:off x="3218894" y="2341159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0C7391"/>
                </a:solidFill>
                <a:latin typeface="Arial Nova" panose="020B0504020202020204" pitchFamily="34" charset="0"/>
              </a:rPr>
              <a:t>Carte EPOS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72D7ACA-7134-2B87-9038-4E9B28B2C78A}"/>
              </a:ext>
            </a:extLst>
          </p:cNvPr>
          <p:cNvSpPr/>
          <p:nvPr/>
        </p:nvSpPr>
        <p:spPr>
          <a:xfrm>
            <a:off x="5389319" y="1525957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FDA2495-C72D-B163-5174-5045D4642313}"/>
              </a:ext>
            </a:extLst>
          </p:cNvPr>
          <p:cNvSpPr/>
          <p:nvPr/>
        </p:nvSpPr>
        <p:spPr>
          <a:xfrm>
            <a:off x="5389319" y="2319926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Carte EPOS</a:t>
            </a:r>
          </a:p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PC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8715C4A-B79F-E4CF-4D9C-DEAF6E9C0834}"/>
              </a:ext>
            </a:extLst>
          </p:cNvPr>
          <p:cNvSpPr/>
          <p:nvPr/>
        </p:nvSpPr>
        <p:spPr>
          <a:xfrm>
            <a:off x="1056905" y="354268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AED7942-96AF-EB73-97BA-8DC3A37A5BCD}"/>
              </a:ext>
            </a:extLst>
          </p:cNvPr>
          <p:cNvSpPr/>
          <p:nvPr/>
        </p:nvSpPr>
        <p:spPr>
          <a:xfrm>
            <a:off x="1056905" y="423744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Alimentation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56134D4-5CEA-A761-413C-A13C875D07C4}"/>
              </a:ext>
            </a:extLst>
          </p:cNvPr>
          <p:cNvSpPr/>
          <p:nvPr/>
        </p:nvSpPr>
        <p:spPr>
          <a:xfrm>
            <a:off x="3218894" y="3537925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1E6F1ED-2FD4-60FA-7D29-418559881D17}"/>
              </a:ext>
            </a:extLst>
          </p:cNvPr>
          <p:cNvSpPr/>
          <p:nvPr/>
        </p:nvSpPr>
        <p:spPr>
          <a:xfrm>
            <a:off x="3199256" y="4222480"/>
            <a:ext cx="1440000" cy="572255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C7391"/>
                </a:solidFill>
                <a:latin typeface="Arial Nova" panose="020B0504020202020204" pitchFamily="34" charset="0"/>
              </a:rPr>
              <a:t>Hacheur</a:t>
            </a:r>
            <a:endParaRPr lang="fr-FR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2A43A89-6979-6AB4-57AB-EA7E4D523E18}"/>
              </a:ext>
            </a:extLst>
          </p:cNvPr>
          <p:cNvSpPr/>
          <p:nvPr/>
        </p:nvSpPr>
        <p:spPr>
          <a:xfrm>
            <a:off x="5380883" y="354268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F92B39D-E609-AB8B-5AB7-CC0C47030464}"/>
              </a:ext>
            </a:extLst>
          </p:cNvPr>
          <p:cNvSpPr/>
          <p:nvPr/>
        </p:nvSpPr>
        <p:spPr>
          <a:xfrm>
            <a:off x="5389319" y="4223146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à courant continu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ED875CC-A071-6E4E-31CA-3978772ADE38}"/>
              </a:ext>
            </a:extLst>
          </p:cNvPr>
          <p:cNvSpPr/>
          <p:nvPr/>
        </p:nvSpPr>
        <p:spPr>
          <a:xfrm>
            <a:off x="7542872" y="3545795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D3F75AD-3ACF-7EE0-D073-8C62A6F468F1}"/>
              </a:ext>
            </a:extLst>
          </p:cNvPr>
          <p:cNvSpPr/>
          <p:nvPr/>
        </p:nvSpPr>
        <p:spPr>
          <a:xfrm>
            <a:off x="7549319" y="4202642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Train épicycloïdal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87D607A1-073A-F4BC-4761-19F9D2235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26" y="1603805"/>
            <a:ext cx="434918" cy="15201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C260624A-FE4B-F48F-E232-C58D74E2736F}"/>
              </a:ext>
            </a:extLst>
          </p:cNvPr>
          <p:cNvCxnSpPr>
            <a:cxnSpLocks/>
          </p:cNvCxnSpPr>
          <p:nvPr/>
        </p:nvCxnSpPr>
        <p:spPr>
          <a:xfrm flipV="1">
            <a:off x="2496905" y="1827907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58BA205A-1DC3-F0B8-DFD4-354010034934}"/>
              </a:ext>
            </a:extLst>
          </p:cNvPr>
          <p:cNvCxnSpPr/>
          <p:nvPr/>
        </p:nvCxnSpPr>
        <p:spPr>
          <a:xfrm flipV="1">
            <a:off x="4669319" y="1813957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B7983F22-6B19-C7EB-886A-AB75A3075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94" y="1418598"/>
            <a:ext cx="360000" cy="360000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11A0CCC1-D9FD-AA21-5223-FD4E4C1E7CE0}"/>
              </a:ext>
            </a:extLst>
          </p:cNvPr>
          <p:cNvCxnSpPr>
            <a:cxnSpLocks/>
          </p:cNvCxnSpPr>
          <p:nvPr/>
        </p:nvCxnSpPr>
        <p:spPr>
          <a:xfrm flipV="1">
            <a:off x="2509319" y="3811152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6BA3BC20-CE2E-6BDE-EB86-E1F5BB913541}"/>
              </a:ext>
            </a:extLst>
          </p:cNvPr>
          <p:cNvGrpSpPr/>
          <p:nvPr/>
        </p:nvGrpSpPr>
        <p:grpSpPr>
          <a:xfrm>
            <a:off x="1596905" y="3980066"/>
            <a:ext cx="360000" cy="360000"/>
            <a:chOff x="4197400" y="3547713"/>
            <a:chExt cx="1800000" cy="180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BFD307BB-D67A-BEE4-A2EF-DF0035EDFB33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EC7DE96F-F9E4-6C05-3CCC-C49B71070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28" name="Image 27">
            <a:extLst>
              <a:ext uri="{FF2B5EF4-FFF2-40B4-BE49-F238E27FC236}">
                <a16:creationId xmlns:a16="http://schemas.microsoft.com/office/drawing/2014/main" id="{5BBEDC5B-1020-4A64-5E67-2C9220716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44" y="3666221"/>
            <a:ext cx="360000" cy="3600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B2A8900B-4D0F-CF48-7EDC-F4CABA3D9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905" y="3393409"/>
            <a:ext cx="360000" cy="36000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BD3C940B-1B77-936C-C0B1-45BA2D3FBAB1}"/>
              </a:ext>
            </a:extLst>
          </p:cNvPr>
          <p:cNvCxnSpPr>
            <a:cxnSpLocks/>
          </p:cNvCxnSpPr>
          <p:nvPr/>
        </p:nvCxnSpPr>
        <p:spPr>
          <a:xfrm flipV="1">
            <a:off x="4669319" y="3798320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E50112B0-9F6E-53E8-A4C7-E2DBA281B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894" y="3393409"/>
            <a:ext cx="360000" cy="360000"/>
          </a:xfrm>
          <a:prstGeom prst="rect">
            <a:avLst/>
          </a:prstGeom>
        </p:spPr>
      </p:pic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5A4351E2-7438-E025-4DF9-247FB3B7178C}"/>
              </a:ext>
            </a:extLst>
          </p:cNvPr>
          <p:cNvCxnSpPr>
            <a:cxnSpLocks/>
          </p:cNvCxnSpPr>
          <p:nvPr/>
        </p:nvCxnSpPr>
        <p:spPr>
          <a:xfrm flipV="1">
            <a:off x="6829319" y="3807925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 42">
            <a:extLst>
              <a:ext uri="{FF2B5EF4-FFF2-40B4-BE49-F238E27FC236}">
                <a16:creationId xmlns:a16="http://schemas.microsoft.com/office/drawing/2014/main" id="{987AEF86-1824-6928-2205-50C945597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3108" y="3418676"/>
            <a:ext cx="360000" cy="360000"/>
          </a:xfrm>
          <a:prstGeom prst="rect">
            <a:avLst/>
          </a:prstGeom>
        </p:spPr>
      </p:pic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D819812E-1474-863D-0220-5F78A6608EBE}"/>
              </a:ext>
            </a:extLst>
          </p:cNvPr>
          <p:cNvCxnSpPr>
            <a:cxnSpLocks/>
            <a:stCxn id="8" idx="3"/>
            <a:endCxn id="45" idx="0"/>
          </p:cNvCxnSpPr>
          <p:nvPr/>
        </p:nvCxnSpPr>
        <p:spPr>
          <a:xfrm>
            <a:off x="4669319" y="1818298"/>
            <a:ext cx="131551" cy="1176476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0D4D2E52-DC04-EA11-E565-1EABA672F469}"/>
              </a:ext>
            </a:extLst>
          </p:cNvPr>
          <p:cNvSpPr/>
          <p:nvPr/>
        </p:nvSpPr>
        <p:spPr>
          <a:xfrm>
            <a:off x="4097729" y="2994774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A9AD7C57-2473-E684-2EEF-90C050E38835}"/>
              </a:ext>
            </a:extLst>
          </p:cNvPr>
          <p:cNvCxnSpPr>
            <a:cxnSpLocks/>
            <a:stCxn id="45" idx="1"/>
            <a:endCxn id="14" idx="0"/>
          </p:cNvCxnSpPr>
          <p:nvPr/>
        </p:nvCxnSpPr>
        <p:spPr>
          <a:xfrm rot="10800000" flipV="1">
            <a:off x="3938895" y="3160453"/>
            <a:ext cx="15883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06F1BA3D-41D0-985A-DA49-B09F78C8D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108" y="2942920"/>
            <a:ext cx="180000" cy="18000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5504C27A-2D5F-2F85-E6CD-5CD670853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52" y="3218549"/>
            <a:ext cx="180000" cy="180000"/>
          </a:xfrm>
          <a:prstGeom prst="rect">
            <a:avLst/>
          </a:prstGeom>
        </p:spPr>
      </p:pic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BCCE767-B1D5-CAC3-B5EB-C03F91485CF2}"/>
              </a:ext>
            </a:extLst>
          </p:cNvPr>
          <p:cNvSpPr/>
          <p:nvPr/>
        </p:nvSpPr>
        <p:spPr>
          <a:xfrm>
            <a:off x="11719813" y="3534156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Apporte une aide au déplacement de le charge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1674B347-EACB-B7B6-D153-D163C3CEBF4F}"/>
              </a:ext>
            </a:extLst>
          </p:cNvPr>
          <p:cNvCxnSpPr>
            <a:cxnSpLocks/>
          </p:cNvCxnSpPr>
          <p:nvPr/>
        </p:nvCxnSpPr>
        <p:spPr>
          <a:xfrm flipV="1">
            <a:off x="10996452" y="3807925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79AD3288-D071-7007-E1A3-F3289E6806D8}"/>
              </a:ext>
            </a:extLst>
          </p:cNvPr>
          <p:cNvGrpSpPr/>
          <p:nvPr/>
        </p:nvGrpSpPr>
        <p:grpSpPr>
          <a:xfrm>
            <a:off x="3770117" y="2030387"/>
            <a:ext cx="360000" cy="360000"/>
            <a:chOff x="6138169" y="4069439"/>
            <a:chExt cx="1800000" cy="180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EFE13F9D-4577-36E0-2788-8A9E9089A912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9905C8DD-4B8E-6615-AE6F-BE5E9CDAF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96E53290-8FFB-E9B0-BBB1-80C1F52A3047}"/>
              </a:ext>
            </a:extLst>
          </p:cNvPr>
          <p:cNvCxnSpPr/>
          <p:nvPr/>
        </p:nvCxnSpPr>
        <p:spPr>
          <a:xfrm flipV="1">
            <a:off x="6829319" y="1735886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3D6E9834-C410-D472-E5AC-323A9F7268F9}"/>
              </a:ext>
            </a:extLst>
          </p:cNvPr>
          <p:cNvGrpSpPr/>
          <p:nvPr/>
        </p:nvGrpSpPr>
        <p:grpSpPr>
          <a:xfrm rot="5400000" flipV="1">
            <a:off x="12248508" y="4154169"/>
            <a:ext cx="835963" cy="1617775"/>
            <a:chOff x="9150640" y="2423323"/>
            <a:chExt cx="835963" cy="2135794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A4AA16BF-6FB7-CED7-891E-03D49FE78C9F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2CADB1EF-6032-F868-025A-5C347A786906}"/>
                </a:ext>
              </a:extLst>
            </p:cNvPr>
            <p:cNvSpPr txBox="1"/>
            <p:nvPr/>
          </p:nvSpPr>
          <p:spPr>
            <a:xfrm rot="16200000">
              <a:off x="8815678" y="3317013"/>
              <a:ext cx="191804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charge en position finale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A04C97A5-410C-6E2A-6E71-9B98DC05C07B}"/>
              </a:ext>
            </a:extLst>
          </p:cNvPr>
          <p:cNvGrpSpPr/>
          <p:nvPr/>
        </p:nvGrpSpPr>
        <p:grpSpPr>
          <a:xfrm>
            <a:off x="10661488" y="2941725"/>
            <a:ext cx="1566153" cy="577809"/>
            <a:chOff x="9058474" y="2836569"/>
            <a:chExt cx="1566153" cy="577809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996285AC-7318-212B-E9AF-B1094E2116A9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FF4A5B4F-D4F3-7025-CC4D-6C947298A069}"/>
                </a:ext>
              </a:extLst>
            </p:cNvPr>
            <p:cNvSpPr txBox="1"/>
            <p:nvPr/>
          </p:nvSpPr>
          <p:spPr>
            <a:xfrm>
              <a:off x="9058474" y="2836569"/>
              <a:ext cx="14737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Charge en position initiale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CAE1AD84-6D91-74C5-A8CA-52FB05C1E78B}"/>
                  </a:ext>
                </a:extLst>
              </p:cNvPr>
              <p:cNvSpPr txBox="1"/>
              <p:nvPr/>
            </p:nvSpPr>
            <p:spPr>
              <a:xfrm>
                <a:off x="170158" y="4004272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230 V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8" y="4004272"/>
                <a:ext cx="1161960" cy="276999"/>
              </a:xfrm>
              <a:prstGeom prst="rect">
                <a:avLst/>
              </a:prstGeom>
              <a:blipFill>
                <a:blip r:embed="rId8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F6FF42FF-BB36-F6C4-36DC-5CC9F54D5753}"/>
                  </a:ext>
                </a:extLst>
              </p:cNvPr>
              <p:cNvSpPr txBox="1"/>
              <p:nvPr/>
            </p:nvSpPr>
            <p:spPr>
              <a:xfrm>
                <a:off x="2282648" y="3831108"/>
                <a:ext cx="1161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24 V </a:t>
                </a:r>
              </a:p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Continu</a:t>
                </a:r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648" y="3831108"/>
                <a:ext cx="1161960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e 92">
            <a:extLst>
              <a:ext uri="{FF2B5EF4-FFF2-40B4-BE49-F238E27FC236}">
                <a16:creationId xmlns:a16="http://schemas.microsoft.com/office/drawing/2014/main" id="{DF93F0C5-5308-FCC6-48A6-15385BA69924}"/>
              </a:ext>
            </a:extLst>
          </p:cNvPr>
          <p:cNvGrpSpPr/>
          <p:nvPr/>
        </p:nvGrpSpPr>
        <p:grpSpPr>
          <a:xfrm>
            <a:off x="694382" y="1656710"/>
            <a:ext cx="360000" cy="360000"/>
            <a:chOff x="5404964" y="4396133"/>
            <a:chExt cx="1800000" cy="180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09E0F3F2-E789-1A10-F0DE-58850AAC163E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5" name="Image 94">
              <a:extLst>
                <a:ext uri="{FF2B5EF4-FFF2-40B4-BE49-F238E27FC236}">
                  <a16:creationId xmlns:a16="http://schemas.microsoft.com/office/drawing/2014/main" id="{6E0E37F0-DCA8-855E-AF89-9DC44DAA0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pic>
        <p:nvPicPr>
          <p:cNvPr id="110" name="Image 109">
            <a:extLst>
              <a:ext uri="{FF2B5EF4-FFF2-40B4-BE49-F238E27FC236}">
                <a16:creationId xmlns:a16="http://schemas.microsoft.com/office/drawing/2014/main" id="{EC75830D-3497-C8AE-97EE-86D9FE43F3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9335" y="3661444"/>
            <a:ext cx="288000" cy="105516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741071C2-4C36-3EF6-65F4-213D18F1A0CA}"/>
              </a:ext>
            </a:extLst>
          </p:cNvPr>
          <p:cNvSpPr/>
          <p:nvPr/>
        </p:nvSpPr>
        <p:spPr>
          <a:xfrm>
            <a:off x="498044" y="5363610"/>
            <a:ext cx="8528438" cy="652851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Codeur, ampèremètre et capteur d’effort sont nécessaires au bon fonctionnement du système.</a:t>
            </a:r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729DD293-FE91-960A-A3B1-94B2961D2CA9}"/>
              </a:ext>
            </a:extLst>
          </p:cNvPr>
          <p:cNvGrpSpPr/>
          <p:nvPr/>
        </p:nvGrpSpPr>
        <p:grpSpPr>
          <a:xfrm>
            <a:off x="3747478" y="3931144"/>
            <a:ext cx="360000" cy="360000"/>
            <a:chOff x="4235640" y="2696679"/>
            <a:chExt cx="1800000" cy="1800000"/>
          </a:xfrm>
        </p:grpSpPr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1F4DE0FF-7E36-CE89-613B-9D3B2A67155A}"/>
                </a:ext>
              </a:extLst>
            </p:cNvPr>
            <p:cNvSpPr/>
            <p:nvPr/>
          </p:nvSpPr>
          <p:spPr>
            <a:xfrm>
              <a:off x="4235640" y="2696679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DBD8CBEB-B1B1-DD7E-3F5D-8F5B62AF8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51640" y="3100228"/>
              <a:ext cx="1368000" cy="99290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E5D7CEC-91EE-CAB7-A298-6BA57E43F7E6}"/>
                  </a:ext>
                </a:extLst>
              </p:cNvPr>
              <p:cNvSpPr txBox="1"/>
              <p:nvPr/>
            </p:nvSpPr>
            <p:spPr>
              <a:xfrm>
                <a:off x="4452429" y="3859412"/>
                <a:ext cx="1161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24 V modulée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429" y="3859412"/>
                <a:ext cx="1161960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e 30">
            <a:extLst>
              <a:ext uri="{FF2B5EF4-FFF2-40B4-BE49-F238E27FC236}">
                <a16:creationId xmlns:a16="http://schemas.microsoft.com/office/drawing/2014/main" id="{B6886E26-37EF-6447-EAB6-F3B4453553B0}"/>
              </a:ext>
            </a:extLst>
          </p:cNvPr>
          <p:cNvGrpSpPr/>
          <p:nvPr/>
        </p:nvGrpSpPr>
        <p:grpSpPr>
          <a:xfrm>
            <a:off x="694382" y="2059338"/>
            <a:ext cx="360000" cy="360000"/>
            <a:chOff x="6054233" y="4960569"/>
            <a:chExt cx="1800000" cy="180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80A52FED-4A4E-0354-6678-CB5C070DD9F9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8097988E-3391-17F3-6178-2988BB650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55E28AC7-2262-C038-1FDB-912DE0D2D976}"/>
              </a:ext>
            </a:extLst>
          </p:cNvPr>
          <p:cNvGrpSpPr/>
          <p:nvPr/>
        </p:nvGrpSpPr>
        <p:grpSpPr>
          <a:xfrm>
            <a:off x="5950287" y="4647841"/>
            <a:ext cx="288000" cy="288000"/>
            <a:chOff x="5404964" y="4396133"/>
            <a:chExt cx="1800000" cy="180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AEAD5C28-47EB-E591-7FB6-0BF2241671E1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0" name="Image 69">
              <a:extLst>
                <a:ext uri="{FF2B5EF4-FFF2-40B4-BE49-F238E27FC236}">
                  <a16:creationId xmlns:a16="http://schemas.microsoft.com/office/drawing/2014/main" id="{8D4A9307-7267-40F5-4F28-AC3098DAB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363D2F82-3C33-AC9F-CD0D-90B789F019B0}"/>
              </a:ext>
            </a:extLst>
          </p:cNvPr>
          <p:cNvGrpSpPr/>
          <p:nvPr/>
        </p:nvGrpSpPr>
        <p:grpSpPr>
          <a:xfrm>
            <a:off x="3739256" y="4678863"/>
            <a:ext cx="288000" cy="288000"/>
            <a:chOff x="6054233" y="4960569"/>
            <a:chExt cx="1800000" cy="180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9849DD50-9713-3ED5-3CC3-AB27EA43C55F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84" name="Image 83">
              <a:extLst>
                <a:ext uri="{FF2B5EF4-FFF2-40B4-BE49-F238E27FC236}">
                  <a16:creationId xmlns:a16="http://schemas.microsoft.com/office/drawing/2014/main" id="{16D11B4C-AB33-3A41-E646-FE83E15C2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C80D4871-FA4E-18D6-1A60-233DAA019F19}"/>
              </a:ext>
            </a:extLst>
          </p:cNvPr>
          <p:cNvGrpSpPr/>
          <p:nvPr/>
        </p:nvGrpSpPr>
        <p:grpSpPr>
          <a:xfrm>
            <a:off x="694382" y="1254083"/>
            <a:ext cx="360000" cy="360000"/>
            <a:chOff x="-2063262" y="2086237"/>
            <a:chExt cx="1800000" cy="1800000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0F33939B-53FE-2C75-8A87-A01136C07097}"/>
                </a:ext>
              </a:extLst>
            </p:cNvPr>
            <p:cNvSpPr/>
            <p:nvPr/>
          </p:nvSpPr>
          <p:spPr>
            <a:xfrm>
              <a:off x="-2063262" y="2086237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7" name="Image 96">
              <a:extLst>
                <a:ext uri="{FF2B5EF4-FFF2-40B4-BE49-F238E27FC236}">
                  <a16:creationId xmlns:a16="http://schemas.microsoft.com/office/drawing/2014/main" id="{61CEB68F-697B-6E35-5AEF-7A8241E17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1609131" y="2149544"/>
              <a:ext cx="891738" cy="1673385"/>
            </a:xfrm>
            <a:prstGeom prst="rect">
              <a:avLst/>
            </a:prstGeom>
          </p:spPr>
        </p:pic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5FA7EAA2-F8DE-2E1A-DD1E-4543B7F57BDE}"/>
              </a:ext>
            </a:extLst>
          </p:cNvPr>
          <p:cNvGrpSpPr/>
          <p:nvPr/>
        </p:nvGrpSpPr>
        <p:grpSpPr>
          <a:xfrm>
            <a:off x="12416753" y="3543108"/>
            <a:ext cx="288000" cy="288000"/>
            <a:chOff x="-2063262" y="2086237"/>
            <a:chExt cx="1800000" cy="1800000"/>
          </a:xfrm>
        </p:grpSpPr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78C3D9FE-3CF9-9EA3-42B5-6E41CCE41DE5}"/>
                </a:ext>
              </a:extLst>
            </p:cNvPr>
            <p:cNvSpPr/>
            <p:nvPr/>
          </p:nvSpPr>
          <p:spPr>
            <a:xfrm>
              <a:off x="-2063262" y="2086237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0" name="Image 99">
              <a:extLst>
                <a:ext uri="{FF2B5EF4-FFF2-40B4-BE49-F238E27FC236}">
                  <a16:creationId xmlns:a16="http://schemas.microsoft.com/office/drawing/2014/main" id="{3BB66860-77C4-1512-DCAE-6F6E4E3AA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1609131" y="2149544"/>
              <a:ext cx="891738" cy="1673385"/>
            </a:xfrm>
            <a:prstGeom prst="rect">
              <a:avLst/>
            </a:prstGeom>
          </p:spPr>
        </p:pic>
      </p:grp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1990B9A0-1933-0A06-D09B-B23E5BA1790C}"/>
              </a:ext>
            </a:extLst>
          </p:cNvPr>
          <p:cNvGrpSpPr/>
          <p:nvPr/>
        </p:nvGrpSpPr>
        <p:grpSpPr>
          <a:xfrm>
            <a:off x="8079091" y="3940734"/>
            <a:ext cx="360000" cy="360000"/>
            <a:chOff x="5447928" y="2816932"/>
            <a:chExt cx="1800000" cy="180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551EF22D-5AD9-2A2E-2A68-87D7657DD456}"/>
                </a:ext>
              </a:extLst>
            </p:cNvPr>
            <p:cNvSpPr/>
            <p:nvPr/>
          </p:nvSpPr>
          <p:spPr>
            <a:xfrm>
              <a:off x="5447928" y="281693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9" name="Image 108">
              <a:extLst>
                <a:ext uri="{FF2B5EF4-FFF2-40B4-BE49-F238E27FC236}">
                  <a16:creationId xmlns:a16="http://schemas.microsoft.com/office/drawing/2014/main" id="{91BE800A-65AE-15BE-A593-3C8ABEEC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flipH="1">
              <a:off x="5627848" y="2996852"/>
              <a:ext cx="1440160" cy="1440160"/>
            </a:xfrm>
            <a:prstGeom prst="rect">
              <a:avLst/>
            </a:prstGeom>
          </p:spPr>
        </p:pic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DB24B251-0230-0754-CB88-C8DA3C23165E}"/>
              </a:ext>
            </a:extLst>
          </p:cNvPr>
          <p:cNvGrpSpPr/>
          <p:nvPr/>
        </p:nvGrpSpPr>
        <p:grpSpPr>
          <a:xfrm rot="5400000">
            <a:off x="7583512" y="1418598"/>
            <a:ext cx="720000" cy="720000"/>
            <a:chOff x="8494276" y="748802"/>
            <a:chExt cx="1800000" cy="1800000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6C816719-AE99-C372-A856-258EADB177CD}"/>
                </a:ext>
              </a:extLst>
            </p:cNvPr>
            <p:cNvSpPr/>
            <p:nvPr/>
          </p:nvSpPr>
          <p:spPr>
            <a:xfrm>
              <a:off x="8494276" y="748802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77" name="Image 76">
              <a:extLst>
                <a:ext uri="{FF2B5EF4-FFF2-40B4-BE49-F238E27FC236}">
                  <a16:creationId xmlns:a16="http://schemas.microsoft.com/office/drawing/2014/main" id="{497309DF-C441-EDCE-E002-EEEE036FC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943232" y="938192"/>
              <a:ext cx="902088" cy="1440000"/>
            </a:xfrm>
            <a:prstGeom prst="rect">
              <a:avLst/>
            </a:prstGeom>
          </p:spPr>
        </p:pic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B74FFDF1-FB0D-162A-503E-07DC7A8BC740}"/>
              </a:ext>
            </a:extLst>
          </p:cNvPr>
          <p:cNvGrpSpPr/>
          <p:nvPr/>
        </p:nvGrpSpPr>
        <p:grpSpPr>
          <a:xfrm>
            <a:off x="5929319" y="3962771"/>
            <a:ext cx="360000" cy="360000"/>
            <a:chOff x="5775745" y="3144183"/>
            <a:chExt cx="1800000" cy="1800000"/>
          </a:xfrm>
        </p:grpSpPr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AAC6636A-B0FA-9858-8C2B-3445773351B9}"/>
                </a:ext>
              </a:extLst>
            </p:cNvPr>
            <p:cNvSpPr/>
            <p:nvPr/>
          </p:nvSpPr>
          <p:spPr>
            <a:xfrm>
              <a:off x="5775745" y="3144183"/>
              <a:ext cx="1800000" cy="1800000"/>
            </a:xfrm>
            <a:prstGeom prst="ellipse">
              <a:avLst/>
            </a:prstGeom>
            <a:solidFill>
              <a:srgbClr val="683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0" name="Image 79">
              <a:extLst>
                <a:ext uri="{FF2B5EF4-FFF2-40B4-BE49-F238E27FC236}">
                  <a16:creationId xmlns:a16="http://schemas.microsoft.com/office/drawing/2014/main" id="{553B8472-12AF-B0E3-332E-34409B71D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903821" y="3513485"/>
              <a:ext cx="1543848" cy="1061396"/>
            </a:xfrm>
            <a:prstGeom prst="rect">
              <a:avLst/>
            </a:prstGeom>
          </p:spPr>
        </p:pic>
      </p:grp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55952E74-82B3-009E-D69D-A68A122CE591}"/>
              </a:ext>
            </a:extLst>
          </p:cNvPr>
          <p:cNvCxnSpPr>
            <a:cxnSpLocks/>
            <a:stCxn id="69" idx="4"/>
            <a:endCxn id="95" idx="1"/>
          </p:cNvCxnSpPr>
          <p:nvPr/>
        </p:nvCxnSpPr>
        <p:spPr>
          <a:xfrm rot="5400000" flipH="1">
            <a:off x="1854634" y="696188"/>
            <a:ext cx="3107098" cy="5372209"/>
          </a:xfrm>
          <a:prstGeom prst="bentConnector4">
            <a:avLst>
              <a:gd name="adj1" fmla="val -7357"/>
              <a:gd name="adj2" fmla="val 109671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 : en angle 41">
            <a:extLst>
              <a:ext uri="{FF2B5EF4-FFF2-40B4-BE49-F238E27FC236}">
                <a16:creationId xmlns:a16="http://schemas.microsoft.com/office/drawing/2014/main" id="{B04118F4-0C31-6F5C-C31E-B5A759F4788C}"/>
              </a:ext>
            </a:extLst>
          </p:cNvPr>
          <p:cNvCxnSpPr>
            <a:cxnSpLocks/>
            <a:stCxn id="83" idx="4"/>
            <a:endCxn id="33" idx="1"/>
          </p:cNvCxnSpPr>
          <p:nvPr/>
        </p:nvCxnSpPr>
        <p:spPr>
          <a:xfrm rot="5400000" flipH="1">
            <a:off x="949503" y="2033111"/>
            <a:ext cx="2727525" cy="3139981"/>
          </a:xfrm>
          <a:prstGeom prst="bentConnector4">
            <a:avLst>
              <a:gd name="adj1" fmla="val -3414"/>
              <a:gd name="adj2" fmla="val 112813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 : en angle 88">
            <a:extLst>
              <a:ext uri="{FF2B5EF4-FFF2-40B4-BE49-F238E27FC236}">
                <a16:creationId xmlns:a16="http://schemas.microsoft.com/office/drawing/2014/main" id="{91AB386C-EAF6-2B88-7F0F-A3A5EF834A87}"/>
              </a:ext>
            </a:extLst>
          </p:cNvPr>
          <p:cNvCxnSpPr>
            <a:cxnSpLocks/>
            <a:stCxn id="100" idx="0"/>
            <a:endCxn id="97" idx="0"/>
          </p:cNvCxnSpPr>
          <p:nvPr/>
        </p:nvCxnSpPr>
        <p:spPr>
          <a:xfrm rot="16200000" flipV="1">
            <a:off x="5574322" y="-3433195"/>
            <a:ext cx="2286493" cy="11686371"/>
          </a:xfrm>
          <a:prstGeom prst="bentConnector3">
            <a:avLst>
              <a:gd name="adj1" fmla="val 109998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ZoneTexte 110">
                <a:extLst>
                  <a:ext uri="{FF2B5EF4-FFF2-40B4-BE49-F238E27FC236}">
                    <a16:creationId xmlns:a16="http://schemas.microsoft.com/office/drawing/2014/main" id="{4A2277E2-4B93-2249-8CBE-B98189BFBFFC}"/>
                  </a:ext>
                </a:extLst>
              </p:cNvPr>
              <p:cNvSpPr txBox="1"/>
              <p:nvPr/>
            </p:nvSpPr>
            <p:spPr>
              <a:xfrm>
                <a:off x="6496530" y="3899673"/>
                <a:ext cx="143182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1100" b="1" dirty="0">
                  <a:solidFill>
                    <a:srgbClr val="7030A0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11" name="ZoneTexte 110">
                <a:extLst>
                  <a:ext uri="{FF2B5EF4-FFF2-40B4-BE49-F238E27FC236}">
                    <a16:creationId xmlns:a16="http://schemas.microsoft.com/office/drawing/2014/main" id="{4BE6685B-714A-2936-1BA2-2CA1122FD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530" y="3899673"/>
                <a:ext cx="1431825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ZoneTexte 111">
                <a:extLst>
                  <a:ext uri="{FF2B5EF4-FFF2-40B4-BE49-F238E27FC236}">
                    <a16:creationId xmlns:a16="http://schemas.microsoft.com/office/drawing/2014/main" id="{25FEBE3F-9D3B-6E76-7106-25E39FEDD6FD}"/>
                  </a:ext>
                </a:extLst>
              </p:cNvPr>
              <p:cNvSpPr txBox="1"/>
              <p:nvPr/>
            </p:nvSpPr>
            <p:spPr>
              <a:xfrm>
                <a:off x="10613889" y="3865361"/>
                <a:ext cx="143182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fr-FR" sz="1100" b="1" dirty="0">
                  <a:solidFill>
                    <a:srgbClr val="7030A0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12" name="ZoneTexte 111">
                <a:extLst>
                  <a:ext uri="{FF2B5EF4-FFF2-40B4-BE49-F238E27FC236}">
                    <a16:creationId xmlns:a16="http://schemas.microsoft.com/office/drawing/2014/main" id="{F72A4F02-81F2-12CD-42EB-688314B6A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889" y="3865361"/>
                <a:ext cx="1431825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304E8581-3B6A-FE2A-2FA1-5E438DFEBEDF}"/>
              </a:ext>
            </a:extLst>
          </p:cNvPr>
          <p:cNvSpPr/>
          <p:nvPr/>
        </p:nvSpPr>
        <p:spPr>
          <a:xfrm>
            <a:off x="9625448" y="3534654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EA271E54-320D-77B7-1971-5FB1BCD9AEDF}"/>
              </a:ext>
            </a:extLst>
          </p:cNvPr>
          <p:cNvCxnSpPr>
            <a:cxnSpLocks/>
          </p:cNvCxnSpPr>
          <p:nvPr/>
        </p:nvCxnSpPr>
        <p:spPr>
          <a:xfrm flipV="1">
            <a:off x="8911895" y="3796784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Image 70">
            <a:extLst>
              <a:ext uri="{FF2B5EF4-FFF2-40B4-BE49-F238E27FC236}">
                <a16:creationId xmlns:a16="http://schemas.microsoft.com/office/drawing/2014/main" id="{B450FF61-74F9-CAAA-37BB-4353FFDE5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5684" y="3407535"/>
            <a:ext cx="360000" cy="360000"/>
          </a:xfrm>
          <a:prstGeom prst="rect">
            <a:avLst/>
          </a:prstGeom>
        </p:spPr>
      </p:pic>
      <p:grpSp>
        <p:nvGrpSpPr>
          <p:cNvPr id="86" name="Groupe 85">
            <a:extLst>
              <a:ext uri="{FF2B5EF4-FFF2-40B4-BE49-F238E27FC236}">
                <a16:creationId xmlns:a16="http://schemas.microsoft.com/office/drawing/2014/main" id="{54B433E9-8E17-D998-1186-1C38FF325B5A}"/>
              </a:ext>
            </a:extLst>
          </p:cNvPr>
          <p:cNvGrpSpPr/>
          <p:nvPr/>
        </p:nvGrpSpPr>
        <p:grpSpPr>
          <a:xfrm>
            <a:off x="10151217" y="3954960"/>
            <a:ext cx="360000" cy="360000"/>
            <a:chOff x="10405167" y="2322166"/>
            <a:chExt cx="1800000" cy="1800000"/>
          </a:xfrm>
        </p:grpSpPr>
        <p:sp>
          <p:nvSpPr>
            <p:cNvPr id="87" name="Ellipse 86">
              <a:extLst>
                <a:ext uri="{FF2B5EF4-FFF2-40B4-BE49-F238E27FC236}">
                  <a16:creationId xmlns:a16="http://schemas.microsoft.com/office/drawing/2014/main" id="{2973FA07-6C82-DEBE-ED26-536ECA348107}"/>
                </a:ext>
              </a:extLst>
            </p:cNvPr>
            <p:cNvSpPr/>
            <p:nvPr/>
          </p:nvSpPr>
          <p:spPr>
            <a:xfrm>
              <a:off x="10405167" y="2322166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88" name="Image 87">
              <a:extLst>
                <a:ext uri="{FF2B5EF4-FFF2-40B4-BE49-F238E27FC236}">
                  <a16:creationId xmlns:a16="http://schemas.microsoft.com/office/drawing/2014/main" id="{4A669D92-3EE5-8760-04D5-C6139525A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546164" y="2642707"/>
              <a:ext cx="1518007" cy="92471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ZoneTexte 106">
                <a:extLst>
                  <a:ext uri="{FF2B5EF4-FFF2-40B4-BE49-F238E27FC236}">
                    <a16:creationId xmlns:a16="http://schemas.microsoft.com/office/drawing/2014/main" id="{89A61E98-2375-5325-156D-6E4C309189B5}"/>
                  </a:ext>
                </a:extLst>
              </p:cNvPr>
              <p:cNvSpPr txBox="1"/>
              <p:nvPr/>
            </p:nvSpPr>
            <p:spPr>
              <a:xfrm>
                <a:off x="8589080" y="3939627"/>
                <a:ext cx="143182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𝓟</m:t>
                      </m:r>
                      <m:r>
                        <a:rPr lang="fr-FR" sz="1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1100" b="1" dirty="0">
                  <a:solidFill>
                    <a:srgbClr val="7030A0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07" name="ZoneTexte 106">
                <a:extLst>
                  <a:ext uri="{FF2B5EF4-FFF2-40B4-BE49-F238E27FC236}">
                    <a16:creationId xmlns:a16="http://schemas.microsoft.com/office/drawing/2014/main" id="{D4448485-1542-9D3B-17C1-604149E67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080" y="3939627"/>
                <a:ext cx="1431825" cy="2616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116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8E05F-43A5-7872-A688-559E20C6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54075C4-E0D0-D390-0DCD-E7BF1AA3E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Comax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F88BB6-FC05-3F07-5A2E-885EF677E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20" y="1268731"/>
            <a:ext cx="11516160" cy="432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40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04 </a:t>
            </a:r>
            <a:r>
              <a:rPr lang="fr-FR"/>
              <a:t>Résolution cinématique</a:t>
            </a:r>
            <a:br>
              <a:rPr lang="fr-FR"/>
            </a:b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227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E461D7-4D60-F5CA-061F-9CD814D2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entrée sortie géométrique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20AF941-BE5D-C520-EE45-EA9BDBAD3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 Rapport de réduction du réducteur : 15,88</a:t>
                </a:r>
              </a:p>
              <a:p>
                <a:r>
                  <a:rPr lang="fr-FR" dirty="0"/>
                  <a:t> Transmetteur : 108,2 mm/tr soit 17,22 mm/rad</a:t>
                </a:r>
              </a:p>
              <a:p>
                <a:r>
                  <a:rPr lang="fr-FR" dirty="0"/>
                  <a:t>On a donc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15,88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×17,2 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pPr marL="1588" indent="0">
                  <a:buNone/>
                </a:pPr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20AF941-BE5D-C520-EE45-EA9BDBAD3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772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5F8D0-37ED-5538-AD49-135051531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26232B-877C-6F62-135A-9F5B3A4D1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entrée sortie en effort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D19B2D4-77DE-6731-B46A-F7DF203E5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 Rapport de réduction du réducteur : 15,88</a:t>
                </a:r>
              </a:p>
              <a:p>
                <a:r>
                  <a:rPr lang="fr-FR" dirty="0"/>
                  <a:t> Transmetteur : 108,2 mm/tr soit 17,22 mm/rad</a:t>
                </a:r>
              </a:p>
              <a:p>
                <a:r>
                  <a:rPr lang="fr-FR" dirty="0"/>
                  <a:t>On a donc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88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17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Sous l’hypothèse que le rendement est unitaire 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acc>
                      <m:accPr>
                        <m:chr m:val="̇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̇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den>
                    </m:f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88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fr-FR" dirty="0"/>
              </a:p>
              <a:p>
                <a:pPr marL="1588" indent="0">
                  <a:buNone/>
                </a:pPr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D19B2D4-77DE-6731-B46A-F7DF203E5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4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DD68A-E16C-6412-0693-26A3D0F08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8820592-B42F-86C6-2B84-6D0830A7F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07</a:t>
            </a:r>
            <a:br>
              <a:rPr lang="fr-FR" dirty="0"/>
            </a:br>
            <a:r>
              <a:rPr lang="fr-FR" dirty="0"/>
              <a:t>Modélisation composants ou phénomènes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F96706-D0AC-35B1-9E61-ADB22B4A7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1213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2762F0-6713-D740-7B66-903DCE9D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Identification de la masse de l’axe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01216E43-4963-B0A0-8737-FF44BF7186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6"/>
                <a:ext cx="5869119" cy="5264909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fr-FR" dirty="0"/>
                  <a:t>On isole : </a:t>
                </a:r>
              </a:p>
              <a:p>
                <a:pPr lvl="1"/>
                <a:r>
                  <a:rPr lang="fr-FR" dirty="0"/>
                  <a:t>Le rotor du moteur</a:t>
                </a:r>
              </a:p>
              <a:p>
                <a:pPr lvl="1"/>
                <a:r>
                  <a:rPr lang="fr-FR" dirty="0"/>
                  <a:t>Les pignons du réducteur</a:t>
                </a:r>
              </a:p>
              <a:p>
                <a:pPr lvl="1"/>
                <a:r>
                  <a:rPr lang="fr-FR" dirty="0"/>
                  <a:t>La poulie</a:t>
                </a:r>
              </a:p>
              <a:p>
                <a:pPr lvl="1"/>
                <a:r>
                  <a:rPr lang="fr-FR" dirty="0"/>
                  <a:t>La courroie</a:t>
                </a:r>
              </a:p>
              <a:p>
                <a:pPr lvl="1"/>
                <a:r>
                  <a:rPr lang="fr-FR" dirty="0"/>
                  <a:t>L’axe</a:t>
                </a:r>
              </a:p>
              <a:p>
                <a:r>
                  <a:rPr lang="fr-FR" dirty="0"/>
                  <a:t>Hypothèses : </a:t>
                </a:r>
              </a:p>
              <a:p>
                <a:pPr lvl="1"/>
                <a:r>
                  <a:rPr lang="fr-FR" dirty="0"/>
                  <a:t>Courroie qui roule sans glisser sur la poulie</a:t>
                </a:r>
              </a:p>
              <a:p>
                <a:pPr lvl="1"/>
                <a:r>
                  <a:rPr lang="fr-FR" dirty="0"/>
                  <a:t>Courroie inextensible</a:t>
                </a:r>
              </a:p>
              <a:p>
                <a:pPr lvl="1"/>
                <a:endParaRPr lang="fr-FR" dirty="0"/>
              </a:p>
              <a:p>
                <a:r>
                  <a:rPr lang="fr-FR" dirty="0"/>
                  <a:t>Bilan des puissances :</a:t>
                </a:r>
              </a:p>
              <a:p>
                <a:pPr lvl="1"/>
                <a:r>
                  <a:rPr lang="fr-FR" dirty="0"/>
                  <a:t>Toutes les puissances dissipées dans les liaisons intérieures ou extérieures à l’isolement sont ramenées à l’arbre moteur (rotor, noté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On les note :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𝐹𝑟𝑜𝑡𝑡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Bilan des puissances intérieures 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𝑝𝑜𝑢𝑙𝑖𝑒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↔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𝑐𝑜𝑢𝑟𝑟𝑜𝑖𝑒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dirty="0"/>
                  <a:t> (Roulement sans glissement)</a:t>
                </a:r>
              </a:p>
              <a:p>
                <a:pPr lvl="1"/>
                <a:r>
                  <a:rPr lang="fr-FR" dirty="0"/>
                  <a:t>Bilan des puissances extérieures :</a:t>
                </a:r>
              </a:p>
              <a:p>
                <a:pPr lvl="2"/>
                <a:r>
                  <a:rPr lang="fr-FR" dirty="0">
                    <a:ea typeface="Cambria Math" panose="02040503050406030204" pitchFamily="18" charset="0"/>
                  </a:rPr>
                  <a:t>Puissance </a:t>
                </a:r>
                <a:r>
                  <a:rPr lang="fr-FR" dirty="0" err="1">
                    <a:ea typeface="Cambria Math" panose="02040503050406030204" pitchFamily="18" charset="0"/>
                  </a:rPr>
                  <a:t>motr</a:t>
                </a:r>
                <a:r>
                  <a:rPr lang="fr-FR" dirty="0">
                    <a:ea typeface="Cambria Math" panose="02040503050406030204" pitchFamily="18" charset="0"/>
                  </a:rPr>
                  <a:t>ice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𝑟𝑜𝑡𝑜𝑟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𝑠𝑡𝑎𝑡𝑜𝑟</m:t>
                        </m:r>
                        <m:r>
                          <m:rPr>
                            <m:lit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0 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lit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fr-FR" dirty="0"/>
                  <a:t>Puissance de la pesanteur :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𝑎𝑥𝑒</m:t>
                        </m:r>
                        <m:r>
                          <m:rPr>
                            <m:lit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0 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𝑛𝑚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𝑎𝑥𝑒</m:t>
                        </m:r>
                        <m:r>
                          <m:rPr>
                            <m:lit/>
                          </m:r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𝑛𝑚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lit/>
                          </m:r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01216E43-4963-B0A0-8737-FF44BF718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6"/>
                <a:ext cx="5869119" cy="5264909"/>
              </a:xfrm>
              <a:blipFill>
                <a:blip r:embed="rId2"/>
                <a:stretch>
                  <a:fillRect l="-1973" t="-2083" r="-2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E7F53A8B-C997-DCCC-B9F3-26A7F8E42C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981886"/>
                <a:ext cx="5978205" cy="526490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92500" lnSpcReduction="20000"/>
              </a:bodyPr>
              <a:lstStyle>
                <a:lvl1pPr marL="271463" indent="-269875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q"/>
                  <a:defRPr lang="fr-FR"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49263" indent="-24923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q"/>
                  <a:defRPr lang="fr-FR"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27063" indent="-24288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04863" indent="-238125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3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2333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4"/>
                  </a:buClr>
                  <a:buSzPct val="80000"/>
                  <a:buFont typeface="Wingdings" panose="05000000000000000000" pitchFamily="2" charset="2"/>
                  <a:buChar char="q"/>
                  <a:defRPr lang="en-US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dirty="0"/>
                  <a:t>Calcul de l’énergie cinétique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lit/>
                          </m:r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fr-FR" dirty="0"/>
                  <a:t> +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Sup>
                      <m:sSub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fr-FR" dirty="0"/>
                  <a:t> +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Sup>
                      <m:sSubSup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fr-FR" dirty="0"/>
              </a:p>
              <a:p>
                <a:endParaRPr lang="fr-F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𝑛𝑚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𝑔𝐾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eq</m:t>
                        </m:r>
                      </m:sub>
                    </m:sSub>
                    <m:r>
                      <a:rPr lang="fr-F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Application du TEC en régime permanent, en montée </a:t>
                </a:r>
              </a:p>
              <a:p>
                <a:pPr marL="158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𝑛𝑚</m:t>
                          </m:r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𝑔𝐾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Hors frottement, couple nécessaire pour équilibrer une masse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𝑛𝑚𝑔𝐾</m:t>
                    </m:r>
                  </m:oMath>
                </a14:m>
                <a:endParaRPr lang="fr-FR" dirty="0"/>
              </a:p>
              <a:p>
                <a:pPr lvl="1"/>
                <a:endParaRPr lang="fr-FR" dirty="0"/>
              </a:p>
              <a:p>
                <a:pPr marL="1588" indent="0">
                  <a:buNone/>
                </a:pPr>
                <a:endParaRPr lang="fr-F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588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E7F53A8B-C997-DCCC-B9F3-26A7F8E42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981886"/>
                <a:ext cx="5978205" cy="5264909"/>
              </a:xfrm>
              <a:prstGeom prst="rect">
                <a:avLst/>
              </a:prstGeom>
              <a:blipFill>
                <a:blip r:embed="rId3"/>
                <a:stretch>
                  <a:fillRect l="-2446" t="-2894" r="-24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094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4E5B6-AD63-4F7B-E838-2B5F5160D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Identification de la masse et du Frottement sec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57CA942-D8AE-26E1-13CE-00242D9501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5978205" cy="525333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fr-FR" dirty="0"/>
                  <a:t>On cherche le courant mini tel que le bras monte, puis le courant max tel que le bras descende</a:t>
                </a:r>
              </a:p>
              <a:p>
                <a:pPr lvl="1"/>
                <a:r>
                  <a:rPr lang="fr-FR" dirty="0"/>
                  <a:t>On isole le Bras</a:t>
                </a:r>
              </a:p>
              <a:p>
                <a:pPr lvl="1"/>
                <a:r>
                  <a:rPr lang="fr-FR" b="0" dirty="0"/>
                  <a:t>BAME : </a:t>
                </a:r>
              </a:p>
              <a:p>
                <a:pPr lvl="2"/>
                <a:r>
                  <a:rPr lang="fr-FR" dirty="0"/>
                  <a:t>Pesanteur</a:t>
                </a:r>
              </a:p>
              <a:p>
                <a:pPr lvl="2"/>
                <a:r>
                  <a:rPr lang="fr-FR" b="0" dirty="0"/>
                  <a:t>Force motr</a:t>
                </a:r>
                <a:r>
                  <a:rPr lang="fr-FR" dirty="0"/>
                  <a:t>ice</a:t>
                </a:r>
              </a:p>
              <a:p>
                <a:pPr lvl="2"/>
                <a:r>
                  <a:rPr lang="fr-FR" b="0" dirty="0"/>
                  <a:t>Force de frott</a:t>
                </a:r>
                <a:r>
                  <a:rPr lang="fr-FR" dirty="0"/>
                  <a:t>ement</a:t>
                </a:r>
              </a:p>
              <a:p>
                <a:pPr lvl="1"/>
                <a:r>
                  <a:rPr lang="fr-FR" b="0" dirty="0"/>
                  <a:t>A</a:t>
                </a:r>
                <a:r>
                  <a:rPr lang="fr-FR" dirty="0"/>
                  <a:t>pplication du TRS sur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endParaRPr lang="fr-FR" b="0" dirty="0"/>
              </a:p>
              <a:p>
                <a:pPr lvl="2"/>
                <a:r>
                  <a:rPr lang="fr-FR" b="0" dirty="0"/>
                  <a:t>Vers le </a:t>
                </a:r>
                <a:r>
                  <a:rPr lang="fr-FR" dirty="0"/>
                  <a:t>haut :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𝑚h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𝑀𝑔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2"/>
                <a:r>
                  <a:rPr lang="fr-FR" b="0" dirty="0"/>
                  <a:t>Vers le </a:t>
                </a:r>
                <a:r>
                  <a:rPr lang="fr-FR" dirty="0"/>
                  <a:t>bas (couple positif mais pas suffisant pour vaincre le poids):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𝑚𝑏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𝑀𝑔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𝑚h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𝑚𝑏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𝑀𝑔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𝑚h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𝑚𝑏</m:t>
                            </m:r>
                          </m:sub>
                        </m:sSub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endParaRPr lang="fr-FR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𝑚h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𝑚𝑏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𝑚h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𝑚𝑏</m:t>
                            </m:r>
                          </m:sub>
                        </m:sSub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57CA942-D8AE-26E1-13CE-00242D9501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5978205" cy="5253339"/>
              </a:xfrm>
              <a:blipFill>
                <a:blip r:embed="rId2"/>
                <a:stretch>
                  <a:fillRect l="-2650" t="-2552" r="-22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B16EF985-D429-6792-BACB-7B40507E47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981886"/>
                <a:ext cx="5978205" cy="525333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271463" indent="-269875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q"/>
                  <a:defRPr lang="fr-FR"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49263" indent="-24923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q"/>
                  <a:defRPr lang="fr-FR"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27063" indent="-24288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04863" indent="-238125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3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2333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4"/>
                  </a:buClr>
                  <a:buSzPct val="80000"/>
                  <a:buFont typeface="Wingdings" panose="05000000000000000000" pitchFamily="2" charset="2"/>
                  <a:buChar char="q"/>
                  <a:defRPr lang="en-US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dirty="0"/>
                  <a:t>Mesure de courant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=1,1 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fr-F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𝑚𝑏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=0,0331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Nm</m:t>
                    </m:r>
                  </m:oMath>
                </a14:m>
                <a:endParaRPr lang="fr-FR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𝑚𝑏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=31,79 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=2,7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fr-FR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𝑚h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=0,0813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Nm</m:t>
                    </m:r>
                  </m:oMath>
                </a14:m>
                <a:endParaRPr lang="fr-FR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𝑚h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=78 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fr-FR" dirty="0"/>
              </a:p>
              <a:p>
                <a:pPr lvl="2"/>
                <a:endParaRPr lang="fr-FR" dirty="0"/>
              </a:p>
              <a:p>
                <a:pPr lvl="2"/>
                <a:endParaRPr lang="fr-FR" dirty="0"/>
              </a:p>
              <a:p>
                <a:pPr lvl="1"/>
                <a:r>
                  <a:rPr lang="fr-FR" dirty="0"/>
                  <a:t>Analyse des mesures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=5,59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kg</m:t>
                    </m:r>
                  </m:oMath>
                </a14:m>
                <a:endParaRPr lang="fr-FR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=20 à 23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0,024 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Nm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B16EF985-D429-6792-BACB-7B40507E4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981886"/>
                <a:ext cx="5978205" cy="5253339"/>
              </a:xfrm>
              <a:prstGeom prst="rect">
                <a:avLst/>
              </a:prstGeom>
              <a:blipFill>
                <a:blip r:embed="rId3"/>
                <a:stretch>
                  <a:fillRect l="-2650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348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09</a:t>
            </a:r>
            <a:br>
              <a:rPr lang="fr-FR" dirty="0"/>
            </a:br>
            <a:r>
              <a:rPr lang="fr-FR" dirty="0"/>
              <a:t>Dimensionnement d’un actionneur en dynamique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822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Objectif :</a:t>
            </a:r>
          </a:p>
          <a:p>
            <a:pPr lvl="1"/>
            <a:r>
              <a:rPr lang="fr-FR" dirty="0"/>
              <a:t> On souhaite déterminer le couple maximal et la vitesse maximale d’un moteur pour pouvoir déplacer une charge de XXX kg en moins de XXXX s. </a:t>
            </a:r>
          </a:p>
          <a:p>
            <a:pPr lvl="1"/>
            <a:endParaRPr lang="fr-FR" dirty="0"/>
          </a:p>
          <a:p>
            <a:r>
              <a:rPr lang="fr-FR" dirty="0"/>
              <a:t>Modèle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Expérimentation : première approche pour avoir une estimation de la puissance</a:t>
            </a:r>
          </a:p>
          <a:p>
            <a:pPr lvl="1"/>
            <a:r>
              <a:rPr lang="fr-FR" dirty="0"/>
              <a:t>Protocole Expérimental</a:t>
            </a:r>
          </a:p>
          <a:p>
            <a:pPr lvl="2"/>
            <a:r>
              <a:rPr lang="fr-FR" dirty="0"/>
              <a:t>Montée, avec un chargement maximal, et un échelon de position</a:t>
            </a:r>
          </a:p>
          <a:p>
            <a:pPr lvl="2"/>
            <a:r>
              <a:rPr lang="fr-FR" dirty="0"/>
              <a:t>Mesure de la vitesse grâce au codeur</a:t>
            </a:r>
          </a:p>
          <a:p>
            <a:pPr lvl="2"/>
            <a:r>
              <a:rPr lang="fr-FR" dirty="0"/>
              <a:t>Meure du couple moteur grâce au courant…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pSp>
        <p:nvGrpSpPr>
          <p:cNvPr id="86" name="Groupe 85"/>
          <p:cNvGrpSpPr/>
          <p:nvPr/>
        </p:nvGrpSpPr>
        <p:grpSpPr>
          <a:xfrm>
            <a:off x="3241822" y="2261019"/>
            <a:ext cx="7593285" cy="1462084"/>
            <a:chOff x="4452429" y="3393409"/>
            <a:chExt cx="7593285" cy="1462084"/>
          </a:xfrm>
        </p:grpSpPr>
        <p:sp>
          <p:nvSpPr>
            <p:cNvPr id="45" name="Rectangle : coins arrondis 90">
              <a:extLst>
                <a:ext uri="{FF2B5EF4-FFF2-40B4-BE49-F238E27FC236}">
                  <a16:creationId xmlns:a16="http://schemas.microsoft.com/office/drawing/2014/main" id="{6015CC9C-F06A-6145-07AB-90D570197E3C}"/>
                </a:ext>
              </a:extLst>
            </p:cNvPr>
            <p:cNvSpPr/>
            <p:nvPr/>
          </p:nvSpPr>
          <p:spPr>
            <a:xfrm>
              <a:off x="9648386" y="4190096"/>
              <a:ext cx="1365662" cy="652851"/>
            </a:xfrm>
            <a:prstGeom prst="roundRect">
              <a:avLst>
                <a:gd name="adj" fmla="val 11914"/>
              </a:avLst>
            </a:prstGeom>
            <a:solidFill>
              <a:srgbClr val="F7B8B3"/>
            </a:solidFill>
            <a:ln w="19050">
              <a:solidFill>
                <a:srgbClr val="F7B8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Axe linéaire « Poulie courroie »</a:t>
              </a:r>
            </a:p>
          </p:txBody>
        </p:sp>
        <p:sp>
          <p:nvSpPr>
            <p:cNvPr id="48" name="Rectangle : coins arrondis 15">
              <a:extLst>
                <a:ext uri="{FF2B5EF4-FFF2-40B4-BE49-F238E27FC236}">
                  <a16:creationId xmlns:a16="http://schemas.microsoft.com/office/drawing/2014/main" id="{B8181AD4-9AB8-CA7B-EFBF-8B9CD4369264}"/>
                </a:ext>
              </a:extLst>
            </p:cNvPr>
            <p:cNvSpPr/>
            <p:nvPr/>
          </p:nvSpPr>
          <p:spPr>
            <a:xfrm>
              <a:off x="5380883" y="3542688"/>
              <a:ext cx="1440000" cy="54000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6834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Convertir</a:t>
              </a:r>
            </a:p>
          </p:txBody>
        </p:sp>
        <p:sp>
          <p:nvSpPr>
            <p:cNvPr id="49" name="Rectangle : coins arrondis 16">
              <a:extLst>
                <a:ext uri="{FF2B5EF4-FFF2-40B4-BE49-F238E27FC236}">
                  <a16:creationId xmlns:a16="http://schemas.microsoft.com/office/drawing/2014/main" id="{7E462E27-42D7-734B-5E6F-B78EF40987B6}"/>
                </a:ext>
              </a:extLst>
            </p:cNvPr>
            <p:cNvSpPr/>
            <p:nvPr/>
          </p:nvSpPr>
          <p:spPr>
            <a:xfrm>
              <a:off x="5389319" y="4223146"/>
              <a:ext cx="1440000" cy="540000"/>
            </a:xfrm>
            <a:prstGeom prst="roundRect">
              <a:avLst>
                <a:gd name="adj" fmla="val 11914"/>
              </a:avLst>
            </a:prstGeom>
            <a:solidFill>
              <a:srgbClr val="C3AED1"/>
            </a:solidFill>
            <a:ln w="19050">
              <a:solidFill>
                <a:srgbClr val="C3AE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Moteur à courant continu</a:t>
              </a:r>
            </a:p>
          </p:txBody>
        </p:sp>
        <p:sp>
          <p:nvSpPr>
            <p:cNvPr id="50" name="Rectangle : coins arrondis 17">
              <a:extLst>
                <a:ext uri="{FF2B5EF4-FFF2-40B4-BE49-F238E27FC236}">
                  <a16:creationId xmlns:a16="http://schemas.microsoft.com/office/drawing/2014/main" id="{AA76E29F-1BCE-DD76-499C-CE8F3E850A8E}"/>
                </a:ext>
              </a:extLst>
            </p:cNvPr>
            <p:cNvSpPr/>
            <p:nvPr/>
          </p:nvSpPr>
          <p:spPr>
            <a:xfrm>
              <a:off x="7542872" y="3545795"/>
              <a:ext cx="1365662" cy="53439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EE68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Transmettre</a:t>
              </a:r>
            </a:p>
          </p:txBody>
        </p:sp>
        <p:sp>
          <p:nvSpPr>
            <p:cNvPr id="51" name="Rectangle : coins arrondis 18">
              <a:extLst>
                <a:ext uri="{FF2B5EF4-FFF2-40B4-BE49-F238E27FC236}">
                  <a16:creationId xmlns:a16="http://schemas.microsoft.com/office/drawing/2014/main" id="{A66FC087-C9BC-9FD1-6C13-AD7571852AD4}"/>
                </a:ext>
              </a:extLst>
            </p:cNvPr>
            <p:cNvSpPr/>
            <p:nvPr/>
          </p:nvSpPr>
          <p:spPr>
            <a:xfrm>
              <a:off x="7549319" y="4202642"/>
              <a:ext cx="1365662" cy="652851"/>
            </a:xfrm>
            <a:prstGeom prst="roundRect">
              <a:avLst>
                <a:gd name="adj" fmla="val 11914"/>
              </a:avLst>
            </a:prstGeom>
            <a:solidFill>
              <a:srgbClr val="F7B8B3"/>
            </a:solidFill>
            <a:ln w="19050">
              <a:solidFill>
                <a:srgbClr val="F7B8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Train épicycloïdal</a:t>
              </a:r>
            </a:p>
          </p:txBody>
        </p:sp>
        <p:cxnSp>
          <p:nvCxnSpPr>
            <p:cNvPr id="54" name="Connecteur droit avec flèche 53">
              <a:extLst>
                <a:ext uri="{FF2B5EF4-FFF2-40B4-BE49-F238E27FC236}">
                  <a16:creationId xmlns:a16="http://schemas.microsoft.com/office/drawing/2014/main" id="{6E52C4D0-B55B-30AA-F92B-6E09F0A4D9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9319" y="3798320"/>
              <a:ext cx="720000" cy="1536"/>
            </a:xfrm>
            <a:prstGeom prst="straightConnector1">
              <a:avLst/>
            </a:prstGeom>
            <a:ln w="25400" cap="rnd">
              <a:solidFill>
                <a:srgbClr val="0C739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Image 54">
              <a:extLst>
                <a:ext uri="{FF2B5EF4-FFF2-40B4-BE49-F238E27FC236}">
                  <a16:creationId xmlns:a16="http://schemas.microsoft.com/office/drawing/2014/main" id="{F31071D2-3D9A-9512-E018-EA9EA1D5A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8894" y="3393409"/>
              <a:ext cx="360000" cy="360000"/>
            </a:xfrm>
            <a:prstGeom prst="rect">
              <a:avLst/>
            </a:prstGeom>
          </p:spPr>
        </p:pic>
        <p:cxnSp>
          <p:nvCxnSpPr>
            <p:cNvPr id="56" name="Connecteur droit avec flèche 55">
              <a:extLst>
                <a:ext uri="{FF2B5EF4-FFF2-40B4-BE49-F238E27FC236}">
                  <a16:creationId xmlns:a16="http://schemas.microsoft.com/office/drawing/2014/main" id="{75B4C387-2DFC-8DD6-0817-E4B93F7F3F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319" y="3807925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Image 56">
              <a:extLst>
                <a:ext uri="{FF2B5EF4-FFF2-40B4-BE49-F238E27FC236}">
                  <a16:creationId xmlns:a16="http://schemas.microsoft.com/office/drawing/2014/main" id="{F1B5964F-3473-92A5-6A3A-F03DA766A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3108" y="3418676"/>
              <a:ext cx="360000" cy="360000"/>
            </a:xfrm>
            <a:prstGeom prst="rect">
              <a:avLst/>
            </a:prstGeom>
          </p:spPr>
        </p:pic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505D6021-1B16-1674-733B-C648AC1129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96452" y="3807925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Image 59">
              <a:extLst>
                <a:ext uri="{FF2B5EF4-FFF2-40B4-BE49-F238E27FC236}">
                  <a16:creationId xmlns:a16="http://schemas.microsoft.com/office/drawing/2014/main" id="{85C6EE0C-C52A-6134-EB1B-6F3C57492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49335" y="3661444"/>
              <a:ext cx="288000" cy="10551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B39CA18C-C050-2248-E6F6-D99BB87303C8}"/>
                    </a:ext>
                  </a:extLst>
                </p:cNvPr>
                <p:cNvSpPr txBox="1"/>
                <p:nvPr/>
              </p:nvSpPr>
              <p:spPr>
                <a:xfrm>
                  <a:off x="4452429" y="3859412"/>
                  <a:ext cx="116196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b="1" dirty="0">
                      <a:solidFill>
                        <a:srgbClr val="FFB25A"/>
                      </a:solidFill>
                      <a:latin typeface="Arial Nova" panose="020B0504020202020204" pitchFamily="34" charset="0"/>
                    </a:rPr>
                    <a:t> xx V </a:t>
                  </a:r>
                  <a14:m>
                    <m:oMath xmlns:m="http://schemas.openxmlformats.org/officeDocument/2006/math">
                      <m:r>
                        <a:rPr lang="fr-FR" sz="1200" b="1" i="0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</m:oMath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1" i="1" smtClean="0">
                            <a:solidFill>
                              <a:srgbClr val="FFB2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𝓟</m:t>
                        </m:r>
                        <m:r>
                          <a:rPr lang="fr-FR" sz="1200" b="1" i="1" smtClean="0">
                            <a:solidFill>
                              <a:srgbClr val="FFB2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fr-FR" sz="1200" b="1" i="1" smtClean="0">
                            <a:solidFill>
                              <a:srgbClr val="FFB25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𝑼𝑰</m:t>
                        </m:r>
                      </m:oMath>
                    </m:oMathPara>
                  </a14:m>
                  <a:endPara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B39CA18C-C050-2248-E6F6-D99BB87303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429" y="3859412"/>
                  <a:ext cx="1161960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3A416195-885D-B412-950E-1F349C5CC6AB}"/>
                </a:ext>
              </a:extLst>
            </p:cNvPr>
            <p:cNvGrpSpPr/>
            <p:nvPr/>
          </p:nvGrpSpPr>
          <p:grpSpPr>
            <a:xfrm>
              <a:off x="8079091" y="3940734"/>
              <a:ext cx="360000" cy="360000"/>
              <a:chOff x="5447928" y="2816932"/>
              <a:chExt cx="1800000" cy="1800000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689719FF-319E-F4C6-E150-B6C708728D00}"/>
                  </a:ext>
                </a:extLst>
              </p:cNvPr>
              <p:cNvSpPr/>
              <p:nvPr/>
            </p:nvSpPr>
            <p:spPr>
              <a:xfrm>
                <a:off x="5447928" y="2816932"/>
                <a:ext cx="1800000" cy="180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73" name="Image 72">
                <a:extLst>
                  <a:ext uri="{FF2B5EF4-FFF2-40B4-BE49-F238E27FC236}">
                    <a16:creationId xmlns:a16="http://schemas.microsoft.com/office/drawing/2014/main" id="{1AC2262C-D76B-934A-5E65-99DB0E926C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flipH="1">
                <a:off x="5627848" y="2996852"/>
                <a:ext cx="1440160" cy="1440160"/>
              </a:xfrm>
              <a:prstGeom prst="rect">
                <a:avLst/>
              </a:prstGeom>
            </p:spPr>
          </p:pic>
        </p:grpSp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62B9229E-5DD5-9728-B982-E481189F9BEC}"/>
                </a:ext>
              </a:extLst>
            </p:cNvPr>
            <p:cNvGrpSpPr/>
            <p:nvPr/>
          </p:nvGrpSpPr>
          <p:grpSpPr>
            <a:xfrm>
              <a:off x="5929319" y="3962771"/>
              <a:ext cx="360000" cy="360000"/>
              <a:chOff x="5775745" y="3144183"/>
              <a:chExt cx="1800000" cy="1800000"/>
            </a:xfrm>
          </p:grpSpPr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45D1B4DF-7033-EB1C-DEC9-639AE2145414}"/>
                  </a:ext>
                </a:extLst>
              </p:cNvPr>
              <p:cNvSpPr/>
              <p:nvPr/>
            </p:nvSpPr>
            <p:spPr>
              <a:xfrm>
                <a:off x="5775745" y="3144183"/>
                <a:ext cx="1800000" cy="1800000"/>
              </a:xfrm>
              <a:prstGeom prst="ellipse">
                <a:avLst/>
              </a:prstGeom>
              <a:solidFill>
                <a:srgbClr val="68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6" name="Image 75">
                <a:extLst>
                  <a:ext uri="{FF2B5EF4-FFF2-40B4-BE49-F238E27FC236}">
                    <a16:creationId xmlns:a16="http://schemas.microsoft.com/office/drawing/2014/main" id="{E313AA97-25C8-7CFE-4F0E-0B1EFC00D5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3821" y="3513485"/>
                <a:ext cx="1543848" cy="1061396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4BE6685B-714A-2936-1BA2-2CA1122FD234}"/>
                    </a:ext>
                  </a:extLst>
                </p:cNvPr>
                <p:cNvSpPr txBox="1"/>
                <p:nvPr/>
              </p:nvSpPr>
              <p:spPr>
                <a:xfrm>
                  <a:off x="6496530" y="3899673"/>
                  <a:ext cx="143182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𝓟</m:t>
                        </m:r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oMath>
                    </m:oMathPara>
                  </a14:m>
                  <a:endParaRPr lang="fr-FR" sz="1100" b="1" dirty="0">
                    <a:solidFill>
                      <a:srgbClr val="7030A0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7" name="ZoneTexte 76">
                  <a:extLst>
                    <a:ext uri="{FF2B5EF4-FFF2-40B4-BE49-F238E27FC236}">
                      <a16:creationId xmlns:a16="http://schemas.microsoft.com/office/drawing/2014/main" id="{4BE6685B-714A-2936-1BA2-2CA1122FD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6530" y="3899673"/>
                  <a:ext cx="1431825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ZoneTexte 77">
                  <a:extLst>
                    <a:ext uri="{FF2B5EF4-FFF2-40B4-BE49-F238E27FC236}">
                      <a16:creationId xmlns:a16="http://schemas.microsoft.com/office/drawing/2014/main" id="{F72A4F02-81F2-12CD-42EB-688314B6AAB2}"/>
                    </a:ext>
                  </a:extLst>
                </p:cNvPr>
                <p:cNvSpPr txBox="1"/>
                <p:nvPr/>
              </p:nvSpPr>
              <p:spPr>
                <a:xfrm>
                  <a:off x="10613889" y="3865361"/>
                  <a:ext cx="143182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𝓟</m:t>
                        </m:r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oMath>
                    </m:oMathPara>
                  </a14:m>
                  <a:endParaRPr lang="fr-FR" sz="1100" b="1" dirty="0">
                    <a:solidFill>
                      <a:srgbClr val="7030A0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8" name="ZoneTexte 77">
                  <a:extLst>
                    <a:ext uri="{FF2B5EF4-FFF2-40B4-BE49-F238E27FC236}">
                      <a16:creationId xmlns:a16="http://schemas.microsoft.com/office/drawing/2014/main" id="{F72A4F02-81F2-12CD-42EB-688314B6AA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3889" y="3865361"/>
                  <a:ext cx="1431825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Rectangle : coins arrondis 65">
              <a:extLst>
                <a:ext uri="{FF2B5EF4-FFF2-40B4-BE49-F238E27FC236}">
                  <a16:creationId xmlns:a16="http://schemas.microsoft.com/office/drawing/2014/main" id="{DEFEC9DC-D44C-BD4C-C7C7-8E5A976EE82E}"/>
                </a:ext>
              </a:extLst>
            </p:cNvPr>
            <p:cNvSpPr/>
            <p:nvPr/>
          </p:nvSpPr>
          <p:spPr>
            <a:xfrm>
              <a:off x="9625448" y="3534654"/>
              <a:ext cx="1365662" cy="53439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EE68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Transmettre</a:t>
              </a:r>
            </a:p>
          </p:txBody>
        </p:sp>
        <p:cxnSp>
          <p:nvCxnSpPr>
            <p:cNvPr id="80" name="Connecteur droit avec flèche 79">
              <a:extLst>
                <a:ext uri="{FF2B5EF4-FFF2-40B4-BE49-F238E27FC236}">
                  <a16:creationId xmlns:a16="http://schemas.microsoft.com/office/drawing/2014/main" id="{FA030DA2-3C3A-C8FA-45E8-D976D05C9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1895" y="3796784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1" name="Image 80">
              <a:extLst>
                <a:ext uri="{FF2B5EF4-FFF2-40B4-BE49-F238E27FC236}">
                  <a16:creationId xmlns:a16="http://schemas.microsoft.com/office/drawing/2014/main" id="{7CFF18D7-B440-5F98-0242-64155E193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75684" y="3407535"/>
              <a:ext cx="360000" cy="360000"/>
            </a:xfrm>
            <a:prstGeom prst="rect">
              <a:avLst/>
            </a:prstGeom>
          </p:spPr>
        </p:pic>
        <p:grpSp>
          <p:nvGrpSpPr>
            <p:cNvPr id="82" name="Groupe 81">
              <a:extLst>
                <a:ext uri="{FF2B5EF4-FFF2-40B4-BE49-F238E27FC236}">
                  <a16:creationId xmlns:a16="http://schemas.microsoft.com/office/drawing/2014/main" id="{F7FD68FD-39E8-E3FC-751F-6F8E7EFC5E05}"/>
                </a:ext>
              </a:extLst>
            </p:cNvPr>
            <p:cNvGrpSpPr/>
            <p:nvPr/>
          </p:nvGrpSpPr>
          <p:grpSpPr>
            <a:xfrm>
              <a:off x="10151217" y="3954960"/>
              <a:ext cx="360000" cy="360000"/>
              <a:chOff x="10405167" y="2322166"/>
              <a:chExt cx="1800000" cy="1800000"/>
            </a:xfrm>
          </p:grpSpPr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1E8A1773-049E-3FE0-3A55-46B324B5F72D}"/>
                  </a:ext>
                </a:extLst>
              </p:cNvPr>
              <p:cNvSpPr/>
              <p:nvPr/>
            </p:nvSpPr>
            <p:spPr>
              <a:xfrm>
                <a:off x="10405167" y="2322166"/>
                <a:ext cx="1800000" cy="180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84" name="Image 83">
                <a:extLst>
                  <a:ext uri="{FF2B5EF4-FFF2-40B4-BE49-F238E27FC236}">
                    <a16:creationId xmlns:a16="http://schemas.microsoft.com/office/drawing/2014/main" id="{CB10C83E-CD60-27F3-C1B3-1546FCE28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46164" y="2642707"/>
                <a:ext cx="1518007" cy="924719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ZoneTexte 84">
                  <a:extLst>
                    <a:ext uri="{FF2B5EF4-FFF2-40B4-BE49-F238E27FC236}">
                      <a16:creationId xmlns:a16="http://schemas.microsoft.com/office/drawing/2014/main" id="{D4448485-1542-9D3B-17C1-604149E67AE1}"/>
                    </a:ext>
                  </a:extLst>
                </p:cNvPr>
                <p:cNvSpPr txBox="1"/>
                <p:nvPr/>
              </p:nvSpPr>
              <p:spPr>
                <a:xfrm>
                  <a:off x="8589080" y="3939627"/>
                  <a:ext cx="143182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𝓟</m:t>
                        </m:r>
                        <m:r>
                          <a:rPr lang="fr-FR" sz="1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oMath>
                    </m:oMathPara>
                  </a14:m>
                  <a:endParaRPr lang="fr-FR" sz="1100" b="1" dirty="0">
                    <a:solidFill>
                      <a:srgbClr val="7030A0"/>
                    </a:solidFill>
                    <a:latin typeface="Arial Nova" panose="020B05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5" name="ZoneTexte 84">
                  <a:extLst>
                    <a:ext uri="{FF2B5EF4-FFF2-40B4-BE49-F238E27FC236}">
                      <a16:creationId xmlns:a16="http://schemas.microsoft.com/office/drawing/2014/main" id="{D4448485-1542-9D3B-17C1-604149E67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9080" y="3939627"/>
                  <a:ext cx="1431825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23115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>
            <a:extLst>
              <a:ext uri="{FF2B5EF4-FFF2-40B4-BE49-F238E27FC236}">
                <a16:creationId xmlns:a16="http://schemas.microsoft.com/office/drawing/2014/main" id="{77F0330D-2B6B-0150-1195-CA73F0C96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7" y="4103586"/>
            <a:ext cx="1144335" cy="221023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A65BCFA-4E1C-6F10-2880-6849F538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9F1E50-AA20-B060-A17A-B154F6048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257" y="981887"/>
            <a:ext cx="6097948" cy="5253339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4" name="Rectangle : coins arrondis 15">
            <a:extLst>
              <a:ext uri="{FF2B5EF4-FFF2-40B4-BE49-F238E27FC236}">
                <a16:creationId xmlns:a16="http://schemas.microsoft.com/office/drawing/2014/main" id="{65B3627A-3C72-7F56-BCED-D4E8F8AA030D}"/>
              </a:ext>
            </a:extLst>
          </p:cNvPr>
          <p:cNvSpPr/>
          <p:nvPr/>
        </p:nvSpPr>
        <p:spPr>
          <a:xfrm>
            <a:off x="4170276" y="241029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5" name="Rectangle : coins arrondis 17">
            <a:extLst>
              <a:ext uri="{FF2B5EF4-FFF2-40B4-BE49-F238E27FC236}">
                <a16:creationId xmlns:a16="http://schemas.microsoft.com/office/drawing/2014/main" id="{7AB96648-21A7-8917-9B1E-BD9756348613}"/>
              </a:ext>
            </a:extLst>
          </p:cNvPr>
          <p:cNvSpPr/>
          <p:nvPr/>
        </p:nvSpPr>
        <p:spPr>
          <a:xfrm>
            <a:off x="6332265" y="2413405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A29FE64-658D-6639-76FD-401952519008}"/>
              </a:ext>
            </a:extLst>
          </p:cNvPr>
          <p:cNvSpPr/>
          <p:nvPr/>
        </p:nvSpPr>
        <p:spPr>
          <a:xfrm>
            <a:off x="3450276" y="1963423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45897D0-4AA1-7CED-4A37-56A9A9613FAC}"/>
              </a:ext>
            </a:extLst>
          </p:cNvPr>
          <p:cNvSpPr/>
          <p:nvPr/>
        </p:nvSpPr>
        <p:spPr>
          <a:xfrm>
            <a:off x="7782690" y="1939546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80AEFE4-A7B7-CB6F-D212-789FFDF7FCC3}"/>
              </a:ext>
            </a:extLst>
          </p:cNvPr>
          <p:cNvSpPr/>
          <p:nvPr/>
        </p:nvSpPr>
        <p:spPr>
          <a:xfrm>
            <a:off x="3450276" y="3956277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B8CBF83-F231-746D-A03F-9AC26E21FAB2}"/>
              </a:ext>
            </a:extLst>
          </p:cNvPr>
          <p:cNvSpPr/>
          <p:nvPr/>
        </p:nvSpPr>
        <p:spPr>
          <a:xfrm>
            <a:off x="5612265" y="3951514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B7A1F22-9E70-EF06-501D-56F534870FED}"/>
              </a:ext>
            </a:extLst>
          </p:cNvPr>
          <p:cNvSpPr/>
          <p:nvPr/>
        </p:nvSpPr>
        <p:spPr>
          <a:xfrm>
            <a:off x="2882694" y="4864496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à courant continu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D3BC413-285F-CB58-58F0-8A4DFC6DF3F8}"/>
              </a:ext>
            </a:extLst>
          </p:cNvPr>
          <p:cNvGrpSpPr/>
          <p:nvPr/>
        </p:nvGrpSpPr>
        <p:grpSpPr>
          <a:xfrm>
            <a:off x="215285" y="1885789"/>
            <a:ext cx="742857" cy="432000"/>
            <a:chOff x="647085" y="2152383"/>
            <a:chExt cx="742857" cy="4320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D496010F-FB1D-0454-CAC2-27629C4AB8F0}"/>
                </a:ext>
              </a:extLst>
            </p:cNvPr>
            <p:cNvSpPr/>
            <p:nvPr/>
          </p:nvSpPr>
          <p:spPr>
            <a:xfrm>
              <a:off x="957942" y="2152383"/>
              <a:ext cx="432000" cy="432000"/>
            </a:xfrm>
            <a:prstGeom prst="ellipse">
              <a:avLst/>
            </a:prstGeom>
            <a:noFill/>
            <a:ln w="19050">
              <a:solidFill>
                <a:srgbClr val="6834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B</a:t>
              </a:r>
            </a:p>
          </p:txBody>
        </p: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98935AF5-F4EA-FDD6-319F-4CD5B5AFF5BD}"/>
                </a:ext>
              </a:extLst>
            </p:cNvPr>
            <p:cNvGrpSpPr/>
            <p:nvPr/>
          </p:nvGrpSpPr>
          <p:grpSpPr>
            <a:xfrm rot="5400000">
              <a:off x="622923" y="2212954"/>
              <a:ext cx="359181" cy="310857"/>
              <a:chOff x="771193" y="3008074"/>
              <a:chExt cx="359181" cy="310857"/>
            </a:xfrm>
          </p:grpSpPr>
          <p:cxnSp>
            <p:nvCxnSpPr>
              <p:cNvPr id="14" name="Connecteur droit 13">
                <a:extLst>
                  <a:ext uri="{FF2B5EF4-FFF2-40B4-BE49-F238E27FC236}">
                    <a16:creationId xmlns:a16="http://schemas.microsoft.com/office/drawing/2014/main" id="{175FA55B-88C5-C835-8FDB-5F131BC03573}"/>
                  </a:ext>
                </a:extLst>
              </p:cNvPr>
              <p:cNvCxnSpPr/>
              <p:nvPr/>
            </p:nvCxnSpPr>
            <p:spPr>
              <a:xfrm flipH="1">
                <a:off x="951990" y="3008074"/>
                <a:ext cx="0" cy="180000"/>
              </a:xfrm>
              <a:prstGeom prst="line">
                <a:avLst/>
              </a:prstGeom>
              <a:noFill/>
              <a:ln w="19050">
                <a:solidFill>
                  <a:srgbClr val="6834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5DFD61-58E8-5A03-AB69-8F9DD8D701D0}"/>
                  </a:ext>
                </a:extLst>
              </p:cNvPr>
              <p:cNvSpPr/>
              <p:nvPr/>
            </p:nvSpPr>
            <p:spPr>
              <a:xfrm>
                <a:off x="771194" y="3188074"/>
                <a:ext cx="359180" cy="130857"/>
              </a:xfrm>
              <a:prstGeom prst="rect">
                <a:avLst/>
              </a:prstGeom>
              <a:solidFill>
                <a:srgbClr val="C3AE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89A2028F-F21D-FA3C-FA59-6C2297BCC3EC}"/>
                  </a:ext>
                </a:extLst>
              </p:cNvPr>
              <p:cNvCxnSpPr/>
              <p:nvPr/>
            </p:nvCxnSpPr>
            <p:spPr>
              <a:xfrm flipH="1">
                <a:off x="771193" y="3188074"/>
                <a:ext cx="359181" cy="0"/>
              </a:xfrm>
              <a:prstGeom prst="line">
                <a:avLst/>
              </a:prstGeom>
              <a:noFill/>
              <a:ln w="19050">
                <a:solidFill>
                  <a:srgbClr val="6834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18" name="Ellipse 17">
            <a:extLst>
              <a:ext uri="{FF2B5EF4-FFF2-40B4-BE49-F238E27FC236}">
                <a16:creationId xmlns:a16="http://schemas.microsoft.com/office/drawing/2014/main" id="{8C3E21F9-4E18-0A22-E215-148E7EDF77F8}"/>
              </a:ext>
            </a:extLst>
          </p:cNvPr>
          <p:cNvSpPr/>
          <p:nvPr/>
        </p:nvSpPr>
        <p:spPr>
          <a:xfrm>
            <a:off x="1322134" y="1885789"/>
            <a:ext cx="432000" cy="432000"/>
          </a:xfrm>
          <a:prstGeom prst="ellipse">
            <a:avLst/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R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A3CF82C4-C843-D17A-33ED-31C4889FACB4}"/>
              </a:ext>
            </a:extLst>
          </p:cNvPr>
          <p:cNvSpPr/>
          <p:nvPr/>
        </p:nvSpPr>
        <p:spPr>
          <a:xfrm>
            <a:off x="1318540" y="2667745"/>
            <a:ext cx="432000" cy="432000"/>
          </a:xfrm>
          <a:prstGeom prst="ellipse">
            <a:avLst/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P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5470277-80B0-94A9-B34C-922A652D6CE8}"/>
              </a:ext>
            </a:extLst>
          </p:cNvPr>
          <p:cNvSpPr/>
          <p:nvPr/>
        </p:nvSpPr>
        <p:spPr>
          <a:xfrm>
            <a:off x="1318540" y="3449701"/>
            <a:ext cx="432000" cy="432000"/>
          </a:xfrm>
          <a:prstGeom prst="ellipse">
            <a:avLst/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C6D8BB7C-BA67-02B8-66C4-9225BD0FC491}"/>
              </a:ext>
            </a:extLst>
          </p:cNvPr>
          <p:cNvCxnSpPr>
            <a:cxnSpLocks/>
          </p:cNvCxnSpPr>
          <p:nvPr/>
        </p:nvCxnSpPr>
        <p:spPr>
          <a:xfrm flipV="1">
            <a:off x="1145800" y="4153002"/>
            <a:ext cx="58040" cy="980870"/>
          </a:xfrm>
          <a:prstGeom prst="straightConnector1">
            <a:avLst/>
          </a:prstGeom>
          <a:ln>
            <a:solidFill>
              <a:srgbClr val="C0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F976A5C2-1044-3692-279E-10FD84DB0DC4}"/>
              </a:ext>
            </a:extLst>
          </p:cNvPr>
          <p:cNvCxnSpPr>
            <a:cxnSpLocks/>
          </p:cNvCxnSpPr>
          <p:nvPr/>
        </p:nvCxnSpPr>
        <p:spPr>
          <a:xfrm flipH="1">
            <a:off x="526142" y="5133872"/>
            <a:ext cx="611695" cy="269514"/>
          </a:xfrm>
          <a:prstGeom prst="straightConnector1">
            <a:avLst/>
          </a:prstGeom>
          <a:ln>
            <a:solidFill>
              <a:srgbClr val="C0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750F35C4-A4B2-C80F-5246-EFF75239480F}"/>
              </a:ext>
            </a:extLst>
          </p:cNvPr>
          <p:cNvCxnSpPr>
            <a:cxnSpLocks/>
          </p:cNvCxnSpPr>
          <p:nvPr/>
        </p:nvCxnSpPr>
        <p:spPr>
          <a:xfrm>
            <a:off x="1143599" y="5124411"/>
            <a:ext cx="526878" cy="231277"/>
          </a:xfrm>
          <a:prstGeom prst="straightConnector1">
            <a:avLst/>
          </a:prstGeom>
          <a:ln>
            <a:solidFill>
              <a:srgbClr val="C0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1C5A1F01-6F5B-AC35-B376-D2AEFC961313}"/>
                  </a:ext>
                </a:extLst>
              </p:cNvPr>
              <p:cNvSpPr txBox="1"/>
              <p:nvPr/>
            </p:nvSpPr>
            <p:spPr>
              <a:xfrm>
                <a:off x="342822" y="5339204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1C5A1F01-6F5B-AC35-B376-D2AEFC961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22" y="5339204"/>
                <a:ext cx="183320" cy="276999"/>
              </a:xfrm>
              <a:prstGeom prst="rect">
                <a:avLst/>
              </a:prstGeom>
              <a:blipFill>
                <a:blip r:embed="rId3"/>
                <a:stretch>
                  <a:fillRect l="-33333" t="-48889" r="-103333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A2A0D029-FA3E-ADF3-5C8E-1A86A0483E8E}"/>
                  </a:ext>
                </a:extLst>
              </p:cNvPr>
              <p:cNvSpPr txBox="1"/>
              <p:nvPr/>
            </p:nvSpPr>
            <p:spPr>
              <a:xfrm>
                <a:off x="1502905" y="4963050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A2A0D029-FA3E-ADF3-5C8E-1A86A0483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905" y="4963050"/>
                <a:ext cx="186718" cy="276999"/>
              </a:xfrm>
              <a:prstGeom prst="rect">
                <a:avLst/>
              </a:prstGeom>
              <a:blipFill>
                <a:blip r:embed="rId4"/>
                <a:stretch>
                  <a:fillRect l="-33333" t="-45652" r="-103333" b="-239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A2B65EDB-B72E-AF45-DFFA-7C61EF75E658}"/>
                  </a:ext>
                </a:extLst>
              </p:cNvPr>
              <p:cNvSpPr txBox="1"/>
              <p:nvPr/>
            </p:nvSpPr>
            <p:spPr>
              <a:xfrm>
                <a:off x="1245856" y="4130411"/>
                <a:ext cx="1690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A2B65EDB-B72E-AF45-DFFA-7C61EF75E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856" y="4130411"/>
                <a:ext cx="169084" cy="276999"/>
              </a:xfrm>
              <a:prstGeom prst="rect">
                <a:avLst/>
              </a:prstGeom>
              <a:blipFill>
                <a:blip r:embed="rId5"/>
                <a:stretch>
                  <a:fillRect l="-35714" t="-48889" r="-110714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3A25A51B-CDDB-1CE0-AA7C-255583E6C134}"/>
              </a:ext>
            </a:extLst>
          </p:cNvPr>
          <p:cNvCxnSpPr>
            <a:cxnSpLocks/>
            <a:stCxn id="18" idx="2"/>
            <a:endCxn id="6" idx="6"/>
          </p:cNvCxnSpPr>
          <p:nvPr/>
        </p:nvCxnSpPr>
        <p:spPr>
          <a:xfrm flipH="1">
            <a:off x="958142" y="2101789"/>
            <a:ext cx="363992" cy="0"/>
          </a:xfrm>
          <a:prstGeom prst="lin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EA2CB81E-0522-723B-DDB7-75CEA9C72B2A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 flipH="1">
            <a:off x="1534540" y="2317789"/>
            <a:ext cx="3594" cy="349956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DD4FBDB6-3E0B-30E4-7AA0-726878E3F000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1534540" y="3099745"/>
            <a:ext cx="0" cy="349956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2B21137E-A635-72A1-83BD-FB95B390820A}"/>
              </a:ext>
            </a:extLst>
          </p:cNvPr>
          <p:cNvCxnSpPr>
            <a:cxnSpLocks/>
            <a:stCxn id="6" idx="4"/>
            <a:endCxn id="20" idx="2"/>
          </p:cNvCxnSpPr>
          <p:nvPr/>
        </p:nvCxnSpPr>
        <p:spPr>
          <a:xfrm>
            <a:off x="742142" y="2317789"/>
            <a:ext cx="576398" cy="1347912"/>
          </a:xfrm>
          <a:prstGeom prst="lin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B795D72C-202A-D2AB-CF12-8269495B2D7E}"/>
              </a:ext>
            </a:extLst>
          </p:cNvPr>
          <p:cNvCxnSpPr>
            <a:cxnSpLocks/>
            <a:stCxn id="6" idx="5"/>
            <a:endCxn id="19" idx="1"/>
          </p:cNvCxnSpPr>
          <p:nvPr/>
        </p:nvCxnSpPr>
        <p:spPr>
          <a:xfrm>
            <a:off x="894877" y="2254524"/>
            <a:ext cx="486928" cy="476486"/>
          </a:xfrm>
          <a:prstGeom prst="lin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8B674DBF-268C-68AF-C74D-7E7FA77C9CB6}"/>
                  </a:ext>
                </a:extLst>
              </p:cNvPr>
              <p:cNvSpPr txBox="1"/>
              <p:nvPr/>
            </p:nvSpPr>
            <p:spPr>
              <a:xfrm>
                <a:off x="634431" y="1152575"/>
                <a:ext cx="113881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050" dirty="0"/>
                  <a:t>Pivot d’axe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5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fr-FR" sz="1050" dirty="0"/>
              </a:p>
              <a:p>
                <a:pPr algn="ctr"/>
                <a:r>
                  <a:rPr lang="fr-FR" sz="1050" dirty="0"/>
                  <a:t>Couple moteur</a:t>
                </a:r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8B674DBF-268C-68AF-C74D-7E7FA77C9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31" y="1152575"/>
                <a:ext cx="1138817" cy="415498"/>
              </a:xfrm>
              <a:prstGeom prst="rect">
                <a:avLst/>
              </a:prstGeom>
              <a:blipFill>
                <a:blip r:embed="rId6"/>
                <a:stretch>
                  <a:fillRect t="-1471" r="-6952" b="-88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2538D0F8-BED7-ACE3-D484-92A6F37883E2}"/>
                  </a:ext>
                </a:extLst>
              </p:cNvPr>
              <p:cNvSpPr txBox="1"/>
              <p:nvPr/>
            </p:nvSpPr>
            <p:spPr>
              <a:xfrm>
                <a:off x="9061" y="2537723"/>
                <a:ext cx="113881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50" dirty="0"/>
                  <a:t>Glissière de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05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05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endParaRPr lang="fr-FR" sz="1050" dirty="0"/>
              </a:p>
            </p:txBody>
          </p:sp>
        </mc:Choice>
        <mc:Fallback xmlns="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2538D0F8-BED7-ACE3-D484-92A6F3788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1" y="2537723"/>
                <a:ext cx="1138817" cy="415498"/>
              </a:xfrm>
              <a:prstGeom prst="rect">
                <a:avLst/>
              </a:prstGeom>
              <a:blipFill>
                <a:blip r:embed="rId7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CC231D0F-3CA8-1973-D715-4C5DBD2D970E}"/>
                  </a:ext>
                </a:extLst>
              </p:cNvPr>
              <p:cNvSpPr txBox="1"/>
              <p:nvPr/>
            </p:nvSpPr>
            <p:spPr>
              <a:xfrm rot="2596376">
                <a:off x="743261" y="2313734"/>
                <a:ext cx="86311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50" dirty="0"/>
                  <a:t>Pivot d’axe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5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fr-FR" sz="1050" dirty="0"/>
              </a:p>
            </p:txBody>
          </p:sp>
        </mc:Choice>
        <mc:Fallback xmlns=""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CC231D0F-3CA8-1973-D715-4C5DBD2D9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96376">
                <a:off x="743261" y="2313734"/>
                <a:ext cx="863117" cy="4154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ZoneTexte 56">
            <a:extLst>
              <a:ext uri="{FF2B5EF4-FFF2-40B4-BE49-F238E27FC236}">
                <a16:creationId xmlns:a16="http://schemas.microsoft.com/office/drawing/2014/main" id="{26755C24-C4B6-C8A5-3303-786E3985977F}"/>
              </a:ext>
            </a:extLst>
          </p:cNvPr>
          <p:cNvSpPr txBox="1"/>
          <p:nvPr/>
        </p:nvSpPr>
        <p:spPr>
          <a:xfrm>
            <a:off x="1596264" y="3135325"/>
            <a:ext cx="11388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Poulie-courroie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5BF08727-6262-AD09-CCCB-0E8673CAA393}"/>
              </a:ext>
            </a:extLst>
          </p:cNvPr>
          <p:cNvSpPr txBox="1"/>
          <p:nvPr/>
        </p:nvSpPr>
        <p:spPr>
          <a:xfrm>
            <a:off x="1622897" y="2385067"/>
            <a:ext cx="11388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RSG, Train épi</a:t>
            </a:r>
          </a:p>
        </p:txBody>
      </p:sp>
      <p:sp>
        <p:nvSpPr>
          <p:cNvPr id="59" name="Éclair 58">
            <a:extLst>
              <a:ext uri="{FF2B5EF4-FFF2-40B4-BE49-F238E27FC236}">
                <a16:creationId xmlns:a16="http://schemas.microsoft.com/office/drawing/2014/main" id="{1BE58A0E-8407-8E5B-829F-B7F802090640}"/>
              </a:ext>
            </a:extLst>
          </p:cNvPr>
          <p:cNvSpPr/>
          <p:nvPr/>
        </p:nvSpPr>
        <p:spPr>
          <a:xfrm rot="15660828" flipH="1">
            <a:off x="907686" y="3413079"/>
            <a:ext cx="250398" cy="438875"/>
          </a:xfrm>
          <a:prstGeom prst="lightningBol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827F0F8C-FDDF-D433-9828-54BBC9CD5536}"/>
              </a:ext>
            </a:extLst>
          </p:cNvPr>
          <p:cNvSpPr txBox="1"/>
          <p:nvPr/>
        </p:nvSpPr>
        <p:spPr>
          <a:xfrm>
            <a:off x="138350" y="3405036"/>
            <a:ext cx="11388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Pesanteur</a:t>
            </a:r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8B52C3FD-1CC5-DC59-6B79-308BD02ED7CD}"/>
              </a:ext>
            </a:extLst>
          </p:cNvPr>
          <p:cNvSpPr/>
          <p:nvPr/>
        </p:nvSpPr>
        <p:spPr>
          <a:xfrm>
            <a:off x="759077" y="1561580"/>
            <a:ext cx="792398" cy="571315"/>
          </a:xfrm>
          <a:prstGeom prst="arc">
            <a:avLst>
              <a:gd name="adj1" fmla="val 10891815"/>
              <a:gd name="adj2" fmla="val 0"/>
            </a:avLst>
          </a:prstGeom>
          <a:ln w="28575">
            <a:solidFill>
              <a:srgbClr val="C0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4BB040D0-4753-1639-C25A-12D4A857DBF1}"/>
                  </a:ext>
                </a:extLst>
              </p:cNvPr>
              <p:cNvSpPr txBox="1"/>
              <p:nvPr/>
            </p:nvSpPr>
            <p:spPr>
              <a:xfrm>
                <a:off x="695831" y="1677162"/>
                <a:ext cx="891744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050" dirty="0"/>
                  <a:t>Pivot d’axe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5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fr-FR" sz="105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4BB040D0-4753-1639-C25A-12D4A857D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31" y="1677162"/>
                <a:ext cx="891744" cy="4154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958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 – TEC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7795" y="981887"/>
            <a:ext cx="5978205" cy="5253339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Energie cinétique</a:t>
            </a:r>
          </a:p>
          <a:p>
            <a:pPr lvl="1"/>
            <a:r>
              <a:rPr lang="fr-FR" dirty="0"/>
              <a:t>Rotor moteur</a:t>
            </a:r>
          </a:p>
          <a:p>
            <a:pPr lvl="1"/>
            <a:r>
              <a:rPr lang="fr-FR" dirty="0"/>
              <a:t>Réducteur</a:t>
            </a:r>
          </a:p>
          <a:p>
            <a:pPr lvl="1"/>
            <a:r>
              <a:rPr lang="fr-FR" dirty="0"/>
              <a:t>Axe linéaire</a:t>
            </a:r>
          </a:p>
          <a:p>
            <a:pPr lvl="1"/>
            <a:r>
              <a:rPr lang="fr-FR" dirty="0"/>
              <a:t>Relation cinématique</a:t>
            </a:r>
          </a:p>
          <a:p>
            <a:r>
              <a:rPr lang="fr-FR" dirty="0"/>
              <a:t>Puissance intérieure</a:t>
            </a:r>
          </a:p>
          <a:p>
            <a:pPr lvl="1"/>
            <a:r>
              <a:rPr lang="fr-FR" dirty="0"/>
              <a:t>Puissance dans les liaisons</a:t>
            </a:r>
          </a:p>
          <a:p>
            <a:pPr lvl="1"/>
            <a:r>
              <a:rPr lang="fr-FR" dirty="0"/>
              <a:t>Courroie ?</a:t>
            </a:r>
          </a:p>
          <a:p>
            <a:pPr lvl="1"/>
            <a:r>
              <a:rPr lang="fr-FR" strike="sngStrike" dirty="0">
                <a:solidFill>
                  <a:srgbClr val="FF0000"/>
                </a:solidFill>
              </a:rPr>
              <a:t>Puissance dissipée par frottements</a:t>
            </a:r>
          </a:p>
          <a:p>
            <a:r>
              <a:rPr lang="fr-FR" dirty="0"/>
              <a:t>Puissance extérieure</a:t>
            </a:r>
          </a:p>
          <a:p>
            <a:pPr lvl="1"/>
            <a:r>
              <a:rPr lang="fr-FR" dirty="0"/>
              <a:t>Puissance du moteur</a:t>
            </a:r>
          </a:p>
          <a:p>
            <a:pPr lvl="1"/>
            <a:r>
              <a:rPr lang="fr-FR" dirty="0"/>
              <a:t>Puissance dans les liaisons</a:t>
            </a:r>
          </a:p>
          <a:p>
            <a:pPr lvl="1"/>
            <a:r>
              <a:rPr lang="fr-FR" strike="sngStrike" dirty="0">
                <a:solidFill>
                  <a:srgbClr val="FF0000"/>
                </a:solidFill>
              </a:rPr>
              <a:t>Puissance dissipée par frottements</a:t>
            </a:r>
          </a:p>
          <a:p>
            <a:r>
              <a:rPr lang="fr-FR" b="1" dirty="0">
                <a:solidFill>
                  <a:srgbClr val="FF0000"/>
                </a:solidFill>
              </a:rPr>
              <a:t>Puissance dissipée par frottements (intérieurs et extérieurs)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71" y="171599"/>
            <a:ext cx="4432434" cy="860874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602F5FE-C78A-4ABD-DF80-81031D8364CC}"/>
              </a:ext>
            </a:extLst>
          </p:cNvPr>
          <p:cNvSpPr txBox="1">
            <a:spLocks/>
          </p:cNvSpPr>
          <p:nvPr/>
        </p:nvSpPr>
        <p:spPr>
          <a:xfrm>
            <a:off x="6096000" y="2090057"/>
            <a:ext cx="6021748" cy="41451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71463" indent="-2698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q"/>
              <a:defRPr lang="fr-FR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49263" indent="-249238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  <a:defRPr lang="fr-FR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7063" indent="-242888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defRPr lang="fr-FR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4863" indent="-2381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SzPct val="80000"/>
              <a:buFont typeface="Wingdings" panose="05000000000000000000" pitchFamily="2" charset="2"/>
              <a:buChar char="q"/>
              <a:defRPr lang="fr-FR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23336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q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2400" dirty="0"/>
              <a:t>Il est rarement possible de déterminer les frottements dans chacune des liaisons. On cherche donc souvent un modèle de frottement « ramené » à un des mouvements.</a:t>
            </a:r>
          </a:p>
          <a:p>
            <a:pPr algn="just"/>
            <a:endParaRPr lang="fr-F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777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0FE2C-A2DB-EC9F-19A8-C313B729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Stratégie TEC</a:t>
            </a:r>
            <a:br>
              <a:rPr lang="fr-FR" sz="2800" dirty="0"/>
            </a:br>
            <a:r>
              <a:rPr lang="fr-FR" sz="2800" dirty="0"/>
              <a:t>Energie cinétique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BAA89F-0FFE-0B50-3319-445849FF9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95" y="981887"/>
            <a:ext cx="5248862" cy="5253339"/>
          </a:xfrm>
        </p:spPr>
        <p:txBody>
          <a:bodyPr/>
          <a:lstStyle/>
          <a:p>
            <a:r>
              <a:rPr lang="fr-FR" dirty="0"/>
              <a:t> Energie cinétique</a:t>
            </a:r>
          </a:p>
          <a:p>
            <a:pPr lvl="1"/>
            <a:r>
              <a:rPr lang="fr-FR" dirty="0"/>
              <a:t>Relation cinématique</a:t>
            </a:r>
          </a:p>
          <a:p>
            <a:pPr lvl="2"/>
            <a:r>
              <a:rPr lang="fr-FR" dirty="0"/>
              <a:t>Expérimentalement</a:t>
            </a:r>
          </a:p>
          <a:p>
            <a:pPr lvl="2"/>
            <a:r>
              <a:rPr lang="fr-FR" dirty="0"/>
              <a:t>Avec la documentation</a:t>
            </a:r>
          </a:p>
          <a:p>
            <a:pPr lvl="1"/>
            <a:r>
              <a:rPr lang="fr-FR" dirty="0"/>
              <a:t>Inertie du moteur</a:t>
            </a:r>
          </a:p>
          <a:p>
            <a:pPr lvl="2"/>
            <a:r>
              <a:rPr lang="fr-FR" dirty="0"/>
              <a:t>Documentation</a:t>
            </a:r>
          </a:p>
          <a:p>
            <a:pPr lvl="1"/>
            <a:r>
              <a:rPr lang="fr-FR" dirty="0"/>
              <a:t>Inertie du réducteur</a:t>
            </a:r>
          </a:p>
          <a:p>
            <a:pPr lvl="2"/>
            <a:r>
              <a:rPr lang="fr-FR" dirty="0"/>
              <a:t>Documentation</a:t>
            </a:r>
          </a:p>
          <a:p>
            <a:pPr lvl="1"/>
            <a:r>
              <a:rPr lang="fr-FR" dirty="0"/>
              <a:t>Inertie de la poulie</a:t>
            </a:r>
          </a:p>
          <a:p>
            <a:pPr lvl="1"/>
            <a:r>
              <a:rPr lang="fr-FR" dirty="0"/>
              <a:t>Inertie codeur ?</a:t>
            </a:r>
          </a:p>
          <a:p>
            <a:pPr lvl="1"/>
            <a:r>
              <a:rPr lang="fr-FR" dirty="0"/>
              <a:t>Masse en translation</a:t>
            </a:r>
          </a:p>
          <a:p>
            <a:pPr lvl="2"/>
            <a:r>
              <a:rPr lang="fr-FR" dirty="0"/>
              <a:t>Documentation</a:t>
            </a:r>
          </a:p>
          <a:p>
            <a:pPr lvl="2"/>
            <a:r>
              <a:rPr lang="fr-FR" dirty="0"/>
              <a:t>Expérimentation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E7512A05-D1EA-5493-6918-5F2C2DCF52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9085" y="981887"/>
                <a:ext cx="7184571" cy="525333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271463" indent="-269875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q"/>
                  <a:defRPr lang="fr-FR"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49263" indent="-24923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q"/>
                  <a:defRPr lang="fr-FR"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27063" indent="-24288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04863" indent="-238125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3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2333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4"/>
                  </a:buClr>
                  <a:buSzPct val="80000"/>
                  <a:buFont typeface="Wingdings" panose="05000000000000000000" pitchFamily="2" charset="2"/>
                  <a:buChar char="q"/>
                  <a:defRPr lang="en-US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lit/>
                          </m:r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m:rPr>
                                    <m:lit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acc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3200" dirty="0"/>
              </a:p>
            </p:txBody>
          </p:sp>
        </mc:Choice>
        <mc:Fallback xmlns="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E7512A05-D1EA-5493-6918-5F2C2DCF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085" y="981887"/>
                <a:ext cx="7184571" cy="52533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1322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0FE2C-A2DB-EC9F-19A8-C313B729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Stratégie TEC</a:t>
            </a:r>
            <a:br>
              <a:rPr lang="fr-FR" sz="2800" dirty="0"/>
            </a:br>
            <a:r>
              <a:rPr lang="fr-FR" sz="2800" dirty="0"/>
              <a:t>Puissances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7BAA89F-0FFE-0B50-3319-445849FF9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Puissances dans les liaisons</a:t>
                </a:r>
              </a:p>
              <a:p>
                <a:pPr lvl="1"/>
                <a:r>
                  <a:rPr lang="fr-FR" dirty="0"/>
                  <a:t>Hypothèses des liaisons parfaites</a:t>
                </a:r>
              </a:p>
              <a:p>
                <a:pPr lvl="1"/>
                <a:r>
                  <a:rPr lang="fr-FR" dirty="0"/>
                  <a:t>Savoir montrer que hypothèse RSG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fr-FR" dirty="0"/>
                  <a:t> puissance nulle</a:t>
                </a:r>
              </a:p>
              <a:p>
                <a:pPr lvl="1"/>
                <a:r>
                  <a:rPr lang="fr-FR" dirty="0"/>
                  <a:t>Hypothèse de courroie non déformable</a:t>
                </a:r>
              </a:p>
              <a:p>
                <a:endParaRPr lang="fr-FR" dirty="0"/>
              </a:p>
              <a:p>
                <a:r>
                  <a:rPr lang="fr-FR" dirty="0"/>
                  <a:t>Puissance du moteur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𝓟</m:t>
                    </m:r>
                    <m:d>
                      <m:d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𝒔𝒕𝒂𝒕𝒐𝒓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𝒓𝒐𝒕𝒐𝒓</m:t>
                        </m:r>
                        <m:r>
                          <m:rPr>
                            <m:lit/>
                          </m:r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m:rPr>
                        <m:lit/>
                      </m:rP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b="1" dirty="0"/>
              </a:p>
              <a:p>
                <a:pPr lvl="1"/>
                <a:r>
                  <a:rPr lang="fr-FR" dirty="0"/>
                  <a:t>Dans le moteur à courant continu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7BAA89F-0FFE-0B50-3319-445849FF9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986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24450-578A-883B-C938-C5529270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Stratégie TEC</a:t>
            </a:r>
            <a:br>
              <a:rPr lang="fr-FR" sz="3200" dirty="0"/>
            </a:br>
            <a:r>
              <a:rPr lang="fr-FR" sz="3200" dirty="0"/>
              <a:t>Evaluation de la puissance dissipée par frottement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AA68C51-D64F-074E-ADB8-2A4026F471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 Choix d’un modèle</a:t>
                </a:r>
              </a:p>
              <a:p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𝑓𝑠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fr-FR" b="0" dirty="0"/>
              </a:p>
              <a:p>
                <a:pPr lvl="1"/>
                <a:r>
                  <a:rPr lang="fr-FR" dirty="0"/>
                  <a:t>Vérifier expérimentalement si les frottements dépendent de la vitesse ou non.</a:t>
                </a:r>
              </a:p>
              <a:p>
                <a:pPr lvl="1"/>
                <a:r>
                  <a:rPr lang="fr-FR" dirty="0"/>
                  <a:t>Les évaluer le </a:t>
                </a:r>
                <a:r>
                  <a:rPr lang="fr-FR"/>
                  <a:t>cas échéant… </a:t>
                </a:r>
              </a:p>
              <a:p>
                <a:pPr lvl="1"/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AA68C51-D64F-074E-ADB8-2A4026F471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66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89957-E9C9-8FA8-2FDB-FEFA3B4E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6B85F6D6-56CD-6C33-1388-B7664B1DA7F3}"/>
                  </a:ext>
                </a:extLst>
              </p:cNvPr>
              <p:cNvSpPr/>
              <p:nvPr/>
            </p:nvSpPr>
            <p:spPr>
              <a:xfrm>
                <a:off x="1427479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6B85F6D6-56CD-6C33-1388-B7664B1DA7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479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rganigramme : Jonction de sommaire 5">
            <a:extLst>
              <a:ext uri="{FF2B5EF4-FFF2-40B4-BE49-F238E27FC236}">
                <a16:creationId xmlns:a16="http://schemas.microsoft.com/office/drawing/2014/main" id="{310BDCD4-DDB9-AE45-56E5-42003C42A9C1}"/>
              </a:ext>
            </a:extLst>
          </p:cNvPr>
          <p:cNvSpPr/>
          <p:nvPr/>
        </p:nvSpPr>
        <p:spPr>
          <a:xfrm>
            <a:off x="965200" y="1902370"/>
            <a:ext cx="180000" cy="180000"/>
          </a:xfrm>
          <a:prstGeom prst="flowChartSummingJunction">
            <a:avLst/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i="1">
              <a:solidFill>
                <a:schemeClr val="tx2"/>
              </a:solidFill>
              <a:latin typeface="Cambria Math" panose="02040503050406030204" pitchFamily="18" charset="0"/>
            </a:endParaRPr>
          </a:p>
        </p:txBody>
      </p:sp>
      <p:sp>
        <p:nvSpPr>
          <p:cNvPr id="7" name="Organigramme : Jonction de sommaire 6">
            <a:extLst>
              <a:ext uri="{FF2B5EF4-FFF2-40B4-BE49-F238E27FC236}">
                <a16:creationId xmlns:a16="http://schemas.microsoft.com/office/drawing/2014/main" id="{B1D61F79-C9C1-BAE2-744F-82035FDBCCF7}"/>
              </a:ext>
            </a:extLst>
          </p:cNvPr>
          <p:cNvSpPr/>
          <p:nvPr/>
        </p:nvSpPr>
        <p:spPr>
          <a:xfrm>
            <a:off x="2429758" y="1902370"/>
            <a:ext cx="180000" cy="180000"/>
          </a:xfrm>
          <a:prstGeom prst="flowChartSummingJunction">
            <a:avLst/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i="1">
              <a:solidFill>
                <a:schemeClr val="tx2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EE8568F5-2336-B7A5-A92D-DD6C76AF8DDB}"/>
                  </a:ext>
                </a:extLst>
              </p:cNvPr>
              <p:cNvSpPr/>
              <p:nvPr/>
            </p:nvSpPr>
            <p:spPr>
              <a:xfrm>
                <a:off x="2892037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EE8568F5-2336-B7A5-A92D-DD6C76AF8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037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rganigramme : Jonction de sommaire 8">
            <a:extLst>
              <a:ext uri="{FF2B5EF4-FFF2-40B4-BE49-F238E27FC236}">
                <a16:creationId xmlns:a16="http://schemas.microsoft.com/office/drawing/2014/main" id="{A8BD80CE-A693-3693-1C55-EBE082F2E649}"/>
              </a:ext>
            </a:extLst>
          </p:cNvPr>
          <p:cNvSpPr/>
          <p:nvPr/>
        </p:nvSpPr>
        <p:spPr>
          <a:xfrm>
            <a:off x="3894316" y="1902370"/>
            <a:ext cx="180000" cy="180000"/>
          </a:xfrm>
          <a:prstGeom prst="flowChartSummingJunction">
            <a:avLst/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i="1">
              <a:solidFill>
                <a:schemeClr val="tx2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4390818D-20A2-4F40-4B5C-2D25567B2B20}"/>
                  </a:ext>
                </a:extLst>
              </p:cNvPr>
              <p:cNvSpPr/>
              <p:nvPr/>
            </p:nvSpPr>
            <p:spPr>
              <a:xfrm>
                <a:off x="4356595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1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sz="11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11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𝐿𝑝</m:t>
                          </m:r>
                        </m:den>
                      </m:f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4390818D-20A2-4F40-4B5C-2D25567B2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595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4"/>
                <a:stretch>
                  <a:fillRect b="-11290"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17800B4A-708A-7ABF-3CCE-ABE01635588B}"/>
                  </a:ext>
                </a:extLst>
              </p:cNvPr>
              <p:cNvSpPr/>
              <p:nvPr/>
            </p:nvSpPr>
            <p:spPr>
              <a:xfrm>
                <a:off x="5358874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sz="14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17800B4A-708A-7ABF-3CCE-ABE0163558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874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rganigramme : Jonction de sommaire 11">
            <a:extLst>
              <a:ext uri="{FF2B5EF4-FFF2-40B4-BE49-F238E27FC236}">
                <a16:creationId xmlns:a16="http://schemas.microsoft.com/office/drawing/2014/main" id="{4859E6EA-2478-5372-79F9-FBB6F12EA3D4}"/>
              </a:ext>
            </a:extLst>
          </p:cNvPr>
          <p:cNvSpPr/>
          <p:nvPr/>
        </p:nvSpPr>
        <p:spPr>
          <a:xfrm>
            <a:off x="6361153" y="1902370"/>
            <a:ext cx="180000" cy="180000"/>
          </a:xfrm>
          <a:prstGeom prst="flowChartSummingJunction">
            <a:avLst/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i="1">
              <a:solidFill>
                <a:schemeClr val="tx2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 : coins arrondis 12">
                <a:extLst>
                  <a:ext uri="{FF2B5EF4-FFF2-40B4-BE49-F238E27FC236}">
                    <a16:creationId xmlns:a16="http://schemas.microsoft.com/office/drawing/2014/main" id="{BB2F2F82-9E9A-C496-3727-3A6012394223}"/>
                  </a:ext>
                </a:extLst>
              </p:cNvPr>
              <p:cNvSpPr/>
              <p:nvPr/>
            </p:nvSpPr>
            <p:spPr>
              <a:xfrm>
                <a:off x="6823434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3" name="Rectangle : coins arrondis 12">
                <a:extLst>
                  <a:ext uri="{FF2B5EF4-FFF2-40B4-BE49-F238E27FC236}">
                    <a16:creationId xmlns:a16="http://schemas.microsoft.com/office/drawing/2014/main" id="{BB2F2F82-9E9A-C496-3727-3A60123942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34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6"/>
                <a:stretch>
                  <a:fillRect b="-6452"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9DD5EEF9-5F25-47D6-6D80-B31E7F7F7E98}"/>
                  </a:ext>
                </a:extLst>
              </p:cNvPr>
              <p:cNvSpPr/>
              <p:nvPr/>
            </p:nvSpPr>
            <p:spPr>
              <a:xfrm>
                <a:off x="5358874" y="230132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sz="14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9DD5EEF9-5F25-47D6-6D80-B31E7F7F7E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874" y="230132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920A564-2257-29FC-22AB-7EFAAC80CBE3}"/>
              </a:ext>
            </a:extLst>
          </p:cNvPr>
          <p:cNvCxnSpPr>
            <a:endCxn id="6" idx="2"/>
          </p:cNvCxnSpPr>
          <p:nvPr/>
        </p:nvCxnSpPr>
        <p:spPr>
          <a:xfrm>
            <a:off x="577850" y="1992370"/>
            <a:ext cx="387350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6E8080B-6922-AC6E-4F6B-1D7CD84C13FB}"/>
              </a:ext>
            </a:extLst>
          </p:cNvPr>
          <p:cNvCxnSpPr>
            <a:cxnSpLocks/>
            <a:stCxn id="6" idx="6"/>
            <a:endCxn id="4" idx="1"/>
          </p:cNvCxnSpPr>
          <p:nvPr/>
        </p:nvCxnSpPr>
        <p:spPr>
          <a:xfrm>
            <a:off x="1145200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A226D682-2AF3-EEFB-2460-FAEE799AD202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>
            <a:off x="2147479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2E58B60-FE80-EEB9-B91C-62AB650A26E3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>
            <a:off x="2609758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ED158364-4C8B-6F3C-8EBF-B46371D9D476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>
            <a:off x="3612037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A2A3271-40B8-FBA3-38D1-1744EBAE5FD4}"/>
              </a:ext>
            </a:extLst>
          </p:cNvPr>
          <p:cNvCxnSpPr>
            <a:cxnSpLocks/>
            <a:stCxn id="9" idx="6"/>
            <a:endCxn id="10" idx="1"/>
          </p:cNvCxnSpPr>
          <p:nvPr/>
        </p:nvCxnSpPr>
        <p:spPr>
          <a:xfrm>
            <a:off x="4074316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3DB429D4-C211-E55B-07E0-C895CD5F96D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076595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29728094-4D70-70D2-B62C-E7952B1C228D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>
            <a:off x="6078874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8B3EFCEE-99E6-C361-41F5-264FFAADD505}"/>
              </a:ext>
            </a:extLst>
          </p:cNvPr>
          <p:cNvCxnSpPr>
            <a:cxnSpLocks/>
            <a:stCxn id="12" idx="6"/>
            <a:endCxn id="13" idx="1"/>
          </p:cNvCxnSpPr>
          <p:nvPr/>
        </p:nvCxnSpPr>
        <p:spPr>
          <a:xfrm>
            <a:off x="6541153" y="1992370"/>
            <a:ext cx="282281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F6A4D42D-B7EC-1A76-3343-D3A1972F56CA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543434" y="1992370"/>
            <a:ext cx="533766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358F8327-2896-A555-C0B4-FFCA77F4413C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6078874" y="2481320"/>
            <a:ext cx="1599808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3C749E40-640B-C2CD-445A-C151F2F43A24}"/>
              </a:ext>
            </a:extLst>
          </p:cNvPr>
          <p:cNvCxnSpPr>
            <a:cxnSpLocks/>
          </p:cNvCxnSpPr>
          <p:nvPr/>
        </p:nvCxnSpPr>
        <p:spPr>
          <a:xfrm>
            <a:off x="7678682" y="1992370"/>
            <a:ext cx="0" cy="48895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3456D801-8D09-2E63-20A9-2331F874A9FF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3984316" y="2082370"/>
            <a:ext cx="0" cy="39895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7735BE04-313F-54BF-63C2-1AAB70F5CC7A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3984316" y="2481320"/>
            <a:ext cx="1374558" cy="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4406002E-5146-DD15-2CA9-0E8D21DC82F7}"/>
              </a:ext>
            </a:extLst>
          </p:cNvPr>
          <p:cNvCxnSpPr>
            <a:cxnSpLocks/>
          </p:cNvCxnSpPr>
          <p:nvPr/>
        </p:nvCxnSpPr>
        <p:spPr>
          <a:xfrm>
            <a:off x="2518814" y="1503420"/>
            <a:ext cx="0" cy="39895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64AF7D45-3158-226E-21EC-71E5AE717732}"/>
              </a:ext>
            </a:extLst>
          </p:cNvPr>
          <p:cNvCxnSpPr>
            <a:cxnSpLocks/>
          </p:cNvCxnSpPr>
          <p:nvPr/>
        </p:nvCxnSpPr>
        <p:spPr>
          <a:xfrm flipV="1">
            <a:off x="5178043" y="1503420"/>
            <a:ext cx="0" cy="48895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73B52E7F-417A-23E6-7E57-EB57CA13D173}"/>
              </a:ext>
            </a:extLst>
          </p:cNvPr>
          <p:cNvCxnSpPr>
            <a:cxnSpLocks/>
          </p:cNvCxnSpPr>
          <p:nvPr/>
        </p:nvCxnSpPr>
        <p:spPr>
          <a:xfrm flipH="1">
            <a:off x="2518814" y="1503420"/>
            <a:ext cx="2659229" cy="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34FDEE8C-6C87-D6A1-9ECF-95BDB8639661}"/>
              </a:ext>
            </a:extLst>
          </p:cNvPr>
          <p:cNvCxnSpPr>
            <a:cxnSpLocks/>
          </p:cNvCxnSpPr>
          <p:nvPr/>
        </p:nvCxnSpPr>
        <p:spPr>
          <a:xfrm flipV="1">
            <a:off x="1055200" y="2059165"/>
            <a:ext cx="0" cy="676155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8EBB725E-61F3-2D0C-6E96-0ACA39226AB1}"/>
              </a:ext>
            </a:extLst>
          </p:cNvPr>
          <p:cNvCxnSpPr>
            <a:cxnSpLocks/>
          </p:cNvCxnSpPr>
          <p:nvPr/>
        </p:nvCxnSpPr>
        <p:spPr>
          <a:xfrm flipH="1">
            <a:off x="1055200" y="2735320"/>
            <a:ext cx="6755117" cy="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743A4798-4503-BA1D-4EBC-3A34D88344C3}"/>
              </a:ext>
            </a:extLst>
          </p:cNvPr>
          <p:cNvCxnSpPr>
            <a:cxnSpLocks/>
          </p:cNvCxnSpPr>
          <p:nvPr/>
        </p:nvCxnSpPr>
        <p:spPr>
          <a:xfrm flipH="1">
            <a:off x="7810317" y="1992370"/>
            <a:ext cx="0" cy="74295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02846812-9300-AE00-8C35-AD622C4770F8}"/>
              </a:ext>
            </a:extLst>
          </p:cNvPr>
          <p:cNvCxnSpPr>
            <a:cxnSpLocks/>
          </p:cNvCxnSpPr>
          <p:nvPr/>
        </p:nvCxnSpPr>
        <p:spPr>
          <a:xfrm>
            <a:off x="6451153" y="1484195"/>
            <a:ext cx="0" cy="39895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4BC804F1-4CBA-8232-5C40-B6DB35FD3701}"/>
                  </a:ext>
                </a:extLst>
              </p:cNvPr>
              <p:cNvSpPr txBox="1"/>
              <p:nvPr/>
            </p:nvSpPr>
            <p:spPr>
              <a:xfrm>
                <a:off x="281144" y="1735432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𝑚𝑐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4BC804F1-4CBA-8232-5C40-B6DB35FD3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44" y="1735432"/>
                <a:ext cx="748521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CDABEB94-EDDE-45D9-EE8F-37BCFE106C0A}"/>
                  </a:ext>
                </a:extLst>
              </p:cNvPr>
              <p:cNvSpPr txBox="1"/>
              <p:nvPr/>
            </p:nvSpPr>
            <p:spPr>
              <a:xfrm>
                <a:off x="1954048" y="1613285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CDABEB94-EDDE-45D9-EE8F-37BCFE106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048" y="1613285"/>
                <a:ext cx="748521" cy="261610"/>
              </a:xfrm>
              <a:prstGeom prst="rect">
                <a:avLst/>
              </a:prstGeom>
              <a:blipFill>
                <a:blip r:embed="rId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C85B2718-EB0D-475B-101C-840D1C2DF902}"/>
                  </a:ext>
                </a:extLst>
              </p:cNvPr>
              <p:cNvSpPr txBox="1"/>
              <p:nvPr/>
            </p:nvSpPr>
            <p:spPr>
              <a:xfrm>
                <a:off x="4896074" y="1527090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C85B2718-EB0D-475B-101C-840D1C2DF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074" y="1527090"/>
                <a:ext cx="748521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794C1320-7C55-F2ED-2871-D52EAA3B90A7}"/>
                  </a:ext>
                </a:extLst>
              </p:cNvPr>
              <p:cNvSpPr txBox="1"/>
              <p:nvPr/>
            </p:nvSpPr>
            <p:spPr>
              <a:xfrm>
                <a:off x="5885443" y="1549983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794C1320-7C55-F2ED-2871-D52EAA3B9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443" y="1549983"/>
                <a:ext cx="748521" cy="261610"/>
              </a:xfrm>
              <a:prstGeom prst="rect">
                <a:avLst/>
              </a:prstGeom>
              <a:blipFill>
                <a:blip r:embed="rId1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644B6B2E-703A-8658-ED1C-25C77F809607}"/>
                  </a:ext>
                </a:extLst>
              </p:cNvPr>
              <p:cNvSpPr txBox="1"/>
              <p:nvPr/>
            </p:nvSpPr>
            <p:spPr>
              <a:xfrm>
                <a:off x="7555302" y="1680788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644B6B2E-703A-8658-ED1C-25C77F809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302" y="1680788"/>
                <a:ext cx="748521" cy="261610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4BDC3A14-5EFB-8AC5-7CF9-68D5A6F4D79A}"/>
                  </a:ext>
                </a:extLst>
              </p:cNvPr>
              <p:cNvSpPr txBox="1"/>
              <p:nvPr/>
            </p:nvSpPr>
            <p:spPr>
              <a:xfrm>
                <a:off x="6428277" y="1384956"/>
                <a:ext cx="1648923" cy="274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1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1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𝑝𝑒𝑠</m:t>
                        </m:r>
                      </m:sub>
                    </m:sSub>
                    <m:d>
                      <m:dPr>
                        <m:ctrlPr>
                          <a:rPr lang="fr-FR" sz="11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fr-FR" sz="11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  <m:r>
                      <a:rPr lang="fr-FR" sz="11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1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1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sz="11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100" dirty="0">
                    <a:solidFill>
                      <a:schemeClr val="tx2"/>
                    </a:solidFill>
                    <a:latin typeface="Arial Nova" panose="020B05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4BDC3A14-5EFB-8AC5-7CF9-68D5A6F4D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277" y="1384956"/>
                <a:ext cx="1648923" cy="274627"/>
              </a:xfrm>
              <a:prstGeom prst="rect">
                <a:avLst/>
              </a:prstGeom>
              <a:blipFill>
                <a:blip r:embed="rId12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94A1FB64-D211-D0F8-063F-693D8C774C86}"/>
                  </a:ext>
                </a:extLst>
              </p:cNvPr>
              <p:cNvSpPr txBox="1"/>
              <p:nvPr/>
            </p:nvSpPr>
            <p:spPr>
              <a:xfrm>
                <a:off x="588014" y="1735432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94A1FB64-D211-D0F8-063F-693D8C774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14" y="1735432"/>
                <a:ext cx="748521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59F7EBCE-B256-4E8B-5797-34E15CE28159}"/>
                  </a:ext>
                </a:extLst>
              </p:cNvPr>
              <p:cNvSpPr txBox="1"/>
              <p:nvPr/>
            </p:nvSpPr>
            <p:spPr>
              <a:xfrm>
                <a:off x="795809" y="1959423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59F7EBCE-B256-4E8B-5797-34E15CE28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09" y="1959423"/>
                <a:ext cx="748521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184EA7C6-30D6-FE8A-11BE-87E3B29EF58D}"/>
                  </a:ext>
                </a:extLst>
              </p:cNvPr>
              <p:cNvSpPr txBox="1"/>
              <p:nvPr/>
            </p:nvSpPr>
            <p:spPr>
              <a:xfrm>
                <a:off x="2035791" y="1757420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184EA7C6-30D6-FE8A-11BE-87E3B29EF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791" y="1757420"/>
                <a:ext cx="748521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3C18294F-56E1-09D0-9D81-ABCAA9456963}"/>
                  </a:ext>
                </a:extLst>
              </p:cNvPr>
              <p:cNvSpPr txBox="1"/>
              <p:nvPr/>
            </p:nvSpPr>
            <p:spPr>
              <a:xfrm>
                <a:off x="2260918" y="1604080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3C18294F-56E1-09D0-9D81-ABCAA9456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918" y="1604080"/>
                <a:ext cx="748521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C0FE81E1-9BE0-9A92-50D9-BE05135EBAD1}"/>
                  </a:ext>
                </a:extLst>
              </p:cNvPr>
              <p:cNvSpPr txBox="1"/>
              <p:nvPr/>
            </p:nvSpPr>
            <p:spPr>
              <a:xfrm>
                <a:off x="3483568" y="1779408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C0FE81E1-9BE0-9A92-50D9-BE05135EB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568" y="1779408"/>
                <a:ext cx="748521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BC5D899-9962-3A5E-42F8-8939A5FD97A0}"/>
                  </a:ext>
                </a:extLst>
              </p:cNvPr>
              <p:cNvSpPr txBox="1"/>
              <p:nvPr/>
            </p:nvSpPr>
            <p:spPr>
              <a:xfrm>
                <a:off x="3534224" y="1971431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BC5D899-9962-3A5E-42F8-8939A5FD9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224" y="1971431"/>
                <a:ext cx="748521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20F2696F-1FC7-25BD-836E-353728FE67D0}"/>
                  </a:ext>
                </a:extLst>
              </p:cNvPr>
              <p:cNvSpPr txBox="1"/>
              <p:nvPr/>
            </p:nvSpPr>
            <p:spPr>
              <a:xfrm>
                <a:off x="5959694" y="1769495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20F2696F-1FC7-25BD-836E-353728FE6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694" y="1769495"/>
                <a:ext cx="748521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11B4D7D0-A749-3CB5-54F3-B4B675FA8225}"/>
                  </a:ext>
                </a:extLst>
              </p:cNvPr>
              <p:cNvSpPr txBox="1"/>
              <p:nvPr/>
            </p:nvSpPr>
            <p:spPr>
              <a:xfrm>
                <a:off x="6201290" y="1702895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11B4D7D0-A749-3CB5-54F3-B4B675FA8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290" y="1702895"/>
                <a:ext cx="748521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059323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1030</Words>
  <Application>Microsoft Office PowerPoint</Application>
  <PresentationFormat>Grand écran</PresentationFormat>
  <Paragraphs>254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 Nova</vt:lpstr>
      <vt:lpstr>Calibri</vt:lpstr>
      <vt:lpstr>Calibri Light</vt:lpstr>
      <vt:lpstr>Cambria Math</vt:lpstr>
      <vt:lpstr>Wingdings</vt:lpstr>
      <vt:lpstr>Rétrospective</vt:lpstr>
      <vt:lpstr>Comax</vt:lpstr>
      <vt:lpstr>Présentation PowerPoint</vt:lpstr>
      <vt:lpstr>02 Chaîne fonctionnelle</vt:lpstr>
      <vt:lpstr>Chaine fonctionnelle du Comax Incomplète</vt:lpstr>
      <vt:lpstr>Chaine fonctionnelle du Comax Incomplète</vt:lpstr>
      <vt:lpstr>Chaine fonctionnelle du Comax</vt:lpstr>
      <vt:lpstr>Chaine fonctionnelle du Comax</vt:lpstr>
      <vt:lpstr>04 Résolution cinématique </vt:lpstr>
      <vt:lpstr>Loi entrée sortie géométrique</vt:lpstr>
      <vt:lpstr>Loi entrée sortie en effort</vt:lpstr>
      <vt:lpstr>07 Modélisation composants ou phénomènes</vt:lpstr>
      <vt:lpstr>Identification de la masse de l’axe</vt:lpstr>
      <vt:lpstr>Identification de la masse et du Frottement sec</vt:lpstr>
      <vt:lpstr>09 Dimensionnement d’un actionneur en dynamique</vt:lpstr>
      <vt:lpstr>Objectifs</vt:lpstr>
      <vt:lpstr>Modélisation</vt:lpstr>
      <vt:lpstr>Stratégie – TEC</vt:lpstr>
      <vt:lpstr>Stratégie TEC Energie cinétique</vt:lpstr>
      <vt:lpstr>Stratégie TEC Puissances</vt:lpstr>
      <vt:lpstr>Stratégie TEC Evaluation de la puissance dissipée par frottement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75</cp:revision>
  <dcterms:created xsi:type="dcterms:W3CDTF">2023-03-22T10:05:05Z</dcterms:created>
  <dcterms:modified xsi:type="dcterms:W3CDTF">2026-05-28T13:57:19Z</dcterms:modified>
</cp:coreProperties>
</file>