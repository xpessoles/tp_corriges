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9" r:id="rId2"/>
    <p:sldId id="260" r:id="rId3"/>
    <p:sldId id="261" r:id="rId4"/>
    <p:sldId id="262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47F"/>
    <a:srgbClr val="236B88"/>
    <a:srgbClr val="397A94"/>
    <a:srgbClr val="B2CAD6"/>
    <a:srgbClr val="3494BA"/>
    <a:srgbClr val="08A559"/>
    <a:srgbClr val="68348B"/>
    <a:srgbClr val="0C7391"/>
    <a:srgbClr val="ABCFD9"/>
    <a:srgbClr val="FDAD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56" d="100"/>
          <a:sy n="56" d="100"/>
        </p:scale>
        <p:origin x="976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44" d="100"/>
          <a:sy n="44" d="100"/>
        </p:scale>
        <p:origin x="2844" y="52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D157349C-AD05-44FA-B790-D9BBD62C4832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73DC410A-5569-41DF-9D2C-17B0B0BE16B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6495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024" userDrawn="1">
          <p15:clr>
            <a:srgbClr val="F26B43"/>
          </p15:clr>
        </p15:guide>
        <p15:guide id="2" pos="2304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538C2-C309-4752-87A7-D2071D6CAC7F}" type="datetime1">
              <a:rPr lang="fr-FR" smtClean="0"/>
              <a:t>21/09/2026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8413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52A31-E2A5-4F8A-BDFE-A9BA369B67E9}" type="datetime1">
              <a:rPr lang="fr-FR" smtClean="0"/>
              <a:t>21/09/2026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73859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07E18-E4F4-4E6D-951C-B01FC69E66C0}" type="datetime1">
              <a:rPr lang="fr-FR" smtClean="0"/>
              <a:t>21/09/2026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3236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4B9C8-F394-498B-8C66-049FACC1ED86}" type="datetime1">
              <a:rPr lang="fr-FR" smtClean="0"/>
              <a:t>21/09/2026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828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28450" y="1"/>
            <a:ext cx="11726852" cy="897466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6698" y="1003618"/>
            <a:ext cx="5576422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6698" y="1846051"/>
            <a:ext cx="5576421" cy="411448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8882" y="1003618"/>
            <a:ext cx="55764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78881" y="1846051"/>
            <a:ext cx="5576419" cy="4114483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50896-C41B-455D-9FAE-80943DD0CAEF}" type="datetime1">
              <a:rPr lang="fr-FR" smtClean="0"/>
              <a:t>21/09/2026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5718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2B735-22CE-433C-8BA6-DF0B28588E1F}" type="datetime1">
              <a:rPr lang="fr-FR" smtClean="0"/>
              <a:t>21/09/2026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2387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75E59-9936-4413-84C5-14169665FDED}" type="datetime1">
              <a:rPr lang="fr-FR" smtClean="0"/>
              <a:t>21/09/2026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4261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2662320-E9E6-45B0-8B93-5727AA5FFC46}" type="datetime1">
              <a:rPr lang="fr-FR" smtClean="0"/>
              <a:t>21/09/2026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1946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45382-D50F-43E8-AFFD-788FD552C87C}" type="datetime1">
              <a:rPr lang="fr-FR" smtClean="0"/>
              <a:t>21/09/2026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9534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6C4FD-C1E6-452C-A858-BFBBC7496631}" type="datetime1">
              <a:rPr lang="fr-FR" smtClean="0"/>
              <a:t>21/09/2026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3010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75A8D-5F26-4754-844B-E2D9F6FC4950}" type="datetime1">
              <a:rPr lang="fr-FR" smtClean="0"/>
              <a:t>21/09/2026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1129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2"/>
            <a:ext cx="12192000" cy="8827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795" y="981887"/>
            <a:ext cx="11956410" cy="525333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45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F030BD8-D1C7-406A-AB04-4944ABBF0A3E}" type="datetime1">
              <a:rPr lang="fr-FR" smtClean="0"/>
              <a:t>21/09/2026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84474" y="6459785"/>
            <a:ext cx="66262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60429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7A6A38F-5C8E-497F-8761-3C4E0EEEA33A}" type="slidenum">
              <a:rPr lang="fr-FR" smtClean="0"/>
              <a:t>‹N°›</a:t>
            </a:fld>
            <a:endParaRPr lang="fr-FR" dirty="0"/>
          </a:p>
        </p:txBody>
      </p:sp>
      <p:cxnSp>
        <p:nvCxnSpPr>
          <p:cNvPr id="10" name="Straight Connector 9"/>
          <p:cNvCxnSpPr>
            <a:cxnSpLocks/>
          </p:cNvCxnSpPr>
          <p:nvPr/>
        </p:nvCxnSpPr>
        <p:spPr>
          <a:xfrm>
            <a:off x="117795" y="891152"/>
            <a:ext cx="1195641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5199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2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2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2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2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2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8" Type="http://schemas.openxmlformats.org/officeDocument/2006/relationships/image" Target="../media/image2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7" Type="http://schemas.openxmlformats.org/officeDocument/2006/relationships/image" Target="../media/image25.png"/><Relationship Id="rId2" Type="http://schemas.openxmlformats.org/officeDocument/2006/relationships/image" Target="../media/image4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23.png"/><Relationship Id="rId5" Type="http://schemas.openxmlformats.org/officeDocument/2006/relationships/image" Target="../media/image8.png"/><Relationship Id="rId15" Type="http://schemas.openxmlformats.org/officeDocument/2006/relationships/image" Target="../media/image150.png"/><Relationship Id="rId10" Type="http://schemas.openxmlformats.org/officeDocument/2006/relationships/image" Target="../media/image13.png"/><Relationship Id="rId19" Type="http://schemas.openxmlformats.org/officeDocument/2006/relationships/image" Target="../media/image27.jpe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4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.png"/><Relationship Id="rId18" Type="http://schemas.openxmlformats.org/officeDocument/2006/relationships/image" Target="../media/image24.png"/><Relationship Id="rId3" Type="http://schemas.openxmlformats.org/officeDocument/2006/relationships/image" Target="../media/image6.png"/><Relationship Id="rId21" Type="http://schemas.openxmlformats.org/officeDocument/2006/relationships/image" Target="../media/image12.png"/><Relationship Id="rId7" Type="http://schemas.openxmlformats.org/officeDocument/2006/relationships/image" Target="../media/image23.png"/><Relationship Id="rId12" Type="http://schemas.openxmlformats.org/officeDocument/2006/relationships/image" Target="../media/image2.png"/><Relationship Id="rId17" Type="http://schemas.openxmlformats.org/officeDocument/2006/relationships/image" Target="../media/image25.png"/><Relationship Id="rId2" Type="http://schemas.openxmlformats.org/officeDocument/2006/relationships/image" Target="../media/image4.png"/><Relationship Id="rId16" Type="http://schemas.openxmlformats.org/officeDocument/2006/relationships/image" Target="../media/image33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30.png"/><Relationship Id="rId24" Type="http://schemas.openxmlformats.org/officeDocument/2006/relationships/image" Target="../media/image38.jpeg"/><Relationship Id="rId5" Type="http://schemas.openxmlformats.org/officeDocument/2006/relationships/image" Target="../media/image8.png"/><Relationship Id="rId15" Type="http://schemas.openxmlformats.org/officeDocument/2006/relationships/image" Target="../media/image141.png"/><Relationship Id="rId23" Type="http://schemas.openxmlformats.org/officeDocument/2006/relationships/image" Target="../media/image37.png"/><Relationship Id="rId10" Type="http://schemas.openxmlformats.org/officeDocument/2006/relationships/image" Target="../media/image80.png"/><Relationship Id="rId19" Type="http://schemas.openxmlformats.org/officeDocument/2006/relationships/image" Target="../media/image34.png"/><Relationship Id="rId4" Type="http://schemas.openxmlformats.org/officeDocument/2006/relationships/image" Target="../media/image7.png"/><Relationship Id="rId9" Type="http://schemas.openxmlformats.org/officeDocument/2006/relationships/image" Target="../media/image91.png"/><Relationship Id="rId14" Type="http://schemas.openxmlformats.org/officeDocument/2006/relationships/image" Target="../media/image32.png"/><Relationship Id="rId22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20.png"/><Relationship Id="rId18" Type="http://schemas.openxmlformats.org/officeDocument/2006/relationships/image" Target="../media/image370.png"/><Relationship Id="rId3" Type="http://schemas.openxmlformats.org/officeDocument/2006/relationships/image" Target="../media/image6.png"/><Relationship Id="rId12" Type="http://schemas.openxmlformats.org/officeDocument/2006/relationships/image" Target="../media/image32.png"/><Relationship Id="rId17" Type="http://schemas.openxmlformats.org/officeDocument/2006/relationships/image" Target="../media/image12.png"/><Relationship Id="rId2" Type="http://schemas.openxmlformats.org/officeDocument/2006/relationships/image" Target="../media/image4.png"/><Relationship Id="rId16" Type="http://schemas.openxmlformats.org/officeDocument/2006/relationships/image" Target="../media/image34.png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.png"/><Relationship Id="rId5" Type="http://schemas.openxmlformats.org/officeDocument/2006/relationships/image" Target="../media/image13.png"/><Relationship Id="rId15" Type="http://schemas.openxmlformats.org/officeDocument/2006/relationships/image" Target="../media/image24.png"/><Relationship Id="rId10" Type="http://schemas.openxmlformats.org/officeDocument/2006/relationships/image" Target="../media/image290.png"/><Relationship Id="rId19" Type="http://schemas.openxmlformats.org/officeDocument/2006/relationships/image" Target="../media/image380.png"/><Relationship Id="rId4" Type="http://schemas.openxmlformats.org/officeDocument/2006/relationships/image" Target="../media/image8.png"/><Relationship Id="rId9" Type="http://schemas.openxmlformats.org/officeDocument/2006/relationships/image" Target="../media/image90.png"/><Relationship Id="rId1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NULL"/><Relationship Id="rId18" Type="http://schemas.openxmlformats.org/officeDocument/2006/relationships/image" Target="../media/image2.png"/><Relationship Id="rId3" Type="http://schemas.openxmlformats.org/officeDocument/2006/relationships/image" Target="../media/image6.png"/><Relationship Id="rId21" Type="http://schemas.openxmlformats.org/officeDocument/2006/relationships/image" Target="../media/image35.png"/><Relationship Id="rId7" Type="http://schemas.openxmlformats.org/officeDocument/2006/relationships/image" Target="../media/image10.png"/><Relationship Id="rId12" Type="http://schemas.openxmlformats.org/officeDocument/2006/relationships/image" Target="NULL"/><Relationship Id="rId17" Type="http://schemas.openxmlformats.org/officeDocument/2006/relationships/image" Target="../media/image30.png"/><Relationship Id="rId2" Type="http://schemas.openxmlformats.org/officeDocument/2006/relationships/image" Target="../media/image4.png"/><Relationship Id="rId16" Type="http://schemas.openxmlformats.org/officeDocument/2006/relationships/image" Target="NULL"/><Relationship Id="rId20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23.png"/><Relationship Id="rId5" Type="http://schemas.openxmlformats.org/officeDocument/2006/relationships/image" Target="../media/image8.png"/><Relationship Id="rId15" Type="http://schemas.openxmlformats.org/officeDocument/2006/relationships/image" Target="../media/image25.png"/><Relationship Id="rId10" Type="http://schemas.openxmlformats.org/officeDocument/2006/relationships/image" Target="../media/image13.png"/><Relationship Id="rId19" Type="http://schemas.openxmlformats.org/officeDocument/2006/relationships/image" Target="../media/image31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26.png"/><Relationship Id="rId22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7.png"/><Relationship Id="rId3" Type="http://schemas.openxmlformats.org/officeDocument/2006/relationships/image" Target="../media/image6.png"/><Relationship Id="rId7" Type="http://schemas.openxmlformats.org/officeDocument/2006/relationships/image" Target="../media/image46.png"/><Relationship Id="rId12" Type="http://schemas.openxmlformats.org/officeDocument/2006/relationships/image" Target="../media/image32.png"/><Relationship Id="rId17" Type="http://schemas.openxmlformats.org/officeDocument/2006/relationships/image" Target="../media/image45.png"/><Relationship Id="rId2" Type="http://schemas.openxmlformats.org/officeDocument/2006/relationships/image" Target="../media/image4.png"/><Relationship Id="rId16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6.png"/><Relationship Id="rId5" Type="http://schemas.openxmlformats.org/officeDocument/2006/relationships/image" Target="../media/image8.png"/><Relationship Id="rId15" Type="http://schemas.openxmlformats.org/officeDocument/2006/relationships/image" Target="../media/image49.png"/><Relationship Id="rId10" Type="http://schemas.openxmlformats.org/officeDocument/2006/relationships/image" Target="../media/image220.png"/><Relationship Id="rId4" Type="http://schemas.openxmlformats.org/officeDocument/2006/relationships/image" Target="../media/image7.png"/><Relationship Id="rId14" Type="http://schemas.openxmlformats.org/officeDocument/2006/relationships/image" Target="../media/image4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eur droit avec flèche 1">
            <a:extLst>
              <a:ext uri="{FF2B5EF4-FFF2-40B4-BE49-F238E27FC236}">
                <a16:creationId xmlns:a16="http://schemas.microsoft.com/office/drawing/2014/main" id="{064E4AA0-F8B3-48BF-6F79-05B1CDE29099}"/>
              </a:ext>
            </a:extLst>
          </p:cNvPr>
          <p:cNvCxnSpPr/>
          <p:nvPr/>
        </p:nvCxnSpPr>
        <p:spPr>
          <a:xfrm flipV="1">
            <a:off x="6829319" y="1630730"/>
            <a:ext cx="720000" cy="1536"/>
          </a:xfrm>
          <a:prstGeom prst="straightConnector1">
            <a:avLst/>
          </a:prstGeom>
          <a:ln w="25400">
            <a:solidFill>
              <a:srgbClr val="08A55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B9F90E96-3FAA-F8EB-2B47-7B9B509A3C63}"/>
              </a:ext>
            </a:extLst>
          </p:cNvPr>
          <p:cNvGrpSpPr/>
          <p:nvPr/>
        </p:nvGrpSpPr>
        <p:grpSpPr>
          <a:xfrm rot="5400000" flipV="1">
            <a:off x="10338465" y="3845680"/>
            <a:ext cx="882797" cy="1977609"/>
            <a:chOff x="9103807" y="2423324"/>
            <a:chExt cx="882797" cy="2005300"/>
          </a:xfrm>
        </p:grpSpPr>
        <p:sp>
          <p:nvSpPr>
            <p:cNvPr id="62" name="Flèche : virage 61">
              <a:extLst>
                <a:ext uri="{FF2B5EF4-FFF2-40B4-BE49-F238E27FC236}">
                  <a16:creationId xmlns:a16="http://schemas.microsoft.com/office/drawing/2014/main" id="{DC0A933B-7C60-BFFF-B43D-12A520D67AF5}"/>
                </a:ext>
              </a:extLst>
            </p:cNvPr>
            <p:cNvSpPr/>
            <p:nvPr/>
          </p:nvSpPr>
          <p:spPr>
            <a:xfrm rot="5400000">
              <a:off x="8603165" y="2923966"/>
              <a:ext cx="1884081" cy="882797"/>
            </a:xfrm>
            <a:prstGeom prst="bentArrow">
              <a:avLst>
                <a:gd name="adj1" fmla="val 31434"/>
                <a:gd name="adj2" fmla="val 25000"/>
                <a:gd name="adj3" fmla="val 17852"/>
                <a:gd name="adj4" fmla="val 20160"/>
              </a:avLst>
            </a:prstGeom>
            <a:solidFill>
              <a:srgbClr val="B2CA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63" name="ZoneTexte 62">
              <a:extLst>
                <a:ext uri="{FF2B5EF4-FFF2-40B4-BE49-F238E27FC236}">
                  <a16:creationId xmlns:a16="http://schemas.microsoft.com/office/drawing/2014/main" id="{F7827995-4CB1-F1F7-B279-BF197792E3E3}"/>
                </a:ext>
              </a:extLst>
            </p:cNvPr>
            <p:cNvSpPr txBox="1"/>
            <p:nvPr/>
          </p:nvSpPr>
          <p:spPr>
            <a:xfrm rot="16200000">
              <a:off x="8780158" y="3297127"/>
              <a:ext cx="1955216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fr-FR" sz="1400" dirty="0">
                  <a:solidFill>
                    <a:schemeClr val="bg1"/>
                  </a:solidFill>
                </a:rPr>
                <a:t>Boule en mouvement</a:t>
              </a:r>
            </a:p>
          </p:txBody>
        </p:sp>
      </p:grpSp>
      <p:sp>
        <p:nvSpPr>
          <p:cNvPr id="4" name="Titre 3">
            <a:extLst>
              <a:ext uri="{FF2B5EF4-FFF2-40B4-BE49-F238E27FC236}">
                <a16:creationId xmlns:a16="http://schemas.microsoft.com/office/drawing/2014/main" id="{6B1A13B3-5149-FA1A-CC2E-224E94D25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BGR – Axe boule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CED491E-0826-EEF9-74D6-5744327FB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1</a:t>
            </a:fld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D795C968-BC3C-1567-576F-53C8D60C7C59}"/>
              </a:ext>
            </a:extLst>
          </p:cNvPr>
          <p:cNvSpPr/>
          <p:nvPr/>
        </p:nvSpPr>
        <p:spPr>
          <a:xfrm>
            <a:off x="1056905" y="1444678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04F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04F77"/>
                </a:solidFill>
                <a:latin typeface="Arial Nova" panose="020B0504020202020204" pitchFamily="34" charset="0"/>
              </a:rPr>
              <a:t>Acquérir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918DF59A-E2E4-2A2C-37EB-73D1E5D62C34}"/>
              </a:ext>
            </a:extLst>
          </p:cNvPr>
          <p:cNvSpPr/>
          <p:nvPr/>
        </p:nvSpPr>
        <p:spPr>
          <a:xfrm>
            <a:off x="1056905" y="2219824"/>
            <a:ext cx="1440000" cy="720000"/>
          </a:xfrm>
          <a:prstGeom prst="roundRect">
            <a:avLst>
              <a:gd name="adj" fmla="val 11914"/>
            </a:avLst>
          </a:prstGeom>
          <a:solidFill>
            <a:srgbClr val="DFE3EB"/>
          </a:solidFill>
          <a:ln w="19050">
            <a:solidFill>
              <a:srgbClr val="DFE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004F77"/>
                </a:solidFill>
                <a:latin typeface="Arial Nova" panose="020B0504020202020204" pitchFamily="34" charset="0"/>
              </a:rPr>
              <a:t>Codeur incrémental</a:t>
            </a:r>
          </a:p>
          <a:p>
            <a:pPr algn="ctr"/>
            <a:r>
              <a:rPr lang="fr-FR" sz="1200" dirty="0">
                <a:solidFill>
                  <a:srgbClr val="004F77"/>
                </a:solidFill>
                <a:latin typeface="Arial Nova" panose="020B0504020202020204" pitchFamily="34" charset="0"/>
              </a:rPr>
              <a:t>Inclinomètre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3A21C11E-BCE9-7FD2-3DC9-AEBB72B36909}"/>
              </a:ext>
            </a:extLst>
          </p:cNvPr>
          <p:cNvSpPr/>
          <p:nvPr/>
        </p:nvSpPr>
        <p:spPr>
          <a:xfrm>
            <a:off x="3229319" y="1443142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04F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C7391"/>
                </a:solidFill>
                <a:latin typeface="Arial Nova" panose="020B0504020202020204" pitchFamily="34" charset="0"/>
              </a:rPr>
              <a:t>Traiter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9E563B7E-4153-DECA-AFFC-7C7EB26DF1B2}"/>
              </a:ext>
            </a:extLst>
          </p:cNvPr>
          <p:cNvSpPr/>
          <p:nvPr/>
        </p:nvSpPr>
        <p:spPr>
          <a:xfrm>
            <a:off x="3218894" y="2236003"/>
            <a:ext cx="1440000" cy="540000"/>
          </a:xfrm>
          <a:prstGeom prst="roundRect">
            <a:avLst>
              <a:gd name="adj" fmla="val 11914"/>
            </a:avLst>
          </a:prstGeom>
          <a:solidFill>
            <a:srgbClr val="E4EBF0"/>
          </a:solidFill>
          <a:ln w="19050">
            <a:solidFill>
              <a:srgbClr val="E4EB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0C7391"/>
                </a:solidFill>
                <a:latin typeface="Arial Nova" panose="020B0504020202020204" pitchFamily="34" charset="0"/>
              </a:rPr>
              <a:t>Carte de commande EPOS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6B1F36CD-C30E-4C5F-385C-9C8A21F267DC}"/>
              </a:ext>
            </a:extLst>
          </p:cNvPr>
          <p:cNvSpPr/>
          <p:nvPr/>
        </p:nvSpPr>
        <p:spPr>
          <a:xfrm>
            <a:off x="5389319" y="1420801"/>
            <a:ext cx="1440000" cy="576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8A5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8A559"/>
                </a:solidFill>
                <a:latin typeface="Arial Nova" panose="020B0504020202020204" pitchFamily="34" charset="0"/>
              </a:rPr>
              <a:t>Communiquer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8D7359E7-9FDC-08FD-DC9D-0F15683BC326}"/>
              </a:ext>
            </a:extLst>
          </p:cNvPr>
          <p:cNvSpPr/>
          <p:nvPr/>
        </p:nvSpPr>
        <p:spPr>
          <a:xfrm>
            <a:off x="5389319" y="2214770"/>
            <a:ext cx="1406281" cy="534390"/>
          </a:xfrm>
          <a:prstGeom prst="roundRect">
            <a:avLst>
              <a:gd name="adj" fmla="val 11914"/>
            </a:avLst>
          </a:prstGeom>
          <a:solidFill>
            <a:srgbClr val="E8F3E8"/>
          </a:solidFill>
          <a:ln w="19050">
            <a:solidFill>
              <a:srgbClr val="E8F3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08A559"/>
                </a:solidFill>
                <a:latin typeface="Arial Nova" panose="020B0504020202020204" pitchFamily="34" charset="0"/>
              </a:rPr>
              <a:t>Communiquer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2BFEBEF7-705E-46FD-8C4B-5178E5ACBDB2}"/>
              </a:ext>
            </a:extLst>
          </p:cNvPr>
          <p:cNvSpPr/>
          <p:nvPr/>
        </p:nvSpPr>
        <p:spPr>
          <a:xfrm>
            <a:off x="1056905" y="3437532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FDAD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FDAD57"/>
                </a:solidFill>
                <a:latin typeface="Arial Nova" panose="020B0504020202020204" pitchFamily="34" charset="0"/>
              </a:rPr>
              <a:t>Alimenter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3344F7B6-ACF1-41A6-1551-1E76B212FBE0}"/>
              </a:ext>
            </a:extLst>
          </p:cNvPr>
          <p:cNvSpPr/>
          <p:nvPr/>
        </p:nvSpPr>
        <p:spPr>
          <a:xfrm>
            <a:off x="1056905" y="4132287"/>
            <a:ext cx="1440000" cy="540000"/>
          </a:xfrm>
          <a:prstGeom prst="roundRect">
            <a:avLst>
              <a:gd name="adj" fmla="val 11914"/>
            </a:avLst>
          </a:prstGeom>
          <a:solidFill>
            <a:srgbClr val="FEE6CC"/>
          </a:solidFill>
          <a:ln w="19050">
            <a:solidFill>
              <a:srgbClr val="FEE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FDAD57"/>
                </a:solidFill>
                <a:latin typeface="Arial Nova" panose="020B0504020202020204" pitchFamily="34" charset="0"/>
              </a:rPr>
              <a:t>Transformateur Alimentation 24 V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5993B93C-6358-CDBD-8425-B3C1FF36002B}"/>
              </a:ext>
            </a:extLst>
          </p:cNvPr>
          <p:cNvSpPr/>
          <p:nvPr/>
        </p:nvSpPr>
        <p:spPr>
          <a:xfrm>
            <a:off x="3218894" y="3432769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C739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C7391"/>
                </a:solidFill>
                <a:latin typeface="Arial Nova" panose="020B0504020202020204" pitchFamily="34" charset="0"/>
              </a:rPr>
              <a:t>Distribuer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856C1EFC-E8DC-74F6-4C1B-12FC3721C149}"/>
              </a:ext>
            </a:extLst>
          </p:cNvPr>
          <p:cNvSpPr/>
          <p:nvPr/>
        </p:nvSpPr>
        <p:spPr>
          <a:xfrm>
            <a:off x="3229319" y="4117990"/>
            <a:ext cx="1440000" cy="540000"/>
          </a:xfrm>
          <a:prstGeom prst="roundRect">
            <a:avLst>
              <a:gd name="adj" fmla="val 11914"/>
            </a:avLst>
          </a:prstGeom>
          <a:solidFill>
            <a:srgbClr val="9EC7D3"/>
          </a:solidFill>
          <a:ln w="19050">
            <a:solidFill>
              <a:srgbClr val="9EC7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0C7391"/>
                </a:solidFill>
                <a:latin typeface="Arial Nova" panose="020B0504020202020204" pitchFamily="34" charset="0"/>
              </a:rPr>
              <a:t>Hacheur – Carte EPOS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21644A1E-F74F-36B4-98E8-8D6D6DB0F7F6}"/>
              </a:ext>
            </a:extLst>
          </p:cNvPr>
          <p:cNvSpPr/>
          <p:nvPr/>
        </p:nvSpPr>
        <p:spPr>
          <a:xfrm>
            <a:off x="5380883" y="3437532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6834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68348B"/>
                </a:solidFill>
                <a:latin typeface="Arial Nova" panose="020B0504020202020204" pitchFamily="34" charset="0"/>
              </a:rPr>
              <a:t>Convertir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F864AAD2-5EF5-FD75-22C6-0D8871D20678}"/>
              </a:ext>
            </a:extLst>
          </p:cNvPr>
          <p:cNvSpPr/>
          <p:nvPr/>
        </p:nvSpPr>
        <p:spPr>
          <a:xfrm>
            <a:off x="5389319" y="4117990"/>
            <a:ext cx="1440000" cy="540000"/>
          </a:xfrm>
          <a:prstGeom prst="roundRect">
            <a:avLst>
              <a:gd name="adj" fmla="val 11914"/>
            </a:avLst>
          </a:prstGeom>
          <a:solidFill>
            <a:srgbClr val="C3AED1"/>
          </a:solidFill>
          <a:ln w="19050">
            <a:solidFill>
              <a:srgbClr val="C3AE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68348B"/>
                </a:solidFill>
                <a:latin typeface="Arial Nova" panose="020B0504020202020204" pitchFamily="34" charset="0"/>
              </a:rPr>
              <a:t>Moteur CC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3741D88A-AC67-EEAF-67D1-02578FD98C8E}"/>
              </a:ext>
            </a:extLst>
          </p:cNvPr>
          <p:cNvSpPr/>
          <p:nvPr/>
        </p:nvSpPr>
        <p:spPr>
          <a:xfrm>
            <a:off x="7542872" y="3440639"/>
            <a:ext cx="1365662" cy="53439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EE685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EE685D"/>
                </a:solidFill>
                <a:latin typeface="Arial Nova" panose="020B0504020202020204" pitchFamily="34" charset="0"/>
              </a:rPr>
              <a:t>Transmettre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D98A4E40-D360-EF0F-69D4-37438F82647F}"/>
              </a:ext>
            </a:extLst>
          </p:cNvPr>
          <p:cNvSpPr/>
          <p:nvPr/>
        </p:nvSpPr>
        <p:spPr>
          <a:xfrm>
            <a:off x="7549319" y="4097487"/>
            <a:ext cx="1365662" cy="534390"/>
          </a:xfrm>
          <a:prstGeom prst="roundRect">
            <a:avLst>
              <a:gd name="adj" fmla="val 11914"/>
            </a:avLst>
          </a:prstGeom>
          <a:solidFill>
            <a:srgbClr val="F7B8B3"/>
          </a:solidFill>
          <a:ln w="19050">
            <a:solidFill>
              <a:srgbClr val="F7B8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EE685D"/>
                </a:solidFill>
                <a:latin typeface="Arial Nova" panose="020B0504020202020204" pitchFamily="34" charset="0"/>
              </a:rPr>
              <a:t>Train épi (92,70)</a:t>
            </a:r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3A27BA98-37D0-071E-0034-A8F152781DA2}"/>
              </a:ext>
            </a:extLst>
          </p:cNvPr>
          <p:cNvGrpSpPr/>
          <p:nvPr/>
        </p:nvGrpSpPr>
        <p:grpSpPr>
          <a:xfrm>
            <a:off x="1304511" y="1903819"/>
            <a:ext cx="360000" cy="360000"/>
            <a:chOff x="5404964" y="4396133"/>
            <a:chExt cx="1800000" cy="1800000"/>
          </a:xfrm>
        </p:grpSpPr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AF6059D3-A447-3650-DBB0-E43A01137737}"/>
                </a:ext>
              </a:extLst>
            </p:cNvPr>
            <p:cNvSpPr/>
            <p:nvPr/>
          </p:nvSpPr>
          <p:spPr>
            <a:xfrm>
              <a:off x="5404964" y="4396133"/>
              <a:ext cx="1800000" cy="1800000"/>
            </a:xfrm>
            <a:prstGeom prst="ellipse">
              <a:avLst/>
            </a:prstGeom>
            <a:solidFill>
              <a:srgbClr val="0051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3" name="Image 22">
              <a:extLst>
                <a:ext uri="{FF2B5EF4-FFF2-40B4-BE49-F238E27FC236}">
                  <a16:creationId xmlns:a16="http://schemas.microsoft.com/office/drawing/2014/main" id="{A6CDBBC0-D3DC-F349-2C16-BF936D04FE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43445" y="4536296"/>
              <a:ext cx="1358232" cy="1440000"/>
            </a:xfrm>
            <a:prstGeom prst="rect">
              <a:avLst/>
            </a:prstGeom>
          </p:spPr>
        </p:pic>
      </p:grpSp>
      <p:pic>
        <p:nvPicPr>
          <p:cNvPr id="25" name="Image 24">
            <a:extLst>
              <a:ext uri="{FF2B5EF4-FFF2-40B4-BE49-F238E27FC236}">
                <a16:creationId xmlns:a16="http://schemas.microsoft.com/office/drawing/2014/main" id="{A13EB412-2158-6E43-F61D-10A890CB2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2117" y="1919446"/>
            <a:ext cx="360000" cy="360000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1D2C4C8B-0FCC-A2FF-CBCF-FF9739D62F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826" y="1498649"/>
            <a:ext cx="434918" cy="152010"/>
          </a:xfrm>
          <a:prstGeom prst="rect">
            <a:avLst/>
          </a:prstGeom>
        </p:spPr>
      </p:pic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56F184E9-809A-A3C9-1755-4F6B9B443CD7}"/>
              </a:ext>
            </a:extLst>
          </p:cNvPr>
          <p:cNvCxnSpPr>
            <a:cxnSpLocks/>
          </p:cNvCxnSpPr>
          <p:nvPr/>
        </p:nvCxnSpPr>
        <p:spPr>
          <a:xfrm flipV="1">
            <a:off x="2496905" y="1722751"/>
            <a:ext cx="720000" cy="1536"/>
          </a:xfrm>
          <a:prstGeom prst="straightConnector1">
            <a:avLst/>
          </a:prstGeom>
          <a:ln w="25400" cap="rnd">
            <a:solidFill>
              <a:srgbClr val="004F7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3C6620C6-C80C-691B-34DC-9B69D891504D}"/>
              </a:ext>
            </a:extLst>
          </p:cNvPr>
          <p:cNvGrpSpPr/>
          <p:nvPr/>
        </p:nvGrpSpPr>
        <p:grpSpPr>
          <a:xfrm rot="5400000">
            <a:off x="3758894" y="1943516"/>
            <a:ext cx="360000" cy="360000"/>
            <a:chOff x="5013689" y="3604429"/>
            <a:chExt cx="1800000" cy="1800000"/>
          </a:xfrm>
        </p:grpSpPr>
        <p:sp>
          <p:nvSpPr>
            <p:cNvPr id="30" name="Ellipse 29">
              <a:extLst>
                <a:ext uri="{FF2B5EF4-FFF2-40B4-BE49-F238E27FC236}">
                  <a16:creationId xmlns:a16="http://schemas.microsoft.com/office/drawing/2014/main" id="{C6775BDF-7651-0D6D-298D-DBF1313263D4}"/>
                </a:ext>
              </a:extLst>
            </p:cNvPr>
            <p:cNvSpPr/>
            <p:nvPr/>
          </p:nvSpPr>
          <p:spPr>
            <a:xfrm>
              <a:off x="5013689" y="3604429"/>
              <a:ext cx="1800000" cy="180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31" name="Image 30">
              <a:extLst>
                <a:ext uri="{FF2B5EF4-FFF2-40B4-BE49-F238E27FC236}">
                  <a16:creationId xmlns:a16="http://schemas.microsoft.com/office/drawing/2014/main" id="{B480C312-DAF5-11CE-F2FA-8632259DFD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57424" y="3852621"/>
              <a:ext cx="912531" cy="1303616"/>
            </a:xfrm>
            <a:prstGeom prst="rect">
              <a:avLst/>
            </a:prstGeom>
          </p:spPr>
        </p:pic>
      </p:grp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2516F913-F563-E2BC-304C-4BAEAEFA830A}"/>
              </a:ext>
            </a:extLst>
          </p:cNvPr>
          <p:cNvCxnSpPr/>
          <p:nvPr/>
        </p:nvCxnSpPr>
        <p:spPr>
          <a:xfrm flipV="1">
            <a:off x="4669319" y="1708801"/>
            <a:ext cx="720000" cy="1536"/>
          </a:xfrm>
          <a:prstGeom prst="straightConnector1">
            <a:avLst/>
          </a:prstGeom>
          <a:ln w="25400" cap="rnd">
            <a:solidFill>
              <a:srgbClr val="004F7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Image 33">
            <a:extLst>
              <a:ext uri="{FF2B5EF4-FFF2-40B4-BE49-F238E27FC236}">
                <a16:creationId xmlns:a16="http://schemas.microsoft.com/office/drawing/2014/main" id="{86B36458-367E-9E5B-68A4-0C26D4E0FC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8894" y="1313442"/>
            <a:ext cx="360000" cy="360000"/>
          </a:xfrm>
          <a:prstGeom prst="rect">
            <a:avLst/>
          </a:prstGeom>
        </p:spPr>
      </p:pic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2A759AA0-F3FD-C26A-60D8-97778FA4410F}"/>
              </a:ext>
            </a:extLst>
          </p:cNvPr>
          <p:cNvCxnSpPr>
            <a:cxnSpLocks/>
          </p:cNvCxnSpPr>
          <p:nvPr/>
        </p:nvCxnSpPr>
        <p:spPr>
          <a:xfrm flipV="1">
            <a:off x="2509319" y="3705996"/>
            <a:ext cx="720000" cy="1536"/>
          </a:xfrm>
          <a:prstGeom prst="straightConnector1">
            <a:avLst/>
          </a:prstGeom>
          <a:ln w="25400" cap="rnd">
            <a:solidFill>
              <a:srgbClr val="FDAD5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e 35">
            <a:extLst>
              <a:ext uri="{FF2B5EF4-FFF2-40B4-BE49-F238E27FC236}">
                <a16:creationId xmlns:a16="http://schemas.microsoft.com/office/drawing/2014/main" id="{C432E140-C791-725B-4BEE-162F12959100}"/>
              </a:ext>
            </a:extLst>
          </p:cNvPr>
          <p:cNvGrpSpPr/>
          <p:nvPr/>
        </p:nvGrpSpPr>
        <p:grpSpPr>
          <a:xfrm>
            <a:off x="510604" y="3934472"/>
            <a:ext cx="360000" cy="360000"/>
            <a:chOff x="4197400" y="3547713"/>
            <a:chExt cx="1800000" cy="1800000"/>
          </a:xfrm>
        </p:grpSpPr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F72BB05F-3C81-6BD0-8528-132F98B4087C}"/>
                </a:ext>
              </a:extLst>
            </p:cNvPr>
            <p:cNvSpPr/>
            <p:nvPr/>
          </p:nvSpPr>
          <p:spPr>
            <a:xfrm>
              <a:off x="4197400" y="3547713"/>
              <a:ext cx="1800000" cy="1800000"/>
            </a:xfrm>
            <a:prstGeom prst="ellipse">
              <a:avLst/>
            </a:prstGeom>
            <a:solidFill>
              <a:srgbClr val="FFB2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38" name="Image 37">
              <a:extLst>
                <a:ext uri="{FF2B5EF4-FFF2-40B4-BE49-F238E27FC236}">
                  <a16:creationId xmlns:a16="http://schemas.microsoft.com/office/drawing/2014/main" id="{0241FA1B-C23B-A98A-6FA9-9AD3F149F46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526157" y="3876470"/>
              <a:ext cx="1142486" cy="1142486"/>
            </a:xfrm>
            <a:prstGeom prst="rect">
              <a:avLst/>
            </a:prstGeom>
          </p:spPr>
        </p:pic>
      </p:grpSp>
      <p:pic>
        <p:nvPicPr>
          <p:cNvPr id="39" name="Image 38">
            <a:extLst>
              <a:ext uri="{FF2B5EF4-FFF2-40B4-BE49-F238E27FC236}">
                <a16:creationId xmlns:a16="http://schemas.microsoft.com/office/drawing/2014/main" id="{E3A983DC-8604-4428-90A0-1BAE06DE62C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7333" y="3260167"/>
            <a:ext cx="360000" cy="360000"/>
          </a:xfrm>
          <a:prstGeom prst="rect">
            <a:avLst/>
          </a:prstGeom>
        </p:spPr>
      </p:pic>
      <p:pic>
        <p:nvPicPr>
          <p:cNvPr id="40" name="Image 39">
            <a:extLst>
              <a:ext uri="{FF2B5EF4-FFF2-40B4-BE49-F238E27FC236}">
                <a16:creationId xmlns:a16="http://schemas.microsoft.com/office/drawing/2014/main" id="{807256A2-2D51-482D-5FEB-74F10613D3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76905" y="3288253"/>
            <a:ext cx="360000" cy="360000"/>
          </a:xfrm>
          <a:prstGeom prst="rect">
            <a:avLst/>
          </a:prstGeom>
        </p:spPr>
      </p:pic>
      <p:grpSp>
        <p:nvGrpSpPr>
          <p:cNvPr id="44" name="Groupe 43">
            <a:extLst>
              <a:ext uri="{FF2B5EF4-FFF2-40B4-BE49-F238E27FC236}">
                <a16:creationId xmlns:a16="http://schemas.microsoft.com/office/drawing/2014/main" id="{04E9D792-DC23-45E0-4C57-F4C8652B27B7}"/>
              </a:ext>
            </a:extLst>
          </p:cNvPr>
          <p:cNvGrpSpPr/>
          <p:nvPr/>
        </p:nvGrpSpPr>
        <p:grpSpPr>
          <a:xfrm>
            <a:off x="3769319" y="3882769"/>
            <a:ext cx="360000" cy="360000"/>
            <a:chOff x="6955958" y="3325976"/>
            <a:chExt cx="1800000" cy="1800000"/>
          </a:xfrm>
        </p:grpSpPr>
        <p:sp>
          <p:nvSpPr>
            <p:cNvPr id="45" name="Ellipse 44">
              <a:extLst>
                <a:ext uri="{FF2B5EF4-FFF2-40B4-BE49-F238E27FC236}">
                  <a16:creationId xmlns:a16="http://schemas.microsoft.com/office/drawing/2014/main" id="{2023547D-7AD8-2476-352E-2003CAAE25E0}"/>
                </a:ext>
              </a:extLst>
            </p:cNvPr>
            <p:cNvSpPr/>
            <p:nvPr/>
          </p:nvSpPr>
          <p:spPr>
            <a:xfrm>
              <a:off x="6955958" y="3325976"/>
              <a:ext cx="1800000" cy="1800000"/>
            </a:xfrm>
            <a:prstGeom prst="ellipse">
              <a:avLst/>
            </a:prstGeom>
            <a:solidFill>
              <a:srgbClr val="0C73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46" name="Image 45">
              <a:extLst>
                <a:ext uri="{FF2B5EF4-FFF2-40B4-BE49-F238E27FC236}">
                  <a16:creationId xmlns:a16="http://schemas.microsoft.com/office/drawing/2014/main" id="{B4A8BA83-645D-52A3-AEB7-1179427FDCF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212124" y="3645024"/>
              <a:ext cx="1394286" cy="1161904"/>
            </a:xfrm>
            <a:prstGeom prst="rect">
              <a:avLst/>
            </a:prstGeom>
          </p:spPr>
        </p:pic>
        <p:pic>
          <p:nvPicPr>
            <p:cNvPr id="47" name="Image 46">
              <a:extLst>
                <a:ext uri="{FF2B5EF4-FFF2-40B4-BE49-F238E27FC236}">
                  <a16:creationId xmlns:a16="http://schemas.microsoft.com/office/drawing/2014/main" id="{302262FB-10CE-F782-72FE-6FD5D16DF4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909267" y="4072626"/>
              <a:ext cx="246640" cy="173418"/>
            </a:xfrm>
            <a:prstGeom prst="rect">
              <a:avLst/>
            </a:prstGeom>
          </p:spPr>
        </p:pic>
      </p:grpSp>
      <p:cxnSp>
        <p:nvCxnSpPr>
          <p:cNvPr id="48" name="Connecteur droit avec flèche 47">
            <a:extLst>
              <a:ext uri="{FF2B5EF4-FFF2-40B4-BE49-F238E27FC236}">
                <a16:creationId xmlns:a16="http://schemas.microsoft.com/office/drawing/2014/main" id="{ADC9AE2C-B971-B403-6BD3-1FBC1C8BCEB1}"/>
              </a:ext>
            </a:extLst>
          </p:cNvPr>
          <p:cNvCxnSpPr>
            <a:cxnSpLocks/>
          </p:cNvCxnSpPr>
          <p:nvPr/>
        </p:nvCxnSpPr>
        <p:spPr>
          <a:xfrm flipV="1">
            <a:off x="4669319" y="3693164"/>
            <a:ext cx="720000" cy="1536"/>
          </a:xfrm>
          <a:prstGeom prst="straightConnector1">
            <a:avLst/>
          </a:prstGeom>
          <a:ln w="25400" cap="rnd">
            <a:solidFill>
              <a:srgbClr val="0C739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Image 48">
            <a:extLst>
              <a:ext uri="{FF2B5EF4-FFF2-40B4-BE49-F238E27FC236}">
                <a16:creationId xmlns:a16="http://schemas.microsoft.com/office/drawing/2014/main" id="{D668B20D-2AB0-DB7C-B49B-C67635DB8BB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8894" y="3288253"/>
            <a:ext cx="360000" cy="360000"/>
          </a:xfrm>
          <a:prstGeom prst="rect">
            <a:avLst/>
          </a:prstGeom>
        </p:spPr>
      </p:pic>
      <p:grpSp>
        <p:nvGrpSpPr>
          <p:cNvPr id="50" name="Groupe 49">
            <a:extLst>
              <a:ext uri="{FF2B5EF4-FFF2-40B4-BE49-F238E27FC236}">
                <a16:creationId xmlns:a16="http://schemas.microsoft.com/office/drawing/2014/main" id="{3BAC2AD8-68D0-64B3-8925-A4804B8ADC35}"/>
              </a:ext>
            </a:extLst>
          </p:cNvPr>
          <p:cNvGrpSpPr/>
          <p:nvPr/>
        </p:nvGrpSpPr>
        <p:grpSpPr>
          <a:xfrm>
            <a:off x="5910458" y="3883180"/>
            <a:ext cx="360000" cy="360000"/>
            <a:chOff x="5775745" y="3144183"/>
            <a:chExt cx="1800000" cy="1800000"/>
          </a:xfrm>
        </p:grpSpPr>
        <p:sp>
          <p:nvSpPr>
            <p:cNvPr id="51" name="Ellipse 50">
              <a:extLst>
                <a:ext uri="{FF2B5EF4-FFF2-40B4-BE49-F238E27FC236}">
                  <a16:creationId xmlns:a16="http://schemas.microsoft.com/office/drawing/2014/main" id="{04F8E12C-8382-F1EC-C191-3370BC42A0F6}"/>
                </a:ext>
              </a:extLst>
            </p:cNvPr>
            <p:cNvSpPr/>
            <p:nvPr/>
          </p:nvSpPr>
          <p:spPr>
            <a:xfrm>
              <a:off x="5775745" y="3144183"/>
              <a:ext cx="1800000" cy="1800000"/>
            </a:xfrm>
            <a:prstGeom prst="ellipse">
              <a:avLst/>
            </a:prstGeom>
            <a:solidFill>
              <a:srgbClr val="6834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52" name="Image 51">
              <a:extLst>
                <a:ext uri="{FF2B5EF4-FFF2-40B4-BE49-F238E27FC236}">
                  <a16:creationId xmlns:a16="http://schemas.microsoft.com/office/drawing/2014/main" id="{F009B8D4-CDD9-2923-1B15-FB51E1B492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903821" y="3513485"/>
              <a:ext cx="1543848" cy="1061396"/>
            </a:xfrm>
            <a:prstGeom prst="rect">
              <a:avLst/>
            </a:prstGeom>
          </p:spPr>
        </p:pic>
      </p:grpSp>
      <p:cxnSp>
        <p:nvCxnSpPr>
          <p:cNvPr id="53" name="Connecteur droit avec flèche 52">
            <a:extLst>
              <a:ext uri="{FF2B5EF4-FFF2-40B4-BE49-F238E27FC236}">
                <a16:creationId xmlns:a16="http://schemas.microsoft.com/office/drawing/2014/main" id="{D8550244-CF3E-46CD-9FB3-D08544E1F6C9}"/>
              </a:ext>
            </a:extLst>
          </p:cNvPr>
          <p:cNvCxnSpPr>
            <a:cxnSpLocks/>
          </p:cNvCxnSpPr>
          <p:nvPr/>
        </p:nvCxnSpPr>
        <p:spPr>
          <a:xfrm flipV="1">
            <a:off x="6829319" y="3702769"/>
            <a:ext cx="720000" cy="1536"/>
          </a:xfrm>
          <a:prstGeom prst="straightConnector1">
            <a:avLst/>
          </a:prstGeom>
          <a:ln w="25400" cap="rnd">
            <a:solidFill>
              <a:srgbClr val="68348B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Groupe 54">
            <a:extLst>
              <a:ext uri="{FF2B5EF4-FFF2-40B4-BE49-F238E27FC236}">
                <a16:creationId xmlns:a16="http://schemas.microsoft.com/office/drawing/2014/main" id="{4FEA3EBC-91ED-BDE9-6607-868717EB421F}"/>
              </a:ext>
            </a:extLst>
          </p:cNvPr>
          <p:cNvGrpSpPr/>
          <p:nvPr/>
        </p:nvGrpSpPr>
        <p:grpSpPr>
          <a:xfrm>
            <a:off x="8045703" y="3852099"/>
            <a:ext cx="360000" cy="360000"/>
            <a:chOff x="5447928" y="2816932"/>
            <a:chExt cx="1800000" cy="1800000"/>
          </a:xfrm>
        </p:grpSpPr>
        <p:sp>
          <p:nvSpPr>
            <p:cNvPr id="56" name="Ellipse 55">
              <a:extLst>
                <a:ext uri="{FF2B5EF4-FFF2-40B4-BE49-F238E27FC236}">
                  <a16:creationId xmlns:a16="http://schemas.microsoft.com/office/drawing/2014/main" id="{639C7740-E0F1-0D34-A959-EEBB5084D37B}"/>
                </a:ext>
              </a:extLst>
            </p:cNvPr>
            <p:cNvSpPr/>
            <p:nvPr/>
          </p:nvSpPr>
          <p:spPr>
            <a:xfrm>
              <a:off x="5447928" y="2816932"/>
              <a:ext cx="1800000" cy="1800000"/>
            </a:xfrm>
            <a:prstGeom prst="ellipse">
              <a:avLst/>
            </a:prstGeom>
            <a:solidFill>
              <a:srgbClr val="EF72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57" name="Image 56">
              <a:extLst>
                <a:ext uri="{FF2B5EF4-FFF2-40B4-BE49-F238E27FC236}">
                  <a16:creationId xmlns:a16="http://schemas.microsoft.com/office/drawing/2014/main" id="{EC612269-D972-EB21-CF55-B36842D064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flipH="1">
              <a:off x="5627848" y="2996852"/>
              <a:ext cx="1440160" cy="1440160"/>
            </a:xfrm>
            <a:prstGeom prst="rect">
              <a:avLst/>
            </a:prstGeom>
          </p:spPr>
        </p:pic>
      </p:grpSp>
      <p:pic>
        <p:nvPicPr>
          <p:cNvPr id="59" name="Image 58">
            <a:extLst>
              <a:ext uri="{FF2B5EF4-FFF2-40B4-BE49-F238E27FC236}">
                <a16:creationId xmlns:a16="http://schemas.microsoft.com/office/drawing/2014/main" id="{B3E9E472-684E-6072-F347-B28F08A29E2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93108" y="3313520"/>
            <a:ext cx="360000" cy="360000"/>
          </a:xfrm>
          <a:prstGeom prst="rect">
            <a:avLst/>
          </a:prstGeom>
        </p:spPr>
      </p:pic>
      <p:cxnSp>
        <p:nvCxnSpPr>
          <p:cNvPr id="61" name="Connecteur : en angle 60">
            <a:extLst>
              <a:ext uri="{FF2B5EF4-FFF2-40B4-BE49-F238E27FC236}">
                <a16:creationId xmlns:a16="http://schemas.microsoft.com/office/drawing/2014/main" id="{58F393DB-2637-6847-79EA-B747BDA4F0F5}"/>
              </a:ext>
            </a:extLst>
          </p:cNvPr>
          <p:cNvCxnSpPr>
            <a:cxnSpLocks/>
            <a:stCxn id="11" idx="3"/>
            <a:endCxn id="64" idx="3"/>
          </p:cNvCxnSpPr>
          <p:nvPr/>
        </p:nvCxnSpPr>
        <p:spPr>
          <a:xfrm flipH="1">
            <a:off x="6795600" y="1708801"/>
            <a:ext cx="33719" cy="1346496"/>
          </a:xfrm>
          <a:prstGeom prst="bentConnector3">
            <a:avLst>
              <a:gd name="adj1" fmla="val -1067152"/>
            </a:avLst>
          </a:prstGeom>
          <a:ln w="25400">
            <a:solidFill>
              <a:srgbClr val="08A55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 : coins arrondis 63">
            <a:extLst>
              <a:ext uri="{FF2B5EF4-FFF2-40B4-BE49-F238E27FC236}">
                <a16:creationId xmlns:a16="http://schemas.microsoft.com/office/drawing/2014/main" id="{199A02DB-D17F-C7D0-AC86-EB38CD79A07D}"/>
              </a:ext>
            </a:extLst>
          </p:cNvPr>
          <p:cNvSpPr/>
          <p:nvPr/>
        </p:nvSpPr>
        <p:spPr>
          <a:xfrm>
            <a:off x="5389319" y="2889618"/>
            <a:ext cx="1406281" cy="331358"/>
          </a:xfrm>
          <a:prstGeom prst="roundRect">
            <a:avLst>
              <a:gd name="adj" fmla="val 11914"/>
            </a:avLst>
          </a:prstGeom>
          <a:solidFill>
            <a:srgbClr val="08A55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bg1"/>
                </a:solidFill>
                <a:latin typeface="Arial Nova" panose="020B0504020202020204" pitchFamily="34" charset="0"/>
              </a:rPr>
              <a:t>Ordres (PWM)</a:t>
            </a:r>
          </a:p>
        </p:txBody>
      </p:sp>
      <p:cxnSp>
        <p:nvCxnSpPr>
          <p:cNvPr id="67" name="Connecteur : en angle 66">
            <a:extLst>
              <a:ext uri="{FF2B5EF4-FFF2-40B4-BE49-F238E27FC236}">
                <a16:creationId xmlns:a16="http://schemas.microsoft.com/office/drawing/2014/main" id="{415B66DC-5BA1-C73F-85C3-52531B5209A7}"/>
              </a:ext>
            </a:extLst>
          </p:cNvPr>
          <p:cNvCxnSpPr>
            <a:cxnSpLocks/>
            <a:stCxn id="64" idx="1"/>
            <a:endCxn id="15" idx="0"/>
          </p:cNvCxnSpPr>
          <p:nvPr/>
        </p:nvCxnSpPr>
        <p:spPr>
          <a:xfrm rot="10800000" flipV="1">
            <a:off x="3938895" y="3055297"/>
            <a:ext cx="1450425" cy="377472"/>
          </a:xfrm>
          <a:prstGeom prst="bentConnector2">
            <a:avLst/>
          </a:prstGeom>
          <a:ln w="25400">
            <a:solidFill>
              <a:srgbClr val="08A55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" name="Image 70">
            <a:extLst>
              <a:ext uri="{FF2B5EF4-FFF2-40B4-BE49-F238E27FC236}">
                <a16:creationId xmlns:a16="http://schemas.microsoft.com/office/drawing/2014/main" id="{A6A4AED6-2581-F94A-2A2C-968E1601F5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4608" y="2741514"/>
            <a:ext cx="288000" cy="288000"/>
          </a:xfrm>
          <a:prstGeom prst="rect">
            <a:avLst/>
          </a:prstGeom>
        </p:spPr>
      </p:pic>
      <p:pic>
        <p:nvPicPr>
          <p:cNvPr id="72" name="Image 71">
            <a:extLst>
              <a:ext uri="{FF2B5EF4-FFF2-40B4-BE49-F238E27FC236}">
                <a16:creationId xmlns:a16="http://schemas.microsoft.com/office/drawing/2014/main" id="{DD7FF158-FAA1-F881-E216-74F874CDD3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5319" y="3112864"/>
            <a:ext cx="288000" cy="288000"/>
          </a:xfrm>
          <a:prstGeom prst="rect">
            <a:avLst/>
          </a:prstGeom>
        </p:spPr>
      </p:pic>
      <p:sp>
        <p:nvSpPr>
          <p:cNvPr id="73" name="Rectangle : coins arrondis 72">
            <a:extLst>
              <a:ext uri="{FF2B5EF4-FFF2-40B4-BE49-F238E27FC236}">
                <a16:creationId xmlns:a16="http://schemas.microsoft.com/office/drawing/2014/main" id="{9855835A-A07D-9F88-33DC-F41928D86114}"/>
              </a:ext>
            </a:extLst>
          </p:cNvPr>
          <p:cNvSpPr/>
          <p:nvPr/>
        </p:nvSpPr>
        <p:spPr>
          <a:xfrm>
            <a:off x="9634981" y="3429000"/>
            <a:ext cx="1365662" cy="1194790"/>
          </a:xfrm>
          <a:prstGeom prst="roundRect">
            <a:avLst>
              <a:gd name="adj" fmla="val 11914"/>
            </a:avLst>
          </a:prstGeom>
          <a:solidFill>
            <a:srgbClr val="B2CAD6"/>
          </a:solidFill>
          <a:ln w="19050">
            <a:solidFill>
              <a:srgbClr val="B2CA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0D587E"/>
                </a:solidFill>
                <a:latin typeface="Arial Nova" panose="020B0504020202020204" pitchFamily="34" charset="0"/>
              </a:rPr>
              <a:t>Axe Boule en mouvement</a:t>
            </a:r>
          </a:p>
        </p:txBody>
      </p:sp>
      <p:cxnSp>
        <p:nvCxnSpPr>
          <p:cNvPr id="74" name="Connecteur droit avec flèche 73">
            <a:extLst>
              <a:ext uri="{FF2B5EF4-FFF2-40B4-BE49-F238E27FC236}">
                <a16:creationId xmlns:a16="http://schemas.microsoft.com/office/drawing/2014/main" id="{68CD29C3-A317-7C58-A7A7-665AAE50EA4D}"/>
              </a:ext>
            </a:extLst>
          </p:cNvPr>
          <p:cNvCxnSpPr>
            <a:cxnSpLocks/>
          </p:cNvCxnSpPr>
          <p:nvPr/>
        </p:nvCxnSpPr>
        <p:spPr>
          <a:xfrm flipV="1">
            <a:off x="8911620" y="3702769"/>
            <a:ext cx="720000" cy="1536"/>
          </a:xfrm>
          <a:prstGeom prst="straightConnector1">
            <a:avLst/>
          </a:prstGeom>
          <a:ln w="25400" cap="rnd">
            <a:solidFill>
              <a:srgbClr val="68348B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5" name="Image 74">
            <a:extLst>
              <a:ext uri="{FF2B5EF4-FFF2-40B4-BE49-F238E27FC236}">
                <a16:creationId xmlns:a16="http://schemas.microsoft.com/office/drawing/2014/main" id="{98FCC971-55C0-A51F-BCE7-08096E5E668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75409" y="3313520"/>
            <a:ext cx="360000" cy="360000"/>
          </a:xfrm>
          <a:prstGeom prst="rect">
            <a:avLst/>
          </a:prstGeom>
        </p:spPr>
      </p:pic>
      <p:grpSp>
        <p:nvGrpSpPr>
          <p:cNvPr id="58" name="Groupe 57">
            <a:extLst>
              <a:ext uri="{FF2B5EF4-FFF2-40B4-BE49-F238E27FC236}">
                <a16:creationId xmlns:a16="http://schemas.microsoft.com/office/drawing/2014/main" id="{98F0CD1E-89E1-DFA7-FBAA-4E54E6CF9E61}"/>
              </a:ext>
            </a:extLst>
          </p:cNvPr>
          <p:cNvGrpSpPr/>
          <p:nvPr/>
        </p:nvGrpSpPr>
        <p:grpSpPr>
          <a:xfrm>
            <a:off x="8611878" y="2802701"/>
            <a:ext cx="1549219" cy="611677"/>
            <a:chOff x="9075408" y="2802701"/>
            <a:chExt cx="1549219" cy="611677"/>
          </a:xfrm>
        </p:grpSpPr>
        <p:sp>
          <p:nvSpPr>
            <p:cNvPr id="43" name="Flèche : virage 42">
              <a:extLst>
                <a:ext uri="{FF2B5EF4-FFF2-40B4-BE49-F238E27FC236}">
                  <a16:creationId xmlns:a16="http://schemas.microsoft.com/office/drawing/2014/main" id="{37F5A08A-BEE9-45DF-FC81-F28AA089494D}"/>
                </a:ext>
              </a:extLst>
            </p:cNvPr>
            <p:cNvSpPr/>
            <p:nvPr/>
          </p:nvSpPr>
          <p:spPr>
            <a:xfrm rot="5400000">
              <a:off x="9563593" y="2353345"/>
              <a:ext cx="572849" cy="1549218"/>
            </a:xfrm>
            <a:prstGeom prst="bentArrow">
              <a:avLst>
                <a:gd name="adj1" fmla="val 38639"/>
                <a:gd name="adj2" fmla="val 38302"/>
                <a:gd name="adj3" fmla="val 16744"/>
                <a:gd name="adj4" fmla="val 20160"/>
              </a:avLst>
            </a:prstGeom>
            <a:solidFill>
              <a:srgbClr val="B2CA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54" name="ZoneTexte 53">
              <a:extLst>
                <a:ext uri="{FF2B5EF4-FFF2-40B4-BE49-F238E27FC236}">
                  <a16:creationId xmlns:a16="http://schemas.microsoft.com/office/drawing/2014/main" id="{29614AA8-90A9-BE78-3B0D-0133E188D68A}"/>
                </a:ext>
              </a:extLst>
            </p:cNvPr>
            <p:cNvSpPr txBox="1"/>
            <p:nvPr/>
          </p:nvSpPr>
          <p:spPr>
            <a:xfrm>
              <a:off x="9075408" y="2802701"/>
              <a:ext cx="147371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fr-FR" sz="1400" dirty="0">
                  <a:solidFill>
                    <a:schemeClr val="bg1"/>
                  </a:solidFill>
                </a:rPr>
                <a:t>Boule à l’arrêt</a:t>
              </a:r>
            </a:p>
          </p:txBody>
        </p:sp>
      </p:grpSp>
      <p:pic>
        <p:nvPicPr>
          <p:cNvPr id="65" name="Image 64">
            <a:extLst>
              <a:ext uri="{FF2B5EF4-FFF2-40B4-BE49-F238E27FC236}">
                <a16:creationId xmlns:a16="http://schemas.microsoft.com/office/drawing/2014/main" id="{63E8625E-A2F1-587D-FCF3-E014A3E939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027" y="1632266"/>
            <a:ext cx="434918" cy="152010"/>
          </a:xfrm>
          <a:prstGeom prst="rect">
            <a:avLst/>
          </a:prstGeom>
        </p:spPr>
      </p:pic>
      <p:pic>
        <p:nvPicPr>
          <p:cNvPr id="66" name="Image 65">
            <a:extLst>
              <a:ext uri="{FF2B5EF4-FFF2-40B4-BE49-F238E27FC236}">
                <a16:creationId xmlns:a16="http://schemas.microsoft.com/office/drawing/2014/main" id="{C17A8E59-00CE-32B0-C02D-92B62C4C13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0466" y="4693198"/>
            <a:ext cx="434918" cy="152010"/>
          </a:xfrm>
          <a:prstGeom prst="rect">
            <a:avLst/>
          </a:prstGeom>
        </p:spPr>
      </p:pic>
      <p:pic>
        <p:nvPicPr>
          <p:cNvPr id="68" name="Image 67">
            <a:extLst>
              <a:ext uri="{FF2B5EF4-FFF2-40B4-BE49-F238E27FC236}">
                <a16:creationId xmlns:a16="http://schemas.microsoft.com/office/drawing/2014/main" id="{377BAD26-459B-7811-D8C6-BBB2A57511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7950" y="3748886"/>
            <a:ext cx="434918" cy="152010"/>
          </a:xfrm>
          <a:prstGeom prst="rect">
            <a:avLst/>
          </a:prstGeom>
        </p:spPr>
      </p:pic>
      <p:pic>
        <p:nvPicPr>
          <p:cNvPr id="76" name="Image 75">
            <a:extLst>
              <a:ext uri="{FF2B5EF4-FFF2-40B4-BE49-F238E27FC236}">
                <a16:creationId xmlns:a16="http://schemas.microsoft.com/office/drawing/2014/main" id="{97F28C8E-CCE9-061E-8817-02886AB249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424" y="1791506"/>
            <a:ext cx="434918" cy="152010"/>
          </a:xfrm>
          <a:prstGeom prst="rect">
            <a:avLst/>
          </a:prstGeom>
        </p:spPr>
      </p:pic>
      <p:grpSp>
        <p:nvGrpSpPr>
          <p:cNvPr id="3" name="Groupe 2">
            <a:extLst>
              <a:ext uri="{FF2B5EF4-FFF2-40B4-BE49-F238E27FC236}">
                <a16:creationId xmlns:a16="http://schemas.microsoft.com/office/drawing/2014/main" id="{E4141119-AF92-05B8-C286-0813394E72BA}"/>
              </a:ext>
            </a:extLst>
          </p:cNvPr>
          <p:cNvGrpSpPr/>
          <p:nvPr/>
        </p:nvGrpSpPr>
        <p:grpSpPr>
          <a:xfrm>
            <a:off x="7540883" y="1345899"/>
            <a:ext cx="540000" cy="540000"/>
            <a:chOff x="7851244" y="635246"/>
            <a:chExt cx="1800000" cy="1800000"/>
          </a:xfrm>
        </p:grpSpPr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9D0A5073-6975-9427-745E-E29DAB9AF72D}"/>
                </a:ext>
              </a:extLst>
            </p:cNvPr>
            <p:cNvSpPr/>
            <p:nvPr/>
          </p:nvSpPr>
          <p:spPr>
            <a:xfrm>
              <a:off x="7851244" y="635246"/>
              <a:ext cx="1800000" cy="1800000"/>
            </a:xfrm>
            <a:prstGeom prst="ellipse">
              <a:avLst/>
            </a:prstGeom>
            <a:solidFill>
              <a:srgbClr val="08AF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24" name="Image 23">
              <a:extLst>
                <a:ext uri="{FF2B5EF4-FFF2-40B4-BE49-F238E27FC236}">
                  <a16:creationId xmlns:a16="http://schemas.microsoft.com/office/drawing/2014/main" id="{4D807AA2-D166-FC28-A2C0-CD95BF6292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8074192" y="879141"/>
              <a:ext cx="1337198" cy="1264070"/>
            </a:xfrm>
            <a:prstGeom prst="rect">
              <a:avLst/>
            </a:prstGeom>
          </p:spPr>
        </p:pic>
      </p:grpSp>
      <p:cxnSp>
        <p:nvCxnSpPr>
          <p:cNvPr id="77" name="Connecteur droit avec flèche 76">
            <a:extLst>
              <a:ext uri="{FF2B5EF4-FFF2-40B4-BE49-F238E27FC236}">
                <a16:creationId xmlns:a16="http://schemas.microsoft.com/office/drawing/2014/main" id="{56F184E9-809A-A3C9-1755-4F6B9B443CD7}"/>
              </a:ext>
            </a:extLst>
          </p:cNvPr>
          <p:cNvCxnSpPr>
            <a:cxnSpLocks/>
          </p:cNvCxnSpPr>
          <p:nvPr/>
        </p:nvCxnSpPr>
        <p:spPr>
          <a:xfrm>
            <a:off x="203217" y="1884363"/>
            <a:ext cx="351246" cy="0"/>
          </a:xfrm>
          <a:prstGeom prst="straightConnector1">
            <a:avLst/>
          </a:prstGeom>
          <a:ln w="25400" cap="rnd">
            <a:solidFill>
              <a:srgbClr val="004F7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eur droit avec flèche 78">
            <a:extLst>
              <a:ext uri="{FF2B5EF4-FFF2-40B4-BE49-F238E27FC236}">
                <a16:creationId xmlns:a16="http://schemas.microsoft.com/office/drawing/2014/main" id="{56F184E9-809A-A3C9-1755-4F6B9B443CD7}"/>
              </a:ext>
            </a:extLst>
          </p:cNvPr>
          <p:cNvCxnSpPr>
            <a:cxnSpLocks/>
          </p:cNvCxnSpPr>
          <p:nvPr/>
        </p:nvCxnSpPr>
        <p:spPr>
          <a:xfrm flipV="1">
            <a:off x="203217" y="1903820"/>
            <a:ext cx="0" cy="2979910"/>
          </a:xfrm>
          <a:prstGeom prst="straightConnector1">
            <a:avLst/>
          </a:prstGeom>
          <a:ln w="25400" cap="rnd">
            <a:solidFill>
              <a:srgbClr val="004F77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avec flèche 79">
            <a:extLst>
              <a:ext uri="{FF2B5EF4-FFF2-40B4-BE49-F238E27FC236}">
                <a16:creationId xmlns:a16="http://schemas.microsoft.com/office/drawing/2014/main" id="{56F184E9-809A-A3C9-1755-4F6B9B443CD7}"/>
              </a:ext>
            </a:extLst>
          </p:cNvPr>
          <p:cNvCxnSpPr>
            <a:cxnSpLocks/>
          </p:cNvCxnSpPr>
          <p:nvPr/>
        </p:nvCxnSpPr>
        <p:spPr>
          <a:xfrm>
            <a:off x="203217" y="4883730"/>
            <a:ext cx="6482898" cy="0"/>
          </a:xfrm>
          <a:prstGeom prst="straightConnector1">
            <a:avLst/>
          </a:prstGeom>
          <a:ln w="25400" cap="rnd">
            <a:solidFill>
              <a:srgbClr val="004F77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eur droit avec flèche 83">
            <a:extLst>
              <a:ext uri="{FF2B5EF4-FFF2-40B4-BE49-F238E27FC236}">
                <a16:creationId xmlns:a16="http://schemas.microsoft.com/office/drawing/2014/main" id="{56F184E9-809A-A3C9-1755-4F6B9B443CD7}"/>
              </a:ext>
            </a:extLst>
          </p:cNvPr>
          <p:cNvCxnSpPr>
            <a:cxnSpLocks/>
          </p:cNvCxnSpPr>
          <p:nvPr/>
        </p:nvCxnSpPr>
        <p:spPr>
          <a:xfrm flipV="1">
            <a:off x="6686115" y="4631879"/>
            <a:ext cx="0" cy="251851"/>
          </a:xfrm>
          <a:prstGeom prst="straightConnector1">
            <a:avLst/>
          </a:prstGeom>
          <a:ln w="25400" cap="rnd">
            <a:solidFill>
              <a:srgbClr val="004F77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3A27BA98-37D0-071E-0034-A8F152781DA2}"/>
              </a:ext>
            </a:extLst>
          </p:cNvPr>
          <p:cNvGrpSpPr/>
          <p:nvPr/>
        </p:nvGrpSpPr>
        <p:grpSpPr>
          <a:xfrm>
            <a:off x="6588922" y="4419787"/>
            <a:ext cx="213978" cy="213978"/>
            <a:chOff x="5404964" y="4396133"/>
            <a:chExt cx="1800000" cy="1800000"/>
          </a:xfrm>
        </p:grpSpPr>
        <p:sp>
          <p:nvSpPr>
            <p:cNvPr id="89" name="Ellipse 88">
              <a:extLst>
                <a:ext uri="{FF2B5EF4-FFF2-40B4-BE49-F238E27FC236}">
                  <a16:creationId xmlns:a16="http://schemas.microsoft.com/office/drawing/2014/main" id="{AF6059D3-A447-3650-DBB0-E43A01137737}"/>
                </a:ext>
              </a:extLst>
            </p:cNvPr>
            <p:cNvSpPr/>
            <p:nvPr/>
          </p:nvSpPr>
          <p:spPr>
            <a:xfrm>
              <a:off x="5404964" y="4396133"/>
              <a:ext cx="1800000" cy="1800000"/>
            </a:xfrm>
            <a:prstGeom prst="ellipse">
              <a:avLst/>
            </a:prstGeom>
            <a:solidFill>
              <a:srgbClr val="0051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90" name="Image 89">
              <a:extLst>
                <a:ext uri="{FF2B5EF4-FFF2-40B4-BE49-F238E27FC236}">
                  <a16:creationId xmlns:a16="http://schemas.microsoft.com/office/drawing/2014/main" id="{A6CDBBC0-D3DC-F349-2C16-BF936D04FE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43445" y="4536296"/>
              <a:ext cx="1358232" cy="1440000"/>
            </a:xfrm>
            <a:prstGeom prst="rect">
              <a:avLst/>
            </a:prstGeom>
          </p:spPr>
        </p:pic>
      </p:grpSp>
      <p:pic>
        <p:nvPicPr>
          <p:cNvPr id="93" name="Image 92">
            <a:extLst>
              <a:ext uri="{FF2B5EF4-FFF2-40B4-BE49-F238E27FC236}">
                <a16:creationId xmlns:a16="http://schemas.microsoft.com/office/drawing/2014/main" id="{A13EB412-2158-6E43-F61D-10A890CB2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297" y="3468253"/>
            <a:ext cx="216000" cy="216000"/>
          </a:xfrm>
          <a:prstGeom prst="rect">
            <a:avLst/>
          </a:prstGeom>
        </p:spPr>
      </p:pic>
      <p:cxnSp>
        <p:nvCxnSpPr>
          <p:cNvPr id="94" name="Connecteur droit avec flèche 93">
            <a:extLst>
              <a:ext uri="{FF2B5EF4-FFF2-40B4-BE49-F238E27FC236}">
                <a16:creationId xmlns:a16="http://schemas.microsoft.com/office/drawing/2014/main" id="{56F184E9-809A-A3C9-1755-4F6B9B443CD7}"/>
              </a:ext>
            </a:extLst>
          </p:cNvPr>
          <p:cNvCxnSpPr>
            <a:cxnSpLocks/>
          </p:cNvCxnSpPr>
          <p:nvPr/>
        </p:nvCxnSpPr>
        <p:spPr>
          <a:xfrm flipV="1">
            <a:off x="10879297" y="1187777"/>
            <a:ext cx="0" cy="2280477"/>
          </a:xfrm>
          <a:prstGeom prst="straightConnector1">
            <a:avLst/>
          </a:prstGeom>
          <a:ln w="25400" cap="rnd">
            <a:solidFill>
              <a:srgbClr val="004F77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eur droit avec flèche 95">
            <a:extLst>
              <a:ext uri="{FF2B5EF4-FFF2-40B4-BE49-F238E27FC236}">
                <a16:creationId xmlns:a16="http://schemas.microsoft.com/office/drawing/2014/main" id="{56F184E9-809A-A3C9-1755-4F6B9B443CD7}"/>
              </a:ext>
            </a:extLst>
          </p:cNvPr>
          <p:cNvCxnSpPr>
            <a:cxnSpLocks/>
          </p:cNvCxnSpPr>
          <p:nvPr/>
        </p:nvCxnSpPr>
        <p:spPr>
          <a:xfrm>
            <a:off x="211404" y="1187777"/>
            <a:ext cx="10667893" cy="0"/>
          </a:xfrm>
          <a:prstGeom prst="straightConnector1">
            <a:avLst/>
          </a:prstGeom>
          <a:ln w="25400" cap="rnd">
            <a:solidFill>
              <a:srgbClr val="004F77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eur droit avec flèche 97">
            <a:extLst>
              <a:ext uri="{FF2B5EF4-FFF2-40B4-BE49-F238E27FC236}">
                <a16:creationId xmlns:a16="http://schemas.microsoft.com/office/drawing/2014/main" id="{56F184E9-809A-A3C9-1755-4F6B9B443CD7}"/>
              </a:ext>
            </a:extLst>
          </p:cNvPr>
          <p:cNvCxnSpPr>
            <a:cxnSpLocks/>
          </p:cNvCxnSpPr>
          <p:nvPr/>
        </p:nvCxnSpPr>
        <p:spPr>
          <a:xfrm>
            <a:off x="218178" y="1722751"/>
            <a:ext cx="351246" cy="0"/>
          </a:xfrm>
          <a:prstGeom prst="straightConnector1">
            <a:avLst/>
          </a:prstGeom>
          <a:ln w="25400" cap="rnd">
            <a:solidFill>
              <a:srgbClr val="004F7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eur droit avec flèche 98">
            <a:extLst>
              <a:ext uri="{FF2B5EF4-FFF2-40B4-BE49-F238E27FC236}">
                <a16:creationId xmlns:a16="http://schemas.microsoft.com/office/drawing/2014/main" id="{56F184E9-809A-A3C9-1755-4F6B9B443CD7}"/>
              </a:ext>
            </a:extLst>
          </p:cNvPr>
          <p:cNvCxnSpPr>
            <a:cxnSpLocks/>
          </p:cNvCxnSpPr>
          <p:nvPr/>
        </p:nvCxnSpPr>
        <p:spPr>
          <a:xfrm flipV="1">
            <a:off x="211404" y="1187777"/>
            <a:ext cx="0" cy="534975"/>
          </a:xfrm>
          <a:prstGeom prst="straightConnector1">
            <a:avLst/>
          </a:prstGeom>
          <a:ln w="25400" cap="rnd">
            <a:solidFill>
              <a:srgbClr val="004F77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ZoneTexte 104"/>
              <p:cNvSpPr txBox="1"/>
              <p:nvPr/>
            </p:nvSpPr>
            <p:spPr>
              <a:xfrm>
                <a:off x="2525337" y="3781040"/>
                <a:ext cx="638380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sz="105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5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𝒫</m:t>
                          </m:r>
                        </m:e>
                        <m:sub>
                          <m:r>
                            <a:rPr lang="fr-FR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𝑒𝑙𝑒𝑐</m:t>
                          </m:r>
                        </m:sub>
                      </m:sSub>
                      <m:r>
                        <a:rPr lang="fr-FR" sz="10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sz="10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𝑈𝐼</m:t>
                      </m:r>
                    </m:oMath>
                  </m:oMathPara>
                </a14:m>
                <a:endParaRPr lang="fr-FR" sz="1050" dirty="0"/>
              </a:p>
            </p:txBody>
          </p:sp>
        </mc:Choice>
        <mc:Fallback xmlns="">
          <p:sp>
            <p:nvSpPr>
              <p:cNvPr id="105" name="ZoneTexte 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5337" y="3781040"/>
                <a:ext cx="638380" cy="161583"/>
              </a:xfrm>
              <a:prstGeom prst="rect">
                <a:avLst/>
              </a:prstGeom>
              <a:blipFill>
                <a:blip r:embed="rId15"/>
                <a:stretch>
                  <a:fillRect l="-4762" r="-3810" b="-1481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ZoneTexte 105"/>
              <p:cNvSpPr txBox="1"/>
              <p:nvPr/>
            </p:nvSpPr>
            <p:spPr>
              <a:xfrm>
                <a:off x="4694878" y="3733222"/>
                <a:ext cx="638380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sz="105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5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𝒫</m:t>
                          </m:r>
                        </m:e>
                        <m:sub>
                          <m:r>
                            <a:rPr lang="fr-FR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𝑒𝑙𝑒𝑐</m:t>
                          </m:r>
                        </m:sub>
                      </m:sSub>
                      <m:r>
                        <a:rPr lang="fr-FR" sz="10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sz="10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𝑈𝐼</m:t>
                      </m:r>
                    </m:oMath>
                  </m:oMathPara>
                </a14:m>
                <a:endParaRPr lang="fr-FR" sz="1050" dirty="0"/>
              </a:p>
            </p:txBody>
          </p:sp>
        </mc:Choice>
        <mc:Fallback xmlns="">
          <p:sp>
            <p:nvSpPr>
              <p:cNvPr id="106" name="ZoneTexte 1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4878" y="3733222"/>
                <a:ext cx="638380" cy="161583"/>
              </a:xfrm>
              <a:prstGeom prst="rect">
                <a:avLst/>
              </a:prstGeom>
              <a:blipFill>
                <a:blip r:embed="rId15"/>
                <a:stretch>
                  <a:fillRect l="-4762" r="-3810" b="-1481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ZoneTexte 106"/>
              <p:cNvSpPr txBox="1"/>
              <p:nvPr/>
            </p:nvSpPr>
            <p:spPr>
              <a:xfrm>
                <a:off x="6798395" y="3926892"/>
                <a:ext cx="739818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sz="105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5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𝒫</m:t>
                          </m:r>
                        </m:e>
                        <m:sub>
                          <m:r>
                            <a:rPr lang="fr-FR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fr-FR" sz="10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FR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fr-FR" sz="105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105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fr-FR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fr-FR" sz="105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7" name="ZoneTexte 1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8395" y="3926892"/>
                <a:ext cx="739818" cy="161583"/>
              </a:xfrm>
              <a:prstGeom prst="rect">
                <a:avLst/>
              </a:prstGeom>
              <a:blipFill>
                <a:blip r:embed="rId16"/>
                <a:stretch>
                  <a:fillRect l="-4098" r="-820" b="-111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ZoneTexte 107"/>
              <p:cNvSpPr txBox="1"/>
              <p:nvPr/>
            </p:nvSpPr>
            <p:spPr>
              <a:xfrm>
                <a:off x="8960940" y="3956407"/>
                <a:ext cx="625492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sz="105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5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𝒫</m:t>
                          </m:r>
                        </m:e>
                        <m:sub>
                          <m:r>
                            <a:rPr lang="fr-FR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sz="10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FR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sSub>
                        <m:sSubPr>
                          <m:ctrlPr>
                            <a:rPr lang="fr-FR" sz="105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105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fr-FR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fr-FR" sz="105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8" name="ZoneTexte 1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0940" y="3956407"/>
                <a:ext cx="625492" cy="161583"/>
              </a:xfrm>
              <a:prstGeom prst="rect">
                <a:avLst/>
              </a:prstGeom>
              <a:blipFill>
                <a:blip r:embed="rId17"/>
                <a:stretch>
                  <a:fillRect l="-4854" b="-1481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1" name="Connecteur droit avec flèche 110">
            <a:extLst>
              <a:ext uri="{FF2B5EF4-FFF2-40B4-BE49-F238E27FC236}">
                <a16:creationId xmlns:a16="http://schemas.microsoft.com/office/drawing/2014/main" id="{2A759AA0-F3FD-C26A-60D8-97778FA4410F}"/>
              </a:ext>
            </a:extLst>
          </p:cNvPr>
          <p:cNvCxnSpPr>
            <a:cxnSpLocks/>
          </p:cNvCxnSpPr>
          <p:nvPr/>
        </p:nvCxnSpPr>
        <p:spPr>
          <a:xfrm flipV="1">
            <a:off x="324302" y="3707196"/>
            <a:ext cx="720000" cy="1536"/>
          </a:xfrm>
          <a:prstGeom prst="straightConnector1">
            <a:avLst/>
          </a:prstGeom>
          <a:ln w="25400" cap="rnd">
            <a:solidFill>
              <a:srgbClr val="FDAD5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ZoneTexte 111"/>
          <p:cNvSpPr txBox="1"/>
          <p:nvPr/>
        </p:nvSpPr>
        <p:spPr>
          <a:xfrm>
            <a:off x="329415" y="3755041"/>
            <a:ext cx="703719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fr-FR" sz="1050" dirty="0"/>
              <a:t>Prise secteur</a:t>
            </a:r>
          </a:p>
        </p:txBody>
      </p:sp>
      <p:pic>
        <p:nvPicPr>
          <p:cNvPr id="91" name="Image 90"/>
          <p:cNvPicPr/>
          <p:nvPr/>
        </p:nvPicPr>
        <p:blipFill>
          <a:blip r:embed="rId18"/>
          <a:stretch>
            <a:fillRect/>
          </a:stretch>
        </p:blipFill>
        <p:spPr>
          <a:xfrm>
            <a:off x="11086641" y="92184"/>
            <a:ext cx="854710" cy="1039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722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e 59">
            <a:extLst>
              <a:ext uri="{FF2B5EF4-FFF2-40B4-BE49-F238E27FC236}">
                <a16:creationId xmlns:a16="http://schemas.microsoft.com/office/drawing/2014/main" id="{B9F90E96-3FAA-F8EB-2B47-7B9B509A3C63}"/>
              </a:ext>
            </a:extLst>
          </p:cNvPr>
          <p:cNvGrpSpPr/>
          <p:nvPr/>
        </p:nvGrpSpPr>
        <p:grpSpPr>
          <a:xfrm rot="5400000" flipV="1">
            <a:off x="10426227" y="3804750"/>
            <a:ext cx="835963" cy="2106301"/>
            <a:chOff x="9150640" y="2423323"/>
            <a:chExt cx="835963" cy="2135794"/>
          </a:xfrm>
        </p:grpSpPr>
        <p:sp>
          <p:nvSpPr>
            <p:cNvPr id="62" name="Flèche : virage 61">
              <a:extLst>
                <a:ext uri="{FF2B5EF4-FFF2-40B4-BE49-F238E27FC236}">
                  <a16:creationId xmlns:a16="http://schemas.microsoft.com/office/drawing/2014/main" id="{DC0A933B-7C60-BFFF-B43D-12A520D67AF5}"/>
                </a:ext>
              </a:extLst>
            </p:cNvPr>
            <p:cNvSpPr/>
            <p:nvPr/>
          </p:nvSpPr>
          <p:spPr>
            <a:xfrm rot="5400000">
              <a:off x="8500725" y="3073238"/>
              <a:ext cx="2135794" cy="835963"/>
            </a:xfrm>
            <a:prstGeom prst="bentArrow">
              <a:avLst>
                <a:gd name="adj1" fmla="val 31434"/>
                <a:gd name="adj2" fmla="val 25000"/>
                <a:gd name="adj3" fmla="val 17852"/>
                <a:gd name="adj4" fmla="val 20160"/>
              </a:avLst>
            </a:prstGeom>
            <a:solidFill>
              <a:srgbClr val="B2CA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63" name="ZoneTexte 62">
              <a:extLst>
                <a:ext uri="{FF2B5EF4-FFF2-40B4-BE49-F238E27FC236}">
                  <a16:creationId xmlns:a16="http://schemas.microsoft.com/office/drawing/2014/main" id="{F7827995-4CB1-F1F7-B279-BF197792E3E3}"/>
                </a:ext>
              </a:extLst>
            </p:cNvPr>
            <p:cNvSpPr txBox="1"/>
            <p:nvPr/>
          </p:nvSpPr>
          <p:spPr>
            <a:xfrm rot="16200000">
              <a:off x="8780158" y="3312516"/>
              <a:ext cx="1955216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fr-FR" sz="1200" dirty="0">
                  <a:solidFill>
                    <a:schemeClr val="bg1"/>
                  </a:solidFill>
                  <a:latin typeface="Arial Nova" panose="020B0504020202020204" pitchFamily="34" charset="0"/>
                </a:rPr>
                <a:t>Viseur en mouvement</a:t>
              </a:r>
            </a:p>
          </p:txBody>
        </p:sp>
      </p:grpSp>
      <p:sp>
        <p:nvSpPr>
          <p:cNvPr id="4" name="Titre 3">
            <a:extLst>
              <a:ext uri="{FF2B5EF4-FFF2-40B4-BE49-F238E27FC236}">
                <a16:creationId xmlns:a16="http://schemas.microsoft.com/office/drawing/2014/main" id="{6B1A13B3-5149-FA1A-CC2E-224E94D25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BGR – Axe optique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CED491E-0826-EEF9-74D6-5744327FB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2</a:t>
            </a:fld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D795C968-BC3C-1567-576F-53C8D60C7C59}"/>
              </a:ext>
            </a:extLst>
          </p:cNvPr>
          <p:cNvSpPr/>
          <p:nvPr/>
        </p:nvSpPr>
        <p:spPr>
          <a:xfrm>
            <a:off x="1056905" y="1444678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04F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04F77"/>
                </a:solidFill>
                <a:latin typeface="Arial Nova" panose="020B0504020202020204" pitchFamily="34" charset="0"/>
              </a:rPr>
              <a:t>Acquérir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918DF59A-E2E4-2A2C-37EB-73D1E5D62C34}"/>
              </a:ext>
            </a:extLst>
          </p:cNvPr>
          <p:cNvSpPr/>
          <p:nvPr/>
        </p:nvSpPr>
        <p:spPr>
          <a:xfrm>
            <a:off x="1056905" y="2219824"/>
            <a:ext cx="1440000" cy="720000"/>
          </a:xfrm>
          <a:prstGeom prst="roundRect">
            <a:avLst>
              <a:gd name="adj" fmla="val 11914"/>
            </a:avLst>
          </a:prstGeom>
          <a:solidFill>
            <a:srgbClr val="DFE3EB"/>
          </a:solidFill>
          <a:ln w="19050">
            <a:solidFill>
              <a:srgbClr val="DFE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dirty="0">
                <a:solidFill>
                  <a:srgbClr val="004F77"/>
                </a:solidFill>
                <a:latin typeface="Arial Nova" panose="020B0504020202020204" pitchFamily="34" charset="0"/>
              </a:rPr>
              <a:t>Codeur incrémental</a:t>
            </a:r>
          </a:p>
          <a:p>
            <a:pPr algn="ctr"/>
            <a:r>
              <a:rPr lang="fr-FR" sz="1050" dirty="0">
                <a:solidFill>
                  <a:srgbClr val="004F77"/>
                </a:solidFill>
                <a:latin typeface="Arial Nova" panose="020B0504020202020204" pitchFamily="34" charset="0"/>
              </a:rPr>
              <a:t>Gyromètre NavG-01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3A21C11E-BCE9-7FD2-3DC9-AEBB72B36909}"/>
              </a:ext>
            </a:extLst>
          </p:cNvPr>
          <p:cNvSpPr/>
          <p:nvPr/>
        </p:nvSpPr>
        <p:spPr>
          <a:xfrm>
            <a:off x="3229319" y="1443142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04F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C7391"/>
                </a:solidFill>
                <a:latin typeface="Arial Nova" panose="020B0504020202020204" pitchFamily="34" charset="0"/>
              </a:rPr>
              <a:t>Traiter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9E563B7E-4153-DECA-AFFC-7C7EB26DF1B2}"/>
              </a:ext>
            </a:extLst>
          </p:cNvPr>
          <p:cNvSpPr/>
          <p:nvPr/>
        </p:nvSpPr>
        <p:spPr>
          <a:xfrm>
            <a:off x="3218894" y="2236003"/>
            <a:ext cx="1440000" cy="540000"/>
          </a:xfrm>
          <a:prstGeom prst="roundRect">
            <a:avLst>
              <a:gd name="adj" fmla="val 11914"/>
            </a:avLst>
          </a:prstGeom>
          <a:solidFill>
            <a:srgbClr val="E4EBF0"/>
          </a:solidFill>
          <a:ln w="19050">
            <a:solidFill>
              <a:srgbClr val="E4EB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0C7391"/>
                </a:solidFill>
                <a:latin typeface="Arial Nova" panose="020B0504020202020204" pitchFamily="34" charset="0"/>
              </a:rPr>
              <a:t>Carte de commande EPOS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6B1F36CD-C30E-4C5F-385C-9C8A21F267DC}"/>
              </a:ext>
            </a:extLst>
          </p:cNvPr>
          <p:cNvSpPr/>
          <p:nvPr/>
        </p:nvSpPr>
        <p:spPr>
          <a:xfrm>
            <a:off x="5389319" y="1420801"/>
            <a:ext cx="1440000" cy="576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8A5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8A559"/>
                </a:solidFill>
                <a:latin typeface="Arial Nova" panose="020B0504020202020204" pitchFamily="34" charset="0"/>
              </a:rPr>
              <a:t>Communiquer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8D7359E7-9FDC-08FD-DC9D-0F15683BC326}"/>
              </a:ext>
            </a:extLst>
          </p:cNvPr>
          <p:cNvSpPr/>
          <p:nvPr/>
        </p:nvSpPr>
        <p:spPr>
          <a:xfrm>
            <a:off x="5389319" y="2214770"/>
            <a:ext cx="1406281" cy="534390"/>
          </a:xfrm>
          <a:prstGeom prst="roundRect">
            <a:avLst>
              <a:gd name="adj" fmla="val 11914"/>
            </a:avLst>
          </a:prstGeom>
          <a:solidFill>
            <a:srgbClr val="E8F3E8"/>
          </a:solidFill>
          <a:ln w="19050">
            <a:solidFill>
              <a:srgbClr val="E8F3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08A559"/>
                </a:solidFill>
                <a:latin typeface="Arial Nova" panose="020B0504020202020204" pitchFamily="34" charset="0"/>
              </a:rPr>
              <a:t>Communiquer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2BFEBEF7-705E-46FD-8C4B-5178E5ACBDB2}"/>
              </a:ext>
            </a:extLst>
          </p:cNvPr>
          <p:cNvSpPr/>
          <p:nvPr/>
        </p:nvSpPr>
        <p:spPr>
          <a:xfrm>
            <a:off x="1056905" y="3437532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FDAD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FDAD57"/>
                </a:solidFill>
                <a:latin typeface="Arial Nova" panose="020B0504020202020204" pitchFamily="34" charset="0"/>
              </a:rPr>
              <a:t>Alimenter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3344F7B6-ACF1-41A6-1551-1E76B212FBE0}"/>
              </a:ext>
            </a:extLst>
          </p:cNvPr>
          <p:cNvSpPr/>
          <p:nvPr/>
        </p:nvSpPr>
        <p:spPr>
          <a:xfrm>
            <a:off x="1056905" y="4132287"/>
            <a:ext cx="1440000" cy="540000"/>
          </a:xfrm>
          <a:prstGeom prst="roundRect">
            <a:avLst>
              <a:gd name="adj" fmla="val 11914"/>
            </a:avLst>
          </a:prstGeom>
          <a:solidFill>
            <a:srgbClr val="FEE6CC"/>
          </a:solidFill>
          <a:ln w="19050">
            <a:solidFill>
              <a:srgbClr val="FEE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FDAD57"/>
                </a:solidFill>
                <a:latin typeface="Arial Nova" panose="020B0504020202020204" pitchFamily="34" charset="0"/>
              </a:rPr>
              <a:t>Transformateur Alimentation 24 V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5993B93C-6358-CDBD-8425-B3C1FF36002B}"/>
              </a:ext>
            </a:extLst>
          </p:cNvPr>
          <p:cNvSpPr/>
          <p:nvPr/>
        </p:nvSpPr>
        <p:spPr>
          <a:xfrm>
            <a:off x="3218894" y="3432769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C739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C7391"/>
                </a:solidFill>
                <a:latin typeface="Arial Nova" panose="020B0504020202020204" pitchFamily="34" charset="0"/>
              </a:rPr>
              <a:t>Distribuer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856C1EFC-E8DC-74F6-4C1B-12FC3721C149}"/>
              </a:ext>
            </a:extLst>
          </p:cNvPr>
          <p:cNvSpPr/>
          <p:nvPr/>
        </p:nvSpPr>
        <p:spPr>
          <a:xfrm>
            <a:off x="3229319" y="4117990"/>
            <a:ext cx="1440000" cy="540000"/>
          </a:xfrm>
          <a:prstGeom prst="roundRect">
            <a:avLst>
              <a:gd name="adj" fmla="val 11914"/>
            </a:avLst>
          </a:prstGeom>
          <a:solidFill>
            <a:srgbClr val="9EC7D3"/>
          </a:solidFill>
          <a:ln w="19050">
            <a:solidFill>
              <a:srgbClr val="9EC7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0C7391"/>
                </a:solidFill>
                <a:latin typeface="Arial Nova" panose="020B0504020202020204" pitchFamily="34" charset="0"/>
              </a:rPr>
              <a:t>Hacheur – Carte EPOS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21644A1E-F74F-36B4-98E8-8D6D6DB0F7F6}"/>
              </a:ext>
            </a:extLst>
          </p:cNvPr>
          <p:cNvSpPr/>
          <p:nvPr/>
        </p:nvSpPr>
        <p:spPr>
          <a:xfrm>
            <a:off x="5380883" y="3437532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6834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68348B"/>
                </a:solidFill>
                <a:latin typeface="Arial Nova" panose="020B0504020202020204" pitchFamily="34" charset="0"/>
              </a:rPr>
              <a:t>Convertir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F864AAD2-5EF5-FD75-22C6-0D8871D20678}"/>
              </a:ext>
            </a:extLst>
          </p:cNvPr>
          <p:cNvSpPr/>
          <p:nvPr/>
        </p:nvSpPr>
        <p:spPr>
          <a:xfrm>
            <a:off x="5389319" y="4117990"/>
            <a:ext cx="1440000" cy="540000"/>
          </a:xfrm>
          <a:prstGeom prst="roundRect">
            <a:avLst>
              <a:gd name="adj" fmla="val 11914"/>
            </a:avLst>
          </a:prstGeom>
          <a:solidFill>
            <a:srgbClr val="C3AED1"/>
          </a:solidFill>
          <a:ln w="19050">
            <a:solidFill>
              <a:srgbClr val="C3AE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68348B"/>
                </a:solidFill>
                <a:latin typeface="Arial Nova" panose="020B0504020202020204" pitchFamily="34" charset="0"/>
              </a:rPr>
              <a:t>Moteur CC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3741D88A-AC67-EEAF-67D1-02578FD98C8E}"/>
              </a:ext>
            </a:extLst>
          </p:cNvPr>
          <p:cNvSpPr/>
          <p:nvPr/>
        </p:nvSpPr>
        <p:spPr>
          <a:xfrm>
            <a:off x="7542872" y="3440639"/>
            <a:ext cx="1365662" cy="53439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EE685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EE685D"/>
                </a:solidFill>
                <a:latin typeface="Arial Nova" panose="020B0504020202020204" pitchFamily="34" charset="0"/>
              </a:rPr>
              <a:t>Transmettre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D98A4E40-D360-EF0F-69D4-37438F82647F}"/>
              </a:ext>
            </a:extLst>
          </p:cNvPr>
          <p:cNvSpPr/>
          <p:nvPr/>
        </p:nvSpPr>
        <p:spPr>
          <a:xfrm>
            <a:off x="7549319" y="4097487"/>
            <a:ext cx="1365662" cy="534390"/>
          </a:xfrm>
          <a:prstGeom prst="roundRect">
            <a:avLst>
              <a:gd name="adj" fmla="val 11914"/>
            </a:avLst>
          </a:prstGeom>
          <a:solidFill>
            <a:srgbClr val="F7B8B3"/>
          </a:solidFill>
          <a:ln w="19050">
            <a:solidFill>
              <a:srgbClr val="F7B8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EE685D"/>
                </a:solidFill>
                <a:latin typeface="Arial Nova" panose="020B0504020202020204" pitchFamily="34" charset="0"/>
              </a:rPr>
              <a:t>Train épi (26)</a:t>
            </a:r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3A27BA98-37D0-071E-0034-A8F152781DA2}"/>
              </a:ext>
            </a:extLst>
          </p:cNvPr>
          <p:cNvGrpSpPr/>
          <p:nvPr/>
        </p:nvGrpSpPr>
        <p:grpSpPr>
          <a:xfrm>
            <a:off x="1304511" y="1903819"/>
            <a:ext cx="360000" cy="360000"/>
            <a:chOff x="5404964" y="4396133"/>
            <a:chExt cx="1800000" cy="1800000"/>
          </a:xfrm>
        </p:grpSpPr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AF6059D3-A447-3650-DBB0-E43A01137737}"/>
                </a:ext>
              </a:extLst>
            </p:cNvPr>
            <p:cNvSpPr/>
            <p:nvPr/>
          </p:nvSpPr>
          <p:spPr>
            <a:xfrm>
              <a:off x="5404964" y="4396133"/>
              <a:ext cx="1800000" cy="1800000"/>
            </a:xfrm>
            <a:prstGeom prst="ellipse">
              <a:avLst/>
            </a:prstGeom>
            <a:solidFill>
              <a:srgbClr val="0051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3" name="Image 22">
              <a:extLst>
                <a:ext uri="{FF2B5EF4-FFF2-40B4-BE49-F238E27FC236}">
                  <a16:creationId xmlns:a16="http://schemas.microsoft.com/office/drawing/2014/main" id="{A6CDBBC0-D3DC-F349-2C16-BF936D04FE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43445" y="4536296"/>
              <a:ext cx="1358232" cy="1440000"/>
            </a:xfrm>
            <a:prstGeom prst="rect">
              <a:avLst/>
            </a:prstGeom>
          </p:spPr>
        </p:pic>
      </p:grpSp>
      <p:pic>
        <p:nvPicPr>
          <p:cNvPr id="26" name="Image 25">
            <a:extLst>
              <a:ext uri="{FF2B5EF4-FFF2-40B4-BE49-F238E27FC236}">
                <a16:creationId xmlns:a16="http://schemas.microsoft.com/office/drawing/2014/main" id="{1D2C4C8B-0FCC-A2FF-CBCF-FF9739D62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826" y="1498649"/>
            <a:ext cx="434918" cy="152010"/>
          </a:xfrm>
          <a:prstGeom prst="rect">
            <a:avLst/>
          </a:prstGeom>
        </p:spPr>
      </p:pic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56F184E9-809A-A3C9-1755-4F6B9B443CD7}"/>
              </a:ext>
            </a:extLst>
          </p:cNvPr>
          <p:cNvCxnSpPr>
            <a:cxnSpLocks/>
          </p:cNvCxnSpPr>
          <p:nvPr/>
        </p:nvCxnSpPr>
        <p:spPr>
          <a:xfrm flipV="1">
            <a:off x="2496905" y="1722751"/>
            <a:ext cx="720000" cy="1536"/>
          </a:xfrm>
          <a:prstGeom prst="straightConnector1">
            <a:avLst/>
          </a:prstGeom>
          <a:ln w="25400" cap="rnd">
            <a:solidFill>
              <a:srgbClr val="004F7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3C6620C6-C80C-691B-34DC-9B69D891504D}"/>
              </a:ext>
            </a:extLst>
          </p:cNvPr>
          <p:cNvGrpSpPr/>
          <p:nvPr/>
        </p:nvGrpSpPr>
        <p:grpSpPr>
          <a:xfrm rot="5400000">
            <a:off x="3758894" y="1943516"/>
            <a:ext cx="360000" cy="360000"/>
            <a:chOff x="5013689" y="3604429"/>
            <a:chExt cx="1800000" cy="1800000"/>
          </a:xfrm>
        </p:grpSpPr>
        <p:sp>
          <p:nvSpPr>
            <p:cNvPr id="30" name="Ellipse 29">
              <a:extLst>
                <a:ext uri="{FF2B5EF4-FFF2-40B4-BE49-F238E27FC236}">
                  <a16:creationId xmlns:a16="http://schemas.microsoft.com/office/drawing/2014/main" id="{C6775BDF-7651-0D6D-298D-DBF1313263D4}"/>
                </a:ext>
              </a:extLst>
            </p:cNvPr>
            <p:cNvSpPr/>
            <p:nvPr/>
          </p:nvSpPr>
          <p:spPr>
            <a:xfrm>
              <a:off x="5013689" y="3604429"/>
              <a:ext cx="1800000" cy="180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31" name="Image 30">
              <a:extLst>
                <a:ext uri="{FF2B5EF4-FFF2-40B4-BE49-F238E27FC236}">
                  <a16:creationId xmlns:a16="http://schemas.microsoft.com/office/drawing/2014/main" id="{B480C312-DAF5-11CE-F2FA-8632259DFD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57424" y="3852621"/>
              <a:ext cx="912531" cy="1303616"/>
            </a:xfrm>
            <a:prstGeom prst="rect">
              <a:avLst/>
            </a:prstGeom>
          </p:spPr>
        </p:pic>
      </p:grp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2516F913-F563-E2BC-304C-4BAEAEFA830A}"/>
              </a:ext>
            </a:extLst>
          </p:cNvPr>
          <p:cNvCxnSpPr/>
          <p:nvPr/>
        </p:nvCxnSpPr>
        <p:spPr>
          <a:xfrm flipV="1">
            <a:off x="4669319" y="1708801"/>
            <a:ext cx="720000" cy="1536"/>
          </a:xfrm>
          <a:prstGeom prst="straightConnector1">
            <a:avLst/>
          </a:prstGeom>
          <a:ln w="25400" cap="rnd">
            <a:solidFill>
              <a:srgbClr val="004F7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Image 33">
            <a:extLst>
              <a:ext uri="{FF2B5EF4-FFF2-40B4-BE49-F238E27FC236}">
                <a16:creationId xmlns:a16="http://schemas.microsoft.com/office/drawing/2014/main" id="{86B36458-367E-9E5B-68A4-0C26D4E0FC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8894" y="1313442"/>
            <a:ext cx="360000" cy="360000"/>
          </a:xfrm>
          <a:prstGeom prst="rect">
            <a:avLst/>
          </a:prstGeom>
        </p:spPr>
      </p:pic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2A759AA0-F3FD-C26A-60D8-97778FA4410F}"/>
              </a:ext>
            </a:extLst>
          </p:cNvPr>
          <p:cNvCxnSpPr>
            <a:cxnSpLocks/>
          </p:cNvCxnSpPr>
          <p:nvPr/>
        </p:nvCxnSpPr>
        <p:spPr>
          <a:xfrm flipV="1">
            <a:off x="2509319" y="3705996"/>
            <a:ext cx="720000" cy="1536"/>
          </a:xfrm>
          <a:prstGeom prst="straightConnector1">
            <a:avLst/>
          </a:prstGeom>
          <a:ln w="25400" cap="rnd">
            <a:solidFill>
              <a:srgbClr val="FDAD5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e 35">
            <a:extLst>
              <a:ext uri="{FF2B5EF4-FFF2-40B4-BE49-F238E27FC236}">
                <a16:creationId xmlns:a16="http://schemas.microsoft.com/office/drawing/2014/main" id="{C432E140-C791-725B-4BEE-162F12959100}"/>
              </a:ext>
            </a:extLst>
          </p:cNvPr>
          <p:cNvGrpSpPr/>
          <p:nvPr/>
        </p:nvGrpSpPr>
        <p:grpSpPr>
          <a:xfrm>
            <a:off x="527330" y="3943694"/>
            <a:ext cx="360000" cy="360000"/>
            <a:chOff x="4197400" y="3547713"/>
            <a:chExt cx="1800000" cy="1800000"/>
          </a:xfrm>
        </p:grpSpPr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F72BB05F-3C81-6BD0-8528-132F98B4087C}"/>
                </a:ext>
              </a:extLst>
            </p:cNvPr>
            <p:cNvSpPr/>
            <p:nvPr/>
          </p:nvSpPr>
          <p:spPr>
            <a:xfrm>
              <a:off x="4197400" y="3547713"/>
              <a:ext cx="1800000" cy="1800000"/>
            </a:xfrm>
            <a:prstGeom prst="ellipse">
              <a:avLst/>
            </a:prstGeom>
            <a:solidFill>
              <a:srgbClr val="FFB2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38" name="Image 37">
              <a:extLst>
                <a:ext uri="{FF2B5EF4-FFF2-40B4-BE49-F238E27FC236}">
                  <a16:creationId xmlns:a16="http://schemas.microsoft.com/office/drawing/2014/main" id="{0241FA1B-C23B-A98A-6FA9-9AD3F149F46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526157" y="3876470"/>
              <a:ext cx="1142486" cy="1142486"/>
            </a:xfrm>
            <a:prstGeom prst="rect">
              <a:avLst/>
            </a:prstGeom>
          </p:spPr>
        </p:pic>
      </p:grpSp>
      <p:pic>
        <p:nvPicPr>
          <p:cNvPr id="40" name="Image 39">
            <a:extLst>
              <a:ext uri="{FF2B5EF4-FFF2-40B4-BE49-F238E27FC236}">
                <a16:creationId xmlns:a16="http://schemas.microsoft.com/office/drawing/2014/main" id="{807256A2-2D51-482D-5FEB-74F10613D3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76905" y="3288253"/>
            <a:ext cx="360000" cy="360000"/>
          </a:xfrm>
          <a:prstGeom prst="rect">
            <a:avLst/>
          </a:prstGeom>
        </p:spPr>
      </p:pic>
      <p:grpSp>
        <p:nvGrpSpPr>
          <p:cNvPr id="44" name="Groupe 43">
            <a:extLst>
              <a:ext uri="{FF2B5EF4-FFF2-40B4-BE49-F238E27FC236}">
                <a16:creationId xmlns:a16="http://schemas.microsoft.com/office/drawing/2014/main" id="{04E9D792-DC23-45E0-4C57-F4C8652B27B7}"/>
              </a:ext>
            </a:extLst>
          </p:cNvPr>
          <p:cNvGrpSpPr/>
          <p:nvPr/>
        </p:nvGrpSpPr>
        <p:grpSpPr>
          <a:xfrm>
            <a:off x="3769319" y="3882769"/>
            <a:ext cx="360000" cy="360000"/>
            <a:chOff x="6955958" y="3325976"/>
            <a:chExt cx="1800000" cy="1800000"/>
          </a:xfrm>
        </p:grpSpPr>
        <p:sp>
          <p:nvSpPr>
            <p:cNvPr id="45" name="Ellipse 44">
              <a:extLst>
                <a:ext uri="{FF2B5EF4-FFF2-40B4-BE49-F238E27FC236}">
                  <a16:creationId xmlns:a16="http://schemas.microsoft.com/office/drawing/2014/main" id="{2023547D-7AD8-2476-352E-2003CAAE25E0}"/>
                </a:ext>
              </a:extLst>
            </p:cNvPr>
            <p:cNvSpPr/>
            <p:nvPr/>
          </p:nvSpPr>
          <p:spPr>
            <a:xfrm>
              <a:off x="6955958" y="3325976"/>
              <a:ext cx="1800000" cy="1800000"/>
            </a:xfrm>
            <a:prstGeom prst="ellipse">
              <a:avLst/>
            </a:prstGeom>
            <a:solidFill>
              <a:srgbClr val="0C73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46" name="Image 45">
              <a:extLst>
                <a:ext uri="{FF2B5EF4-FFF2-40B4-BE49-F238E27FC236}">
                  <a16:creationId xmlns:a16="http://schemas.microsoft.com/office/drawing/2014/main" id="{B4A8BA83-645D-52A3-AEB7-1179427FDCF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212124" y="3645024"/>
              <a:ext cx="1394286" cy="1161904"/>
            </a:xfrm>
            <a:prstGeom prst="rect">
              <a:avLst/>
            </a:prstGeom>
          </p:spPr>
        </p:pic>
        <p:pic>
          <p:nvPicPr>
            <p:cNvPr id="47" name="Image 46">
              <a:extLst>
                <a:ext uri="{FF2B5EF4-FFF2-40B4-BE49-F238E27FC236}">
                  <a16:creationId xmlns:a16="http://schemas.microsoft.com/office/drawing/2014/main" id="{302262FB-10CE-F782-72FE-6FD5D16DF45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909267" y="4072626"/>
              <a:ext cx="246640" cy="173418"/>
            </a:xfrm>
            <a:prstGeom prst="rect">
              <a:avLst/>
            </a:prstGeom>
          </p:spPr>
        </p:pic>
      </p:grpSp>
      <p:cxnSp>
        <p:nvCxnSpPr>
          <p:cNvPr id="48" name="Connecteur droit avec flèche 47">
            <a:extLst>
              <a:ext uri="{FF2B5EF4-FFF2-40B4-BE49-F238E27FC236}">
                <a16:creationId xmlns:a16="http://schemas.microsoft.com/office/drawing/2014/main" id="{ADC9AE2C-B971-B403-6BD3-1FBC1C8BCEB1}"/>
              </a:ext>
            </a:extLst>
          </p:cNvPr>
          <p:cNvCxnSpPr>
            <a:cxnSpLocks/>
          </p:cNvCxnSpPr>
          <p:nvPr/>
        </p:nvCxnSpPr>
        <p:spPr>
          <a:xfrm flipV="1">
            <a:off x="4669319" y="3693164"/>
            <a:ext cx="720000" cy="1536"/>
          </a:xfrm>
          <a:prstGeom prst="straightConnector1">
            <a:avLst/>
          </a:prstGeom>
          <a:ln w="25400" cap="rnd">
            <a:solidFill>
              <a:srgbClr val="0C739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Image 48">
            <a:extLst>
              <a:ext uri="{FF2B5EF4-FFF2-40B4-BE49-F238E27FC236}">
                <a16:creationId xmlns:a16="http://schemas.microsoft.com/office/drawing/2014/main" id="{D668B20D-2AB0-DB7C-B49B-C67635DB8B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8894" y="3288253"/>
            <a:ext cx="360000" cy="360000"/>
          </a:xfrm>
          <a:prstGeom prst="rect">
            <a:avLst/>
          </a:prstGeom>
        </p:spPr>
      </p:pic>
      <p:grpSp>
        <p:nvGrpSpPr>
          <p:cNvPr id="50" name="Groupe 49">
            <a:extLst>
              <a:ext uri="{FF2B5EF4-FFF2-40B4-BE49-F238E27FC236}">
                <a16:creationId xmlns:a16="http://schemas.microsoft.com/office/drawing/2014/main" id="{3BAC2AD8-68D0-64B3-8925-A4804B8ADC35}"/>
              </a:ext>
            </a:extLst>
          </p:cNvPr>
          <p:cNvGrpSpPr/>
          <p:nvPr/>
        </p:nvGrpSpPr>
        <p:grpSpPr>
          <a:xfrm>
            <a:off x="5910458" y="3883180"/>
            <a:ext cx="360000" cy="360000"/>
            <a:chOff x="5775745" y="3144183"/>
            <a:chExt cx="1800000" cy="1800000"/>
          </a:xfrm>
        </p:grpSpPr>
        <p:sp>
          <p:nvSpPr>
            <p:cNvPr id="51" name="Ellipse 50">
              <a:extLst>
                <a:ext uri="{FF2B5EF4-FFF2-40B4-BE49-F238E27FC236}">
                  <a16:creationId xmlns:a16="http://schemas.microsoft.com/office/drawing/2014/main" id="{04F8E12C-8382-F1EC-C191-3370BC42A0F6}"/>
                </a:ext>
              </a:extLst>
            </p:cNvPr>
            <p:cNvSpPr/>
            <p:nvPr/>
          </p:nvSpPr>
          <p:spPr>
            <a:xfrm>
              <a:off x="5775745" y="3144183"/>
              <a:ext cx="1800000" cy="1800000"/>
            </a:xfrm>
            <a:prstGeom prst="ellipse">
              <a:avLst/>
            </a:prstGeom>
            <a:solidFill>
              <a:srgbClr val="6834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52" name="Image 51">
              <a:extLst>
                <a:ext uri="{FF2B5EF4-FFF2-40B4-BE49-F238E27FC236}">
                  <a16:creationId xmlns:a16="http://schemas.microsoft.com/office/drawing/2014/main" id="{F009B8D4-CDD9-2923-1B15-FB51E1B492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903821" y="3513485"/>
              <a:ext cx="1543848" cy="1061396"/>
            </a:xfrm>
            <a:prstGeom prst="rect">
              <a:avLst/>
            </a:prstGeom>
          </p:spPr>
        </p:pic>
      </p:grpSp>
      <p:cxnSp>
        <p:nvCxnSpPr>
          <p:cNvPr id="53" name="Connecteur droit avec flèche 52">
            <a:extLst>
              <a:ext uri="{FF2B5EF4-FFF2-40B4-BE49-F238E27FC236}">
                <a16:creationId xmlns:a16="http://schemas.microsoft.com/office/drawing/2014/main" id="{D8550244-CF3E-46CD-9FB3-D08544E1F6C9}"/>
              </a:ext>
            </a:extLst>
          </p:cNvPr>
          <p:cNvCxnSpPr>
            <a:cxnSpLocks/>
          </p:cNvCxnSpPr>
          <p:nvPr/>
        </p:nvCxnSpPr>
        <p:spPr>
          <a:xfrm flipV="1">
            <a:off x="6829319" y="3702769"/>
            <a:ext cx="720000" cy="1536"/>
          </a:xfrm>
          <a:prstGeom prst="straightConnector1">
            <a:avLst/>
          </a:prstGeom>
          <a:ln w="25400" cap="rnd">
            <a:solidFill>
              <a:srgbClr val="68348B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Groupe 54">
            <a:extLst>
              <a:ext uri="{FF2B5EF4-FFF2-40B4-BE49-F238E27FC236}">
                <a16:creationId xmlns:a16="http://schemas.microsoft.com/office/drawing/2014/main" id="{4FEA3EBC-91ED-BDE9-6607-868717EB421F}"/>
              </a:ext>
            </a:extLst>
          </p:cNvPr>
          <p:cNvGrpSpPr/>
          <p:nvPr/>
        </p:nvGrpSpPr>
        <p:grpSpPr>
          <a:xfrm>
            <a:off x="8045703" y="3852099"/>
            <a:ext cx="360000" cy="360000"/>
            <a:chOff x="5447928" y="2816932"/>
            <a:chExt cx="1800000" cy="1800000"/>
          </a:xfrm>
        </p:grpSpPr>
        <p:sp>
          <p:nvSpPr>
            <p:cNvPr id="56" name="Ellipse 55">
              <a:extLst>
                <a:ext uri="{FF2B5EF4-FFF2-40B4-BE49-F238E27FC236}">
                  <a16:creationId xmlns:a16="http://schemas.microsoft.com/office/drawing/2014/main" id="{639C7740-E0F1-0D34-A959-EEBB5084D37B}"/>
                </a:ext>
              </a:extLst>
            </p:cNvPr>
            <p:cNvSpPr/>
            <p:nvPr/>
          </p:nvSpPr>
          <p:spPr>
            <a:xfrm>
              <a:off x="5447928" y="2816932"/>
              <a:ext cx="1800000" cy="1800000"/>
            </a:xfrm>
            <a:prstGeom prst="ellipse">
              <a:avLst/>
            </a:prstGeom>
            <a:solidFill>
              <a:srgbClr val="EF72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57" name="Image 56">
              <a:extLst>
                <a:ext uri="{FF2B5EF4-FFF2-40B4-BE49-F238E27FC236}">
                  <a16:creationId xmlns:a16="http://schemas.microsoft.com/office/drawing/2014/main" id="{EC612269-D972-EB21-CF55-B36842D064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flipH="1">
              <a:off x="5627848" y="2996852"/>
              <a:ext cx="1440160" cy="1440160"/>
            </a:xfrm>
            <a:prstGeom prst="rect">
              <a:avLst/>
            </a:prstGeom>
          </p:spPr>
        </p:pic>
      </p:grpSp>
      <p:pic>
        <p:nvPicPr>
          <p:cNvPr id="59" name="Image 58">
            <a:extLst>
              <a:ext uri="{FF2B5EF4-FFF2-40B4-BE49-F238E27FC236}">
                <a16:creationId xmlns:a16="http://schemas.microsoft.com/office/drawing/2014/main" id="{B3E9E472-684E-6072-F347-B28F08A29E2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93108" y="3313520"/>
            <a:ext cx="360000" cy="360000"/>
          </a:xfrm>
          <a:prstGeom prst="rect">
            <a:avLst/>
          </a:prstGeom>
        </p:spPr>
      </p:pic>
      <p:cxnSp>
        <p:nvCxnSpPr>
          <p:cNvPr id="61" name="Connecteur : en angle 60">
            <a:extLst>
              <a:ext uri="{FF2B5EF4-FFF2-40B4-BE49-F238E27FC236}">
                <a16:creationId xmlns:a16="http://schemas.microsoft.com/office/drawing/2014/main" id="{58F393DB-2637-6847-79EA-B747BDA4F0F5}"/>
              </a:ext>
            </a:extLst>
          </p:cNvPr>
          <p:cNvCxnSpPr>
            <a:cxnSpLocks/>
            <a:stCxn id="11" idx="3"/>
            <a:endCxn id="64" idx="3"/>
          </p:cNvCxnSpPr>
          <p:nvPr/>
        </p:nvCxnSpPr>
        <p:spPr>
          <a:xfrm flipH="1">
            <a:off x="6795600" y="1708801"/>
            <a:ext cx="33719" cy="1346496"/>
          </a:xfrm>
          <a:prstGeom prst="bentConnector3">
            <a:avLst>
              <a:gd name="adj1" fmla="val -1067152"/>
            </a:avLst>
          </a:prstGeom>
          <a:ln w="25400">
            <a:solidFill>
              <a:srgbClr val="08A55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 : coins arrondis 63">
            <a:extLst>
              <a:ext uri="{FF2B5EF4-FFF2-40B4-BE49-F238E27FC236}">
                <a16:creationId xmlns:a16="http://schemas.microsoft.com/office/drawing/2014/main" id="{199A02DB-D17F-C7D0-AC86-EB38CD79A07D}"/>
              </a:ext>
            </a:extLst>
          </p:cNvPr>
          <p:cNvSpPr/>
          <p:nvPr/>
        </p:nvSpPr>
        <p:spPr>
          <a:xfrm>
            <a:off x="5389319" y="2889618"/>
            <a:ext cx="1406281" cy="331358"/>
          </a:xfrm>
          <a:prstGeom prst="roundRect">
            <a:avLst>
              <a:gd name="adj" fmla="val 11914"/>
            </a:avLst>
          </a:prstGeom>
          <a:solidFill>
            <a:srgbClr val="08A55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bg1"/>
                </a:solidFill>
                <a:latin typeface="Arial Nova" panose="020B0504020202020204" pitchFamily="34" charset="0"/>
              </a:rPr>
              <a:t>Ordres (PWM)</a:t>
            </a:r>
          </a:p>
        </p:txBody>
      </p:sp>
      <p:cxnSp>
        <p:nvCxnSpPr>
          <p:cNvPr id="67" name="Connecteur : en angle 66">
            <a:extLst>
              <a:ext uri="{FF2B5EF4-FFF2-40B4-BE49-F238E27FC236}">
                <a16:creationId xmlns:a16="http://schemas.microsoft.com/office/drawing/2014/main" id="{415B66DC-5BA1-C73F-85C3-52531B5209A7}"/>
              </a:ext>
            </a:extLst>
          </p:cNvPr>
          <p:cNvCxnSpPr>
            <a:cxnSpLocks/>
            <a:stCxn id="64" idx="1"/>
            <a:endCxn id="15" idx="0"/>
          </p:cNvCxnSpPr>
          <p:nvPr/>
        </p:nvCxnSpPr>
        <p:spPr>
          <a:xfrm rot="10800000" flipV="1">
            <a:off x="3938895" y="3055297"/>
            <a:ext cx="1450425" cy="377472"/>
          </a:xfrm>
          <a:prstGeom prst="bentConnector2">
            <a:avLst/>
          </a:prstGeom>
          <a:ln w="25400">
            <a:solidFill>
              <a:srgbClr val="08A55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" name="Image 70">
            <a:extLst>
              <a:ext uri="{FF2B5EF4-FFF2-40B4-BE49-F238E27FC236}">
                <a16:creationId xmlns:a16="http://schemas.microsoft.com/office/drawing/2014/main" id="{A6A4AED6-2581-F94A-2A2C-968E1601F5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4608" y="2741514"/>
            <a:ext cx="288000" cy="288000"/>
          </a:xfrm>
          <a:prstGeom prst="rect">
            <a:avLst/>
          </a:prstGeom>
        </p:spPr>
      </p:pic>
      <p:pic>
        <p:nvPicPr>
          <p:cNvPr id="72" name="Image 71">
            <a:extLst>
              <a:ext uri="{FF2B5EF4-FFF2-40B4-BE49-F238E27FC236}">
                <a16:creationId xmlns:a16="http://schemas.microsoft.com/office/drawing/2014/main" id="{DD7FF158-FAA1-F881-E216-74F874CDD3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5319" y="3112864"/>
            <a:ext cx="288000" cy="288000"/>
          </a:xfrm>
          <a:prstGeom prst="rect">
            <a:avLst/>
          </a:prstGeom>
        </p:spPr>
      </p:pic>
      <p:sp>
        <p:nvSpPr>
          <p:cNvPr id="73" name="Rectangle : coins arrondis 72">
            <a:extLst>
              <a:ext uri="{FF2B5EF4-FFF2-40B4-BE49-F238E27FC236}">
                <a16:creationId xmlns:a16="http://schemas.microsoft.com/office/drawing/2014/main" id="{9855835A-A07D-9F88-33DC-F41928D86114}"/>
              </a:ext>
            </a:extLst>
          </p:cNvPr>
          <p:cNvSpPr/>
          <p:nvPr/>
        </p:nvSpPr>
        <p:spPr>
          <a:xfrm>
            <a:off x="9634981" y="3429000"/>
            <a:ext cx="1365662" cy="1194790"/>
          </a:xfrm>
          <a:prstGeom prst="roundRect">
            <a:avLst>
              <a:gd name="adj" fmla="val 11914"/>
            </a:avLst>
          </a:prstGeom>
          <a:solidFill>
            <a:srgbClr val="B2CAD6"/>
          </a:solidFill>
          <a:ln w="19050">
            <a:solidFill>
              <a:srgbClr val="B2CA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0D587E"/>
                </a:solidFill>
                <a:latin typeface="Arial Nova" panose="020B0504020202020204" pitchFamily="34" charset="0"/>
              </a:rPr>
              <a:t>Axe optique en mouvement</a:t>
            </a:r>
          </a:p>
        </p:txBody>
      </p:sp>
      <p:cxnSp>
        <p:nvCxnSpPr>
          <p:cNvPr id="74" name="Connecteur droit avec flèche 73">
            <a:extLst>
              <a:ext uri="{FF2B5EF4-FFF2-40B4-BE49-F238E27FC236}">
                <a16:creationId xmlns:a16="http://schemas.microsoft.com/office/drawing/2014/main" id="{68CD29C3-A317-7C58-A7A7-665AAE50EA4D}"/>
              </a:ext>
            </a:extLst>
          </p:cNvPr>
          <p:cNvCxnSpPr>
            <a:cxnSpLocks/>
          </p:cNvCxnSpPr>
          <p:nvPr/>
        </p:nvCxnSpPr>
        <p:spPr>
          <a:xfrm flipV="1">
            <a:off x="8911620" y="3702769"/>
            <a:ext cx="720000" cy="1536"/>
          </a:xfrm>
          <a:prstGeom prst="straightConnector1">
            <a:avLst/>
          </a:prstGeom>
          <a:ln w="25400" cap="rnd">
            <a:solidFill>
              <a:srgbClr val="68348B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5" name="Image 74">
            <a:extLst>
              <a:ext uri="{FF2B5EF4-FFF2-40B4-BE49-F238E27FC236}">
                <a16:creationId xmlns:a16="http://schemas.microsoft.com/office/drawing/2014/main" id="{98FCC971-55C0-A51F-BCE7-08096E5E668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75409" y="3313520"/>
            <a:ext cx="360000" cy="360000"/>
          </a:xfrm>
          <a:prstGeom prst="rect">
            <a:avLst/>
          </a:prstGeom>
        </p:spPr>
      </p:pic>
      <p:grpSp>
        <p:nvGrpSpPr>
          <p:cNvPr id="58" name="Groupe 57">
            <a:extLst>
              <a:ext uri="{FF2B5EF4-FFF2-40B4-BE49-F238E27FC236}">
                <a16:creationId xmlns:a16="http://schemas.microsoft.com/office/drawing/2014/main" id="{98F0CD1E-89E1-DFA7-FBAA-4E54E6CF9E61}"/>
              </a:ext>
            </a:extLst>
          </p:cNvPr>
          <p:cNvGrpSpPr/>
          <p:nvPr/>
        </p:nvGrpSpPr>
        <p:grpSpPr>
          <a:xfrm>
            <a:off x="8611878" y="2802701"/>
            <a:ext cx="1549219" cy="611677"/>
            <a:chOff x="9075408" y="2802701"/>
            <a:chExt cx="1549219" cy="611677"/>
          </a:xfrm>
        </p:grpSpPr>
        <p:sp>
          <p:nvSpPr>
            <p:cNvPr id="43" name="Flèche : virage 42">
              <a:extLst>
                <a:ext uri="{FF2B5EF4-FFF2-40B4-BE49-F238E27FC236}">
                  <a16:creationId xmlns:a16="http://schemas.microsoft.com/office/drawing/2014/main" id="{37F5A08A-BEE9-45DF-FC81-F28AA089494D}"/>
                </a:ext>
              </a:extLst>
            </p:cNvPr>
            <p:cNvSpPr/>
            <p:nvPr/>
          </p:nvSpPr>
          <p:spPr>
            <a:xfrm rot="5400000">
              <a:off x="9563593" y="2353345"/>
              <a:ext cx="572849" cy="1549218"/>
            </a:xfrm>
            <a:prstGeom prst="bentArrow">
              <a:avLst>
                <a:gd name="adj1" fmla="val 38639"/>
                <a:gd name="adj2" fmla="val 38302"/>
                <a:gd name="adj3" fmla="val 16744"/>
                <a:gd name="adj4" fmla="val 20160"/>
              </a:avLst>
            </a:prstGeom>
            <a:solidFill>
              <a:srgbClr val="B2CA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54" name="ZoneTexte 53">
              <a:extLst>
                <a:ext uri="{FF2B5EF4-FFF2-40B4-BE49-F238E27FC236}">
                  <a16:creationId xmlns:a16="http://schemas.microsoft.com/office/drawing/2014/main" id="{29614AA8-90A9-BE78-3B0D-0133E188D68A}"/>
                </a:ext>
              </a:extLst>
            </p:cNvPr>
            <p:cNvSpPr txBox="1"/>
            <p:nvPr/>
          </p:nvSpPr>
          <p:spPr>
            <a:xfrm>
              <a:off x="9075408" y="2802701"/>
              <a:ext cx="147371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fr-FR" sz="1200" dirty="0">
                  <a:solidFill>
                    <a:schemeClr val="bg1"/>
                  </a:solidFill>
                  <a:latin typeface="Arial Nova" panose="020B0504020202020204" pitchFamily="34" charset="0"/>
                </a:rPr>
                <a:t>Viseur à l’arrêt</a:t>
              </a:r>
            </a:p>
          </p:txBody>
        </p:sp>
      </p:grpSp>
      <p:pic>
        <p:nvPicPr>
          <p:cNvPr id="65" name="Image 64">
            <a:extLst>
              <a:ext uri="{FF2B5EF4-FFF2-40B4-BE49-F238E27FC236}">
                <a16:creationId xmlns:a16="http://schemas.microsoft.com/office/drawing/2014/main" id="{63E8625E-A2F1-587D-FCF3-E014A3E939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027" y="1632266"/>
            <a:ext cx="434918" cy="152010"/>
          </a:xfrm>
          <a:prstGeom prst="rect">
            <a:avLst/>
          </a:prstGeom>
        </p:spPr>
      </p:pic>
      <p:pic>
        <p:nvPicPr>
          <p:cNvPr id="66" name="Image 65">
            <a:extLst>
              <a:ext uri="{FF2B5EF4-FFF2-40B4-BE49-F238E27FC236}">
                <a16:creationId xmlns:a16="http://schemas.microsoft.com/office/drawing/2014/main" id="{C17A8E59-00CE-32B0-C02D-92B62C4C1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2190" y="3741065"/>
            <a:ext cx="434918" cy="152010"/>
          </a:xfrm>
          <a:prstGeom prst="rect">
            <a:avLst/>
          </a:prstGeom>
        </p:spPr>
      </p:pic>
      <p:pic>
        <p:nvPicPr>
          <p:cNvPr id="68" name="Image 67">
            <a:extLst>
              <a:ext uri="{FF2B5EF4-FFF2-40B4-BE49-F238E27FC236}">
                <a16:creationId xmlns:a16="http://schemas.microsoft.com/office/drawing/2014/main" id="{377BAD26-459B-7811-D8C6-BBB2A5751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7950" y="3748886"/>
            <a:ext cx="434918" cy="152010"/>
          </a:xfrm>
          <a:prstGeom prst="rect">
            <a:avLst/>
          </a:prstGeom>
        </p:spPr>
      </p:pic>
      <p:pic>
        <p:nvPicPr>
          <p:cNvPr id="76" name="Image 75">
            <a:extLst>
              <a:ext uri="{FF2B5EF4-FFF2-40B4-BE49-F238E27FC236}">
                <a16:creationId xmlns:a16="http://schemas.microsoft.com/office/drawing/2014/main" id="{97F28C8E-CCE9-061E-8817-02886AB249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424" y="1791506"/>
            <a:ext cx="434918" cy="152010"/>
          </a:xfrm>
          <a:prstGeom prst="rect">
            <a:avLst/>
          </a:prstGeom>
        </p:spPr>
      </p:pic>
      <p:grpSp>
        <p:nvGrpSpPr>
          <p:cNvPr id="2" name="Groupe 1">
            <a:extLst>
              <a:ext uri="{FF2B5EF4-FFF2-40B4-BE49-F238E27FC236}">
                <a16:creationId xmlns:a16="http://schemas.microsoft.com/office/drawing/2014/main" id="{5202B1D4-055A-07CA-8794-21933E87169F}"/>
              </a:ext>
            </a:extLst>
          </p:cNvPr>
          <p:cNvGrpSpPr/>
          <p:nvPr/>
        </p:nvGrpSpPr>
        <p:grpSpPr>
          <a:xfrm>
            <a:off x="1937802" y="1913089"/>
            <a:ext cx="360000" cy="360000"/>
            <a:chOff x="7467428" y="2677562"/>
            <a:chExt cx="1800000" cy="1800000"/>
          </a:xfrm>
        </p:grpSpPr>
        <p:sp>
          <p:nvSpPr>
            <p:cNvPr id="3" name="Ellipse 2">
              <a:extLst>
                <a:ext uri="{FF2B5EF4-FFF2-40B4-BE49-F238E27FC236}">
                  <a16:creationId xmlns:a16="http://schemas.microsoft.com/office/drawing/2014/main" id="{FF887CC4-5FBD-DBA0-C24F-8155E397552A}"/>
                </a:ext>
              </a:extLst>
            </p:cNvPr>
            <p:cNvSpPr/>
            <p:nvPr/>
          </p:nvSpPr>
          <p:spPr>
            <a:xfrm>
              <a:off x="7467428" y="2677562"/>
              <a:ext cx="1800000" cy="1800000"/>
            </a:xfrm>
            <a:prstGeom prst="ellipse">
              <a:avLst/>
            </a:prstGeom>
            <a:solidFill>
              <a:srgbClr val="0051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766B02CD-075E-8928-231C-7C38AF5FD8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567027" y="2784504"/>
              <a:ext cx="1592444" cy="1592444"/>
            </a:xfrm>
            <a:prstGeom prst="rect">
              <a:avLst/>
            </a:prstGeom>
          </p:spPr>
        </p:pic>
      </p:grpSp>
      <p:grpSp>
        <p:nvGrpSpPr>
          <p:cNvPr id="69" name="Groupe 68">
            <a:extLst>
              <a:ext uri="{FF2B5EF4-FFF2-40B4-BE49-F238E27FC236}">
                <a16:creationId xmlns:a16="http://schemas.microsoft.com/office/drawing/2014/main" id="{5202B1D4-055A-07CA-8794-21933E87169F}"/>
              </a:ext>
            </a:extLst>
          </p:cNvPr>
          <p:cNvGrpSpPr/>
          <p:nvPr/>
        </p:nvGrpSpPr>
        <p:grpSpPr>
          <a:xfrm>
            <a:off x="10702146" y="3468253"/>
            <a:ext cx="252000" cy="252000"/>
            <a:chOff x="7467428" y="2677562"/>
            <a:chExt cx="1800000" cy="1800000"/>
          </a:xfrm>
        </p:grpSpPr>
        <p:sp>
          <p:nvSpPr>
            <p:cNvPr id="70" name="Ellipse 69">
              <a:extLst>
                <a:ext uri="{FF2B5EF4-FFF2-40B4-BE49-F238E27FC236}">
                  <a16:creationId xmlns:a16="http://schemas.microsoft.com/office/drawing/2014/main" id="{FF887CC4-5FBD-DBA0-C24F-8155E397552A}"/>
                </a:ext>
              </a:extLst>
            </p:cNvPr>
            <p:cNvSpPr/>
            <p:nvPr/>
          </p:nvSpPr>
          <p:spPr>
            <a:xfrm>
              <a:off x="7467428" y="2677562"/>
              <a:ext cx="1800000" cy="1800000"/>
            </a:xfrm>
            <a:prstGeom prst="ellipse">
              <a:avLst/>
            </a:prstGeom>
            <a:solidFill>
              <a:srgbClr val="0051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77" name="Image 76">
              <a:extLst>
                <a:ext uri="{FF2B5EF4-FFF2-40B4-BE49-F238E27FC236}">
                  <a16:creationId xmlns:a16="http://schemas.microsoft.com/office/drawing/2014/main" id="{766B02CD-075E-8928-231C-7C38AF5FD8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567027" y="2784504"/>
              <a:ext cx="1592444" cy="1592444"/>
            </a:xfrm>
            <a:prstGeom prst="rect">
              <a:avLst/>
            </a:prstGeom>
          </p:spPr>
        </p:pic>
      </p:grpSp>
      <p:grpSp>
        <p:nvGrpSpPr>
          <p:cNvPr id="78" name="Groupe 77">
            <a:extLst>
              <a:ext uri="{FF2B5EF4-FFF2-40B4-BE49-F238E27FC236}">
                <a16:creationId xmlns:a16="http://schemas.microsoft.com/office/drawing/2014/main" id="{3A27BA98-37D0-071E-0034-A8F152781DA2}"/>
              </a:ext>
            </a:extLst>
          </p:cNvPr>
          <p:cNvGrpSpPr/>
          <p:nvPr/>
        </p:nvGrpSpPr>
        <p:grpSpPr>
          <a:xfrm>
            <a:off x="6613513" y="4433721"/>
            <a:ext cx="216000" cy="216000"/>
            <a:chOff x="5404964" y="4396133"/>
            <a:chExt cx="1800000" cy="1800000"/>
          </a:xfrm>
        </p:grpSpPr>
        <p:sp>
          <p:nvSpPr>
            <p:cNvPr id="79" name="Ellipse 78">
              <a:extLst>
                <a:ext uri="{FF2B5EF4-FFF2-40B4-BE49-F238E27FC236}">
                  <a16:creationId xmlns:a16="http://schemas.microsoft.com/office/drawing/2014/main" id="{AF6059D3-A447-3650-DBB0-E43A01137737}"/>
                </a:ext>
              </a:extLst>
            </p:cNvPr>
            <p:cNvSpPr/>
            <p:nvPr/>
          </p:nvSpPr>
          <p:spPr>
            <a:xfrm>
              <a:off x="5404964" y="4396133"/>
              <a:ext cx="1800000" cy="1800000"/>
            </a:xfrm>
            <a:prstGeom prst="ellipse">
              <a:avLst/>
            </a:prstGeom>
            <a:solidFill>
              <a:srgbClr val="0051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80" name="Image 79">
              <a:extLst>
                <a:ext uri="{FF2B5EF4-FFF2-40B4-BE49-F238E27FC236}">
                  <a16:creationId xmlns:a16="http://schemas.microsoft.com/office/drawing/2014/main" id="{A6CDBBC0-D3DC-F349-2C16-BF936D04FE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43445" y="4536296"/>
              <a:ext cx="1358232" cy="1440000"/>
            </a:xfrm>
            <a:prstGeom prst="rect">
              <a:avLst/>
            </a:prstGeom>
          </p:spPr>
        </p:pic>
      </p:grpSp>
      <p:cxnSp>
        <p:nvCxnSpPr>
          <p:cNvPr id="81" name="Connecteur droit avec flèche 80">
            <a:extLst>
              <a:ext uri="{FF2B5EF4-FFF2-40B4-BE49-F238E27FC236}">
                <a16:creationId xmlns:a16="http://schemas.microsoft.com/office/drawing/2014/main" id="{56F184E9-809A-A3C9-1755-4F6B9B443CD7}"/>
              </a:ext>
            </a:extLst>
          </p:cNvPr>
          <p:cNvCxnSpPr>
            <a:cxnSpLocks/>
          </p:cNvCxnSpPr>
          <p:nvPr/>
        </p:nvCxnSpPr>
        <p:spPr>
          <a:xfrm>
            <a:off x="203217" y="1884363"/>
            <a:ext cx="351246" cy="0"/>
          </a:xfrm>
          <a:prstGeom prst="straightConnector1">
            <a:avLst/>
          </a:prstGeom>
          <a:ln w="25400" cap="rnd">
            <a:solidFill>
              <a:srgbClr val="004F7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avec flèche 81">
            <a:extLst>
              <a:ext uri="{FF2B5EF4-FFF2-40B4-BE49-F238E27FC236}">
                <a16:creationId xmlns:a16="http://schemas.microsoft.com/office/drawing/2014/main" id="{56F184E9-809A-A3C9-1755-4F6B9B443CD7}"/>
              </a:ext>
            </a:extLst>
          </p:cNvPr>
          <p:cNvCxnSpPr>
            <a:cxnSpLocks/>
          </p:cNvCxnSpPr>
          <p:nvPr/>
        </p:nvCxnSpPr>
        <p:spPr>
          <a:xfrm flipV="1">
            <a:off x="203217" y="1903819"/>
            <a:ext cx="0" cy="2979911"/>
          </a:xfrm>
          <a:prstGeom prst="straightConnector1">
            <a:avLst/>
          </a:prstGeom>
          <a:ln w="25400" cap="rnd">
            <a:solidFill>
              <a:srgbClr val="004F77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eur droit avec flèche 82">
            <a:extLst>
              <a:ext uri="{FF2B5EF4-FFF2-40B4-BE49-F238E27FC236}">
                <a16:creationId xmlns:a16="http://schemas.microsoft.com/office/drawing/2014/main" id="{56F184E9-809A-A3C9-1755-4F6B9B443CD7}"/>
              </a:ext>
            </a:extLst>
          </p:cNvPr>
          <p:cNvCxnSpPr>
            <a:cxnSpLocks/>
          </p:cNvCxnSpPr>
          <p:nvPr/>
        </p:nvCxnSpPr>
        <p:spPr>
          <a:xfrm>
            <a:off x="203217" y="4883730"/>
            <a:ext cx="6523916" cy="0"/>
          </a:xfrm>
          <a:prstGeom prst="straightConnector1">
            <a:avLst/>
          </a:prstGeom>
          <a:ln w="25400" cap="rnd">
            <a:solidFill>
              <a:srgbClr val="004F77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eur droit avec flèche 83">
            <a:extLst>
              <a:ext uri="{FF2B5EF4-FFF2-40B4-BE49-F238E27FC236}">
                <a16:creationId xmlns:a16="http://schemas.microsoft.com/office/drawing/2014/main" id="{56F184E9-809A-A3C9-1755-4F6B9B443CD7}"/>
              </a:ext>
            </a:extLst>
          </p:cNvPr>
          <p:cNvCxnSpPr>
            <a:cxnSpLocks/>
          </p:cNvCxnSpPr>
          <p:nvPr/>
        </p:nvCxnSpPr>
        <p:spPr>
          <a:xfrm flipV="1">
            <a:off x="6727133" y="4641307"/>
            <a:ext cx="0" cy="242423"/>
          </a:xfrm>
          <a:prstGeom prst="straightConnector1">
            <a:avLst/>
          </a:prstGeom>
          <a:ln w="25400" cap="rnd">
            <a:solidFill>
              <a:srgbClr val="004F77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eur droit avec flèche 84">
            <a:extLst>
              <a:ext uri="{FF2B5EF4-FFF2-40B4-BE49-F238E27FC236}">
                <a16:creationId xmlns:a16="http://schemas.microsoft.com/office/drawing/2014/main" id="{56F184E9-809A-A3C9-1755-4F6B9B443CD7}"/>
              </a:ext>
            </a:extLst>
          </p:cNvPr>
          <p:cNvCxnSpPr>
            <a:cxnSpLocks/>
          </p:cNvCxnSpPr>
          <p:nvPr/>
        </p:nvCxnSpPr>
        <p:spPr>
          <a:xfrm flipV="1">
            <a:off x="10879297" y="1187777"/>
            <a:ext cx="0" cy="2280477"/>
          </a:xfrm>
          <a:prstGeom prst="straightConnector1">
            <a:avLst/>
          </a:prstGeom>
          <a:ln w="25400" cap="rnd">
            <a:solidFill>
              <a:srgbClr val="004F77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eur droit avec flèche 85">
            <a:extLst>
              <a:ext uri="{FF2B5EF4-FFF2-40B4-BE49-F238E27FC236}">
                <a16:creationId xmlns:a16="http://schemas.microsoft.com/office/drawing/2014/main" id="{56F184E9-809A-A3C9-1755-4F6B9B443CD7}"/>
              </a:ext>
            </a:extLst>
          </p:cNvPr>
          <p:cNvCxnSpPr>
            <a:cxnSpLocks/>
          </p:cNvCxnSpPr>
          <p:nvPr/>
        </p:nvCxnSpPr>
        <p:spPr>
          <a:xfrm>
            <a:off x="211404" y="1187777"/>
            <a:ext cx="10667893" cy="0"/>
          </a:xfrm>
          <a:prstGeom prst="straightConnector1">
            <a:avLst/>
          </a:prstGeom>
          <a:ln w="25400" cap="rnd">
            <a:solidFill>
              <a:srgbClr val="004F77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eur droit avec flèche 86">
            <a:extLst>
              <a:ext uri="{FF2B5EF4-FFF2-40B4-BE49-F238E27FC236}">
                <a16:creationId xmlns:a16="http://schemas.microsoft.com/office/drawing/2014/main" id="{56F184E9-809A-A3C9-1755-4F6B9B443CD7}"/>
              </a:ext>
            </a:extLst>
          </p:cNvPr>
          <p:cNvCxnSpPr>
            <a:cxnSpLocks/>
          </p:cNvCxnSpPr>
          <p:nvPr/>
        </p:nvCxnSpPr>
        <p:spPr>
          <a:xfrm>
            <a:off x="218178" y="1722751"/>
            <a:ext cx="351246" cy="0"/>
          </a:xfrm>
          <a:prstGeom prst="straightConnector1">
            <a:avLst/>
          </a:prstGeom>
          <a:ln w="25400" cap="rnd">
            <a:solidFill>
              <a:srgbClr val="004F7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eur droit avec flèche 87">
            <a:extLst>
              <a:ext uri="{FF2B5EF4-FFF2-40B4-BE49-F238E27FC236}">
                <a16:creationId xmlns:a16="http://schemas.microsoft.com/office/drawing/2014/main" id="{56F184E9-809A-A3C9-1755-4F6B9B443CD7}"/>
              </a:ext>
            </a:extLst>
          </p:cNvPr>
          <p:cNvCxnSpPr>
            <a:cxnSpLocks/>
          </p:cNvCxnSpPr>
          <p:nvPr/>
        </p:nvCxnSpPr>
        <p:spPr>
          <a:xfrm flipV="1">
            <a:off x="211404" y="1187777"/>
            <a:ext cx="0" cy="534975"/>
          </a:xfrm>
          <a:prstGeom prst="straightConnector1">
            <a:avLst/>
          </a:prstGeom>
          <a:ln w="25400" cap="rnd">
            <a:solidFill>
              <a:srgbClr val="004F77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9" name="Image 88">
            <a:extLst>
              <a:ext uri="{FF2B5EF4-FFF2-40B4-BE49-F238E27FC236}">
                <a16:creationId xmlns:a16="http://schemas.microsoft.com/office/drawing/2014/main" id="{C17A8E59-00CE-32B0-C02D-92B62C4C1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323" y="4775512"/>
            <a:ext cx="252000" cy="88078"/>
          </a:xfrm>
          <a:prstGeom prst="rect">
            <a:avLst/>
          </a:prstGeom>
        </p:spPr>
      </p:pic>
      <p:pic>
        <p:nvPicPr>
          <p:cNvPr id="90" name="Image 89">
            <a:extLst>
              <a:ext uri="{FF2B5EF4-FFF2-40B4-BE49-F238E27FC236}">
                <a16:creationId xmlns:a16="http://schemas.microsoft.com/office/drawing/2014/main" id="{C17A8E59-00CE-32B0-C02D-92B62C4C1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2424" y="3260464"/>
            <a:ext cx="252000" cy="8807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1" name="ZoneTexte 90"/>
              <p:cNvSpPr txBox="1"/>
              <p:nvPr/>
            </p:nvSpPr>
            <p:spPr>
              <a:xfrm>
                <a:off x="2525337" y="3781040"/>
                <a:ext cx="638380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sz="105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5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𝒫</m:t>
                          </m:r>
                        </m:e>
                        <m:sub>
                          <m:r>
                            <a:rPr lang="fr-FR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𝑒𝑙𝑒𝑐</m:t>
                          </m:r>
                        </m:sub>
                      </m:sSub>
                      <m:r>
                        <a:rPr lang="fr-FR" sz="10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sz="10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𝑈𝐼</m:t>
                      </m:r>
                    </m:oMath>
                  </m:oMathPara>
                </a14:m>
                <a:endParaRPr lang="fr-FR" sz="1050" dirty="0"/>
              </a:p>
            </p:txBody>
          </p:sp>
        </mc:Choice>
        <mc:Fallback xmlns="">
          <p:sp>
            <p:nvSpPr>
              <p:cNvPr id="91" name="ZoneTexte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5337" y="3781040"/>
                <a:ext cx="638380" cy="161583"/>
              </a:xfrm>
              <a:prstGeom prst="rect">
                <a:avLst/>
              </a:prstGeom>
              <a:blipFill>
                <a:blip r:embed="rId14"/>
                <a:stretch>
                  <a:fillRect l="-4762" r="-3810" b="-1481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ZoneTexte 91"/>
              <p:cNvSpPr txBox="1"/>
              <p:nvPr/>
            </p:nvSpPr>
            <p:spPr>
              <a:xfrm>
                <a:off x="4694878" y="3733222"/>
                <a:ext cx="638380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sz="105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5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𝒫</m:t>
                          </m:r>
                        </m:e>
                        <m:sub>
                          <m:r>
                            <a:rPr lang="fr-FR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𝑒𝑙𝑒𝑐</m:t>
                          </m:r>
                        </m:sub>
                      </m:sSub>
                      <m:r>
                        <a:rPr lang="fr-FR" sz="10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sz="10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𝑈𝐼</m:t>
                      </m:r>
                    </m:oMath>
                  </m:oMathPara>
                </a14:m>
                <a:endParaRPr lang="fr-FR" sz="1050" dirty="0"/>
              </a:p>
            </p:txBody>
          </p:sp>
        </mc:Choice>
        <mc:Fallback xmlns="">
          <p:sp>
            <p:nvSpPr>
              <p:cNvPr id="92" name="ZoneTexte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4878" y="3733222"/>
                <a:ext cx="638380" cy="161583"/>
              </a:xfrm>
              <a:prstGeom prst="rect">
                <a:avLst/>
              </a:prstGeom>
              <a:blipFill>
                <a:blip r:embed="rId14"/>
                <a:stretch>
                  <a:fillRect l="-4762" r="-3810" b="-1481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ZoneTexte 92"/>
              <p:cNvSpPr txBox="1"/>
              <p:nvPr/>
            </p:nvSpPr>
            <p:spPr>
              <a:xfrm>
                <a:off x="6798395" y="3926892"/>
                <a:ext cx="739818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sz="105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5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𝒫</m:t>
                          </m:r>
                        </m:e>
                        <m:sub>
                          <m:r>
                            <a:rPr lang="fr-FR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fr-FR" sz="10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FR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fr-FR" sz="105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105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fr-FR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fr-FR" sz="105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3" name="ZoneTexte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8395" y="3926892"/>
                <a:ext cx="739818" cy="161583"/>
              </a:xfrm>
              <a:prstGeom prst="rect">
                <a:avLst/>
              </a:prstGeom>
              <a:blipFill>
                <a:blip r:embed="rId15"/>
                <a:stretch>
                  <a:fillRect l="-4098" r="-820" b="-111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ZoneTexte 93"/>
              <p:cNvSpPr txBox="1"/>
              <p:nvPr/>
            </p:nvSpPr>
            <p:spPr>
              <a:xfrm>
                <a:off x="8960940" y="3956407"/>
                <a:ext cx="625492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sz="105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5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𝒫</m:t>
                          </m:r>
                        </m:e>
                        <m:sub>
                          <m:r>
                            <a:rPr lang="fr-FR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sz="10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FR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sSub>
                        <m:sSubPr>
                          <m:ctrlPr>
                            <a:rPr lang="fr-FR" sz="105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105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fr-FR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fr-FR" sz="105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4" name="ZoneTexte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0940" y="3956407"/>
                <a:ext cx="625492" cy="161583"/>
              </a:xfrm>
              <a:prstGeom prst="rect">
                <a:avLst/>
              </a:prstGeom>
              <a:blipFill>
                <a:blip r:embed="rId16"/>
                <a:stretch>
                  <a:fillRect l="-4854" b="-1481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5" name="Image 94">
            <a:extLst>
              <a:ext uri="{FF2B5EF4-FFF2-40B4-BE49-F238E27FC236}">
                <a16:creationId xmlns:a16="http://schemas.microsoft.com/office/drawing/2014/main" id="{E3A983DC-8604-4428-90A0-1BAE06DE62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333" y="3260167"/>
            <a:ext cx="360000" cy="360000"/>
          </a:xfrm>
          <a:prstGeom prst="rect">
            <a:avLst/>
          </a:prstGeom>
        </p:spPr>
      </p:pic>
      <p:cxnSp>
        <p:nvCxnSpPr>
          <p:cNvPr id="96" name="Connecteur droit avec flèche 95">
            <a:extLst>
              <a:ext uri="{FF2B5EF4-FFF2-40B4-BE49-F238E27FC236}">
                <a16:creationId xmlns:a16="http://schemas.microsoft.com/office/drawing/2014/main" id="{2A759AA0-F3FD-C26A-60D8-97778FA4410F}"/>
              </a:ext>
            </a:extLst>
          </p:cNvPr>
          <p:cNvCxnSpPr>
            <a:cxnSpLocks/>
          </p:cNvCxnSpPr>
          <p:nvPr/>
        </p:nvCxnSpPr>
        <p:spPr>
          <a:xfrm flipV="1">
            <a:off x="324302" y="3707196"/>
            <a:ext cx="720000" cy="1536"/>
          </a:xfrm>
          <a:prstGeom prst="straightConnector1">
            <a:avLst/>
          </a:prstGeom>
          <a:ln w="25400" cap="rnd">
            <a:solidFill>
              <a:srgbClr val="FDAD5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ZoneTexte 96"/>
          <p:cNvSpPr txBox="1"/>
          <p:nvPr/>
        </p:nvSpPr>
        <p:spPr>
          <a:xfrm>
            <a:off x="329415" y="3755041"/>
            <a:ext cx="703719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fr-FR" sz="1050" dirty="0"/>
              <a:t>Prise secteur</a:t>
            </a:r>
          </a:p>
        </p:txBody>
      </p:sp>
      <p:pic>
        <p:nvPicPr>
          <p:cNvPr id="98" name="Image 97"/>
          <p:cNvPicPr/>
          <p:nvPr/>
        </p:nvPicPr>
        <p:blipFill>
          <a:blip r:embed="rId17"/>
          <a:stretch>
            <a:fillRect/>
          </a:stretch>
        </p:blipFill>
        <p:spPr>
          <a:xfrm>
            <a:off x="11086641" y="92184"/>
            <a:ext cx="854710" cy="1039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730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6B1A13B3-5149-FA1A-CC2E-224E94D25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Bras Beta – Axe de Rotation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CED491E-0826-EEF9-74D6-5744327FB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3</a:t>
            </a:fld>
            <a:endParaRPr lang="fr-FR"/>
          </a:p>
        </p:txBody>
      </p:sp>
      <p:pic>
        <p:nvPicPr>
          <p:cNvPr id="103" name="Image 10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6371" y="50189"/>
            <a:ext cx="1701165" cy="1361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Image 29">
            <a:extLst>
              <a:ext uri="{FF2B5EF4-FFF2-40B4-BE49-F238E27FC236}">
                <a16:creationId xmlns:a16="http://schemas.microsoft.com/office/drawing/2014/main" id="{3BECF8F0-470B-64AF-F87B-2E2F76E95F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16675"/>
            <a:ext cx="12192000" cy="3624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195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6B1A13B3-5149-FA1A-CC2E-224E94D25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Bras Beta – Axe de translation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CED491E-0826-EEF9-74D6-5744327FB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4</a:t>
            </a:fld>
            <a:endParaRPr lang="fr-FR"/>
          </a:p>
        </p:txBody>
      </p:sp>
      <p:pic>
        <p:nvPicPr>
          <p:cNvPr id="95" name="Image 9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6371" y="50189"/>
            <a:ext cx="1701165" cy="1361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Image 38">
            <a:extLst>
              <a:ext uri="{FF2B5EF4-FFF2-40B4-BE49-F238E27FC236}">
                <a16:creationId xmlns:a16="http://schemas.microsoft.com/office/drawing/2014/main" id="{BAE861D4-68DD-CA63-3570-1C900B96B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70055"/>
            <a:ext cx="12192000" cy="371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511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B5EB54-500B-937F-F396-1BE4E7753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Cheville NAO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80F83B8C-07C0-FD7D-AAEB-BFA5C65B2DC3}"/>
              </a:ext>
            </a:extLst>
          </p:cNvPr>
          <p:cNvSpPr/>
          <p:nvPr/>
        </p:nvSpPr>
        <p:spPr>
          <a:xfrm>
            <a:off x="1056905" y="1444678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04F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04F77"/>
                </a:solidFill>
                <a:latin typeface="Arial Nova" panose="020B0504020202020204" pitchFamily="34" charset="0"/>
              </a:rPr>
              <a:t>Acquérir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E44082EB-7DD4-5F30-8C37-BAC1AA0584A0}"/>
              </a:ext>
            </a:extLst>
          </p:cNvPr>
          <p:cNvSpPr/>
          <p:nvPr/>
        </p:nvSpPr>
        <p:spPr>
          <a:xfrm>
            <a:off x="1056905" y="2219824"/>
            <a:ext cx="1440000" cy="720000"/>
          </a:xfrm>
          <a:prstGeom prst="roundRect">
            <a:avLst>
              <a:gd name="adj" fmla="val 11914"/>
            </a:avLst>
          </a:prstGeom>
          <a:solidFill>
            <a:srgbClr val="DFE3EB"/>
          </a:solidFill>
          <a:ln w="19050">
            <a:solidFill>
              <a:srgbClr val="DFE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dirty="0">
                <a:solidFill>
                  <a:srgbClr val="004F77"/>
                </a:solidFill>
                <a:latin typeface="Arial Nova" panose="020B0504020202020204" pitchFamily="34" charset="0"/>
              </a:rPr>
              <a:t>Capteur MRE (Sortie moteur et sortie réducteur)</a:t>
            </a:r>
          </a:p>
          <a:p>
            <a:pPr algn="ctr"/>
            <a:r>
              <a:rPr lang="fr-FR" sz="1050" dirty="0">
                <a:solidFill>
                  <a:srgbClr val="004F77"/>
                </a:solidFill>
                <a:latin typeface="Arial Nova" panose="020B0504020202020204" pitchFamily="34" charset="0"/>
              </a:rPr>
              <a:t>Résistance Shunt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C21F5227-DCD4-61A6-D671-1F74A984D7ED}"/>
              </a:ext>
            </a:extLst>
          </p:cNvPr>
          <p:cNvSpPr/>
          <p:nvPr/>
        </p:nvSpPr>
        <p:spPr>
          <a:xfrm>
            <a:off x="3229319" y="1443142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04F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C7391"/>
                </a:solidFill>
                <a:latin typeface="Arial Nova" panose="020B0504020202020204" pitchFamily="34" charset="0"/>
              </a:rPr>
              <a:t>Traiter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B05B436F-180A-BCCB-3A7D-99DD11732CE0}"/>
              </a:ext>
            </a:extLst>
          </p:cNvPr>
          <p:cNvSpPr/>
          <p:nvPr/>
        </p:nvSpPr>
        <p:spPr>
          <a:xfrm>
            <a:off x="3218894" y="2236003"/>
            <a:ext cx="1440000" cy="540000"/>
          </a:xfrm>
          <a:prstGeom prst="roundRect">
            <a:avLst>
              <a:gd name="adj" fmla="val 11914"/>
            </a:avLst>
          </a:prstGeom>
          <a:solidFill>
            <a:srgbClr val="E4EBF0"/>
          </a:solidFill>
          <a:ln w="19050">
            <a:solidFill>
              <a:srgbClr val="E4EB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0C7391"/>
                </a:solidFill>
                <a:latin typeface="Arial Nova" panose="020B0504020202020204" pitchFamily="34" charset="0"/>
              </a:rPr>
              <a:t>Carte </a:t>
            </a:r>
            <a:r>
              <a:rPr lang="fr-FR" sz="1200" dirty="0" err="1">
                <a:solidFill>
                  <a:srgbClr val="0C7391"/>
                </a:solidFill>
                <a:latin typeface="Arial Nova" panose="020B0504020202020204" pitchFamily="34" charset="0"/>
              </a:rPr>
              <a:t>DSPic</a:t>
            </a:r>
            <a:endParaRPr lang="fr-FR" sz="1200" dirty="0">
              <a:solidFill>
                <a:srgbClr val="0C7391"/>
              </a:solidFill>
              <a:latin typeface="Arial Nova" panose="020B0504020202020204" pitchFamily="34" charset="0"/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8241944E-BD94-4E47-EB87-C7FA462341DA}"/>
              </a:ext>
            </a:extLst>
          </p:cNvPr>
          <p:cNvSpPr/>
          <p:nvPr/>
        </p:nvSpPr>
        <p:spPr>
          <a:xfrm>
            <a:off x="5389319" y="1420801"/>
            <a:ext cx="1440000" cy="576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8A5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8A559"/>
                </a:solidFill>
                <a:latin typeface="Arial Nova" panose="020B0504020202020204" pitchFamily="34" charset="0"/>
              </a:rPr>
              <a:t>Communiquer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37BBFDAC-8CFD-EED0-FBE7-C38B69FAC1B6}"/>
              </a:ext>
            </a:extLst>
          </p:cNvPr>
          <p:cNvSpPr/>
          <p:nvPr/>
        </p:nvSpPr>
        <p:spPr>
          <a:xfrm>
            <a:off x="5389319" y="2214770"/>
            <a:ext cx="1406281" cy="534390"/>
          </a:xfrm>
          <a:prstGeom prst="roundRect">
            <a:avLst>
              <a:gd name="adj" fmla="val 11914"/>
            </a:avLst>
          </a:prstGeom>
          <a:solidFill>
            <a:srgbClr val="E8F3E8"/>
          </a:solidFill>
          <a:ln w="19050">
            <a:solidFill>
              <a:srgbClr val="E8F3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err="1">
                <a:solidFill>
                  <a:srgbClr val="08A559"/>
                </a:solidFill>
                <a:latin typeface="Arial Nova" panose="020B0504020202020204" pitchFamily="34" charset="0"/>
              </a:rPr>
              <a:t>Tranceiver</a:t>
            </a:r>
            <a:endParaRPr lang="fr-FR" sz="1200" dirty="0">
              <a:solidFill>
                <a:srgbClr val="08A559"/>
              </a:solidFill>
              <a:latin typeface="Arial Nova" panose="020B0504020202020204" pitchFamily="34" charset="0"/>
            </a:endParaRPr>
          </a:p>
          <a:p>
            <a:pPr algn="ctr"/>
            <a:r>
              <a:rPr lang="fr-FR" sz="1200" dirty="0">
                <a:solidFill>
                  <a:srgbClr val="08A559"/>
                </a:solidFill>
                <a:latin typeface="Arial Nova" panose="020B0504020202020204" pitchFamily="34" charset="0"/>
              </a:rPr>
              <a:t>Liaison USB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58921265-510A-DD9B-2B39-2952E2004552}"/>
              </a:ext>
            </a:extLst>
          </p:cNvPr>
          <p:cNvSpPr/>
          <p:nvPr/>
        </p:nvSpPr>
        <p:spPr>
          <a:xfrm>
            <a:off x="1056905" y="3437532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FDAD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FDAD57"/>
                </a:solidFill>
                <a:latin typeface="Arial Nova" panose="020B0504020202020204" pitchFamily="34" charset="0"/>
              </a:rPr>
              <a:t>Alimenter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315F1F49-5306-67F6-2F07-2C081CB4E16B}"/>
              </a:ext>
            </a:extLst>
          </p:cNvPr>
          <p:cNvSpPr/>
          <p:nvPr/>
        </p:nvSpPr>
        <p:spPr>
          <a:xfrm>
            <a:off x="1056905" y="4132287"/>
            <a:ext cx="1440000" cy="540000"/>
          </a:xfrm>
          <a:prstGeom prst="roundRect">
            <a:avLst>
              <a:gd name="adj" fmla="val 11914"/>
            </a:avLst>
          </a:prstGeom>
          <a:solidFill>
            <a:srgbClr val="FEE6CC"/>
          </a:solidFill>
          <a:ln w="19050">
            <a:solidFill>
              <a:srgbClr val="FEE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FDAD57"/>
                </a:solidFill>
                <a:latin typeface="Arial Nova" panose="020B0504020202020204" pitchFamily="34" charset="0"/>
              </a:rPr>
              <a:t>Alimentation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5A563462-65BF-029D-787C-AB65CC01C483}"/>
              </a:ext>
            </a:extLst>
          </p:cNvPr>
          <p:cNvSpPr/>
          <p:nvPr/>
        </p:nvSpPr>
        <p:spPr>
          <a:xfrm>
            <a:off x="3218894" y="3432769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C739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C7391"/>
                </a:solidFill>
                <a:latin typeface="Arial Nova" panose="020B0504020202020204" pitchFamily="34" charset="0"/>
              </a:rPr>
              <a:t>Distribuer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EE00F091-664F-2AA2-0A36-53C44FBDE220}"/>
              </a:ext>
            </a:extLst>
          </p:cNvPr>
          <p:cNvSpPr/>
          <p:nvPr/>
        </p:nvSpPr>
        <p:spPr>
          <a:xfrm>
            <a:off x="3229319" y="4117990"/>
            <a:ext cx="1440000" cy="540000"/>
          </a:xfrm>
          <a:prstGeom prst="roundRect">
            <a:avLst>
              <a:gd name="adj" fmla="val 11914"/>
            </a:avLst>
          </a:prstGeom>
          <a:solidFill>
            <a:srgbClr val="9EC7D3"/>
          </a:solidFill>
          <a:ln w="19050">
            <a:solidFill>
              <a:srgbClr val="9EC7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0C7391"/>
                </a:solidFill>
                <a:latin typeface="Arial Nova" panose="020B0504020202020204" pitchFamily="34" charset="0"/>
              </a:rPr>
              <a:t>Hacheur 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2772500E-FC36-E5A9-76C1-95B59F6F990F}"/>
              </a:ext>
            </a:extLst>
          </p:cNvPr>
          <p:cNvSpPr/>
          <p:nvPr/>
        </p:nvSpPr>
        <p:spPr>
          <a:xfrm>
            <a:off x="5380883" y="3437532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6834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68348B"/>
                </a:solidFill>
                <a:latin typeface="Arial Nova" panose="020B0504020202020204" pitchFamily="34" charset="0"/>
              </a:rPr>
              <a:t>Convertir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70E8E4FC-54D3-742E-E43F-E89FF5D3F330}"/>
              </a:ext>
            </a:extLst>
          </p:cNvPr>
          <p:cNvSpPr/>
          <p:nvPr/>
        </p:nvSpPr>
        <p:spPr>
          <a:xfrm>
            <a:off x="5389319" y="4117990"/>
            <a:ext cx="1440000" cy="540000"/>
          </a:xfrm>
          <a:prstGeom prst="roundRect">
            <a:avLst>
              <a:gd name="adj" fmla="val 11914"/>
            </a:avLst>
          </a:prstGeom>
          <a:solidFill>
            <a:srgbClr val="C3AED1"/>
          </a:solidFill>
          <a:ln w="19050">
            <a:solidFill>
              <a:srgbClr val="C3AE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68348B"/>
                </a:solidFill>
                <a:latin typeface="Arial Nova" panose="020B0504020202020204" pitchFamily="34" charset="0"/>
              </a:rPr>
              <a:t>Moteur CC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2743233A-6594-B2C8-9B74-FD86638D12F8}"/>
              </a:ext>
            </a:extLst>
          </p:cNvPr>
          <p:cNvSpPr/>
          <p:nvPr/>
        </p:nvSpPr>
        <p:spPr>
          <a:xfrm>
            <a:off x="7542872" y="3440639"/>
            <a:ext cx="1365662" cy="53439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EE685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EE685D"/>
                </a:solidFill>
                <a:latin typeface="Arial Nova" panose="020B0504020202020204" pitchFamily="34" charset="0"/>
              </a:rPr>
              <a:t>Transmettre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52C372FB-BBD5-897C-5AD6-80DF1C48DD3A}"/>
              </a:ext>
            </a:extLst>
          </p:cNvPr>
          <p:cNvSpPr/>
          <p:nvPr/>
        </p:nvSpPr>
        <p:spPr>
          <a:xfrm>
            <a:off x="7549319" y="4097487"/>
            <a:ext cx="1365662" cy="534390"/>
          </a:xfrm>
          <a:prstGeom prst="roundRect">
            <a:avLst>
              <a:gd name="adj" fmla="val 11914"/>
            </a:avLst>
          </a:prstGeom>
          <a:solidFill>
            <a:srgbClr val="F7B8B3"/>
          </a:solidFill>
          <a:ln w="19050">
            <a:solidFill>
              <a:srgbClr val="F7B8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rgbClr val="EE685D"/>
                </a:solidFill>
                <a:latin typeface="Arial Nova" panose="020B0504020202020204" pitchFamily="34" charset="0"/>
              </a:rPr>
              <a:t>Train simple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A0B6CFC9-7F34-1B78-E290-26F9CEC59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826" y="1498649"/>
            <a:ext cx="434918" cy="152010"/>
          </a:xfrm>
          <a:prstGeom prst="rect">
            <a:avLst/>
          </a:prstGeom>
        </p:spPr>
      </p:pic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44D6833D-96F9-B7C2-46A3-21C7969625BF}"/>
              </a:ext>
            </a:extLst>
          </p:cNvPr>
          <p:cNvCxnSpPr>
            <a:cxnSpLocks/>
          </p:cNvCxnSpPr>
          <p:nvPr/>
        </p:nvCxnSpPr>
        <p:spPr>
          <a:xfrm flipV="1">
            <a:off x="2496905" y="1722751"/>
            <a:ext cx="720000" cy="1536"/>
          </a:xfrm>
          <a:prstGeom prst="straightConnector1">
            <a:avLst/>
          </a:prstGeom>
          <a:ln w="25400" cap="rnd">
            <a:solidFill>
              <a:srgbClr val="004F7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640E5456-7D4A-5375-F9BF-30166371CABA}"/>
              </a:ext>
            </a:extLst>
          </p:cNvPr>
          <p:cNvCxnSpPr/>
          <p:nvPr/>
        </p:nvCxnSpPr>
        <p:spPr>
          <a:xfrm flipV="1">
            <a:off x="4669319" y="1708801"/>
            <a:ext cx="720000" cy="1536"/>
          </a:xfrm>
          <a:prstGeom prst="straightConnector1">
            <a:avLst/>
          </a:prstGeom>
          <a:ln w="25400" cap="rnd">
            <a:solidFill>
              <a:srgbClr val="004F7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Image 23">
            <a:extLst>
              <a:ext uri="{FF2B5EF4-FFF2-40B4-BE49-F238E27FC236}">
                <a16:creationId xmlns:a16="http://schemas.microsoft.com/office/drawing/2014/main" id="{8C423284-2892-026F-E6B7-5FA0BCB54A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894" y="1313442"/>
            <a:ext cx="360000" cy="360000"/>
          </a:xfrm>
          <a:prstGeom prst="rect">
            <a:avLst/>
          </a:prstGeom>
        </p:spPr>
      </p:pic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1A71FDD1-D6D7-7E15-BFB2-4439832F86D2}"/>
              </a:ext>
            </a:extLst>
          </p:cNvPr>
          <p:cNvCxnSpPr>
            <a:cxnSpLocks/>
          </p:cNvCxnSpPr>
          <p:nvPr/>
        </p:nvCxnSpPr>
        <p:spPr>
          <a:xfrm flipV="1">
            <a:off x="2509319" y="3705996"/>
            <a:ext cx="720000" cy="1536"/>
          </a:xfrm>
          <a:prstGeom prst="straightConnector1">
            <a:avLst/>
          </a:prstGeom>
          <a:ln w="25400" cap="rnd">
            <a:solidFill>
              <a:srgbClr val="FDAD5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DBD2159E-81B3-EAFE-28C9-94D17D190AE8}"/>
              </a:ext>
            </a:extLst>
          </p:cNvPr>
          <p:cNvGrpSpPr/>
          <p:nvPr/>
        </p:nvGrpSpPr>
        <p:grpSpPr>
          <a:xfrm>
            <a:off x="1596905" y="3874910"/>
            <a:ext cx="360000" cy="360000"/>
            <a:chOff x="4197400" y="3547713"/>
            <a:chExt cx="1800000" cy="1800000"/>
          </a:xfrm>
        </p:grpSpPr>
        <p:sp>
          <p:nvSpPr>
            <p:cNvPr id="27" name="Ellipse 26">
              <a:extLst>
                <a:ext uri="{FF2B5EF4-FFF2-40B4-BE49-F238E27FC236}">
                  <a16:creationId xmlns:a16="http://schemas.microsoft.com/office/drawing/2014/main" id="{CBA5AE97-6DD3-E6EB-9291-04F3C5A13325}"/>
                </a:ext>
              </a:extLst>
            </p:cNvPr>
            <p:cNvSpPr/>
            <p:nvPr/>
          </p:nvSpPr>
          <p:spPr>
            <a:xfrm>
              <a:off x="4197400" y="3547713"/>
              <a:ext cx="1800000" cy="1800000"/>
            </a:xfrm>
            <a:prstGeom prst="ellipse">
              <a:avLst/>
            </a:prstGeom>
            <a:solidFill>
              <a:srgbClr val="FFB2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8" name="Image 27">
              <a:extLst>
                <a:ext uri="{FF2B5EF4-FFF2-40B4-BE49-F238E27FC236}">
                  <a16:creationId xmlns:a16="http://schemas.microsoft.com/office/drawing/2014/main" id="{DCE4F703-6BF3-A34E-7B50-12279FE3FF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26157" y="3876470"/>
              <a:ext cx="1142486" cy="1142486"/>
            </a:xfrm>
            <a:prstGeom prst="rect">
              <a:avLst/>
            </a:prstGeom>
          </p:spPr>
        </p:pic>
      </p:grpSp>
      <p:pic>
        <p:nvPicPr>
          <p:cNvPr id="29" name="Image 28">
            <a:extLst>
              <a:ext uri="{FF2B5EF4-FFF2-40B4-BE49-F238E27FC236}">
                <a16:creationId xmlns:a16="http://schemas.microsoft.com/office/drawing/2014/main" id="{CA6150B6-A9A3-6AF6-95D0-FDEF4B594B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044" y="3561065"/>
            <a:ext cx="360000" cy="360000"/>
          </a:xfrm>
          <a:prstGeom prst="rect">
            <a:avLst/>
          </a:prstGeom>
        </p:spPr>
      </p:pic>
      <p:pic>
        <p:nvPicPr>
          <p:cNvPr id="30" name="Image 29">
            <a:extLst>
              <a:ext uri="{FF2B5EF4-FFF2-40B4-BE49-F238E27FC236}">
                <a16:creationId xmlns:a16="http://schemas.microsoft.com/office/drawing/2014/main" id="{7AE85491-7E7B-D0BF-A6E6-B4C4BD1BA4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6905" y="3288253"/>
            <a:ext cx="360000" cy="360000"/>
          </a:xfrm>
          <a:prstGeom prst="rect">
            <a:avLst/>
          </a:prstGeom>
        </p:spPr>
      </p:pic>
      <p:grpSp>
        <p:nvGrpSpPr>
          <p:cNvPr id="31" name="Groupe 30">
            <a:extLst>
              <a:ext uri="{FF2B5EF4-FFF2-40B4-BE49-F238E27FC236}">
                <a16:creationId xmlns:a16="http://schemas.microsoft.com/office/drawing/2014/main" id="{5A5C8A11-56BB-F380-C912-4CE920DC321A}"/>
              </a:ext>
            </a:extLst>
          </p:cNvPr>
          <p:cNvGrpSpPr/>
          <p:nvPr/>
        </p:nvGrpSpPr>
        <p:grpSpPr>
          <a:xfrm>
            <a:off x="3769319" y="3882769"/>
            <a:ext cx="360000" cy="360000"/>
            <a:chOff x="6955958" y="3325976"/>
            <a:chExt cx="1800000" cy="1800000"/>
          </a:xfrm>
        </p:grpSpPr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7EE3B49D-D89C-EA85-2C1F-1C8006C9B8C3}"/>
                </a:ext>
              </a:extLst>
            </p:cNvPr>
            <p:cNvSpPr/>
            <p:nvPr/>
          </p:nvSpPr>
          <p:spPr>
            <a:xfrm>
              <a:off x="6955958" y="3325976"/>
              <a:ext cx="1800000" cy="1800000"/>
            </a:xfrm>
            <a:prstGeom prst="ellipse">
              <a:avLst/>
            </a:prstGeom>
            <a:solidFill>
              <a:srgbClr val="0C73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33" name="Image 32">
              <a:extLst>
                <a:ext uri="{FF2B5EF4-FFF2-40B4-BE49-F238E27FC236}">
                  <a16:creationId xmlns:a16="http://schemas.microsoft.com/office/drawing/2014/main" id="{F24D7F17-4A07-C513-8DF1-D01D94F9AC5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212124" y="3645024"/>
              <a:ext cx="1394286" cy="1161904"/>
            </a:xfrm>
            <a:prstGeom prst="rect">
              <a:avLst/>
            </a:prstGeom>
          </p:spPr>
        </p:pic>
        <p:pic>
          <p:nvPicPr>
            <p:cNvPr id="34" name="Image 33">
              <a:extLst>
                <a:ext uri="{FF2B5EF4-FFF2-40B4-BE49-F238E27FC236}">
                  <a16:creationId xmlns:a16="http://schemas.microsoft.com/office/drawing/2014/main" id="{2F8B0ED4-A96F-2FEF-196F-47C9D10E96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909267" y="4072626"/>
              <a:ext cx="246640" cy="173418"/>
            </a:xfrm>
            <a:prstGeom prst="rect">
              <a:avLst/>
            </a:prstGeom>
          </p:spPr>
        </p:pic>
      </p:grp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94FB293C-4139-B96C-AF2D-526EDED5C748}"/>
              </a:ext>
            </a:extLst>
          </p:cNvPr>
          <p:cNvCxnSpPr>
            <a:cxnSpLocks/>
          </p:cNvCxnSpPr>
          <p:nvPr/>
        </p:nvCxnSpPr>
        <p:spPr>
          <a:xfrm flipV="1">
            <a:off x="4669319" y="3693164"/>
            <a:ext cx="720000" cy="1536"/>
          </a:xfrm>
          <a:prstGeom prst="straightConnector1">
            <a:avLst/>
          </a:prstGeom>
          <a:ln w="25400" cap="rnd">
            <a:solidFill>
              <a:srgbClr val="0C739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Image 35">
            <a:extLst>
              <a:ext uri="{FF2B5EF4-FFF2-40B4-BE49-F238E27FC236}">
                <a16:creationId xmlns:a16="http://schemas.microsoft.com/office/drawing/2014/main" id="{F9329369-CD25-E03D-6A56-82C11DFA7E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8894" y="3288253"/>
            <a:ext cx="360000" cy="360000"/>
          </a:xfrm>
          <a:prstGeom prst="rect">
            <a:avLst/>
          </a:prstGeom>
        </p:spPr>
      </p:pic>
      <p:grpSp>
        <p:nvGrpSpPr>
          <p:cNvPr id="37" name="Groupe 36">
            <a:extLst>
              <a:ext uri="{FF2B5EF4-FFF2-40B4-BE49-F238E27FC236}">
                <a16:creationId xmlns:a16="http://schemas.microsoft.com/office/drawing/2014/main" id="{648D36B4-659F-E5A2-65AB-78BDF45CD8F0}"/>
              </a:ext>
            </a:extLst>
          </p:cNvPr>
          <p:cNvGrpSpPr/>
          <p:nvPr/>
        </p:nvGrpSpPr>
        <p:grpSpPr>
          <a:xfrm>
            <a:off x="5910458" y="3883180"/>
            <a:ext cx="360000" cy="360000"/>
            <a:chOff x="5775745" y="3144183"/>
            <a:chExt cx="1800000" cy="1800000"/>
          </a:xfrm>
        </p:grpSpPr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3D261E25-7926-3C55-AF1F-712704795ED7}"/>
                </a:ext>
              </a:extLst>
            </p:cNvPr>
            <p:cNvSpPr/>
            <p:nvPr/>
          </p:nvSpPr>
          <p:spPr>
            <a:xfrm>
              <a:off x="5775745" y="3144183"/>
              <a:ext cx="1800000" cy="1800000"/>
            </a:xfrm>
            <a:prstGeom prst="ellipse">
              <a:avLst/>
            </a:prstGeom>
            <a:solidFill>
              <a:srgbClr val="6834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39" name="Image 38">
              <a:extLst>
                <a:ext uri="{FF2B5EF4-FFF2-40B4-BE49-F238E27FC236}">
                  <a16:creationId xmlns:a16="http://schemas.microsoft.com/office/drawing/2014/main" id="{E90A6CE1-E2E4-D0D8-3C13-33075D9E190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903821" y="3513485"/>
              <a:ext cx="1543848" cy="1061396"/>
            </a:xfrm>
            <a:prstGeom prst="rect">
              <a:avLst/>
            </a:prstGeom>
          </p:spPr>
        </p:pic>
      </p:grp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681343BF-8CBA-0CD8-3ADB-159C9D36975F}"/>
              </a:ext>
            </a:extLst>
          </p:cNvPr>
          <p:cNvCxnSpPr>
            <a:cxnSpLocks/>
          </p:cNvCxnSpPr>
          <p:nvPr/>
        </p:nvCxnSpPr>
        <p:spPr>
          <a:xfrm flipV="1">
            <a:off x="6829319" y="3702769"/>
            <a:ext cx="720000" cy="1536"/>
          </a:xfrm>
          <a:prstGeom prst="straightConnector1">
            <a:avLst/>
          </a:prstGeom>
          <a:ln w="25400" cap="rnd">
            <a:solidFill>
              <a:srgbClr val="68348B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oupe 40">
            <a:extLst>
              <a:ext uri="{FF2B5EF4-FFF2-40B4-BE49-F238E27FC236}">
                <a16:creationId xmlns:a16="http://schemas.microsoft.com/office/drawing/2014/main" id="{F7C67972-7CE5-B093-CB4D-69EB32562953}"/>
              </a:ext>
            </a:extLst>
          </p:cNvPr>
          <p:cNvGrpSpPr/>
          <p:nvPr/>
        </p:nvGrpSpPr>
        <p:grpSpPr>
          <a:xfrm>
            <a:off x="7737744" y="3845486"/>
            <a:ext cx="360000" cy="360000"/>
            <a:chOff x="5447928" y="2816932"/>
            <a:chExt cx="1800000" cy="1800000"/>
          </a:xfrm>
        </p:grpSpPr>
        <p:sp>
          <p:nvSpPr>
            <p:cNvPr id="42" name="Ellipse 41">
              <a:extLst>
                <a:ext uri="{FF2B5EF4-FFF2-40B4-BE49-F238E27FC236}">
                  <a16:creationId xmlns:a16="http://schemas.microsoft.com/office/drawing/2014/main" id="{CDA67957-DC53-11C9-AE8A-B98CBD66B708}"/>
                </a:ext>
              </a:extLst>
            </p:cNvPr>
            <p:cNvSpPr/>
            <p:nvPr/>
          </p:nvSpPr>
          <p:spPr>
            <a:xfrm>
              <a:off x="5447928" y="2816932"/>
              <a:ext cx="1800000" cy="1800000"/>
            </a:xfrm>
            <a:prstGeom prst="ellipse">
              <a:avLst/>
            </a:prstGeom>
            <a:solidFill>
              <a:srgbClr val="EF72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43" name="Image 42">
              <a:extLst>
                <a:ext uri="{FF2B5EF4-FFF2-40B4-BE49-F238E27FC236}">
                  <a16:creationId xmlns:a16="http://schemas.microsoft.com/office/drawing/2014/main" id="{A8CF4441-7C37-0B8A-5308-E12E0C27B08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flipH="1">
              <a:off x="5627848" y="2996852"/>
              <a:ext cx="1440160" cy="1440160"/>
            </a:xfrm>
            <a:prstGeom prst="rect">
              <a:avLst/>
            </a:prstGeom>
          </p:spPr>
        </p:pic>
      </p:grpSp>
      <p:pic>
        <p:nvPicPr>
          <p:cNvPr id="44" name="Image 43">
            <a:extLst>
              <a:ext uri="{FF2B5EF4-FFF2-40B4-BE49-F238E27FC236}">
                <a16:creationId xmlns:a16="http://schemas.microsoft.com/office/drawing/2014/main" id="{E21B00BA-FF58-FBAF-F808-BBEC8728AD5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93108" y="3313520"/>
            <a:ext cx="360000" cy="360000"/>
          </a:xfrm>
          <a:prstGeom prst="rect">
            <a:avLst/>
          </a:prstGeom>
        </p:spPr>
      </p:pic>
      <p:cxnSp>
        <p:nvCxnSpPr>
          <p:cNvPr id="45" name="Connecteur : en angle 44">
            <a:extLst>
              <a:ext uri="{FF2B5EF4-FFF2-40B4-BE49-F238E27FC236}">
                <a16:creationId xmlns:a16="http://schemas.microsoft.com/office/drawing/2014/main" id="{542D9C4D-A51A-6EF1-067E-F4C3BC106B0C}"/>
              </a:ext>
            </a:extLst>
          </p:cNvPr>
          <p:cNvCxnSpPr>
            <a:cxnSpLocks/>
            <a:stCxn id="8" idx="3"/>
            <a:endCxn id="46" idx="3"/>
          </p:cNvCxnSpPr>
          <p:nvPr/>
        </p:nvCxnSpPr>
        <p:spPr>
          <a:xfrm flipH="1">
            <a:off x="6795600" y="1708801"/>
            <a:ext cx="33719" cy="1346496"/>
          </a:xfrm>
          <a:prstGeom prst="bentConnector3">
            <a:avLst>
              <a:gd name="adj1" fmla="val -1067152"/>
            </a:avLst>
          </a:prstGeom>
          <a:ln w="25400">
            <a:solidFill>
              <a:srgbClr val="08A55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 : coins arrondis 45">
            <a:extLst>
              <a:ext uri="{FF2B5EF4-FFF2-40B4-BE49-F238E27FC236}">
                <a16:creationId xmlns:a16="http://schemas.microsoft.com/office/drawing/2014/main" id="{BAAD46D5-290E-E362-62AA-F5467A77C6DA}"/>
              </a:ext>
            </a:extLst>
          </p:cNvPr>
          <p:cNvSpPr/>
          <p:nvPr/>
        </p:nvSpPr>
        <p:spPr>
          <a:xfrm>
            <a:off x="5389319" y="2889618"/>
            <a:ext cx="1406281" cy="331358"/>
          </a:xfrm>
          <a:prstGeom prst="roundRect">
            <a:avLst>
              <a:gd name="adj" fmla="val 11914"/>
            </a:avLst>
          </a:prstGeom>
          <a:solidFill>
            <a:srgbClr val="08A55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bg1"/>
                </a:solidFill>
                <a:latin typeface="Arial Nova" panose="020B0504020202020204" pitchFamily="34" charset="0"/>
              </a:rPr>
              <a:t>Ordres (PWM)</a:t>
            </a:r>
          </a:p>
        </p:txBody>
      </p:sp>
      <p:cxnSp>
        <p:nvCxnSpPr>
          <p:cNvPr id="47" name="Connecteur : en angle 46">
            <a:extLst>
              <a:ext uri="{FF2B5EF4-FFF2-40B4-BE49-F238E27FC236}">
                <a16:creationId xmlns:a16="http://schemas.microsoft.com/office/drawing/2014/main" id="{7850514A-3123-E97A-A3A6-699DB9F948D4}"/>
              </a:ext>
            </a:extLst>
          </p:cNvPr>
          <p:cNvCxnSpPr>
            <a:cxnSpLocks/>
            <a:stCxn id="46" idx="1"/>
            <a:endCxn id="12" idx="0"/>
          </p:cNvCxnSpPr>
          <p:nvPr/>
        </p:nvCxnSpPr>
        <p:spPr>
          <a:xfrm rot="10800000" flipV="1">
            <a:off x="3938895" y="3055297"/>
            <a:ext cx="1450425" cy="377472"/>
          </a:xfrm>
          <a:prstGeom prst="bentConnector2">
            <a:avLst/>
          </a:prstGeom>
          <a:ln w="25400">
            <a:solidFill>
              <a:srgbClr val="08A55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Image 47">
            <a:extLst>
              <a:ext uri="{FF2B5EF4-FFF2-40B4-BE49-F238E27FC236}">
                <a16:creationId xmlns:a16="http://schemas.microsoft.com/office/drawing/2014/main" id="{526C568D-C747-DC71-F89C-4BC3B1E1B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108" y="2837764"/>
            <a:ext cx="180000" cy="180000"/>
          </a:xfrm>
          <a:prstGeom prst="rect">
            <a:avLst/>
          </a:prstGeom>
        </p:spPr>
      </p:pic>
      <p:pic>
        <p:nvPicPr>
          <p:cNvPr id="49" name="Image 48">
            <a:extLst>
              <a:ext uri="{FF2B5EF4-FFF2-40B4-BE49-F238E27FC236}">
                <a16:creationId xmlns:a16="http://schemas.microsoft.com/office/drawing/2014/main" id="{0376AB47-315D-1AF8-2429-5B581E2AB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5152" y="3113393"/>
            <a:ext cx="180000" cy="180000"/>
          </a:xfrm>
          <a:prstGeom prst="rect">
            <a:avLst/>
          </a:prstGeom>
        </p:spPr>
      </p:pic>
      <p:sp>
        <p:nvSpPr>
          <p:cNvPr id="50" name="Rectangle : coins arrondis 49">
            <a:extLst>
              <a:ext uri="{FF2B5EF4-FFF2-40B4-BE49-F238E27FC236}">
                <a16:creationId xmlns:a16="http://schemas.microsoft.com/office/drawing/2014/main" id="{9290421B-386A-5029-E88D-F878A756EBB0}"/>
              </a:ext>
            </a:extLst>
          </p:cNvPr>
          <p:cNvSpPr/>
          <p:nvPr/>
        </p:nvSpPr>
        <p:spPr>
          <a:xfrm>
            <a:off x="9634981" y="3429000"/>
            <a:ext cx="1365662" cy="1194790"/>
          </a:xfrm>
          <a:prstGeom prst="roundRect">
            <a:avLst>
              <a:gd name="adj" fmla="val 11914"/>
            </a:avLst>
          </a:prstGeom>
          <a:solidFill>
            <a:srgbClr val="B2CAD6"/>
          </a:solidFill>
          <a:ln w="19050">
            <a:solidFill>
              <a:srgbClr val="B2CA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0D587E"/>
                </a:solidFill>
                <a:latin typeface="Arial Nova" panose="020B0504020202020204" pitchFamily="34" charset="0"/>
              </a:rPr>
              <a:t>Axe de tangage (ou Roulis)</a:t>
            </a:r>
          </a:p>
        </p:txBody>
      </p:sp>
      <p:cxnSp>
        <p:nvCxnSpPr>
          <p:cNvPr id="51" name="Connecteur droit avec flèche 50">
            <a:extLst>
              <a:ext uri="{FF2B5EF4-FFF2-40B4-BE49-F238E27FC236}">
                <a16:creationId xmlns:a16="http://schemas.microsoft.com/office/drawing/2014/main" id="{69338CFA-F33C-AFEE-B5E8-0593B3F0BCBD}"/>
              </a:ext>
            </a:extLst>
          </p:cNvPr>
          <p:cNvCxnSpPr>
            <a:cxnSpLocks/>
          </p:cNvCxnSpPr>
          <p:nvPr/>
        </p:nvCxnSpPr>
        <p:spPr>
          <a:xfrm flipV="1">
            <a:off x="8911620" y="3702769"/>
            <a:ext cx="720000" cy="1536"/>
          </a:xfrm>
          <a:prstGeom prst="straightConnector1">
            <a:avLst/>
          </a:prstGeom>
          <a:ln w="25400" cap="rnd">
            <a:solidFill>
              <a:srgbClr val="68348B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Image 51">
            <a:extLst>
              <a:ext uri="{FF2B5EF4-FFF2-40B4-BE49-F238E27FC236}">
                <a16:creationId xmlns:a16="http://schemas.microsoft.com/office/drawing/2014/main" id="{ACEAD4A0-8D43-20EC-9937-CA46BA39013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75409" y="3313520"/>
            <a:ext cx="360000" cy="360000"/>
          </a:xfrm>
          <a:prstGeom prst="rect">
            <a:avLst/>
          </a:prstGeom>
        </p:spPr>
      </p:pic>
      <p:grpSp>
        <p:nvGrpSpPr>
          <p:cNvPr id="53" name="Groupe 52">
            <a:extLst>
              <a:ext uri="{FF2B5EF4-FFF2-40B4-BE49-F238E27FC236}">
                <a16:creationId xmlns:a16="http://schemas.microsoft.com/office/drawing/2014/main" id="{9D927620-08C8-C8F6-50E2-CA02EF4308D2}"/>
              </a:ext>
            </a:extLst>
          </p:cNvPr>
          <p:cNvGrpSpPr/>
          <p:nvPr/>
        </p:nvGrpSpPr>
        <p:grpSpPr>
          <a:xfrm>
            <a:off x="3770117" y="1925231"/>
            <a:ext cx="360000" cy="360000"/>
            <a:chOff x="6138169" y="4069439"/>
            <a:chExt cx="1800000" cy="1800000"/>
          </a:xfrm>
        </p:grpSpPr>
        <p:sp>
          <p:nvSpPr>
            <p:cNvPr id="54" name="Ellipse 53">
              <a:extLst>
                <a:ext uri="{FF2B5EF4-FFF2-40B4-BE49-F238E27FC236}">
                  <a16:creationId xmlns:a16="http://schemas.microsoft.com/office/drawing/2014/main" id="{0C4564CA-2C25-6E66-B35D-2199D87C524A}"/>
                </a:ext>
              </a:extLst>
            </p:cNvPr>
            <p:cNvSpPr/>
            <p:nvPr/>
          </p:nvSpPr>
          <p:spPr>
            <a:xfrm>
              <a:off x="6138169" y="4069439"/>
              <a:ext cx="1800000" cy="180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55" name="Image 54">
              <a:extLst>
                <a:ext uri="{FF2B5EF4-FFF2-40B4-BE49-F238E27FC236}">
                  <a16:creationId xmlns:a16="http://schemas.microsoft.com/office/drawing/2014/main" id="{88F9E735-7334-79A1-152C-A06C25D6B5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243433" y="4174703"/>
              <a:ext cx="1589472" cy="1589472"/>
            </a:xfrm>
            <a:prstGeom prst="rect">
              <a:avLst/>
            </a:prstGeom>
          </p:spPr>
        </p:pic>
      </p:grpSp>
      <p:cxnSp>
        <p:nvCxnSpPr>
          <p:cNvPr id="56" name="Connecteur droit avec flèche 55">
            <a:extLst>
              <a:ext uri="{FF2B5EF4-FFF2-40B4-BE49-F238E27FC236}">
                <a16:creationId xmlns:a16="http://schemas.microsoft.com/office/drawing/2014/main" id="{2FD7FCE7-47D9-1845-314D-ADF7DAEC3E7F}"/>
              </a:ext>
            </a:extLst>
          </p:cNvPr>
          <p:cNvCxnSpPr/>
          <p:nvPr/>
        </p:nvCxnSpPr>
        <p:spPr>
          <a:xfrm flipV="1">
            <a:off x="6829319" y="1630730"/>
            <a:ext cx="720000" cy="1536"/>
          </a:xfrm>
          <a:prstGeom prst="straightConnector1">
            <a:avLst/>
          </a:prstGeom>
          <a:ln w="25400">
            <a:solidFill>
              <a:srgbClr val="08A55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Image 59">
            <a:extLst>
              <a:ext uri="{FF2B5EF4-FFF2-40B4-BE49-F238E27FC236}">
                <a16:creationId xmlns:a16="http://schemas.microsoft.com/office/drawing/2014/main" id="{637342EB-51E4-871A-9A96-759293685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4880" y="4119120"/>
            <a:ext cx="288000" cy="100660"/>
          </a:xfrm>
          <a:prstGeom prst="rect">
            <a:avLst/>
          </a:prstGeom>
        </p:spPr>
      </p:pic>
      <p:grpSp>
        <p:nvGrpSpPr>
          <p:cNvPr id="61" name="Groupe 60">
            <a:extLst>
              <a:ext uri="{FF2B5EF4-FFF2-40B4-BE49-F238E27FC236}">
                <a16:creationId xmlns:a16="http://schemas.microsoft.com/office/drawing/2014/main" id="{ADAA1622-73F0-0A77-4D13-CB44FFA21C61}"/>
              </a:ext>
            </a:extLst>
          </p:cNvPr>
          <p:cNvGrpSpPr/>
          <p:nvPr/>
        </p:nvGrpSpPr>
        <p:grpSpPr>
          <a:xfrm rot="5400000" flipV="1">
            <a:off x="10181964" y="4049013"/>
            <a:ext cx="835963" cy="1617775"/>
            <a:chOff x="9150640" y="2423323"/>
            <a:chExt cx="835963" cy="2135794"/>
          </a:xfrm>
        </p:grpSpPr>
        <p:sp>
          <p:nvSpPr>
            <p:cNvPr id="62" name="Flèche : virage 61">
              <a:extLst>
                <a:ext uri="{FF2B5EF4-FFF2-40B4-BE49-F238E27FC236}">
                  <a16:creationId xmlns:a16="http://schemas.microsoft.com/office/drawing/2014/main" id="{1ED295D5-80AA-B59D-25B2-D7CE7F29565E}"/>
                </a:ext>
              </a:extLst>
            </p:cNvPr>
            <p:cNvSpPr/>
            <p:nvPr/>
          </p:nvSpPr>
          <p:spPr>
            <a:xfrm rot="5400000">
              <a:off x="8500725" y="3073238"/>
              <a:ext cx="2135794" cy="835963"/>
            </a:xfrm>
            <a:prstGeom prst="bentArrow">
              <a:avLst>
                <a:gd name="adj1" fmla="val 31434"/>
                <a:gd name="adj2" fmla="val 25000"/>
                <a:gd name="adj3" fmla="val 17852"/>
                <a:gd name="adj4" fmla="val 20160"/>
              </a:avLst>
            </a:prstGeom>
            <a:solidFill>
              <a:srgbClr val="B2CA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63" name="ZoneTexte 62">
              <a:extLst>
                <a:ext uri="{FF2B5EF4-FFF2-40B4-BE49-F238E27FC236}">
                  <a16:creationId xmlns:a16="http://schemas.microsoft.com/office/drawing/2014/main" id="{0FAF4EC4-491E-FDD2-DFD7-1930A7EC84BA}"/>
                </a:ext>
              </a:extLst>
            </p:cNvPr>
            <p:cNvSpPr txBox="1"/>
            <p:nvPr/>
          </p:nvSpPr>
          <p:spPr>
            <a:xfrm rot="16200000">
              <a:off x="8798744" y="3317013"/>
              <a:ext cx="191804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fr-FR" sz="900" dirty="0">
                  <a:solidFill>
                    <a:schemeClr val="bg1"/>
                  </a:solidFill>
                  <a:latin typeface="Arial Nova" panose="020B0504020202020204" pitchFamily="34" charset="0"/>
                </a:rPr>
                <a:t>Cheville en mouvement</a:t>
              </a:r>
            </a:p>
          </p:txBody>
        </p:sp>
      </p:grpSp>
      <p:grpSp>
        <p:nvGrpSpPr>
          <p:cNvPr id="64" name="Groupe 63">
            <a:extLst>
              <a:ext uri="{FF2B5EF4-FFF2-40B4-BE49-F238E27FC236}">
                <a16:creationId xmlns:a16="http://schemas.microsoft.com/office/drawing/2014/main" id="{E04EA3E1-B14C-AEDA-A49E-A0B9DB8FE1BA}"/>
              </a:ext>
            </a:extLst>
          </p:cNvPr>
          <p:cNvGrpSpPr/>
          <p:nvPr/>
        </p:nvGrpSpPr>
        <p:grpSpPr>
          <a:xfrm>
            <a:off x="8611878" y="2802701"/>
            <a:ext cx="1549219" cy="611677"/>
            <a:chOff x="9075408" y="2802701"/>
            <a:chExt cx="1549219" cy="611677"/>
          </a:xfrm>
        </p:grpSpPr>
        <p:sp>
          <p:nvSpPr>
            <p:cNvPr id="65" name="Flèche : virage 64">
              <a:extLst>
                <a:ext uri="{FF2B5EF4-FFF2-40B4-BE49-F238E27FC236}">
                  <a16:creationId xmlns:a16="http://schemas.microsoft.com/office/drawing/2014/main" id="{AC5A95FF-C1D7-EFEC-70A3-74BD08513FD0}"/>
                </a:ext>
              </a:extLst>
            </p:cNvPr>
            <p:cNvSpPr/>
            <p:nvPr/>
          </p:nvSpPr>
          <p:spPr>
            <a:xfrm rot="5400000">
              <a:off x="9563593" y="2353345"/>
              <a:ext cx="572849" cy="1549218"/>
            </a:xfrm>
            <a:prstGeom prst="bentArrow">
              <a:avLst>
                <a:gd name="adj1" fmla="val 38639"/>
                <a:gd name="adj2" fmla="val 38302"/>
                <a:gd name="adj3" fmla="val 16744"/>
                <a:gd name="adj4" fmla="val 20160"/>
              </a:avLst>
            </a:prstGeom>
            <a:solidFill>
              <a:srgbClr val="B2CA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66" name="ZoneTexte 65">
              <a:extLst>
                <a:ext uri="{FF2B5EF4-FFF2-40B4-BE49-F238E27FC236}">
                  <a16:creationId xmlns:a16="http://schemas.microsoft.com/office/drawing/2014/main" id="{77E902AB-98E8-5A96-2662-CD9A7AACDDEC}"/>
                </a:ext>
              </a:extLst>
            </p:cNvPr>
            <p:cNvSpPr txBox="1"/>
            <p:nvPr/>
          </p:nvSpPr>
          <p:spPr>
            <a:xfrm>
              <a:off x="9075408" y="2802701"/>
              <a:ext cx="147371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fr-FR" sz="1200" dirty="0">
                  <a:solidFill>
                    <a:schemeClr val="bg1"/>
                  </a:solidFill>
                  <a:latin typeface="Arial Nova" panose="020B0504020202020204" pitchFamily="34" charset="0"/>
                </a:rPr>
                <a:t>Cheville à l’arrêt</a:t>
              </a:r>
            </a:p>
          </p:txBody>
        </p:sp>
      </p:grpSp>
      <p:pic>
        <p:nvPicPr>
          <p:cNvPr id="70" name="Image 69">
            <a:extLst>
              <a:ext uri="{FF2B5EF4-FFF2-40B4-BE49-F238E27FC236}">
                <a16:creationId xmlns:a16="http://schemas.microsoft.com/office/drawing/2014/main" id="{3F830D9D-ACED-0430-C238-2C558F702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545" y="1650659"/>
            <a:ext cx="434918" cy="1520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6" name="ZoneTexte 85">
                <a:extLst>
                  <a:ext uri="{FF2B5EF4-FFF2-40B4-BE49-F238E27FC236}">
                    <a16:creationId xmlns:a16="http://schemas.microsoft.com/office/drawing/2014/main" id="{207A7AC4-9F41-8B81-8BF5-38C485B52CD3}"/>
                  </a:ext>
                </a:extLst>
              </p:cNvPr>
              <p:cNvSpPr txBox="1"/>
              <p:nvPr/>
            </p:nvSpPr>
            <p:spPr>
              <a:xfrm>
                <a:off x="170158" y="3899116"/>
                <a:ext cx="11619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b="1" dirty="0">
                    <a:solidFill>
                      <a:srgbClr val="FFB25A"/>
                    </a:solidFill>
                    <a:latin typeface="Arial Nova" panose="020B0504020202020204" pitchFamily="34" charset="0"/>
                  </a:rPr>
                  <a:t>230 V </a:t>
                </a:r>
                <a14:m>
                  <m:oMath xmlns:m="http://schemas.openxmlformats.org/officeDocument/2006/math">
                    <m:r>
                      <a:rPr lang="fr-FR" sz="1200" b="1" i="1" smtClean="0">
                        <a:solidFill>
                          <a:srgbClr val="FFB25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~</m:t>
                    </m:r>
                  </m:oMath>
                </a14:m>
                <a:endParaRPr lang="fr-FR" sz="1200" b="1" dirty="0">
                  <a:solidFill>
                    <a:srgbClr val="FFB25A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86" name="ZoneTexte 85">
                <a:extLst>
                  <a:ext uri="{FF2B5EF4-FFF2-40B4-BE49-F238E27FC236}">
                    <a16:creationId xmlns:a16="http://schemas.microsoft.com/office/drawing/2014/main" id="{207A7AC4-9F41-8B81-8BF5-38C485B52C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158" y="3899116"/>
                <a:ext cx="1161960" cy="276999"/>
              </a:xfrm>
              <a:prstGeom prst="rect">
                <a:avLst/>
              </a:prstGeom>
              <a:blipFill>
                <a:blip r:embed="rId14"/>
                <a:stretch>
                  <a:fillRect t="-4444" b="-155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ZoneTexte 86">
                <a:extLst>
                  <a:ext uri="{FF2B5EF4-FFF2-40B4-BE49-F238E27FC236}">
                    <a16:creationId xmlns:a16="http://schemas.microsoft.com/office/drawing/2014/main" id="{F7B4421C-B704-6FDA-7E2A-04EEF16318B2}"/>
                  </a:ext>
                </a:extLst>
              </p:cNvPr>
              <p:cNvSpPr txBox="1"/>
              <p:nvPr/>
            </p:nvSpPr>
            <p:spPr>
              <a:xfrm>
                <a:off x="4443619" y="3709151"/>
                <a:ext cx="11619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b="1" dirty="0">
                    <a:solidFill>
                      <a:srgbClr val="FFB25A"/>
                    </a:solidFill>
                    <a:latin typeface="Arial Nova" panose="020B0504020202020204" pitchFamily="34" charset="0"/>
                  </a:rPr>
                  <a:t> 18 V </a:t>
                </a:r>
                <a14:m>
                  <m:oMath xmlns:m="http://schemas.openxmlformats.org/officeDocument/2006/math">
                    <m:r>
                      <a:rPr lang="fr-FR" sz="1200" b="1" i="0" smtClean="0">
                        <a:solidFill>
                          <a:srgbClr val="FFB25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</m:oMath>
                </a14:m>
                <a:endParaRPr lang="fr-FR" sz="1200" b="1" dirty="0">
                  <a:solidFill>
                    <a:srgbClr val="FFB25A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87" name="ZoneTexte 86">
                <a:extLst>
                  <a:ext uri="{FF2B5EF4-FFF2-40B4-BE49-F238E27FC236}">
                    <a16:creationId xmlns:a16="http://schemas.microsoft.com/office/drawing/2014/main" id="{F7B4421C-B704-6FDA-7E2A-04EEF16318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3619" y="3709151"/>
                <a:ext cx="1161960" cy="276999"/>
              </a:xfrm>
              <a:prstGeom prst="rect">
                <a:avLst/>
              </a:prstGeom>
              <a:blipFill>
                <a:blip r:embed="rId15"/>
                <a:stretch>
                  <a:fillRect t="-2174" b="-1304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9" name="Groupe 88">
            <a:extLst>
              <a:ext uri="{FF2B5EF4-FFF2-40B4-BE49-F238E27FC236}">
                <a16:creationId xmlns:a16="http://schemas.microsoft.com/office/drawing/2014/main" id="{BB660CAD-ED70-B9C9-8FF0-2E5C66345286}"/>
              </a:ext>
            </a:extLst>
          </p:cNvPr>
          <p:cNvGrpSpPr/>
          <p:nvPr/>
        </p:nvGrpSpPr>
        <p:grpSpPr>
          <a:xfrm>
            <a:off x="1328814" y="1885069"/>
            <a:ext cx="360000" cy="360000"/>
            <a:chOff x="8612196" y="3801520"/>
            <a:chExt cx="1800000" cy="1800000"/>
          </a:xfrm>
        </p:grpSpPr>
        <p:sp>
          <p:nvSpPr>
            <p:cNvPr id="90" name="Ellipse 89">
              <a:extLst>
                <a:ext uri="{FF2B5EF4-FFF2-40B4-BE49-F238E27FC236}">
                  <a16:creationId xmlns:a16="http://schemas.microsoft.com/office/drawing/2014/main" id="{6078C8F5-7ACE-8637-1D41-26519F5E7D56}"/>
                </a:ext>
              </a:extLst>
            </p:cNvPr>
            <p:cNvSpPr/>
            <p:nvPr/>
          </p:nvSpPr>
          <p:spPr>
            <a:xfrm>
              <a:off x="8612196" y="3801520"/>
              <a:ext cx="1800000" cy="180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b="1"/>
            </a:p>
          </p:txBody>
        </p:sp>
        <p:pic>
          <p:nvPicPr>
            <p:cNvPr id="91" name="Image 90">
              <a:extLst>
                <a:ext uri="{FF2B5EF4-FFF2-40B4-BE49-F238E27FC236}">
                  <a16:creationId xmlns:a16="http://schemas.microsoft.com/office/drawing/2014/main" id="{9703E254-5B90-E298-A77F-E0AC1FF0DB1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696428" y="3885752"/>
              <a:ext cx="1631536" cy="1631536"/>
            </a:xfrm>
            <a:prstGeom prst="rect">
              <a:avLst/>
            </a:prstGeom>
          </p:spPr>
        </p:pic>
      </p:grpSp>
      <p:grpSp>
        <p:nvGrpSpPr>
          <p:cNvPr id="98" name="Groupe 97">
            <a:extLst>
              <a:ext uri="{FF2B5EF4-FFF2-40B4-BE49-F238E27FC236}">
                <a16:creationId xmlns:a16="http://schemas.microsoft.com/office/drawing/2014/main" id="{E2DE54F0-C5B3-00E2-A8E8-498200B8B03B}"/>
              </a:ext>
            </a:extLst>
          </p:cNvPr>
          <p:cNvGrpSpPr/>
          <p:nvPr/>
        </p:nvGrpSpPr>
        <p:grpSpPr>
          <a:xfrm>
            <a:off x="6691216" y="4013282"/>
            <a:ext cx="288000" cy="288000"/>
            <a:chOff x="8612196" y="3801520"/>
            <a:chExt cx="1800000" cy="1800000"/>
          </a:xfrm>
        </p:grpSpPr>
        <p:sp>
          <p:nvSpPr>
            <p:cNvPr id="99" name="Ellipse 98">
              <a:extLst>
                <a:ext uri="{FF2B5EF4-FFF2-40B4-BE49-F238E27FC236}">
                  <a16:creationId xmlns:a16="http://schemas.microsoft.com/office/drawing/2014/main" id="{87E03D0C-8256-769B-7EC4-D18CCAE5DE3B}"/>
                </a:ext>
              </a:extLst>
            </p:cNvPr>
            <p:cNvSpPr/>
            <p:nvPr/>
          </p:nvSpPr>
          <p:spPr>
            <a:xfrm>
              <a:off x="8612196" y="3801520"/>
              <a:ext cx="1800000" cy="180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b="1"/>
            </a:p>
          </p:txBody>
        </p:sp>
        <p:pic>
          <p:nvPicPr>
            <p:cNvPr id="100" name="Image 99">
              <a:extLst>
                <a:ext uri="{FF2B5EF4-FFF2-40B4-BE49-F238E27FC236}">
                  <a16:creationId xmlns:a16="http://schemas.microsoft.com/office/drawing/2014/main" id="{62B981E2-C81C-4EC7-5E4B-967F4D27BA70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696428" y="3885752"/>
              <a:ext cx="1631536" cy="1631536"/>
            </a:xfrm>
            <a:prstGeom prst="rect">
              <a:avLst/>
            </a:prstGeom>
          </p:spPr>
        </p:pic>
      </p:grpSp>
      <p:grpSp>
        <p:nvGrpSpPr>
          <p:cNvPr id="101" name="Groupe 100">
            <a:extLst>
              <a:ext uri="{FF2B5EF4-FFF2-40B4-BE49-F238E27FC236}">
                <a16:creationId xmlns:a16="http://schemas.microsoft.com/office/drawing/2014/main" id="{C2F6975E-9F15-0D91-F690-EBC22E469E17}"/>
              </a:ext>
            </a:extLst>
          </p:cNvPr>
          <p:cNvGrpSpPr/>
          <p:nvPr/>
        </p:nvGrpSpPr>
        <p:grpSpPr>
          <a:xfrm>
            <a:off x="8844166" y="3971487"/>
            <a:ext cx="252000" cy="252000"/>
            <a:chOff x="8612196" y="3801520"/>
            <a:chExt cx="1800000" cy="1800000"/>
          </a:xfrm>
        </p:grpSpPr>
        <p:sp>
          <p:nvSpPr>
            <p:cNvPr id="102" name="Ellipse 101">
              <a:extLst>
                <a:ext uri="{FF2B5EF4-FFF2-40B4-BE49-F238E27FC236}">
                  <a16:creationId xmlns:a16="http://schemas.microsoft.com/office/drawing/2014/main" id="{8C8508C8-CDDE-7E8A-9DC2-97369A7B04C1}"/>
                </a:ext>
              </a:extLst>
            </p:cNvPr>
            <p:cNvSpPr/>
            <p:nvPr/>
          </p:nvSpPr>
          <p:spPr>
            <a:xfrm>
              <a:off x="8612196" y="3801520"/>
              <a:ext cx="1800000" cy="180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b="1"/>
            </a:p>
          </p:txBody>
        </p:sp>
        <p:pic>
          <p:nvPicPr>
            <p:cNvPr id="103" name="Image 102">
              <a:extLst>
                <a:ext uri="{FF2B5EF4-FFF2-40B4-BE49-F238E27FC236}">
                  <a16:creationId xmlns:a16="http://schemas.microsoft.com/office/drawing/2014/main" id="{C8DF7A1A-E80D-F5D0-41E9-02AF3543E4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696428" y="3885752"/>
              <a:ext cx="1631536" cy="1631536"/>
            </a:xfrm>
            <a:prstGeom prst="rect">
              <a:avLst/>
            </a:prstGeom>
          </p:spPr>
        </p:pic>
      </p:grpSp>
      <p:pic>
        <p:nvPicPr>
          <p:cNvPr id="104" name="Image 103">
            <a:extLst>
              <a:ext uri="{FF2B5EF4-FFF2-40B4-BE49-F238E27FC236}">
                <a16:creationId xmlns:a16="http://schemas.microsoft.com/office/drawing/2014/main" id="{62BE0285-C5D4-7B4C-F4AA-0947BBE93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3365" y="4057009"/>
            <a:ext cx="288000" cy="100660"/>
          </a:xfrm>
          <a:prstGeom prst="rect">
            <a:avLst/>
          </a:prstGeom>
        </p:spPr>
      </p:pic>
      <p:grpSp>
        <p:nvGrpSpPr>
          <p:cNvPr id="3" name="Groupe 2">
            <a:extLst>
              <a:ext uri="{FF2B5EF4-FFF2-40B4-BE49-F238E27FC236}">
                <a16:creationId xmlns:a16="http://schemas.microsoft.com/office/drawing/2014/main" id="{8F6A3CCA-43D5-D2F9-3F12-8ACD67DE8F4F}"/>
              </a:ext>
            </a:extLst>
          </p:cNvPr>
          <p:cNvGrpSpPr/>
          <p:nvPr/>
        </p:nvGrpSpPr>
        <p:grpSpPr>
          <a:xfrm flipH="1">
            <a:off x="1790117" y="1919553"/>
            <a:ext cx="360000" cy="360000"/>
            <a:chOff x="6054233" y="4960569"/>
            <a:chExt cx="1800000" cy="1800000"/>
          </a:xfrm>
        </p:grpSpPr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3AAC8449-8A05-A250-2A4A-820BAB3ED174}"/>
                </a:ext>
              </a:extLst>
            </p:cNvPr>
            <p:cNvSpPr/>
            <p:nvPr/>
          </p:nvSpPr>
          <p:spPr>
            <a:xfrm>
              <a:off x="6054233" y="4960569"/>
              <a:ext cx="1800000" cy="180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b="1"/>
            </a:p>
          </p:txBody>
        </p:sp>
        <p:pic>
          <p:nvPicPr>
            <p:cNvPr id="19" name="Image 18">
              <a:extLst>
                <a:ext uri="{FF2B5EF4-FFF2-40B4-BE49-F238E27FC236}">
                  <a16:creationId xmlns:a16="http://schemas.microsoft.com/office/drawing/2014/main" id="{1391A914-89E8-6132-4628-0EDEF72C8B8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6298697" y="5322283"/>
              <a:ext cx="1311072" cy="1076572"/>
            </a:xfrm>
            <a:prstGeom prst="rect">
              <a:avLst/>
            </a:prstGeom>
          </p:spPr>
        </p:pic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890F97B8-DB4C-8E3A-AC73-288AA840CFE4}"/>
              </a:ext>
            </a:extLst>
          </p:cNvPr>
          <p:cNvGrpSpPr/>
          <p:nvPr/>
        </p:nvGrpSpPr>
        <p:grpSpPr>
          <a:xfrm rot="5400000">
            <a:off x="7557744" y="1380659"/>
            <a:ext cx="540000" cy="540000"/>
            <a:chOff x="8494276" y="748802"/>
            <a:chExt cx="1800000" cy="1800000"/>
          </a:xfrm>
        </p:grpSpPr>
        <p:sp>
          <p:nvSpPr>
            <p:cNvPr id="67" name="Ellipse 66">
              <a:extLst>
                <a:ext uri="{FF2B5EF4-FFF2-40B4-BE49-F238E27FC236}">
                  <a16:creationId xmlns:a16="http://schemas.microsoft.com/office/drawing/2014/main" id="{2B5B16F8-7858-4A08-7377-BDE7A71EC701}"/>
                </a:ext>
              </a:extLst>
            </p:cNvPr>
            <p:cNvSpPr/>
            <p:nvPr/>
          </p:nvSpPr>
          <p:spPr>
            <a:xfrm>
              <a:off x="8494276" y="748802"/>
              <a:ext cx="1800000" cy="1800000"/>
            </a:xfrm>
            <a:prstGeom prst="ellipse">
              <a:avLst/>
            </a:prstGeom>
            <a:solidFill>
              <a:srgbClr val="08AF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68" name="Image 67">
              <a:extLst>
                <a:ext uri="{FF2B5EF4-FFF2-40B4-BE49-F238E27FC236}">
                  <a16:creationId xmlns:a16="http://schemas.microsoft.com/office/drawing/2014/main" id="{BFEDD504-77FA-288C-AC07-7256FF03D7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8943232" y="938192"/>
              <a:ext cx="902088" cy="1440000"/>
            </a:xfrm>
            <a:prstGeom prst="rect">
              <a:avLst/>
            </a:prstGeom>
          </p:spPr>
        </p:pic>
      </p:grpSp>
      <p:pic>
        <p:nvPicPr>
          <p:cNvPr id="57" name="Image 56">
            <a:extLst>
              <a:ext uri="{FF2B5EF4-FFF2-40B4-BE49-F238E27FC236}">
                <a16:creationId xmlns:a16="http://schemas.microsoft.com/office/drawing/2014/main" id="{7D6DDD32-7148-EDDF-EAB8-9017D426E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1293" y="4097486"/>
            <a:ext cx="288000" cy="100660"/>
          </a:xfrm>
          <a:prstGeom prst="rect">
            <a:avLst/>
          </a:prstGeom>
        </p:spPr>
      </p:pic>
      <p:grpSp>
        <p:nvGrpSpPr>
          <p:cNvPr id="58" name="Groupe 57">
            <a:extLst>
              <a:ext uri="{FF2B5EF4-FFF2-40B4-BE49-F238E27FC236}">
                <a16:creationId xmlns:a16="http://schemas.microsoft.com/office/drawing/2014/main" id="{DDC21378-86DE-32EA-22C3-4F4A4AA89685}"/>
              </a:ext>
            </a:extLst>
          </p:cNvPr>
          <p:cNvGrpSpPr/>
          <p:nvPr/>
        </p:nvGrpSpPr>
        <p:grpSpPr>
          <a:xfrm flipH="1">
            <a:off x="4502938" y="4010490"/>
            <a:ext cx="288000" cy="288000"/>
            <a:chOff x="6054233" y="4960569"/>
            <a:chExt cx="1800000" cy="1800000"/>
          </a:xfrm>
        </p:grpSpPr>
        <p:sp>
          <p:nvSpPr>
            <p:cNvPr id="59" name="Ellipse 58">
              <a:extLst>
                <a:ext uri="{FF2B5EF4-FFF2-40B4-BE49-F238E27FC236}">
                  <a16:creationId xmlns:a16="http://schemas.microsoft.com/office/drawing/2014/main" id="{9354105E-53B5-8F4F-8294-C8727774E110}"/>
                </a:ext>
              </a:extLst>
            </p:cNvPr>
            <p:cNvSpPr/>
            <p:nvPr/>
          </p:nvSpPr>
          <p:spPr>
            <a:xfrm>
              <a:off x="6054233" y="4960569"/>
              <a:ext cx="1800000" cy="180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b="1"/>
            </a:p>
          </p:txBody>
        </p:sp>
        <p:pic>
          <p:nvPicPr>
            <p:cNvPr id="69" name="Image 68">
              <a:extLst>
                <a:ext uri="{FF2B5EF4-FFF2-40B4-BE49-F238E27FC236}">
                  <a16:creationId xmlns:a16="http://schemas.microsoft.com/office/drawing/2014/main" id="{D91D02AD-3BB7-DDCC-E181-8B300F5E7A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6298697" y="5322283"/>
              <a:ext cx="1311072" cy="1076572"/>
            </a:xfrm>
            <a:prstGeom prst="rect">
              <a:avLst/>
            </a:prstGeom>
          </p:spPr>
        </p:pic>
      </p:grpSp>
      <p:pic>
        <p:nvPicPr>
          <p:cNvPr id="83" name="Image 82" descr="H:\RessourcesTP\Cheville_NAO\ERM\DTNA11\Pages et Images structure CD\accuei1.jpg"/>
          <p:cNvPicPr/>
          <p:nvPr/>
        </p:nvPicPr>
        <p:blipFill>
          <a:blip r:embed="rId19"/>
          <a:srcRect/>
          <a:stretch>
            <a:fillRect/>
          </a:stretch>
        </p:blipFill>
        <p:spPr bwMode="auto">
          <a:xfrm>
            <a:off x="10456594" y="47675"/>
            <a:ext cx="1730375" cy="166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53107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E5C1CAA4-BEC8-E034-06F5-82D8ED3BF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Comax</a:t>
            </a:r>
            <a:endParaRPr lang="fr-FR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22DFAA51-C6D3-9FCC-9035-87E9C9207526}"/>
              </a:ext>
            </a:extLst>
          </p:cNvPr>
          <p:cNvSpPr/>
          <p:nvPr/>
        </p:nvSpPr>
        <p:spPr>
          <a:xfrm>
            <a:off x="498044" y="5363610"/>
            <a:ext cx="8528438" cy="652851"/>
          </a:xfrm>
          <a:prstGeom prst="rect">
            <a:avLst/>
          </a:prstGeom>
          <a:solidFill>
            <a:srgbClr val="DFE3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9263" algn="just"/>
            <a:r>
              <a:rPr lang="fr-FR" sz="1400" dirty="0">
                <a:solidFill>
                  <a:srgbClr val="00547F"/>
                </a:solidFill>
              </a:rPr>
              <a:t>Codeur, ampèremètre et capteur d’effort sont nécessaires au bon fonctionnement du système.</a:t>
            </a:r>
          </a:p>
        </p:txBody>
      </p:sp>
      <p:pic>
        <p:nvPicPr>
          <p:cNvPr id="102" name="Image 101">
            <a:extLst>
              <a:ext uri="{FF2B5EF4-FFF2-40B4-BE49-F238E27FC236}">
                <a16:creationId xmlns:a16="http://schemas.microsoft.com/office/drawing/2014/main" id="{C0AD7CA5-78A9-F8BC-51AF-B87E6E836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4048" y="56544"/>
            <a:ext cx="1235919" cy="1539834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199" y="1498925"/>
            <a:ext cx="11785602" cy="386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978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E5C1CAA4-BEC8-E034-06F5-82D8ED3BF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Chaine fonctionnelle du </a:t>
            </a:r>
            <a:r>
              <a:rPr lang="fr-FR" dirty="0" err="1"/>
              <a:t>Control’X</a:t>
            </a:r>
            <a:endParaRPr lang="fr-FR" dirty="0"/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F7822C3A-6752-03D9-8DF8-C9BF49763BD8}"/>
              </a:ext>
            </a:extLst>
          </p:cNvPr>
          <p:cNvSpPr/>
          <p:nvPr/>
        </p:nvSpPr>
        <p:spPr>
          <a:xfrm>
            <a:off x="1056905" y="1330378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04F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04F77"/>
                </a:solidFill>
                <a:latin typeface="Arial Nova" panose="020B0504020202020204" pitchFamily="34" charset="0"/>
              </a:rPr>
              <a:t>Acquérir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FEC70D79-FF53-E1E6-8F5D-7DB4552BDEB8}"/>
              </a:ext>
            </a:extLst>
          </p:cNvPr>
          <p:cNvSpPr/>
          <p:nvPr/>
        </p:nvSpPr>
        <p:spPr>
          <a:xfrm>
            <a:off x="1056905" y="2105523"/>
            <a:ext cx="1440000" cy="946211"/>
          </a:xfrm>
          <a:prstGeom prst="roundRect">
            <a:avLst>
              <a:gd name="adj" fmla="val 11914"/>
            </a:avLst>
          </a:prstGeom>
          <a:solidFill>
            <a:srgbClr val="DFE3EB"/>
          </a:solidFill>
          <a:ln w="19050">
            <a:solidFill>
              <a:srgbClr val="DFE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00" dirty="0">
                <a:solidFill>
                  <a:srgbClr val="004F77"/>
                </a:solidFill>
                <a:latin typeface="Arial Nova" panose="020B0504020202020204" pitchFamily="34" charset="0"/>
              </a:rPr>
              <a:t>Détecteurs fin de course</a:t>
            </a:r>
          </a:p>
          <a:p>
            <a:pPr algn="ctr"/>
            <a:r>
              <a:rPr lang="fr-FR" sz="800" dirty="0">
                <a:solidFill>
                  <a:srgbClr val="004F77"/>
                </a:solidFill>
                <a:latin typeface="Arial Nova" panose="020B0504020202020204" pitchFamily="34" charset="0"/>
              </a:rPr>
              <a:t>Codeur incrémental</a:t>
            </a:r>
          </a:p>
          <a:p>
            <a:pPr algn="ctr"/>
            <a:r>
              <a:rPr lang="fr-FR" sz="800" dirty="0">
                <a:solidFill>
                  <a:srgbClr val="004F77"/>
                </a:solidFill>
                <a:latin typeface="Arial Nova" panose="020B0504020202020204" pitchFamily="34" charset="0"/>
              </a:rPr>
              <a:t>Capteur de tension</a:t>
            </a:r>
          </a:p>
          <a:p>
            <a:pPr algn="ctr"/>
            <a:r>
              <a:rPr lang="fr-FR" sz="800" dirty="0">
                <a:solidFill>
                  <a:srgbClr val="004F77"/>
                </a:solidFill>
                <a:latin typeface="Arial Nova" panose="020B0504020202020204" pitchFamily="34" charset="0"/>
              </a:rPr>
              <a:t>Capteur de courant</a:t>
            </a:r>
          </a:p>
          <a:p>
            <a:pPr algn="ctr"/>
            <a:r>
              <a:rPr lang="fr-FR" sz="800" dirty="0">
                <a:solidFill>
                  <a:srgbClr val="004F77"/>
                </a:solidFill>
                <a:latin typeface="Arial Nova" panose="020B0504020202020204" pitchFamily="34" charset="0"/>
              </a:rPr>
              <a:t>Génératrice tachymétrique</a:t>
            </a:r>
          </a:p>
          <a:p>
            <a:pPr algn="ctr"/>
            <a:r>
              <a:rPr lang="fr-FR" sz="800" dirty="0">
                <a:solidFill>
                  <a:srgbClr val="004F77"/>
                </a:solidFill>
                <a:latin typeface="Arial Nova" panose="020B0504020202020204" pitchFamily="34" charset="0"/>
              </a:rPr>
              <a:t>Règle magnétique</a:t>
            </a:r>
          </a:p>
          <a:p>
            <a:pPr algn="ctr"/>
            <a:r>
              <a:rPr lang="fr-FR" sz="800" dirty="0">
                <a:solidFill>
                  <a:srgbClr val="004F77"/>
                </a:solidFill>
                <a:latin typeface="Arial Nova" panose="020B0504020202020204" pitchFamily="34" charset="0"/>
              </a:rPr>
              <a:t>Capteur d’effort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492C39D7-C7C7-3458-7E55-FC4FCBD955B0}"/>
              </a:ext>
            </a:extLst>
          </p:cNvPr>
          <p:cNvSpPr/>
          <p:nvPr/>
        </p:nvSpPr>
        <p:spPr>
          <a:xfrm>
            <a:off x="3229319" y="1328842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04F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C7391"/>
                </a:solidFill>
                <a:latin typeface="Arial Nova" panose="020B0504020202020204" pitchFamily="34" charset="0"/>
              </a:rPr>
              <a:t>Traiter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5E73C37F-4A2D-AB41-B3A3-7332F9A357A2}"/>
              </a:ext>
            </a:extLst>
          </p:cNvPr>
          <p:cNvSpPr/>
          <p:nvPr/>
        </p:nvSpPr>
        <p:spPr>
          <a:xfrm>
            <a:off x="3218894" y="2121703"/>
            <a:ext cx="1440000" cy="540000"/>
          </a:xfrm>
          <a:prstGeom prst="roundRect">
            <a:avLst>
              <a:gd name="adj" fmla="val 11914"/>
            </a:avLst>
          </a:prstGeom>
          <a:solidFill>
            <a:srgbClr val="E4EBF0"/>
          </a:solidFill>
          <a:ln w="19050">
            <a:solidFill>
              <a:srgbClr val="E4EB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rgbClr val="0C7391"/>
                </a:solidFill>
                <a:latin typeface="Arial Nova" panose="020B0504020202020204" pitchFamily="34" charset="0"/>
              </a:rPr>
              <a:t>Carte de commande NI</a:t>
            </a:r>
          </a:p>
          <a:p>
            <a:pPr algn="ctr"/>
            <a:r>
              <a:rPr lang="fr-FR" sz="1000" dirty="0">
                <a:solidFill>
                  <a:srgbClr val="0C7391"/>
                </a:solidFill>
                <a:latin typeface="Arial Nova" panose="020B0504020202020204" pitchFamily="34" charset="0"/>
              </a:rPr>
              <a:t>Processeur du PC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8BE8DB55-CD2C-9609-869B-BFB5FBA5A6D3}"/>
              </a:ext>
            </a:extLst>
          </p:cNvPr>
          <p:cNvSpPr/>
          <p:nvPr/>
        </p:nvSpPr>
        <p:spPr>
          <a:xfrm>
            <a:off x="5389319" y="1306501"/>
            <a:ext cx="1440000" cy="576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8A5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8A559"/>
                </a:solidFill>
                <a:latin typeface="Arial Nova" panose="020B0504020202020204" pitchFamily="34" charset="0"/>
              </a:rPr>
              <a:t>Communiquer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E7C50B13-9945-267C-9C0F-3901C1922B55}"/>
              </a:ext>
            </a:extLst>
          </p:cNvPr>
          <p:cNvSpPr/>
          <p:nvPr/>
        </p:nvSpPr>
        <p:spPr>
          <a:xfrm>
            <a:off x="5389319" y="2100470"/>
            <a:ext cx="1406281" cy="534390"/>
          </a:xfrm>
          <a:prstGeom prst="roundRect">
            <a:avLst>
              <a:gd name="adj" fmla="val 11914"/>
            </a:avLst>
          </a:prstGeom>
          <a:solidFill>
            <a:srgbClr val="E8F3E8"/>
          </a:solidFill>
          <a:ln w="19050">
            <a:solidFill>
              <a:srgbClr val="E8F3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08A559"/>
                </a:solidFill>
                <a:latin typeface="Arial Nova" panose="020B0504020202020204" pitchFamily="34" charset="0"/>
              </a:rPr>
              <a:t>Carte de commande NI</a:t>
            </a:r>
          </a:p>
          <a:p>
            <a:pPr algn="ctr"/>
            <a:r>
              <a:rPr lang="fr-FR" sz="1200" dirty="0">
                <a:solidFill>
                  <a:srgbClr val="08A559"/>
                </a:solidFill>
                <a:latin typeface="Arial Nova" panose="020B0504020202020204" pitchFamily="34" charset="0"/>
              </a:rPr>
              <a:t>PC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8CFBB7BE-C306-859A-CF41-F04DD9BC455C}"/>
              </a:ext>
            </a:extLst>
          </p:cNvPr>
          <p:cNvSpPr/>
          <p:nvPr/>
        </p:nvSpPr>
        <p:spPr>
          <a:xfrm>
            <a:off x="1056905" y="3323232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FDAD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FDAD57"/>
                </a:solidFill>
                <a:latin typeface="Arial Nova" panose="020B0504020202020204" pitchFamily="34" charset="0"/>
              </a:rPr>
              <a:t>Alimenter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D364B3FD-91A8-1B5F-5FD3-55E164E3B9AE}"/>
              </a:ext>
            </a:extLst>
          </p:cNvPr>
          <p:cNvSpPr/>
          <p:nvPr/>
        </p:nvSpPr>
        <p:spPr>
          <a:xfrm>
            <a:off x="1056905" y="4017987"/>
            <a:ext cx="1440000" cy="540000"/>
          </a:xfrm>
          <a:prstGeom prst="roundRect">
            <a:avLst>
              <a:gd name="adj" fmla="val 11914"/>
            </a:avLst>
          </a:prstGeom>
          <a:solidFill>
            <a:srgbClr val="FEE6CC"/>
          </a:solidFill>
          <a:ln w="19050">
            <a:solidFill>
              <a:srgbClr val="FEE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FDAD57"/>
                </a:solidFill>
                <a:latin typeface="Arial Nova" panose="020B0504020202020204" pitchFamily="34" charset="0"/>
              </a:rPr>
              <a:t>Alimentation à découpage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96A2B729-7EE6-8CA6-72B2-5A16AA5A785A}"/>
              </a:ext>
            </a:extLst>
          </p:cNvPr>
          <p:cNvSpPr/>
          <p:nvPr/>
        </p:nvSpPr>
        <p:spPr>
          <a:xfrm>
            <a:off x="3218894" y="3318469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C739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C7391"/>
                </a:solidFill>
                <a:latin typeface="Arial Nova" panose="020B0504020202020204" pitchFamily="34" charset="0"/>
              </a:rPr>
              <a:t>Distribuer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3841B1B6-C546-170C-78BF-906D65F5DAA8}"/>
              </a:ext>
            </a:extLst>
          </p:cNvPr>
          <p:cNvSpPr/>
          <p:nvPr/>
        </p:nvSpPr>
        <p:spPr>
          <a:xfrm>
            <a:off x="3229319" y="4003689"/>
            <a:ext cx="1440000" cy="572255"/>
          </a:xfrm>
          <a:prstGeom prst="roundRect">
            <a:avLst>
              <a:gd name="adj" fmla="val 11914"/>
            </a:avLst>
          </a:prstGeom>
          <a:solidFill>
            <a:srgbClr val="9EC7D3"/>
          </a:solidFill>
          <a:ln w="19050">
            <a:solidFill>
              <a:srgbClr val="9EC7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rgbClr val="0C7391"/>
                </a:solidFill>
                <a:latin typeface="Arial Nova" panose="020B0504020202020204" pitchFamily="34" charset="0"/>
              </a:rPr>
              <a:t>Pont en H 4Q (Variateur ESCON)</a:t>
            </a:r>
            <a:endParaRPr lang="fr-FR" dirty="0">
              <a:solidFill>
                <a:srgbClr val="0C7391"/>
              </a:solidFill>
              <a:latin typeface="Arial Nova" panose="020B0504020202020204" pitchFamily="34" charset="0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B8181AD4-9AB8-CA7B-EFBF-8B9CD4369264}"/>
              </a:ext>
            </a:extLst>
          </p:cNvPr>
          <p:cNvSpPr/>
          <p:nvPr/>
        </p:nvSpPr>
        <p:spPr>
          <a:xfrm>
            <a:off x="5380883" y="3323232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6834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68348B"/>
                </a:solidFill>
                <a:latin typeface="Arial Nova" panose="020B0504020202020204" pitchFamily="34" charset="0"/>
              </a:rPr>
              <a:t>Convertir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7E462E27-42D7-734B-5E6F-B78EF40987B6}"/>
              </a:ext>
            </a:extLst>
          </p:cNvPr>
          <p:cNvSpPr/>
          <p:nvPr/>
        </p:nvSpPr>
        <p:spPr>
          <a:xfrm>
            <a:off x="5389319" y="4003690"/>
            <a:ext cx="1440000" cy="540000"/>
          </a:xfrm>
          <a:prstGeom prst="roundRect">
            <a:avLst>
              <a:gd name="adj" fmla="val 11914"/>
            </a:avLst>
          </a:prstGeom>
          <a:solidFill>
            <a:srgbClr val="C3AED1"/>
          </a:solidFill>
          <a:ln w="19050">
            <a:solidFill>
              <a:srgbClr val="C3AE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68348B"/>
                </a:solidFill>
                <a:latin typeface="Arial Nova" panose="020B0504020202020204" pitchFamily="34" charset="0"/>
              </a:rPr>
              <a:t>Moteur à courant continu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AA76E29F-1BCE-DD76-499C-CE8F3E850A8E}"/>
              </a:ext>
            </a:extLst>
          </p:cNvPr>
          <p:cNvSpPr/>
          <p:nvPr/>
        </p:nvSpPr>
        <p:spPr>
          <a:xfrm>
            <a:off x="7542872" y="3326339"/>
            <a:ext cx="1365662" cy="53439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EE685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EE685D"/>
                </a:solidFill>
                <a:latin typeface="Arial Nova" panose="020B0504020202020204" pitchFamily="34" charset="0"/>
              </a:rPr>
              <a:t>Transmettre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A66FC087-C9BC-9FD1-6C13-AD7571852AD4}"/>
              </a:ext>
            </a:extLst>
          </p:cNvPr>
          <p:cNvSpPr/>
          <p:nvPr/>
        </p:nvSpPr>
        <p:spPr>
          <a:xfrm>
            <a:off x="7549319" y="3983186"/>
            <a:ext cx="1365662" cy="652851"/>
          </a:xfrm>
          <a:prstGeom prst="roundRect">
            <a:avLst>
              <a:gd name="adj" fmla="val 11914"/>
            </a:avLst>
          </a:prstGeom>
          <a:solidFill>
            <a:srgbClr val="F7B8B3"/>
          </a:solidFill>
          <a:ln w="19050">
            <a:solidFill>
              <a:srgbClr val="F7B8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>
                <a:solidFill>
                  <a:srgbClr val="EE685D"/>
                </a:solidFill>
                <a:latin typeface="Arial Nova" panose="020B0504020202020204" pitchFamily="34" charset="0"/>
              </a:rPr>
              <a:t>Train épicycloïdal</a:t>
            </a:r>
          </a:p>
          <a:p>
            <a:pPr algn="ctr"/>
            <a:r>
              <a:rPr lang="fr-FR" sz="900" dirty="0">
                <a:solidFill>
                  <a:srgbClr val="EE685D"/>
                </a:solidFill>
                <a:latin typeface="Arial Nova" panose="020B0504020202020204" pitchFamily="34" charset="0"/>
              </a:rPr>
              <a:t>Joint de Oldham</a:t>
            </a:r>
          </a:p>
          <a:p>
            <a:pPr algn="ctr"/>
            <a:r>
              <a:rPr lang="fr-FR" sz="900" dirty="0">
                <a:solidFill>
                  <a:srgbClr val="EE685D"/>
                </a:solidFill>
                <a:latin typeface="Arial Nova" panose="020B0504020202020204" pitchFamily="34" charset="0"/>
              </a:rPr>
              <a:t>Poulie courroie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7282EFC0-8E54-A4E0-6953-44E98A7B8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826" y="1384349"/>
            <a:ext cx="434918" cy="152010"/>
          </a:xfrm>
          <a:prstGeom prst="rect">
            <a:avLst/>
          </a:prstGeom>
        </p:spPr>
      </p:pic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BE599621-6A35-D218-9184-0073520A41FC}"/>
              </a:ext>
            </a:extLst>
          </p:cNvPr>
          <p:cNvCxnSpPr>
            <a:cxnSpLocks/>
          </p:cNvCxnSpPr>
          <p:nvPr/>
        </p:nvCxnSpPr>
        <p:spPr>
          <a:xfrm flipV="1">
            <a:off x="2496905" y="1608451"/>
            <a:ext cx="720000" cy="1536"/>
          </a:xfrm>
          <a:prstGeom prst="straightConnector1">
            <a:avLst/>
          </a:prstGeom>
          <a:ln w="25400" cap="rnd">
            <a:solidFill>
              <a:srgbClr val="004F7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25CB3708-D27C-9C0F-920D-E2174EF1D3C1}"/>
              </a:ext>
            </a:extLst>
          </p:cNvPr>
          <p:cNvCxnSpPr/>
          <p:nvPr/>
        </p:nvCxnSpPr>
        <p:spPr>
          <a:xfrm flipV="1">
            <a:off x="4669319" y="1594501"/>
            <a:ext cx="720000" cy="1536"/>
          </a:xfrm>
          <a:prstGeom prst="straightConnector1">
            <a:avLst/>
          </a:prstGeom>
          <a:ln w="25400" cap="rnd">
            <a:solidFill>
              <a:srgbClr val="004F7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Image 22">
            <a:extLst>
              <a:ext uri="{FF2B5EF4-FFF2-40B4-BE49-F238E27FC236}">
                <a16:creationId xmlns:a16="http://schemas.microsoft.com/office/drawing/2014/main" id="{6B85577F-75F2-AC91-9B29-7674830D4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894" y="1199142"/>
            <a:ext cx="360000" cy="360000"/>
          </a:xfrm>
          <a:prstGeom prst="rect">
            <a:avLst/>
          </a:prstGeom>
        </p:spPr>
      </p:pic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4D3E9C84-1558-D9D2-B9AE-51FFDFD2ACAC}"/>
              </a:ext>
            </a:extLst>
          </p:cNvPr>
          <p:cNvCxnSpPr>
            <a:cxnSpLocks/>
          </p:cNvCxnSpPr>
          <p:nvPr/>
        </p:nvCxnSpPr>
        <p:spPr>
          <a:xfrm flipV="1">
            <a:off x="2509319" y="3591696"/>
            <a:ext cx="720000" cy="1536"/>
          </a:xfrm>
          <a:prstGeom prst="straightConnector1">
            <a:avLst/>
          </a:prstGeom>
          <a:ln w="25400" cap="rnd">
            <a:solidFill>
              <a:srgbClr val="FDAD5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F7A18018-C728-6B01-3037-0421AF781FBB}"/>
              </a:ext>
            </a:extLst>
          </p:cNvPr>
          <p:cNvGrpSpPr/>
          <p:nvPr/>
        </p:nvGrpSpPr>
        <p:grpSpPr>
          <a:xfrm>
            <a:off x="1596905" y="3760610"/>
            <a:ext cx="360000" cy="360000"/>
            <a:chOff x="4197400" y="3547713"/>
            <a:chExt cx="1800000" cy="1800000"/>
          </a:xfrm>
        </p:grpSpPr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AF615AC5-8CF6-FF34-1EF7-5C5D2FE5B9E8}"/>
                </a:ext>
              </a:extLst>
            </p:cNvPr>
            <p:cNvSpPr/>
            <p:nvPr/>
          </p:nvSpPr>
          <p:spPr>
            <a:xfrm>
              <a:off x="4197400" y="3547713"/>
              <a:ext cx="1800000" cy="1800000"/>
            </a:xfrm>
            <a:prstGeom prst="ellipse">
              <a:avLst/>
            </a:prstGeom>
            <a:solidFill>
              <a:srgbClr val="FFB2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7" name="Image 26">
              <a:extLst>
                <a:ext uri="{FF2B5EF4-FFF2-40B4-BE49-F238E27FC236}">
                  <a16:creationId xmlns:a16="http://schemas.microsoft.com/office/drawing/2014/main" id="{D99F6707-A222-D5E1-C4A9-E878E9F04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26157" y="3876470"/>
              <a:ext cx="1142486" cy="1142486"/>
            </a:xfrm>
            <a:prstGeom prst="rect">
              <a:avLst/>
            </a:prstGeom>
          </p:spPr>
        </p:pic>
      </p:grpSp>
      <p:pic>
        <p:nvPicPr>
          <p:cNvPr id="28" name="Image 27">
            <a:extLst>
              <a:ext uri="{FF2B5EF4-FFF2-40B4-BE49-F238E27FC236}">
                <a16:creationId xmlns:a16="http://schemas.microsoft.com/office/drawing/2014/main" id="{35145E60-25D8-7A86-65AE-7F3729EC78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044" y="3446765"/>
            <a:ext cx="360000" cy="360000"/>
          </a:xfrm>
          <a:prstGeom prst="rect">
            <a:avLst/>
          </a:prstGeom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id="{3C7DD139-EB5F-1D13-171E-251FB77C6B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6905" y="3173953"/>
            <a:ext cx="360000" cy="360000"/>
          </a:xfrm>
          <a:prstGeom prst="rect">
            <a:avLst/>
          </a:prstGeom>
        </p:spPr>
      </p:pic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6E52C4D0-B55B-30AA-F92B-6E09F0A4D9C9}"/>
              </a:ext>
            </a:extLst>
          </p:cNvPr>
          <p:cNvCxnSpPr>
            <a:cxnSpLocks/>
          </p:cNvCxnSpPr>
          <p:nvPr/>
        </p:nvCxnSpPr>
        <p:spPr>
          <a:xfrm flipV="1">
            <a:off x="4669319" y="3578864"/>
            <a:ext cx="720000" cy="1536"/>
          </a:xfrm>
          <a:prstGeom prst="straightConnector1">
            <a:avLst/>
          </a:prstGeom>
          <a:ln w="25400" cap="rnd">
            <a:solidFill>
              <a:srgbClr val="0C739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Image 34">
            <a:extLst>
              <a:ext uri="{FF2B5EF4-FFF2-40B4-BE49-F238E27FC236}">
                <a16:creationId xmlns:a16="http://schemas.microsoft.com/office/drawing/2014/main" id="{F31071D2-3D9A-9512-E018-EA9EA1D5A0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8894" y="3173953"/>
            <a:ext cx="360000" cy="360000"/>
          </a:xfrm>
          <a:prstGeom prst="rect">
            <a:avLst/>
          </a:prstGeom>
        </p:spPr>
      </p:pic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75B4C387-2DFC-8DD6-0817-E4B93F7F3F85}"/>
              </a:ext>
            </a:extLst>
          </p:cNvPr>
          <p:cNvCxnSpPr>
            <a:cxnSpLocks/>
          </p:cNvCxnSpPr>
          <p:nvPr/>
        </p:nvCxnSpPr>
        <p:spPr>
          <a:xfrm flipV="1">
            <a:off x="6829319" y="3588469"/>
            <a:ext cx="720000" cy="1536"/>
          </a:xfrm>
          <a:prstGeom prst="straightConnector1">
            <a:avLst/>
          </a:prstGeom>
          <a:ln w="25400" cap="rnd">
            <a:solidFill>
              <a:srgbClr val="68348B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Image 42">
            <a:extLst>
              <a:ext uri="{FF2B5EF4-FFF2-40B4-BE49-F238E27FC236}">
                <a16:creationId xmlns:a16="http://schemas.microsoft.com/office/drawing/2014/main" id="{F1B5964F-3473-92A5-6A3A-F03DA766A9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3108" y="3199220"/>
            <a:ext cx="360000" cy="360000"/>
          </a:xfrm>
          <a:prstGeom prst="rect">
            <a:avLst/>
          </a:prstGeom>
        </p:spPr>
      </p:pic>
      <p:cxnSp>
        <p:nvCxnSpPr>
          <p:cNvPr id="44" name="Connecteur : en angle 43">
            <a:extLst>
              <a:ext uri="{FF2B5EF4-FFF2-40B4-BE49-F238E27FC236}">
                <a16:creationId xmlns:a16="http://schemas.microsoft.com/office/drawing/2014/main" id="{2C5943AA-979A-103D-FC4E-264A925A4FF0}"/>
              </a:ext>
            </a:extLst>
          </p:cNvPr>
          <p:cNvCxnSpPr>
            <a:cxnSpLocks/>
            <a:stCxn id="10" idx="3"/>
            <a:endCxn id="45" idx="3"/>
          </p:cNvCxnSpPr>
          <p:nvPr/>
        </p:nvCxnSpPr>
        <p:spPr>
          <a:xfrm flipH="1">
            <a:off x="6795600" y="1594501"/>
            <a:ext cx="33719" cy="1346496"/>
          </a:xfrm>
          <a:prstGeom prst="bentConnector3">
            <a:avLst>
              <a:gd name="adj1" fmla="val -1067152"/>
            </a:avLst>
          </a:prstGeom>
          <a:ln w="25400">
            <a:solidFill>
              <a:srgbClr val="08A55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 : coins arrondis 44">
            <a:extLst>
              <a:ext uri="{FF2B5EF4-FFF2-40B4-BE49-F238E27FC236}">
                <a16:creationId xmlns:a16="http://schemas.microsoft.com/office/drawing/2014/main" id="{4EDA86AC-B60C-0765-FBC6-4E7119B8D620}"/>
              </a:ext>
            </a:extLst>
          </p:cNvPr>
          <p:cNvSpPr/>
          <p:nvPr/>
        </p:nvSpPr>
        <p:spPr>
          <a:xfrm>
            <a:off x="5389319" y="2775318"/>
            <a:ext cx="1406281" cy="331358"/>
          </a:xfrm>
          <a:prstGeom prst="roundRect">
            <a:avLst>
              <a:gd name="adj" fmla="val 11914"/>
            </a:avLst>
          </a:prstGeom>
          <a:solidFill>
            <a:srgbClr val="08A55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bg1"/>
                </a:solidFill>
                <a:latin typeface="Arial Nova" panose="020B0504020202020204" pitchFamily="34" charset="0"/>
              </a:rPr>
              <a:t>Ordres (PWM)</a:t>
            </a:r>
          </a:p>
        </p:txBody>
      </p:sp>
      <p:cxnSp>
        <p:nvCxnSpPr>
          <p:cNvPr id="46" name="Connecteur : en angle 45">
            <a:extLst>
              <a:ext uri="{FF2B5EF4-FFF2-40B4-BE49-F238E27FC236}">
                <a16:creationId xmlns:a16="http://schemas.microsoft.com/office/drawing/2014/main" id="{C9DF5005-6531-4D0B-0B32-A0A73479B4F0}"/>
              </a:ext>
            </a:extLst>
          </p:cNvPr>
          <p:cNvCxnSpPr>
            <a:cxnSpLocks/>
            <a:stCxn id="45" idx="1"/>
            <a:endCxn id="14" idx="0"/>
          </p:cNvCxnSpPr>
          <p:nvPr/>
        </p:nvCxnSpPr>
        <p:spPr>
          <a:xfrm rot="10800000" flipV="1">
            <a:off x="3938895" y="2940997"/>
            <a:ext cx="1450425" cy="377472"/>
          </a:xfrm>
          <a:prstGeom prst="bentConnector2">
            <a:avLst/>
          </a:prstGeom>
          <a:ln w="25400">
            <a:solidFill>
              <a:srgbClr val="08A55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Image 46">
            <a:extLst>
              <a:ext uri="{FF2B5EF4-FFF2-40B4-BE49-F238E27FC236}">
                <a16:creationId xmlns:a16="http://schemas.microsoft.com/office/drawing/2014/main" id="{5684C887-250C-3EE4-51A9-97E49BAEE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108" y="2723464"/>
            <a:ext cx="180000" cy="180000"/>
          </a:xfrm>
          <a:prstGeom prst="rect">
            <a:avLst/>
          </a:prstGeom>
        </p:spPr>
      </p:pic>
      <p:pic>
        <p:nvPicPr>
          <p:cNvPr id="48" name="Image 47">
            <a:extLst>
              <a:ext uri="{FF2B5EF4-FFF2-40B4-BE49-F238E27FC236}">
                <a16:creationId xmlns:a16="http://schemas.microsoft.com/office/drawing/2014/main" id="{A2DBB512-E0D6-1DCF-AD42-945E61453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5152" y="2999093"/>
            <a:ext cx="180000" cy="180000"/>
          </a:xfrm>
          <a:prstGeom prst="rect">
            <a:avLst/>
          </a:prstGeom>
        </p:spPr>
      </p:pic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41C8C10B-28B1-AAD9-17B3-48F680D32BCC}"/>
              </a:ext>
            </a:extLst>
          </p:cNvPr>
          <p:cNvSpPr/>
          <p:nvPr/>
        </p:nvSpPr>
        <p:spPr>
          <a:xfrm>
            <a:off x="9634981" y="3314700"/>
            <a:ext cx="1365662" cy="1194790"/>
          </a:xfrm>
          <a:prstGeom prst="roundRect">
            <a:avLst>
              <a:gd name="adj" fmla="val 11914"/>
            </a:avLst>
          </a:prstGeom>
          <a:solidFill>
            <a:srgbClr val="B2CAD6"/>
          </a:solidFill>
          <a:ln w="19050">
            <a:solidFill>
              <a:srgbClr val="B2CA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0D587E"/>
                </a:solidFill>
                <a:latin typeface="Arial Nova" panose="020B0504020202020204" pitchFamily="34" charset="0"/>
              </a:rPr>
              <a:t>Chariot</a:t>
            </a:r>
          </a:p>
        </p:txBody>
      </p:sp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id="{505D6021-1B16-1674-733B-C648AC112904}"/>
              </a:ext>
            </a:extLst>
          </p:cNvPr>
          <p:cNvCxnSpPr>
            <a:cxnSpLocks/>
          </p:cNvCxnSpPr>
          <p:nvPr/>
        </p:nvCxnSpPr>
        <p:spPr>
          <a:xfrm flipV="1">
            <a:off x="8911620" y="3588469"/>
            <a:ext cx="720000" cy="1536"/>
          </a:xfrm>
          <a:prstGeom prst="straightConnector1">
            <a:avLst/>
          </a:prstGeom>
          <a:ln w="25400" cap="rnd">
            <a:solidFill>
              <a:srgbClr val="68348B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Groupe 51">
            <a:extLst>
              <a:ext uri="{FF2B5EF4-FFF2-40B4-BE49-F238E27FC236}">
                <a16:creationId xmlns:a16="http://schemas.microsoft.com/office/drawing/2014/main" id="{C3681FD9-BFE4-7350-1964-9C093DDF1B5E}"/>
              </a:ext>
            </a:extLst>
          </p:cNvPr>
          <p:cNvGrpSpPr/>
          <p:nvPr/>
        </p:nvGrpSpPr>
        <p:grpSpPr>
          <a:xfrm>
            <a:off x="3770117" y="1810931"/>
            <a:ext cx="360000" cy="360000"/>
            <a:chOff x="6138169" y="4069439"/>
            <a:chExt cx="1800000" cy="1800000"/>
          </a:xfrm>
        </p:grpSpPr>
        <p:sp>
          <p:nvSpPr>
            <p:cNvPr id="53" name="Ellipse 52">
              <a:extLst>
                <a:ext uri="{FF2B5EF4-FFF2-40B4-BE49-F238E27FC236}">
                  <a16:creationId xmlns:a16="http://schemas.microsoft.com/office/drawing/2014/main" id="{599396A5-DEE6-FF8C-4576-A72DC9E6130D}"/>
                </a:ext>
              </a:extLst>
            </p:cNvPr>
            <p:cNvSpPr/>
            <p:nvPr/>
          </p:nvSpPr>
          <p:spPr>
            <a:xfrm>
              <a:off x="6138169" y="4069439"/>
              <a:ext cx="1800000" cy="180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54" name="Image 53">
              <a:extLst>
                <a:ext uri="{FF2B5EF4-FFF2-40B4-BE49-F238E27FC236}">
                  <a16:creationId xmlns:a16="http://schemas.microsoft.com/office/drawing/2014/main" id="{F05DEF27-F929-BD20-2E07-1628A11DB34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243433" y="4174703"/>
              <a:ext cx="1589472" cy="1589472"/>
            </a:xfrm>
            <a:prstGeom prst="rect">
              <a:avLst/>
            </a:prstGeom>
          </p:spPr>
        </p:pic>
      </p:grpSp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CEC25A5B-4B64-B67F-296D-04E6B189266D}"/>
              </a:ext>
            </a:extLst>
          </p:cNvPr>
          <p:cNvCxnSpPr/>
          <p:nvPr/>
        </p:nvCxnSpPr>
        <p:spPr>
          <a:xfrm flipV="1">
            <a:off x="6829319" y="1516430"/>
            <a:ext cx="720000" cy="1536"/>
          </a:xfrm>
          <a:prstGeom prst="straightConnector1">
            <a:avLst/>
          </a:prstGeom>
          <a:ln w="25400">
            <a:solidFill>
              <a:srgbClr val="08A55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7F3E2C-9FA7-42D8-DEF0-9439478A5709}"/>
              </a:ext>
            </a:extLst>
          </p:cNvPr>
          <p:cNvGrpSpPr/>
          <p:nvPr/>
        </p:nvGrpSpPr>
        <p:grpSpPr>
          <a:xfrm rot="5400000" flipV="1">
            <a:off x="10181964" y="3934713"/>
            <a:ext cx="835963" cy="1617775"/>
            <a:chOff x="9150640" y="2423323"/>
            <a:chExt cx="835963" cy="2135794"/>
          </a:xfrm>
        </p:grpSpPr>
        <p:sp>
          <p:nvSpPr>
            <p:cNvPr id="58" name="Flèche : virage 57">
              <a:extLst>
                <a:ext uri="{FF2B5EF4-FFF2-40B4-BE49-F238E27FC236}">
                  <a16:creationId xmlns:a16="http://schemas.microsoft.com/office/drawing/2014/main" id="{A404FB7A-E23C-BD6A-6263-4B2DE2013DB7}"/>
                </a:ext>
              </a:extLst>
            </p:cNvPr>
            <p:cNvSpPr/>
            <p:nvPr/>
          </p:nvSpPr>
          <p:spPr>
            <a:xfrm rot="5400000">
              <a:off x="8500725" y="3073238"/>
              <a:ext cx="2135794" cy="835963"/>
            </a:xfrm>
            <a:prstGeom prst="bentArrow">
              <a:avLst>
                <a:gd name="adj1" fmla="val 31434"/>
                <a:gd name="adj2" fmla="val 25000"/>
                <a:gd name="adj3" fmla="val 17852"/>
                <a:gd name="adj4" fmla="val 20160"/>
              </a:avLst>
            </a:prstGeom>
            <a:solidFill>
              <a:srgbClr val="B2CA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59" name="ZoneTexte 58">
              <a:extLst>
                <a:ext uri="{FF2B5EF4-FFF2-40B4-BE49-F238E27FC236}">
                  <a16:creationId xmlns:a16="http://schemas.microsoft.com/office/drawing/2014/main" id="{D9969D2B-BFBA-54A7-C4C5-06DFD5138BC1}"/>
                </a:ext>
              </a:extLst>
            </p:cNvPr>
            <p:cNvSpPr txBox="1"/>
            <p:nvPr/>
          </p:nvSpPr>
          <p:spPr>
            <a:xfrm rot="16200000">
              <a:off x="8815678" y="3317013"/>
              <a:ext cx="191804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fr-FR" sz="900" dirty="0">
                  <a:solidFill>
                    <a:schemeClr val="bg1"/>
                  </a:solidFill>
                  <a:latin typeface="Arial Nova" panose="020B0504020202020204" pitchFamily="34" charset="0"/>
                </a:rPr>
                <a:t>Chariot en position finale</a:t>
              </a:r>
            </a:p>
          </p:txBody>
        </p:sp>
      </p:grp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32A82909-C4F5-9AA0-D150-C388F421C774}"/>
              </a:ext>
            </a:extLst>
          </p:cNvPr>
          <p:cNvGrpSpPr/>
          <p:nvPr/>
        </p:nvGrpSpPr>
        <p:grpSpPr>
          <a:xfrm>
            <a:off x="8594944" y="2722269"/>
            <a:ext cx="1566153" cy="577809"/>
            <a:chOff x="9058474" y="2836569"/>
            <a:chExt cx="1566153" cy="577809"/>
          </a:xfrm>
        </p:grpSpPr>
        <p:sp>
          <p:nvSpPr>
            <p:cNvPr id="61" name="Flèche : virage 60">
              <a:extLst>
                <a:ext uri="{FF2B5EF4-FFF2-40B4-BE49-F238E27FC236}">
                  <a16:creationId xmlns:a16="http://schemas.microsoft.com/office/drawing/2014/main" id="{FED08932-ADD7-D2A1-8E5A-D62CEEB1B93F}"/>
                </a:ext>
              </a:extLst>
            </p:cNvPr>
            <p:cNvSpPr/>
            <p:nvPr/>
          </p:nvSpPr>
          <p:spPr>
            <a:xfrm rot="5400000">
              <a:off x="9563593" y="2353345"/>
              <a:ext cx="572849" cy="1549218"/>
            </a:xfrm>
            <a:prstGeom prst="bentArrow">
              <a:avLst>
                <a:gd name="adj1" fmla="val 38639"/>
                <a:gd name="adj2" fmla="val 38302"/>
                <a:gd name="adj3" fmla="val 16744"/>
                <a:gd name="adj4" fmla="val 20160"/>
              </a:avLst>
            </a:prstGeom>
            <a:solidFill>
              <a:srgbClr val="B2CA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62" name="ZoneTexte 61">
              <a:extLst>
                <a:ext uri="{FF2B5EF4-FFF2-40B4-BE49-F238E27FC236}">
                  <a16:creationId xmlns:a16="http://schemas.microsoft.com/office/drawing/2014/main" id="{2C25BFE2-5262-D3BC-BDD8-923C0B8002AD}"/>
                </a:ext>
              </a:extLst>
            </p:cNvPr>
            <p:cNvSpPr txBox="1"/>
            <p:nvPr/>
          </p:nvSpPr>
          <p:spPr>
            <a:xfrm>
              <a:off x="9058474" y="2836569"/>
              <a:ext cx="1473718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fr-FR" sz="800" dirty="0">
                  <a:solidFill>
                    <a:schemeClr val="bg1"/>
                  </a:solidFill>
                  <a:latin typeface="Arial Nova" panose="020B0504020202020204" pitchFamily="34" charset="0"/>
                </a:rPr>
                <a:t>Chariot en position initiale</a:t>
              </a:r>
            </a:p>
          </p:txBody>
        </p:sp>
      </p:grpSp>
      <p:pic>
        <p:nvPicPr>
          <p:cNvPr id="63" name="Image 62">
            <a:extLst>
              <a:ext uri="{FF2B5EF4-FFF2-40B4-BE49-F238E27FC236}">
                <a16:creationId xmlns:a16="http://schemas.microsoft.com/office/drawing/2014/main" id="{8DAAFC9A-79A3-4B2C-A73E-32BE33F62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545" y="1536359"/>
            <a:ext cx="434918" cy="1520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4" name="ZoneTexte 63">
                <a:extLst>
                  <a:ext uri="{FF2B5EF4-FFF2-40B4-BE49-F238E27FC236}">
                    <a16:creationId xmlns:a16="http://schemas.microsoft.com/office/drawing/2014/main" id="{A29D106A-C634-EC49-818B-7FFD6B86043E}"/>
                  </a:ext>
                </a:extLst>
              </p:cNvPr>
              <p:cNvSpPr txBox="1"/>
              <p:nvPr/>
            </p:nvSpPr>
            <p:spPr>
              <a:xfrm>
                <a:off x="170158" y="3784816"/>
                <a:ext cx="11619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b="1" dirty="0">
                    <a:solidFill>
                      <a:srgbClr val="FFB25A"/>
                    </a:solidFill>
                    <a:latin typeface="Arial Nova" panose="020B0504020202020204" pitchFamily="34" charset="0"/>
                  </a:rPr>
                  <a:t>230 V </a:t>
                </a:r>
                <a14:m>
                  <m:oMath xmlns:m="http://schemas.openxmlformats.org/officeDocument/2006/math">
                    <m:r>
                      <a:rPr lang="fr-FR" sz="1200" b="1" i="1" smtClean="0">
                        <a:solidFill>
                          <a:srgbClr val="FFB25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~</m:t>
                    </m:r>
                  </m:oMath>
                </a14:m>
                <a:endParaRPr lang="fr-FR" sz="1200" b="1" dirty="0">
                  <a:solidFill>
                    <a:srgbClr val="FFB25A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64" name="ZoneTexte 63">
                <a:extLst>
                  <a:ext uri="{FF2B5EF4-FFF2-40B4-BE49-F238E27FC236}">
                    <a16:creationId xmlns:a16="http://schemas.microsoft.com/office/drawing/2014/main" id="{A29D106A-C634-EC49-818B-7FFD6B8604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158" y="3784816"/>
                <a:ext cx="1161960" cy="276999"/>
              </a:xfrm>
              <a:prstGeom prst="rect">
                <a:avLst/>
              </a:prstGeom>
              <a:blipFill>
                <a:blip r:embed="rId9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ZoneTexte 64">
                <a:extLst>
                  <a:ext uri="{FF2B5EF4-FFF2-40B4-BE49-F238E27FC236}">
                    <a16:creationId xmlns:a16="http://schemas.microsoft.com/office/drawing/2014/main" id="{98529472-463C-B655-7D36-3F43A14EC5EF}"/>
                  </a:ext>
                </a:extLst>
              </p:cNvPr>
              <p:cNvSpPr txBox="1"/>
              <p:nvPr/>
            </p:nvSpPr>
            <p:spPr>
              <a:xfrm>
                <a:off x="2282648" y="3611652"/>
                <a:ext cx="11619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b="1" dirty="0">
                    <a:solidFill>
                      <a:srgbClr val="FFB25A"/>
                    </a:solidFill>
                    <a:latin typeface="Arial Nova" panose="020B0504020202020204" pitchFamily="34" charset="0"/>
                  </a:rPr>
                  <a:t> 44 V </a:t>
                </a:r>
                <a14:m>
                  <m:oMath xmlns:m="http://schemas.openxmlformats.org/officeDocument/2006/math">
                    <m:r>
                      <a:rPr lang="fr-FR" sz="1200" b="1" i="0" smtClean="0">
                        <a:solidFill>
                          <a:srgbClr val="FFB25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</m:oMath>
                </a14:m>
                <a:endParaRPr lang="fr-FR" sz="1200" b="1" dirty="0">
                  <a:solidFill>
                    <a:srgbClr val="FFB25A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65" name="ZoneTexte 64">
                <a:extLst>
                  <a:ext uri="{FF2B5EF4-FFF2-40B4-BE49-F238E27FC236}">
                    <a16:creationId xmlns:a16="http://schemas.microsoft.com/office/drawing/2014/main" id="{98529472-463C-B655-7D36-3F43A14EC5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2648" y="3611652"/>
                <a:ext cx="1161960" cy="276999"/>
              </a:xfrm>
              <a:prstGeom prst="rect">
                <a:avLst/>
              </a:prstGeom>
              <a:blipFill>
                <a:blip r:embed="rId10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7" name="Groupe 86">
            <a:extLst>
              <a:ext uri="{FF2B5EF4-FFF2-40B4-BE49-F238E27FC236}">
                <a16:creationId xmlns:a16="http://schemas.microsoft.com/office/drawing/2014/main" id="{E9153400-DF88-441B-1F32-AE824AB4C9D0}"/>
              </a:ext>
            </a:extLst>
          </p:cNvPr>
          <p:cNvGrpSpPr/>
          <p:nvPr/>
        </p:nvGrpSpPr>
        <p:grpSpPr>
          <a:xfrm>
            <a:off x="810280" y="1780222"/>
            <a:ext cx="360000" cy="360000"/>
            <a:chOff x="262758" y="2633974"/>
            <a:chExt cx="720000" cy="720000"/>
          </a:xfrm>
        </p:grpSpPr>
        <p:sp>
          <p:nvSpPr>
            <p:cNvPr id="88" name="Ellipse 87">
              <a:extLst>
                <a:ext uri="{FF2B5EF4-FFF2-40B4-BE49-F238E27FC236}">
                  <a16:creationId xmlns:a16="http://schemas.microsoft.com/office/drawing/2014/main" id="{903AB8DF-F4D2-7C8B-5ECC-CCE645EB9C9A}"/>
                </a:ext>
              </a:extLst>
            </p:cNvPr>
            <p:cNvSpPr/>
            <p:nvPr/>
          </p:nvSpPr>
          <p:spPr>
            <a:xfrm>
              <a:off x="262758" y="2633974"/>
              <a:ext cx="720000" cy="72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89" name="Image 88">
              <a:extLst>
                <a:ext uri="{FF2B5EF4-FFF2-40B4-BE49-F238E27FC236}">
                  <a16:creationId xmlns:a16="http://schemas.microsoft.com/office/drawing/2014/main" id="{D2C60E2E-75A4-B407-4649-EE5EC04406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63558" y="2734774"/>
              <a:ext cx="518400" cy="518400"/>
            </a:xfrm>
            <a:prstGeom prst="rect">
              <a:avLst/>
            </a:prstGeom>
          </p:spPr>
        </p:pic>
      </p:grpSp>
      <p:grpSp>
        <p:nvGrpSpPr>
          <p:cNvPr id="93" name="Groupe 92">
            <a:extLst>
              <a:ext uri="{FF2B5EF4-FFF2-40B4-BE49-F238E27FC236}">
                <a16:creationId xmlns:a16="http://schemas.microsoft.com/office/drawing/2014/main" id="{633A414C-079F-72BC-C836-01640E3DA896}"/>
              </a:ext>
            </a:extLst>
          </p:cNvPr>
          <p:cNvGrpSpPr/>
          <p:nvPr/>
        </p:nvGrpSpPr>
        <p:grpSpPr>
          <a:xfrm>
            <a:off x="1216851" y="1780222"/>
            <a:ext cx="360000" cy="360000"/>
            <a:chOff x="5404964" y="4396133"/>
            <a:chExt cx="1800000" cy="1800000"/>
          </a:xfrm>
        </p:grpSpPr>
        <p:sp>
          <p:nvSpPr>
            <p:cNvPr id="94" name="Ellipse 93">
              <a:extLst>
                <a:ext uri="{FF2B5EF4-FFF2-40B4-BE49-F238E27FC236}">
                  <a16:creationId xmlns:a16="http://schemas.microsoft.com/office/drawing/2014/main" id="{7DA91EB8-E9B2-6DC6-B932-B3F8200FCB4C}"/>
                </a:ext>
              </a:extLst>
            </p:cNvPr>
            <p:cNvSpPr/>
            <p:nvPr/>
          </p:nvSpPr>
          <p:spPr>
            <a:xfrm>
              <a:off x="5404964" y="4396133"/>
              <a:ext cx="1800000" cy="1800000"/>
            </a:xfrm>
            <a:prstGeom prst="ellipse">
              <a:avLst/>
            </a:prstGeom>
            <a:solidFill>
              <a:srgbClr val="0051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95" name="Image 94">
              <a:extLst>
                <a:ext uri="{FF2B5EF4-FFF2-40B4-BE49-F238E27FC236}">
                  <a16:creationId xmlns:a16="http://schemas.microsoft.com/office/drawing/2014/main" id="{C57FF404-E034-F790-1839-6255F70696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543445" y="4536296"/>
              <a:ext cx="1358232" cy="1440000"/>
            </a:xfrm>
            <a:prstGeom prst="rect">
              <a:avLst/>
            </a:prstGeom>
          </p:spPr>
        </p:pic>
      </p:grpSp>
      <p:pic>
        <p:nvPicPr>
          <p:cNvPr id="110" name="Image 109">
            <a:extLst>
              <a:ext uri="{FF2B5EF4-FFF2-40B4-BE49-F238E27FC236}">
                <a16:creationId xmlns:a16="http://schemas.microsoft.com/office/drawing/2014/main" id="{85C6EE0C-C52A-6134-EB1B-6F3C5749233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82791" y="3441988"/>
            <a:ext cx="288000" cy="105516"/>
          </a:xfrm>
          <a:prstGeom prst="rect">
            <a:avLst/>
          </a:prstGeom>
        </p:spPr>
      </p:pic>
      <p:sp>
        <p:nvSpPr>
          <p:cNvPr id="72" name="Rectangle 71">
            <a:extLst>
              <a:ext uri="{FF2B5EF4-FFF2-40B4-BE49-F238E27FC236}">
                <a16:creationId xmlns:a16="http://schemas.microsoft.com/office/drawing/2014/main" id="{22DFAA51-C6D3-9FCC-9035-87E9C9207526}"/>
              </a:ext>
            </a:extLst>
          </p:cNvPr>
          <p:cNvSpPr/>
          <p:nvPr/>
        </p:nvSpPr>
        <p:spPr>
          <a:xfrm>
            <a:off x="461781" y="4858776"/>
            <a:ext cx="8528438" cy="1018492"/>
          </a:xfrm>
          <a:prstGeom prst="rect">
            <a:avLst/>
          </a:prstGeom>
          <a:solidFill>
            <a:srgbClr val="DFE3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9263" algn="just"/>
            <a:r>
              <a:rPr lang="fr-FR" sz="1400" dirty="0">
                <a:solidFill>
                  <a:srgbClr val="00547F"/>
                </a:solidFill>
              </a:rPr>
              <a:t>Les détecteurs de fin de course permettent l’initialisation des codeurs.</a:t>
            </a:r>
          </a:p>
          <a:p>
            <a:pPr marL="449263" algn="just"/>
            <a:r>
              <a:rPr lang="fr-FR" sz="1400" dirty="0">
                <a:solidFill>
                  <a:srgbClr val="00547F"/>
                </a:solidFill>
              </a:rPr>
              <a:t>Le codeur incrémental (ou la règle magnétique selon le choix) permet de contrôler la position du chariot. Le capteur de courant peut être utilisé pour une régulation de courant. </a:t>
            </a:r>
          </a:p>
          <a:p>
            <a:pPr marL="449263" algn="just"/>
            <a:r>
              <a:rPr lang="fr-FR" sz="1400" dirty="0">
                <a:solidFill>
                  <a:srgbClr val="00547F"/>
                </a:solidFill>
              </a:rPr>
              <a:t>Tous les autres capteurs sont à but pédagogique.</a:t>
            </a:r>
          </a:p>
        </p:txBody>
      </p:sp>
      <p:grpSp>
        <p:nvGrpSpPr>
          <p:cNvPr id="103" name="Groupe 102">
            <a:extLst>
              <a:ext uri="{FF2B5EF4-FFF2-40B4-BE49-F238E27FC236}">
                <a16:creationId xmlns:a16="http://schemas.microsoft.com/office/drawing/2014/main" id="{58AD15BE-FF0B-AB8F-1B32-BB8FEEBA2DEA}"/>
              </a:ext>
            </a:extLst>
          </p:cNvPr>
          <p:cNvGrpSpPr/>
          <p:nvPr/>
        </p:nvGrpSpPr>
        <p:grpSpPr>
          <a:xfrm>
            <a:off x="3747478" y="3711688"/>
            <a:ext cx="360000" cy="360000"/>
            <a:chOff x="4235640" y="2696679"/>
            <a:chExt cx="1800000" cy="1800000"/>
          </a:xfrm>
        </p:grpSpPr>
        <p:sp>
          <p:nvSpPr>
            <p:cNvPr id="104" name="Ellipse 103">
              <a:extLst>
                <a:ext uri="{FF2B5EF4-FFF2-40B4-BE49-F238E27FC236}">
                  <a16:creationId xmlns:a16="http://schemas.microsoft.com/office/drawing/2014/main" id="{617E9B91-42CB-D7A6-CB9D-2F41FFC4BB96}"/>
                </a:ext>
              </a:extLst>
            </p:cNvPr>
            <p:cNvSpPr/>
            <p:nvPr/>
          </p:nvSpPr>
          <p:spPr>
            <a:xfrm>
              <a:off x="4235640" y="2696679"/>
              <a:ext cx="1800000" cy="1800000"/>
            </a:xfrm>
            <a:prstGeom prst="ellipse">
              <a:avLst/>
            </a:prstGeom>
            <a:solidFill>
              <a:srgbClr val="0C73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105" name="Image 104">
              <a:extLst>
                <a:ext uri="{FF2B5EF4-FFF2-40B4-BE49-F238E27FC236}">
                  <a16:creationId xmlns:a16="http://schemas.microsoft.com/office/drawing/2014/main" id="{99E60331-B84D-5566-9183-29714B6CEC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451640" y="3100228"/>
              <a:ext cx="1368000" cy="992903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B39CA18C-C050-2248-E6F6-D99BB87303C8}"/>
                  </a:ext>
                </a:extLst>
              </p:cNvPr>
              <p:cNvSpPr txBox="1"/>
              <p:nvPr/>
            </p:nvSpPr>
            <p:spPr>
              <a:xfrm>
                <a:off x="4452429" y="3639956"/>
                <a:ext cx="11619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b="1" dirty="0">
                    <a:solidFill>
                      <a:srgbClr val="FFB25A"/>
                    </a:solidFill>
                    <a:latin typeface="Arial Nova" panose="020B0504020202020204" pitchFamily="34" charset="0"/>
                  </a:rPr>
                  <a:t> 40 V </a:t>
                </a:r>
                <a14:m>
                  <m:oMath xmlns:m="http://schemas.openxmlformats.org/officeDocument/2006/math">
                    <m:r>
                      <a:rPr lang="fr-FR" sz="1200" b="1" i="0" smtClean="0">
                        <a:solidFill>
                          <a:srgbClr val="FFB25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</m:oMath>
                </a14:m>
                <a:endParaRPr lang="fr-FR" sz="1200" b="1" dirty="0">
                  <a:solidFill>
                    <a:srgbClr val="FFB25A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B39CA18C-C050-2248-E6F6-D99BB87303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429" y="3639956"/>
                <a:ext cx="1161960" cy="276999"/>
              </a:xfrm>
              <a:prstGeom prst="rect">
                <a:avLst/>
              </a:prstGeom>
              <a:blipFill>
                <a:blip r:embed="rId15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e 2">
            <a:extLst>
              <a:ext uri="{FF2B5EF4-FFF2-40B4-BE49-F238E27FC236}">
                <a16:creationId xmlns:a16="http://schemas.microsoft.com/office/drawing/2014/main" id="{9A19CA4C-6716-A13D-581A-49247D9C8054}"/>
              </a:ext>
            </a:extLst>
          </p:cNvPr>
          <p:cNvGrpSpPr/>
          <p:nvPr/>
        </p:nvGrpSpPr>
        <p:grpSpPr>
          <a:xfrm>
            <a:off x="1613285" y="1770768"/>
            <a:ext cx="360000" cy="360000"/>
            <a:chOff x="3056845" y="1528414"/>
            <a:chExt cx="3454284" cy="3454284"/>
          </a:xfrm>
        </p:grpSpPr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E64C2532-4B47-B17E-3C77-C817CAE59FF5}"/>
                </a:ext>
              </a:extLst>
            </p:cNvPr>
            <p:cNvSpPr/>
            <p:nvPr/>
          </p:nvSpPr>
          <p:spPr>
            <a:xfrm>
              <a:off x="3056845" y="1528414"/>
              <a:ext cx="3454284" cy="3454284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30" name="Image 29">
              <a:extLst>
                <a:ext uri="{FF2B5EF4-FFF2-40B4-BE49-F238E27FC236}">
                  <a16:creationId xmlns:a16="http://schemas.microsoft.com/office/drawing/2014/main" id="{23F22FB1-C429-397E-B898-D9AF1DF15BC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3327958" y="2056096"/>
              <a:ext cx="2912058" cy="2398920"/>
            </a:xfrm>
            <a:prstGeom prst="rect">
              <a:avLst/>
            </a:prstGeom>
          </p:spPr>
        </p:pic>
      </p:grp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89225F91-8C4A-4D28-806F-C285AA8AEAEF}"/>
              </a:ext>
            </a:extLst>
          </p:cNvPr>
          <p:cNvGrpSpPr/>
          <p:nvPr/>
        </p:nvGrpSpPr>
        <p:grpSpPr>
          <a:xfrm>
            <a:off x="2017649" y="1767756"/>
            <a:ext cx="360000" cy="360000"/>
            <a:chOff x="6054233" y="4960569"/>
            <a:chExt cx="1800000" cy="1800000"/>
          </a:xfrm>
        </p:grpSpPr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002BBCC8-7149-2E70-FA08-89D364A2E7EE}"/>
                </a:ext>
              </a:extLst>
            </p:cNvPr>
            <p:cNvSpPr/>
            <p:nvPr/>
          </p:nvSpPr>
          <p:spPr>
            <a:xfrm>
              <a:off x="6054233" y="4960569"/>
              <a:ext cx="1800000" cy="180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b="1"/>
            </a:p>
          </p:txBody>
        </p:sp>
        <p:pic>
          <p:nvPicPr>
            <p:cNvPr id="33" name="Image 32">
              <a:extLst>
                <a:ext uri="{FF2B5EF4-FFF2-40B4-BE49-F238E27FC236}">
                  <a16:creationId xmlns:a16="http://schemas.microsoft.com/office/drawing/2014/main" id="{6C676998-302E-BC6E-6F7D-BB576DC316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6298697" y="5322283"/>
              <a:ext cx="1311072" cy="1076572"/>
            </a:xfrm>
            <a:prstGeom prst="rect">
              <a:avLst/>
            </a:prstGeom>
          </p:spPr>
        </p:pic>
      </p:grpSp>
      <p:grpSp>
        <p:nvGrpSpPr>
          <p:cNvPr id="36" name="Groupe 35">
            <a:extLst>
              <a:ext uri="{FF2B5EF4-FFF2-40B4-BE49-F238E27FC236}">
                <a16:creationId xmlns:a16="http://schemas.microsoft.com/office/drawing/2014/main" id="{4EF7F7D8-2F1F-EFB2-7B01-FE36DBE37CAC}"/>
              </a:ext>
            </a:extLst>
          </p:cNvPr>
          <p:cNvGrpSpPr/>
          <p:nvPr/>
        </p:nvGrpSpPr>
        <p:grpSpPr>
          <a:xfrm>
            <a:off x="2426887" y="2177380"/>
            <a:ext cx="360000" cy="360000"/>
            <a:chOff x="8612196" y="3801520"/>
            <a:chExt cx="1800000" cy="1800000"/>
          </a:xfrm>
        </p:grpSpPr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592B6240-4C9F-EF53-43C9-2EF4042F1297}"/>
                </a:ext>
              </a:extLst>
            </p:cNvPr>
            <p:cNvSpPr/>
            <p:nvPr/>
          </p:nvSpPr>
          <p:spPr>
            <a:xfrm>
              <a:off x="8612196" y="3801520"/>
              <a:ext cx="1800000" cy="180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b="1"/>
            </a:p>
          </p:txBody>
        </p:sp>
        <p:pic>
          <p:nvPicPr>
            <p:cNvPr id="38" name="Image 37">
              <a:extLst>
                <a:ext uri="{FF2B5EF4-FFF2-40B4-BE49-F238E27FC236}">
                  <a16:creationId xmlns:a16="http://schemas.microsoft.com/office/drawing/2014/main" id="{9B612B94-26B1-6868-1365-E552161EFE7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8696428" y="3885752"/>
              <a:ext cx="1631536" cy="1631536"/>
            </a:xfrm>
            <a:prstGeom prst="rect">
              <a:avLst/>
            </a:prstGeom>
          </p:spPr>
        </p:pic>
      </p:grp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35931AB4-0EF3-CC11-6A37-25E736DC8855}"/>
              </a:ext>
            </a:extLst>
          </p:cNvPr>
          <p:cNvGrpSpPr/>
          <p:nvPr/>
        </p:nvGrpSpPr>
        <p:grpSpPr>
          <a:xfrm>
            <a:off x="2430172" y="1780222"/>
            <a:ext cx="360000" cy="360000"/>
            <a:chOff x="7698044" y="3453428"/>
            <a:chExt cx="1800000" cy="1800000"/>
          </a:xfrm>
        </p:grpSpPr>
        <p:sp>
          <p:nvSpPr>
            <p:cNvPr id="41" name="Ellipse 40">
              <a:extLst>
                <a:ext uri="{FF2B5EF4-FFF2-40B4-BE49-F238E27FC236}">
                  <a16:creationId xmlns:a16="http://schemas.microsoft.com/office/drawing/2014/main" id="{662F5EF4-F0F0-CACE-D022-BD474B949765}"/>
                </a:ext>
              </a:extLst>
            </p:cNvPr>
            <p:cNvSpPr/>
            <p:nvPr/>
          </p:nvSpPr>
          <p:spPr>
            <a:xfrm>
              <a:off x="7698044" y="3453428"/>
              <a:ext cx="1800000" cy="180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b="1"/>
            </a:p>
          </p:txBody>
        </p:sp>
        <p:pic>
          <p:nvPicPr>
            <p:cNvPr id="42" name="Image 41">
              <a:extLst>
                <a:ext uri="{FF2B5EF4-FFF2-40B4-BE49-F238E27FC236}">
                  <a16:creationId xmlns:a16="http://schemas.microsoft.com/office/drawing/2014/main" id="{207B4028-D127-40B0-9A2E-251E6B641A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7939554" y="3812716"/>
              <a:ext cx="1316981" cy="1081424"/>
            </a:xfrm>
            <a:prstGeom prst="rect">
              <a:avLst/>
            </a:prstGeom>
          </p:spPr>
        </p:pic>
      </p:grpSp>
      <p:grpSp>
        <p:nvGrpSpPr>
          <p:cNvPr id="51" name="Groupe 50">
            <a:extLst>
              <a:ext uri="{FF2B5EF4-FFF2-40B4-BE49-F238E27FC236}">
                <a16:creationId xmlns:a16="http://schemas.microsoft.com/office/drawing/2014/main" id="{90192F0C-E06B-A7A0-99A2-7C7C5CBAD7E6}"/>
              </a:ext>
            </a:extLst>
          </p:cNvPr>
          <p:cNvGrpSpPr/>
          <p:nvPr/>
        </p:nvGrpSpPr>
        <p:grpSpPr>
          <a:xfrm>
            <a:off x="10675426" y="3370013"/>
            <a:ext cx="288000" cy="288000"/>
            <a:chOff x="8612196" y="3801520"/>
            <a:chExt cx="1800000" cy="1800000"/>
          </a:xfrm>
        </p:grpSpPr>
        <p:sp>
          <p:nvSpPr>
            <p:cNvPr id="66" name="Ellipse 65">
              <a:extLst>
                <a:ext uri="{FF2B5EF4-FFF2-40B4-BE49-F238E27FC236}">
                  <a16:creationId xmlns:a16="http://schemas.microsoft.com/office/drawing/2014/main" id="{9126D4A5-ABA9-E350-05D0-9D7192081282}"/>
                </a:ext>
              </a:extLst>
            </p:cNvPr>
            <p:cNvSpPr/>
            <p:nvPr/>
          </p:nvSpPr>
          <p:spPr>
            <a:xfrm>
              <a:off x="8612196" y="3801520"/>
              <a:ext cx="1800000" cy="180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b="1"/>
            </a:p>
          </p:txBody>
        </p:sp>
        <p:pic>
          <p:nvPicPr>
            <p:cNvPr id="67" name="Image 66">
              <a:extLst>
                <a:ext uri="{FF2B5EF4-FFF2-40B4-BE49-F238E27FC236}">
                  <a16:creationId xmlns:a16="http://schemas.microsoft.com/office/drawing/2014/main" id="{B2474781-7BE1-7E02-9B96-01C2DA2C0198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8696428" y="3885752"/>
              <a:ext cx="1631536" cy="1631536"/>
            </a:xfrm>
            <a:prstGeom prst="rect">
              <a:avLst/>
            </a:prstGeom>
          </p:spPr>
        </p:pic>
      </p:grpSp>
      <p:grpSp>
        <p:nvGrpSpPr>
          <p:cNvPr id="68" name="Groupe 67">
            <a:extLst>
              <a:ext uri="{FF2B5EF4-FFF2-40B4-BE49-F238E27FC236}">
                <a16:creationId xmlns:a16="http://schemas.microsoft.com/office/drawing/2014/main" id="{B841AA18-EE52-BF71-8A77-FCA95EC11591}"/>
              </a:ext>
            </a:extLst>
          </p:cNvPr>
          <p:cNvGrpSpPr/>
          <p:nvPr/>
        </p:nvGrpSpPr>
        <p:grpSpPr>
          <a:xfrm>
            <a:off x="6799383" y="3934954"/>
            <a:ext cx="288000" cy="288000"/>
            <a:chOff x="5404964" y="4396133"/>
            <a:chExt cx="1800000" cy="1800000"/>
          </a:xfrm>
        </p:grpSpPr>
        <p:sp>
          <p:nvSpPr>
            <p:cNvPr id="69" name="Ellipse 68">
              <a:extLst>
                <a:ext uri="{FF2B5EF4-FFF2-40B4-BE49-F238E27FC236}">
                  <a16:creationId xmlns:a16="http://schemas.microsoft.com/office/drawing/2014/main" id="{65F49912-F500-977C-390A-F4CE59EA478C}"/>
                </a:ext>
              </a:extLst>
            </p:cNvPr>
            <p:cNvSpPr/>
            <p:nvPr/>
          </p:nvSpPr>
          <p:spPr>
            <a:xfrm>
              <a:off x="5404964" y="4396133"/>
              <a:ext cx="1800000" cy="1800000"/>
            </a:xfrm>
            <a:prstGeom prst="ellipse">
              <a:avLst/>
            </a:prstGeom>
            <a:solidFill>
              <a:srgbClr val="0051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70" name="Image 69">
              <a:extLst>
                <a:ext uri="{FF2B5EF4-FFF2-40B4-BE49-F238E27FC236}">
                  <a16:creationId xmlns:a16="http://schemas.microsoft.com/office/drawing/2014/main" id="{E46C5A9A-E0F4-935F-E346-29D344A63A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543445" y="4536296"/>
              <a:ext cx="1358232" cy="1440000"/>
            </a:xfrm>
            <a:prstGeom prst="rect">
              <a:avLst/>
            </a:prstGeom>
          </p:spPr>
        </p:pic>
      </p:grpSp>
      <p:grpSp>
        <p:nvGrpSpPr>
          <p:cNvPr id="71" name="Groupe 70">
            <a:extLst>
              <a:ext uri="{FF2B5EF4-FFF2-40B4-BE49-F238E27FC236}">
                <a16:creationId xmlns:a16="http://schemas.microsoft.com/office/drawing/2014/main" id="{6E2DB5A2-88D8-9BD6-E420-B883EEA8731A}"/>
              </a:ext>
            </a:extLst>
          </p:cNvPr>
          <p:cNvGrpSpPr/>
          <p:nvPr/>
        </p:nvGrpSpPr>
        <p:grpSpPr>
          <a:xfrm>
            <a:off x="6807192" y="4243826"/>
            <a:ext cx="288000" cy="288000"/>
            <a:chOff x="3056845" y="1528414"/>
            <a:chExt cx="3454284" cy="3454284"/>
          </a:xfrm>
        </p:grpSpPr>
        <p:sp>
          <p:nvSpPr>
            <p:cNvPr id="73" name="Ellipse 72">
              <a:extLst>
                <a:ext uri="{FF2B5EF4-FFF2-40B4-BE49-F238E27FC236}">
                  <a16:creationId xmlns:a16="http://schemas.microsoft.com/office/drawing/2014/main" id="{FBCE808C-DE72-BDAB-20B9-B3F4648DADD5}"/>
                </a:ext>
              </a:extLst>
            </p:cNvPr>
            <p:cNvSpPr/>
            <p:nvPr/>
          </p:nvSpPr>
          <p:spPr>
            <a:xfrm>
              <a:off x="3056845" y="1528414"/>
              <a:ext cx="3454284" cy="3454284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74" name="Image 73">
              <a:extLst>
                <a:ext uri="{FF2B5EF4-FFF2-40B4-BE49-F238E27FC236}">
                  <a16:creationId xmlns:a16="http://schemas.microsoft.com/office/drawing/2014/main" id="{4DDD7701-B36E-5122-2296-250A5932BF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3327958" y="2056096"/>
              <a:ext cx="2912058" cy="2398920"/>
            </a:xfrm>
            <a:prstGeom prst="rect">
              <a:avLst/>
            </a:prstGeom>
          </p:spPr>
        </p:pic>
      </p:grpSp>
      <p:grpSp>
        <p:nvGrpSpPr>
          <p:cNvPr id="76" name="Groupe 75">
            <a:extLst>
              <a:ext uri="{FF2B5EF4-FFF2-40B4-BE49-F238E27FC236}">
                <a16:creationId xmlns:a16="http://schemas.microsoft.com/office/drawing/2014/main" id="{19663B7E-D161-9EFA-9C0C-DD72CA7CD5F3}"/>
              </a:ext>
            </a:extLst>
          </p:cNvPr>
          <p:cNvGrpSpPr/>
          <p:nvPr/>
        </p:nvGrpSpPr>
        <p:grpSpPr>
          <a:xfrm>
            <a:off x="4569414" y="3996930"/>
            <a:ext cx="288000" cy="288000"/>
            <a:chOff x="6054233" y="4960569"/>
            <a:chExt cx="1800000" cy="1800000"/>
          </a:xfrm>
        </p:grpSpPr>
        <p:sp>
          <p:nvSpPr>
            <p:cNvPr id="83" name="Ellipse 82">
              <a:extLst>
                <a:ext uri="{FF2B5EF4-FFF2-40B4-BE49-F238E27FC236}">
                  <a16:creationId xmlns:a16="http://schemas.microsoft.com/office/drawing/2014/main" id="{16D5DB05-5A42-D1F5-377B-CDBD0872CC09}"/>
                </a:ext>
              </a:extLst>
            </p:cNvPr>
            <p:cNvSpPr/>
            <p:nvPr/>
          </p:nvSpPr>
          <p:spPr>
            <a:xfrm>
              <a:off x="6054233" y="4960569"/>
              <a:ext cx="1800000" cy="180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b="1"/>
            </a:p>
          </p:txBody>
        </p:sp>
        <p:pic>
          <p:nvPicPr>
            <p:cNvPr id="84" name="Image 83">
              <a:extLst>
                <a:ext uri="{FF2B5EF4-FFF2-40B4-BE49-F238E27FC236}">
                  <a16:creationId xmlns:a16="http://schemas.microsoft.com/office/drawing/2014/main" id="{7369074B-A1C6-2F25-51BF-F9B0973126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6298697" y="5322283"/>
              <a:ext cx="1311072" cy="1076572"/>
            </a:xfrm>
            <a:prstGeom prst="rect">
              <a:avLst/>
            </a:prstGeom>
          </p:spPr>
        </p:pic>
      </p:grpSp>
      <p:grpSp>
        <p:nvGrpSpPr>
          <p:cNvPr id="85" name="Groupe 84">
            <a:extLst>
              <a:ext uri="{FF2B5EF4-FFF2-40B4-BE49-F238E27FC236}">
                <a16:creationId xmlns:a16="http://schemas.microsoft.com/office/drawing/2014/main" id="{F437ECE9-9E2D-BFC7-A0DF-EF636FA1ABBB}"/>
              </a:ext>
            </a:extLst>
          </p:cNvPr>
          <p:cNvGrpSpPr/>
          <p:nvPr/>
        </p:nvGrpSpPr>
        <p:grpSpPr>
          <a:xfrm>
            <a:off x="4569414" y="4316881"/>
            <a:ext cx="288000" cy="288000"/>
            <a:chOff x="7698044" y="3453428"/>
            <a:chExt cx="1800000" cy="1800000"/>
          </a:xfrm>
        </p:grpSpPr>
        <p:sp>
          <p:nvSpPr>
            <p:cNvPr id="86" name="Ellipse 85">
              <a:extLst>
                <a:ext uri="{FF2B5EF4-FFF2-40B4-BE49-F238E27FC236}">
                  <a16:creationId xmlns:a16="http://schemas.microsoft.com/office/drawing/2014/main" id="{E6CC4587-1D7D-076B-B029-3A21569085CF}"/>
                </a:ext>
              </a:extLst>
            </p:cNvPr>
            <p:cNvSpPr/>
            <p:nvPr/>
          </p:nvSpPr>
          <p:spPr>
            <a:xfrm>
              <a:off x="7698044" y="3453428"/>
              <a:ext cx="1800000" cy="180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b="1"/>
            </a:p>
          </p:txBody>
        </p:sp>
        <p:pic>
          <p:nvPicPr>
            <p:cNvPr id="91" name="Image 90">
              <a:extLst>
                <a:ext uri="{FF2B5EF4-FFF2-40B4-BE49-F238E27FC236}">
                  <a16:creationId xmlns:a16="http://schemas.microsoft.com/office/drawing/2014/main" id="{41791507-689A-EC44-DCDE-0324A105C199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7939554" y="3812716"/>
              <a:ext cx="1316981" cy="1081424"/>
            </a:xfrm>
            <a:prstGeom prst="rect">
              <a:avLst/>
            </a:prstGeom>
          </p:spPr>
        </p:pic>
      </p:grpSp>
      <p:grpSp>
        <p:nvGrpSpPr>
          <p:cNvPr id="92" name="Groupe 91">
            <a:extLst>
              <a:ext uri="{FF2B5EF4-FFF2-40B4-BE49-F238E27FC236}">
                <a16:creationId xmlns:a16="http://schemas.microsoft.com/office/drawing/2014/main" id="{9F95A1EA-9092-5D0B-B7AC-F7CE46698DF0}"/>
              </a:ext>
            </a:extLst>
          </p:cNvPr>
          <p:cNvGrpSpPr/>
          <p:nvPr/>
        </p:nvGrpSpPr>
        <p:grpSpPr>
          <a:xfrm>
            <a:off x="2443733" y="2577720"/>
            <a:ext cx="360000" cy="360000"/>
            <a:chOff x="-2063262" y="2086237"/>
            <a:chExt cx="1800000" cy="1800000"/>
          </a:xfrm>
        </p:grpSpPr>
        <p:sp>
          <p:nvSpPr>
            <p:cNvPr id="96" name="Ellipse 95">
              <a:extLst>
                <a:ext uri="{FF2B5EF4-FFF2-40B4-BE49-F238E27FC236}">
                  <a16:creationId xmlns:a16="http://schemas.microsoft.com/office/drawing/2014/main" id="{845FC769-0299-0B5A-BCD6-DE55695F83D2}"/>
                </a:ext>
              </a:extLst>
            </p:cNvPr>
            <p:cNvSpPr/>
            <p:nvPr/>
          </p:nvSpPr>
          <p:spPr>
            <a:xfrm>
              <a:off x="-2063262" y="2086237"/>
              <a:ext cx="1800000" cy="180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97" name="Image 96">
              <a:extLst>
                <a:ext uri="{FF2B5EF4-FFF2-40B4-BE49-F238E27FC236}">
                  <a16:creationId xmlns:a16="http://schemas.microsoft.com/office/drawing/2014/main" id="{6A7943FD-8BE6-B490-32BF-D4F134197C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-1609131" y="2149544"/>
              <a:ext cx="891738" cy="1673385"/>
            </a:xfrm>
            <a:prstGeom prst="rect">
              <a:avLst/>
            </a:prstGeom>
          </p:spPr>
        </p:pic>
      </p:grpSp>
      <p:grpSp>
        <p:nvGrpSpPr>
          <p:cNvPr id="98" name="Groupe 97">
            <a:extLst>
              <a:ext uri="{FF2B5EF4-FFF2-40B4-BE49-F238E27FC236}">
                <a16:creationId xmlns:a16="http://schemas.microsoft.com/office/drawing/2014/main" id="{FDD7D3C5-7014-8F67-1947-2626275503E2}"/>
              </a:ext>
            </a:extLst>
          </p:cNvPr>
          <p:cNvGrpSpPr/>
          <p:nvPr/>
        </p:nvGrpSpPr>
        <p:grpSpPr>
          <a:xfrm>
            <a:off x="10679278" y="3696059"/>
            <a:ext cx="288000" cy="288000"/>
            <a:chOff x="-2063262" y="2086237"/>
            <a:chExt cx="1800000" cy="1800000"/>
          </a:xfrm>
        </p:grpSpPr>
        <p:sp>
          <p:nvSpPr>
            <p:cNvPr id="99" name="Ellipse 98">
              <a:extLst>
                <a:ext uri="{FF2B5EF4-FFF2-40B4-BE49-F238E27FC236}">
                  <a16:creationId xmlns:a16="http://schemas.microsoft.com/office/drawing/2014/main" id="{B35256CE-9660-7734-0E5B-65E73BB68D56}"/>
                </a:ext>
              </a:extLst>
            </p:cNvPr>
            <p:cNvSpPr/>
            <p:nvPr/>
          </p:nvSpPr>
          <p:spPr>
            <a:xfrm>
              <a:off x="-2063262" y="2086237"/>
              <a:ext cx="1800000" cy="180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00" name="Image 99">
              <a:extLst>
                <a:ext uri="{FF2B5EF4-FFF2-40B4-BE49-F238E27FC236}">
                  <a16:creationId xmlns:a16="http://schemas.microsoft.com/office/drawing/2014/main" id="{1B83FA9B-7FFD-974D-50C2-183E2ECB2E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-1609131" y="2149544"/>
              <a:ext cx="891738" cy="1673385"/>
            </a:xfrm>
            <a:prstGeom prst="rect">
              <a:avLst/>
            </a:prstGeom>
          </p:spPr>
        </p:pic>
      </p:grpSp>
      <p:grpSp>
        <p:nvGrpSpPr>
          <p:cNvPr id="101" name="Groupe 100">
            <a:extLst>
              <a:ext uri="{FF2B5EF4-FFF2-40B4-BE49-F238E27FC236}">
                <a16:creationId xmlns:a16="http://schemas.microsoft.com/office/drawing/2014/main" id="{3A416195-885D-B412-950E-1F349C5CC6AB}"/>
              </a:ext>
            </a:extLst>
          </p:cNvPr>
          <p:cNvGrpSpPr/>
          <p:nvPr/>
        </p:nvGrpSpPr>
        <p:grpSpPr>
          <a:xfrm>
            <a:off x="7528615" y="3732095"/>
            <a:ext cx="360000" cy="360000"/>
            <a:chOff x="5447928" y="2816932"/>
            <a:chExt cx="1800000" cy="1800000"/>
          </a:xfrm>
        </p:grpSpPr>
        <p:sp>
          <p:nvSpPr>
            <p:cNvPr id="108" name="Ellipse 107">
              <a:extLst>
                <a:ext uri="{FF2B5EF4-FFF2-40B4-BE49-F238E27FC236}">
                  <a16:creationId xmlns:a16="http://schemas.microsoft.com/office/drawing/2014/main" id="{689719FF-319E-F4C6-E150-B6C708728D00}"/>
                </a:ext>
              </a:extLst>
            </p:cNvPr>
            <p:cNvSpPr/>
            <p:nvPr/>
          </p:nvSpPr>
          <p:spPr>
            <a:xfrm>
              <a:off x="5447928" y="2816932"/>
              <a:ext cx="1800000" cy="1800000"/>
            </a:xfrm>
            <a:prstGeom prst="ellipse">
              <a:avLst/>
            </a:prstGeom>
            <a:solidFill>
              <a:srgbClr val="EF72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109" name="Image 108">
              <a:extLst>
                <a:ext uri="{FF2B5EF4-FFF2-40B4-BE49-F238E27FC236}">
                  <a16:creationId xmlns:a16="http://schemas.microsoft.com/office/drawing/2014/main" id="{1AC2262C-D76B-934A-5E65-99DB0E926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 flipH="1">
              <a:off x="5627848" y="2996852"/>
              <a:ext cx="1440160" cy="1440160"/>
            </a:xfrm>
            <a:prstGeom prst="rect">
              <a:avLst/>
            </a:prstGeom>
          </p:spPr>
        </p:pic>
      </p:grpSp>
      <p:grpSp>
        <p:nvGrpSpPr>
          <p:cNvPr id="141" name="Groupe 140">
            <a:extLst>
              <a:ext uri="{FF2B5EF4-FFF2-40B4-BE49-F238E27FC236}">
                <a16:creationId xmlns:a16="http://schemas.microsoft.com/office/drawing/2014/main" id="{BE6A74D9-C192-5A17-F5FE-88BC5C4327DA}"/>
              </a:ext>
            </a:extLst>
          </p:cNvPr>
          <p:cNvGrpSpPr/>
          <p:nvPr/>
        </p:nvGrpSpPr>
        <p:grpSpPr>
          <a:xfrm>
            <a:off x="8038574" y="3730141"/>
            <a:ext cx="360000" cy="360000"/>
            <a:chOff x="7534505" y="2636912"/>
            <a:chExt cx="1800000" cy="1800000"/>
          </a:xfrm>
        </p:grpSpPr>
        <p:sp>
          <p:nvSpPr>
            <p:cNvPr id="142" name="Ellipse 141">
              <a:extLst>
                <a:ext uri="{FF2B5EF4-FFF2-40B4-BE49-F238E27FC236}">
                  <a16:creationId xmlns:a16="http://schemas.microsoft.com/office/drawing/2014/main" id="{66699E75-99C4-8197-BA1A-E52C8118131B}"/>
                </a:ext>
              </a:extLst>
            </p:cNvPr>
            <p:cNvSpPr/>
            <p:nvPr/>
          </p:nvSpPr>
          <p:spPr>
            <a:xfrm>
              <a:off x="7534505" y="2636912"/>
              <a:ext cx="1800000" cy="1800000"/>
            </a:xfrm>
            <a:prstGeom prst="ellipse">
              <a:avLst/>
            </a:prstGeom>
            <a:solidFill>
              <a:srgbClr val="EF72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143" name="Image 142">
              <a:extLst>
                <a:ext uri="{FF2B5EF4-FFF2-40B4-BE49-F238E27FC236}">
                  <a16:creationId xmlns:a16="http://schemas.microsoft.com/office/drawing/2014/main" id="{4849A5C3-1A54-AD62-A58A-3C5A67A726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7630919" y="3092160"/>
              <a:ext cx="1607172" cy="889504"/>
            </a:xfrm>
            <a:prstGeom prst="rect">
              <a:avLst/>
            </a:prstGeom>
          </p:spPr>
        </p:pic>
      </p:grpSp>
      <p:grpSp>
        <p:nvGrpSpPr>
          <p:cNvPr id="144" name="Groupe 143">
            <a:extLst>
              <a:ext uri="{FF2B5EF4-FFF2-40B4-BE49-F238E27FC236}">
                <a16:creationId xmlns:a16="http://schemas.microsoft.com/office/drawing/2014/main" id="{F42FC7BB-0D90-60BC-4620-E57EB1B5005E}"/>
              </a:ext>
            </a:extLst>
          </p:cNvPr>
          <p:cNvGrpSpPr/>
          <p:nvPr/>
        </p:nvGrpSpPr>
        <p:grpSpPr>
          <a:xfrm>
            <a:off x="8572631" y="3750151"/>
            <a:ext cx="360000" cy="360000"/>
            <a:chOff x="5537408" y="1765068"/>
            <a:chExt cx="1800000" cy="1800000"/>
          </a:xfrm>
        </p:grpSpPr>
        <p:sp>
          <p:nvSpPr>
            <p:cNvPr id="145" name="Ellipse 144">
              <a:extLst>
                <a:ext uri="{FF2B5EF4-FFF2-40B4-BE49-F238E27FC236}">
                  <a16:creationId xmlns:a16="http://schemas.microsoft.com/office/drawing/2014/main" id="{007B21D5-7097-F0FF-F65C-BD19FFB67165}"/>
                </a:ext>
              </a:extLst>
            </p:cNvPr>
            <p:cNvSpPr/>
            <p:nvPr/>
          </p:nvSpPr>
          <p:spPr>
            <a:xfrm>
              <a:off x="5537408" y="1765068"/>
              <a:ext cx="1800000" cy="1800000"/>
            </a:xfrm>
            <a:prstGeom prst="ellipse">
              <a:avLst/>
            </a:prstGeom>
            <a:solidFill>
              <a:srgbClr val="EF72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146" name="Image 145">
              <a:extLst>
                <a:ext uri="{FF2B5EF4-FFF2-40B4-BE49-F238E27FC236}">
                  <a16:creationId xmlns:a16="http://schemas.microsoft.com/office/drawing/2014/main" id="{33AF1F32-6023-D462-64ED-2F325B3B52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5717408" y="1945068"/>
              <a:ext cx="1440000" cy="1440000"/>
            </a:xfrm>
            <a:prstGeom prst="rect">
              <a:avLst/>
            </a:prstGeom>
          </p:spPr>
        </p:pic>
      </p:grpSp>
      <p:pic>
        <p:nvPicPr>
          <p:cNvPr id="106" name="Image 105" descr="SAM_0888-détourée"/>
          <p:cNvPicPr/>
          <p:nvPr/>
        </p:nvPicPr>
        <p:blipFill rotWithShape="1"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8019" r="4564" b="8962"/>
          <a:stretch/>
        </p:blipFill>
        <p:spPr bwMode="auto">
          <a:xfrm>
            <a:off x="10161097" y="171994"/>
            <a:ext cx="1971040" cy="92265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246669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E5C1CAA4-BEC8-E034-06F5-82D8ED3BF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200" dirty="0"/>
              <a:t>Chaine fonctionnelle du MaxPID</a:t>
            </a:r>
            <a:br>
              <a:rPr lang="fr-FR" sz="3200" dirty="0"/>
            </a:br>
            <a:r>
              <a:rPr lang="fr-FR" sz="3200" dirty="0"/>
              <a:t>Attention, Différent du </a:t>
            </a:r>
            <a:r>
              <a:rPr lang="fr-FR" sz="3200" dirty="0" err="1"/>
              <a:t>Maxid</a:t>
            </a:r>
            <a:r>
              <a:rPr lang="fr-FR" sz="3200" dirty="0"/>
              <a:t>-E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22DFAA51-C6D3-9FCC-9035-87E9C9207526}"/>
              </a:ext>
            </a:extLst>
          </p:cNvPr>
          <p:cNvSpPr/>
          <p:nvPr/>
        </p:nvSpPr>
        <p:spPr>
          <a:xfrm>
            <a:off x="498044" y="5363610"/>
            <a:ext cx="8528438" cy="652851"/>
          </a:xfrm>
          <a:prstGeom prst="rect">
            <a:avLst/>
          </a:prstGeom>
          <a:solidFill>
            <a:srgbClr val="DFE3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9263" algn="just"/>
            <a:r>
              <a:rPr lang="fr-FR" sz="1400" dirty="0">
                <a:solidFill>
                  <a:srgbClr val="00547F"/>
                </a:solidFill>
              </a:rPr>
              <a:t>Tous </a:t>
            </a:r>
            <a:r>
              <a:rPr lang="fr-FR" sz="1400">
                <a:solidFill>
                  <a:srgbClr val="00547F"/>
                </a:solidFill>
              </a:rPr>
              <a:t>les capteurs </a:t>
            </a:r>
            <a:r>
              <a:rPr lang="fr-FR" sz="1400" dirty="0">
                <a:solidFill>
                  <a:srgbClr val="00547F"/>
                </a:solidFill>
              </a:rPr>
              <a:t>sont nécessaires au bon fonctionnement du système.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86" y="1553029"/>
            <a:ext cx="11455228" cy="3751942"/>
          </a:xfrm>
          <a:prstGeom prst="rect">
            <a:avLst/>
          </a:prstGeom>
        </p:spPr>
      </p:pic>
      <p:pic>
        <p:nvPicPr>
          <p:cNvPr id="5" name="Image 4" descr="MAXPID"/>
          <p:cNvPicPr/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27" t="7030"/>
          <a:stretch>
            <a:fillRect/>
          </a:stretch>
        </p:blipFill>
        <p:spPr bwMode="auto">
          <a:xfrm>
            <a:off x="10443845" y="0"/>
            <a:ext cx="1591310" cy="12001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54825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E5C1CAA4-BEC8-E034-06F5-82D8ED3BF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Chaine fonctionnelle du Moteur à courant continu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F7822C3A-6752-03D9-8DF8-C9BF49763BD8}"/>
              </a:ext>
            </a:extLst>
          </p:cNvPr>
          <p:cNvSpPr/>
          <p:nvPr/>
        </p:nvSpPr>
        <p:spPr>
          <a:xfrm>
            <a:off x="1056905" y="1330378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04F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04F77"/>
                </a:solidFill>
                <a:latin typeface="Arial Nova" panose="020B0504020202020204" pitchFamily="34" charset="0"/>
              </a:rPr>
              <a:t>Acquérir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FEC70D79-FF53-E1E6-8F5D-7DB4552BDEB8}"/>
              </a:ext>
            </a:extLst>
          </p:cNvPr>
          <p:cNvSpPr/>
          <p:nvPr/>
        </p:nvSpPr>
        <p:spPr>
          <a:xfrm>
            <a:off x="1056905" y="2105523"/>
            <a:ext cx="1440000" cy="946211"/>
          </a:xfrm>
          <a:prstGeom prst="roundRect">
            <a:avLst>
              <a:gd name="adj" fmla="val 11914"/>
            </a:avLst>
          </a:prstGeom>
          <a:solidFill>
            <a:srgbClr val="DFE3EB"/>
          </a:solidFill>
          <a:ln w="19050">
            <a:solidFill>
              <a:srgbClr val="DFE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00" dirty="0">
                <a:solidFill>
                  <a:srgbClr val="004F77"/>
                </a:solidFill>
                <a:latin typeface="Arial Nova" panose="020B0504020202020204" pitchFamily="34" charset="0"/>
              </a:rPr>
              <a:t>Encodeur à effet Hall 2 canaux (48 tops/tour)</a:t>
            </a:r>
          </a:p>
          <a:p>
            <a:pPr algn="ctr"/>
            <a:r>
              <a:rPr lang="fr-FR" sz="800" dirty="0">
                <a:solidFill>
                  <a:srgbClr val="004F77"/>
                </a:solidFill>
                <a:latin typeface="Arial Nova" panose="020B0504020202020204" pitchFamily="34" charset="0"/>
              </a:rPr>
              <a:t>Voltmètre/Ampèremètre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492C39D7-C7C7-3458-7E55-FC4FCBD955B0}"/>
              </a:ext>
            </a:extLst>
          </p:cNvPr>
          <p:cNvSpPr/>
          <p:nvPr/>
        </p:nvSpPr>
        <p:spPr>
          <a:xfrm>
            <a:off x="3229319" y="1328842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04F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C7391"/>
                </a:solidFill>
                <a:latin typeface="Arial Nova" panose="020B0504020202020204" pitchFamily="34" charset="0"/>
              </a:rPr>
              <a:t>Traiter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5E73C37F-4A2D-AB41-B3A3-7332F9A357A2}"/>
              </a:ext>
            </a:extLst>
          </p:cNvPr>
          <p:cNvSpPr/>
          <p:nvPr/>
        </p:nvSpPr>
        <p:spPr>
          <a:xfrm>
            <a:off x="3218894" y="2121703"/>
            <a:ext cx="1440000" cy="540000"/>
          </a:xfrm>
          <a:prstGeom prst="roundRect">
            <a:avLst>
              <a:gd name="adj" fmla="val 11914"/>
            </a:avLst>
          </a:prstGeom>
          <a:solidFill>
            <a:srgbClr val="E4EBF0"/>
          </a:solidFill>
          <a:ln w="19050">
            <a:solidFill>
              <a:srgbClr val="E4EB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rgbClr val="0C7391"/>
                </a:solidFill>
                <a:latin typeface="Arial Nova" panose="020B0504020202020204" pitchFamily="34" charset="0"/>
              </a:rPr>
              <a:t>Carte Arduino MEGA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8BE8DB55-CD2C-9609-869B-BFB5FBA5A6D3}"/>
              </a:ext>
            </a:extLst>
          </p:cNvPr>
          <p:cNvSpPr/>
          <p:nvPr/>
        </p:nvSpPr>
        <p:spPr>
          <a:xfrm>
            <a:off x="5389319" y="1306501"/>
            <a:ext cx="1440000" cy="576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8A5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8A559"/>
                </a:solidFill>
                <a:latin typeface="Arial Nova" panose="020B0504020202020204" pitchFamily="34" charset="0"/>
              </a:rPr>
              <a:t>Communiquer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E7C50B13-9945-267C-9C0F-3901C1922B55}"/>
              </a:ext>
            </a:extLst>
          </p:cNvPr>
          <p:cNvSpPr/>
          <p:nvPr/>
        </p:nvSpPr>
        <p:spPr>
          <a:xfrm>
            <a:off x="5389319" y="2100470"/>
            <a:ext cx="1406281" cy="534390"/>
          </a:xfrm>
          <a:prstGeom prst="roundRect">
            <a:avLst>
              <a:gd name="adj" fmla="val 11914"/>
            </a:avLst>
          </a:prstGeom>
          <a:solidFill>
            <a:srgbClr val="E8F3E8"/>
          </a:solidFill>
          <a:ln w="19050">
            <a:solidFill>
              <a:srgbClr val="E8F3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08A559"/>
                </a:solidFill>
                <a:latin typeface="Arial Nova" panose="020B0504020202020204" pitchFamily="34" charset="0"/>
              </a:rPr>
              <a:t>Carte Arduino MEGA</a:t>
            </a:r>
          </a:p>
          <a:p>
            <a:pPr algn="ctr"/>
            <a:r>
              <a:rPr lang="fr-FR" sz="1200" dirty="0">
                <a:solidFill>
                  <a:srgbClr val="08A559"/>
                </a:solidFill>
                <a:latin typeface="Arial Nova" panose="020B0504020202020204" pitchFamily="34" charset="0"/>
              </a:rPr>
              <a:t>PC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8CFBB7BE-C306-859A-CF41-F04DD9BC455C}"/>
              </a:ext>
            </a:extLst>
          </p:cNvPr>
          <p:cNvSpPr/>
          <p:nvPr/>
        </p:nvSpPr>
        <p:spPr>
          <a:xfrm>
            <a:off x="1056905" y="3323232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FDAD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FDAD57"/>
                </a:solidFill>
                <a:latin typeface="Arial Nova" panose="020B0504020202020204" pitchFamily="34" charset="0"/>
              </a:rPr>
              <a:t>Alimenter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D364B3FD-91A8-1B5F-5FD3-55E164E3B9AE}"/>
              </a:ext>
            </a:extLst>
          </p:cNvPr>
          <p:cNvSpPr/>
          <p:nvPr/>
        </p:nvSpPr>
        <p:spPr>
          <a:xfrm>
            <a:off x="1056905" y="4017987"/>
            <a:ext cx="1440000" cy="540000"/>
          </a:xfrm>
          <a:prstGeom prst="roundRect">
            <a:avLst>
              <a:gd name="adj" fmla="val 11914"/>
            </a:avLst>
          </a:prstGeom>
          <a:solidFill>
            <a:srgbClr val="FEE6CC"/>
          </a:solidFill>
          <a:ln w="19050">
            <a:solidFill>
              <a:srgbClr val="FEE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dirty="0">
                <a:solidFill>
                  <a:srgbClr val="FDAD57"/>
                </a:solidFill>
                <a:latin typeface="Arial Nova" panose="020B0504020202020204" pitchFamily="34" charset="0"/>
              </a:rPr>
              <a:t>Transformateur</a:t>
            </a:r>
          </a:p>
          <a:p>
            <a:pPr algn="ctr"/>
            <a:r>
              <a:rPr lang="fr-FR" sz="1050" dirty="0">
                <a:solidFill>
                  <a:srgbClr val="FDAD57"/>
                </a:solidFill>
                <a:latin typeface="Arial Nova" panose="020B0504020202020204" pitchFamily="34" charset="0"/>
              </a:rPr>
              <a:t>(Redresseur, Filtre, convertisseur)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96A2B729-7EE6-8CA6-72B2-5A16AA5A785A}"/>
              </a:ext>
            </a:extLst>
          </p:cNvPr>
          <p:cNvSpPr/>
          <p:nvPr/>
        </p:nvSpPr>
        <p:spPr>
          <a:xfrm>
            <a:off x="3218894" y="3318469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C739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C7391"/>
                </a:solidFill>
                <a:latin typeface="Arial Nova" panose="020B0504020202020204" pitchFamily="34" charset="0"/>
              </a:rPr>
              <a:t>Distribuer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3841B1B6-C546-170C-78BF-906D65F5DAA8}"/>
              </a:ext>
            </a:extLst>
          </p:cNvPr>
          <p:cNvSpPr/>
          <p:nvPr/>
        </p:nvSpPr>
        <p:spPr>
          <a:xfrm>
            <a:off x="3229319" y="4003689"/>
            <a:ext cx="1440000" cy="572255"/>
          </a:xfrm>
          <a:prstGeom prst="roundRect">
            <a:avLst>
              <a:gd name="adj" fmla="val 11914"/>
            </a:avLst>
          </a:prstGeom>
          <a:solidFill>
            <a:srgbClr val="9EC7D3"/>
          </a:solidFill>
          <a:ln w="19050">
            <a:solidFill>
              <a:srgbClr val="9EC7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rgbClr val="0C7391"/>
                </a:solidFill>
                <a:latin typeface="Arial Nova" panose="020B0504020202020204" pitchFamily="34" charset="0"/>
              </a:rPr>
              <a:t>Hacheur</a:t>
            </a:r>
          </a:p>
          <a:p>
            <a:pPr algn="ctr"/>
            <a:r>
              <a:rPr lang="fr-FR" sz="1100" dirty="0">
                <a:solidFill>
                  <a:srgbClr val="0C7391"/>
                </a:solidFill>
                <a:latin typeface="Arial Nova" panose="020B0504020202020204" pitchFamily="34" charset="0"/>
              </a:rPr>
              <a:t>(Carte de puissance)</a:t>
            </a:r>
            <a:endParaRPr lang="fr-FR" dirty="0">
              <a:solidFill>
                <a:srgbClr val="0C7391"/>
              </a:solidFill>
              <a:latin typeface="Arial Nova" panose="020B0504020202020204" pitchFamily="34" charset="0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B8181AD4-9AB8-CA7B-EFBF-8B9CD4369264}"/>
              </a:ext>
            </a:extLst>
          </p:cNvPr>
          <p:cNvSpPr/>
          <p:nvPr/>
        </p:nvSpPr>
        <p:spPr>
          <a:xfrm>
            <a:off x="5380883" y="3323232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6834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68348B"/>
                </a:solidFill>
                <a:latin typeface="Arial Nova" panose="020B0504020202020204" pitchFamily="34" charset="0"/>
              </a:rPr>
              <a:t>Convertir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7E462E27-42D7-734B-5E6F-B78EF40987B6}"/>
              </a:ext>
            </a:extLst>
          </p:cNvPr>
          <p:cNvSpPr/>
          <p:nvPr/>
        </p:nvSpPr>
        <p:spPr>
          <a:xfrm>
            <a:off x="5389319" y="4003690"/>
            <a:ext cx="1440000" cy="540000"/>
          </a:xfrm>
          <a:prstGeom prst="roundRect">
            <a:avLst>
              <a:gd name="adj" fmla="val 11914"/>
            </a:avLst>
          </a:prstGeom>
          <a:solidFill>
            <a:srgbClr val="C3AED1"/>
          </a:solidFill>
          <a:ln w="19050">
            <a:solidFill>
              <a:srgbClr val="C3AE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68348B"/>
                </a:solidFill>
                <a:latin typeface="Arial Nova" panose="020B0504020202020204" pitchFamily="34" charset="0"/>
              </a:rPr>
              <a:t>Moteur à courant continu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AA76E29F-1BCE-DD76-499C-CE8F3E850A8E}"/>
              </a:ext>
            </a:extLst>
          </p:cNvPr>
          <p:cNvSpPr/>
          <p:nvPr/>
        </p:nvSpPr>
        <p:spPr>
          <a:xfrm>
            <a:off x="7542872" y="3326339"/>
            <a:ext cx="1365662" cy="53439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EE685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EE685D"/>
                </a:solidFill>
                <a:latin typeface="Arial Nova" panose="020B0504020202020204" pitchFamily="34" charset="0"/>
              </a:rPr>
              <a:t>Transmettre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A66FC087-C9BC-9FD1-6C13-AD7571852AD4}"/>
              </a:ext>
            </a:extLst>
          </p:cNvPr>
          <p:cNvSpPr/>
          <p:nvPr/>
        </p:nvSpPr>
        <p:spPr>
          <a:xfrm>
            <a:off x="7549319" y="3983186"/>
            <a:ext cx="1365662" cy="652851"/>
          </a:xfrm>
          <a:prstGeom prst="roundRect">
            <a:avLst>
              <a:gd name="adj" fmla="val 11914"/>
            </a:avLst>
          </a:prstGeom>
          <a:solidFill>
            <a:srgbClr val="F7B8B3"/>
          </a:solidFill>
          <a:ln w="19050">
            <a:solidFill>
              <a:srgbClr val="F7B8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rgbClr val="EE685D"/>
                </a:solidFill>
                <a:latin typeface="Arial Nova" panose="020B0504020202020204" pitchFamily="34" charset="0"/>
              </a:rPr>
              <a:t>Réducteur </a:t>
            </a:r>
          </a:p>
          <a:p>
            <a:pPr algn="ctr"/>
            <a:r>
              <a:rPr lang="fr-FR" sz="1100" dirty="0">
                <a:solidFill>
                  <a:srgbClr val="EE685D"/>
                </a:solidFill>
                <a:latin typeface="Arial Nova" panose="020B0504020202020204" pitchFamily="34" charset="0"/>
              </a:rPr>
              <a:t>(1:34)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7282EFC0-8E54-A4E0-6953-44E98A7B8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826" y="1384349"/>
            <a:ext cx="434918" cy="152010"/>
          </a:xfrm>
          <a:prstGeom prst="rect">
            <a:avLst/>
          </a:prstGeom>
        </p:spPr>
      </p:pic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BE599621-6A35-D218-9184-0073520A41FC}"/>
              </a:ext>
            </a:extLst>
          </p:cNvPr>
          <p:cNvCxnSpPr>
            <a:cxnSpLocks/>
          </p:cNvCxnSpPr>
          <p:nvPr/>
        </p:nvCxnSpPr>
        <p:spPr>
          <a:xfrm flipV="1">
            <a:off x="2496905" y="1608451"/>
            <a:ext cx="720000" cy="1536"/>
          </a:xfrm>
          <a:prstGeom prst="straightConnector1">
            <a:avLst/>
          </a:prstGeom>
          <a:ln w="25400" cap="rnd">
            <a:solidFill>
              <a:srgbClr val="004F7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25CB3708-D27C-9C0F-920D-E2174EF1D3C1}"/>
              </a:ext>
            </a:extLst>
          </p:cNvPr>
          <p:cNvCxnSpPr/>
          <p:nvPr/>
        </p:nvCxnSpPr>
        <p:spPr>
          <a:xfrm flipV="1">
            <a:off x="4669319" y="1594501"/>
            <a:ext cx="720000" cy="1536"/>
          </a:xfrm>
          <a:prstGeom prst="straightConnector1">
            <a:avLst/>
          </a:prstGeom>
          <a:ln w="25400" cap="rnd">
            <a:solidFill>
              <a:srgbClr val="004F7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Image 22">
            <a:extLst>
              <a:ext uri="{FF2B5EF4-FFF2-40B4-BE49-F238E27FC236}">
                <a16:creationId xmlns:a16="http://schemas.microsoft.com/office/drawing/2014/main" id="{6B85577F-75F2-AC91-9B29-7674830D4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894" y="1199142"/>
            <a:ext cx="360000" cy="360000"/>
          </a:xfrm>
          <a:prstGeom prst="rect">
            <a:avLst/>
          </a:prstGeom>
        </p:spPr>
      </p:pic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4D3E9C84-1558-D9D2-B9AE-51FFDFD2ACAC}"/>
              </a:ext>
            </a:extLst>
          </p:cNvPr>
          <p:cNvCxnSpPr>
            <a:cxnSpLocks/>
          </p:cNvCxnSpPr>
          <p:nvPr/>
        </p:nvCxnSpPr>
        <p:spPr>
          <a:xfrm flipV="1">
            <a:off x="2509319" y="3591696"/>
            <a:ext cx="720000" cy="1536"/>
          </a:xfrm>
          <a:prstGeom prst="straightConnector1">
            <a:avLst/>
          </a:prstGeom>
          <a:ln w="25400" cap="rnd">
            <a:solidFill>
              <a:srgbClr val="FDAD5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Image 27">
            <a:extLst>
              <a:ext uri="{FF2B5EF4-FFF2-40B4-BE49-F238E27FC236}">
                <a16:creationId xmlns:a16="http://schemas.microsoft.com/office/drawing/2014/main" id="{35145E60-25D8-7A86-65AE-7F3729EC78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044" y="3446765"/>
            <a:ext cx="360000" cy="360000"/>
          </a:xfrm>
          <a:prstGeom prst="rect">
            <a:avLst/>
          </a:prstGeom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id="{3C7DD139-EB5F-1D13-171E-251FB77C6B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6905" y="3173953"/>
            <a:ext cx="360000" cy="360000"/>
          </a:xfrm>
          <a:prstGeom prst="rect">
            <a:avLst/>
          </a:prstGeom>
        </p:spPr>
      </p:pic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6E52C4D0-B55B-30AA-F92B-6E09F0A4D9C9}"/>
              </a:ext>
            </a:extLst>
          </p:cNvPr>
          <p:cNvCxnSpPr>
            <a:cxnSpLocks/>
          </p:cNvCxnSpPr>
          <p:nvPr/>
        </p:nvCxnSpPr>
        <p:spPr>
          <a:xfrm flipV="1">
            <a:off x="4669319" y="3578864"/>
            <a:ext cx="720000" cy="1536"/>
          </a:xfrm>
          <a:prstGeom prst="straightConnector1">
            <a:avLst/>
          </a:prstGeom>
          <a:ln w="25400" cap="rnd">
            <a:solidFill>
              <a:srgbClr val="0C739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Image 34">
            <a:extLst>
              <a:ext uri="{FF2B5EF4-FFF2-40B4-BE49-F238E27FC236}">
                <a16:creationId xmlns:a16="http://schemas.microsoft.com/office/drawing/2014/main" id="{F31071D2-3D9A-9512-E018-EA9EA1D5A0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8894" y="3173953"/>
            <a:ext cx="360000" cy="360000"/>
          </a:xfrm>
          <a:prstGeom prst="rect">
            <a:avLst/>
          </a:prstGeom>
        </p:spPr>
      </p:pic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75B4C387-2DFC-8DD6-0817-E4B93F7F3F85}"/>
              </a:ext>
            </a:extLst>
          </p:cNvPr>
          <p:cNvCxnSpPr>
            <a:cxnSpLocks/>
          </p:cNvCxnSpPr>
          <p:nvPr/>
        </p:nvCxnSpPr>
        <p:spPr>
          <a:xfrm flipV="1">
            <a:off x="6829319" y="3588469"/>
            <a:ext cx="720000" cy="1536"/>
          </a:xfrm>
          <a:prstGeom prst="straightConnector1">
            <a:avLst/>
          </a:prstGeom>
          <a:ln w="25400" cap="rnd">
            <a:solidFill>
              <a:srgbClr val="68348B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Image 42">
            <a:extLst>
              <a:ext uri="{FF2B5EF4-FFF2-40B4-BE49-F238E27FC236}">
                <a16:creationId xmlns:a16="http://schemas.microsoft.com/office/drawing/2014/main" id="{F1B5964F-3473-92A5-6A3A-F03DA766A9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3108" y="3199220"/>
            <a:ext cx="360000" cy="360000"/>
          </a:xfrm>
          <a:prstGeom prst="rect">
            <a:avLst/>
          </a:prstGeom>
        </p:spPr>
      </p:pic>
      <p:cxnSp>
        <p:nvCxnSpPr>
          <p:cNvPr id="44" name="Connecteur : en angle 43">
            <a:extLst>
              <a:ext uri="{FF2B5EF4-FFF2-40B4-BE49-F238E27FC236}">
                <a16:creationId xmlns:a16="http://schemas.microsoft.com/office/drawing/2014/main" id="{2C5943AA-979A-103D-FC4E-264A925A4FF0}"/>
              </a:ext>
            </a:extLst>
          </p:cNvPr>
          <p:cNvCxnSpPr>
            <a:cxnSpLocks/>
            <a:stCxn id="10" idx="3"/>
            <a:endCxn id="45" idx="3"/>
          </p:cNvCxnSpPr>
          <p:nvPr/>
        </p:nvCxnSpPr>
        <p:spPr>
          <a:xfrm flipH="1">
            <a:off x="6795600" y="1594501"/>
            <a:ext cx="33719" cy="1346496"/>
          </a:xfrm>
          <a:prstGeom prst="bentConnector3">
            <a:avLst>
              <a:gd name="adj1" fmla="val -1067152"/>
            </a:avLst>
          </a:prstGeom>
          <a:ln w="25400">
            <a:solidFill>
              <a:srgbClr val="08A55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 : coins arrondis 44">
            <a:extLst>
              <a:ext uri="{FF2B5EF4-FFF2-40B4-BE49-F238E27FC236}">
                <a16:creationId xmlns:a16="http://schemas.microsoft.com/office/drawing/2014/main" id="{4EDA86AC-B60C-0765-FBC6-4E7119B8D620}"/>
              </a:ext>
            </a:extLst>
          </p:cNvPr>
          <p:cNvSpPr/>
          <p:nvPr/>
        </p:nvSpPr>
        <p:spPr>
          <a:xfrm>
            <a:off x="5389319" y="2775318"/>
            <a:ext cx="1406281" cy="331358"/>
          </a:xfrm>
          <a:prstGeom prst="roundRect">
            <a:avLst>
              <a:gd name="adj" fmla="val 11914"/>
            </a:avLst>
          </a:prstGeom>
          <a:solidFill>
            <a:srgbClr val="08A55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bg1"/>
                </a:solidFill>
                <a:latin typeface="Arial Nova" panose="020B0504020202020204" pitchFamily="34" charset="0"/>
              </a:rPr>
              <a:t>Ordres (PWM)</a:t>
            </a:r>
          </a:p>
        </p:txBody>
      </p:sp>
      <p:cxnSp>
        <p:nvCxnSpPr>
          <p:cNvPr id="46" name="Connecteur : en angle 45">
            <a:extLst>
              <a:ext uri="{FF2B5EF4-FFF2-40B4-BE49-F238E27FC236}">
                <a16:creationId xmlns:a16="http://schemas.microsoft.com/office/drawing/2014/main" id="{C9DF5005-6531-4D0B-0B32-A0A73479B4F0}"/>
              </a:ext>
            </a:extLst>
          </p:cNvPr>
          <p:cNvCxnSpPr>
            <a:cxnSpLocks/>
            <a:stCxn id="45" idx="1"/>
            <a:endCxn id="14" idx="0"/>
          </p:cNvCxnSpPr>
          <p:nvPr/>
        </p:nvCxnSpPr>
        <p:spPr>
          <a:xfrm rot="10800000" flipV="1">
            <a:off x="3938895" y="2940997"/>
            <a:ext cx="1450425" cy="377472"/>
          </a:xfrm>
          <a:prstGeom prst="bentConnector2">
            <a:avLst/>
          </a:prstGeom>
          <a:ln w="25400">
            <a:solidFill>
              <a:srgbClr val="08A55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Image 46">
            <a:extLst>
              <a:ext uri="{FF2B5EF4-FFF2-40B4-BE49-F238E27FC236}">
                <a16:creationId xmlns:a16="http://schemas.microsoft.com/office/drawing/2014/main" id="{5684C887-250C-3EE4-51A9-97E49BAEE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108" y="2723464"/>
            <a:ext cx="180000" cy="180000"/>
          </a:xfrm>
          <a:prstGeom prst="rect">
            <a:avLst/>
          </a:prstGeom>
        </p:spPr>
      </p:pic>
      <p:pic>
        <p:nvPicPr>
          <p:cNvPr id="48" name="Image 47">
            <a:extLst>
              <a:ext uri="{FF2B5EF4-FFF2-40B4-BE49-F238E27FC236}">
                <a16:creationId xmlns:a16="http://schemas.microsoft.com/office/drawing/2014/main" id="{A2DBB512-E0D6-1DCF-AD42-945E61453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5152" y="2999093"/>
            <a:ext cx="180000" cy="180000"/>
          </a:xfrm>
          <a:prstGeom prst="rect">
            <a:avLst/>
          </a:prstGeom>
        </p:spPr>
      </p:pic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41C8C10B-28B1-AAD9-17B3-48F680D32BCC}"/>
              </a:ext>
            </a:extLst>
          </p:cNvPr>
          <p:cNvSpPr/>
          <p:nvPr/>
        </p:nvSpPr>
        <p:spPr>
          <a:xfrm>
            <a:off x="9634981" y="3314700"/>
            <a:ext cx="1365662" cy="1194790"/>
          </a:xfrm>
          <a:prstGeom prst="roundRect">
            <a:avLst>
              <a:gd name="adj" fmla="val 11914"/>
            </a:avLst>
          </a:prstGeom>
          <a:solidFill>
            <a:srgbClr val="B2CAD6"/>
          </a:solidFill>
          <a:ln w="19050">
            <a:solidFill>
              <a:srgbClr val="B2CA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0D587E"/>
                </a:solidFill>
                <a:latin typeface="Arial Nova" panose="020B0504020202020204" pitchFamily="34" charset="0"/>
              </a:rPr>
              <a:t>Arbre réducteur</a:t>
            </a:r>
          </a:p>
        </p:txBody>
      </p:sp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id="{505D6021-1B16-1674-733B-C648AC112904}"/>
              </a:ext>
            </a:extLst>
          </p:cNvPr>
          <p:cNvCxnSpPr>
            <a:cxnSpLocks/>
          </p:cNvCxnSpPr>
          <p:nvPr/>
        </p:nvCxnSpPr>
        <p:spPr>
          <a:xfrm flipV="1">
            <a:off x="8911620" y="3588469"/>
            <a:ext cx="720000" cy="1536"/>
          </a:xfrm>
          <a:prstGeom prst="straightConnector1">
            <a:avLst/>
          </a:prstGeom>
          <a:ln w="25400" cap="rnd">
            <a:solidFill>
              <a:srgbClr val="68348B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Groupe 51">
            <a:extLst>
              <a:ext uri="{FF2B5EF4-FFF2-40B4-BE49-F238E27FC236}">
                <a16:creationId xmlns:a16="http://schemas.microsoft.com/office/drawing/2014/main" id="{C3681FD9-BFE4-7350-1964-9C093DDF1B5E}"/>
              </a:ext>
            </a:extLst>
          </p:cNvPr>
          <p:cNvGrpSpPr/>
          <p:nvPr/>
        </p:nvGrpSpPr>
        <p:grpSpPr>
          <a:xfrm>
            <a:off x="3770117" y="1810931"/>
            <a:ext cx="360000" cy="360000"/>
            <a:chOff x="6138169" y="4069439"/>
            <a:chExt cx="1800000" cy="1800000"/>
          </a:xfrm>
        </p:grpSpPr>
        <p:sp>
          <p:nvSpPr>
            <p:cNvPr id="53" name="Ellipse 52">
              <a:extLst>
                <a:ext uri="{FF2B5EF4-FFF2-40B4-BE49-F238E27FC236}">
                  <a16:creationId xmlns:a16="http://schemas.microsoft.com/office/drawing/2014/main" id="{599396A5-DEE6-FF8C-4576-A72DC9E6130D}"/>
                </a:ext>
              </a:extLst>
            </p:cNvPr>
            <p:cNvSpPr/>
            <p:nvPr/>
          </p:nvSpPr>
          <p:spPr>
            <a:xfrm>
              <a:off x="6138169" y="4069439"/>
              <a:ext cx="1800000" cy="180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54" name="Image 53">
              <a:extLst>
                <a:ext uri="{FF2B5EF4-FFF2-40B4-BE49-F238E27FC236}">
                  <a16:creationId xmlns:a16="http://schemas.microsoft.com/office/drawing/2014/main" id="{F05DEF27-F929-BD20-2E07-1628A11DB34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43433" y="4174703"/>
              <a:ext cx="1589472" cy="1589472"/>
            </a:xfrm>
            <a:prstGeom prst="rect">
              <a:avLst/>
            </a:prstGeom>
          </p:spPr>
        </p:pic>
      </p:grpSp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CEC25A5B-4B64-B67F-296D-04E6B189266D}"/>
              </a:ext>
            </a:extLst>
          </p:cNvPr>
          <p:cNvCxnSpPr/>
          <p:nvPr/>
        </p:nvCxnSpPr>
        <p:spPr>
          <a:xfrm flipV="1">
            <a:off x="6829319" y="1516430"/>
            <a:ext cx="720000" cy="1536"/>
          </a:xfrm>
          <a:prstGeom prst="straightConnector1">
            <a:avLst/>
          </a:prstGeom>
          <a:ln w="25400">
            <a:solidFill>
              <a:srgbClr val="08A55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7F3E2C-9FA7-42D8-DEF0-9439478A5709}"/>
              </a:ext>
            </a:extLst>
          </p:cNvPr>
          <p:cNvGrpSpPr/>
          <p:nvPr/>
        </p:nvGrpSpPr>
        <p:grpSpPr>
          <a:xfrm rot="5400000" flipV="1">
            <a:off x="10181964" y="3934713"/>
            <a:ext cx="835963" cy="1617775"/>
            <a:chOff x="9150640" y="2423323"/>
            <a:chExt cx="835963" cy="2135794"/>
          </a:xfrm>
        </p:grpSpPr>
        <p:sp>
          <p:nvSpPr>
            <p:cNvPr id="58" name="Flèche : virage 57">
              <a:extLst>
                <a:ext uri="{FF2B5EF4-FFF2-40B4-BE49-F238E27FC236}">
                  <a16:creationId xmlns:a16="http://schemas.microsoft.com/office/drawing/2014/main" id="{A404FB7A-E23C-BD6A-6263-4B2DE2013DB7}"/>
                </a:ext>
              </a:extLst>
            </p:cNvPr>
            <p:cNvSpPr/>
            <p:nvPr/>
          </p:nvSpPr>
          <p:spPr>
            <a:xfrm rot="5400000">
              <a:off x="8500725" y="3073238"/>
              <a:ext cx="2135794" cy="835963"/>
            </a:xfrm>
            <a:prstGeom prst="bentArrow">
              <a:avLst>
                <a:gd name="adj1" fmla="val 31434"/>
                <a:gd name="adj2" fmla="val 25000"/>
                <a:gd name="adj3" fmla="val 17852"/>
                <a:gd name="adj4" fmla="val 20160"/>
              </a:avLst>
            </a:prstGeom>
            <a:solidFill>
              <a:srgbClr val="B2CA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59" name="ZoneTexte 58">
              <a:extLst>
                <a:ext uri="{FF2B5EF4-FFF2-40B4-BE49-F238E27FC236}">
                  <a16:creationId xmlns:a16="http://schemas.microsoft.com/office/drawing/2014/main" id="{D9969D2B-BFBA-54A7-C4C5-06DFD5138BC1}"/>
                </a:ext>
              </a:extLst>
            </p:cNvPr>
            <p:cNvSpPr txBox="1"/>
            <p:nvPr/>
          </p:nvSpPr>
          <p:spPr>
            <a:xfrm rot="16200000">
              <a:off x="8815678" y="3247763"/>
              <a:ext cx="1918043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fr-FR" sz="900" dirty="0">
                  <a:solidFill>
                    <a:schemeClr val="bg1"/>
                  </a:solidFill>
                  <a:latin typeface="Arial Nova" panose="020B0504020202020204" pitchFamily="34" charset="0"/>
                </a:rPr>
                <a:t>Arbre en position angulaire finale</a:t>
              </a:r>
            </a:p>
          </p:txBody>
        </p:sp>
      </p:grp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32A82909-C4F5-9AA0-D150-C388F421C774}"/>
              </a:ext>
            </a:extLst>
          </p:cNvPr>
          <p:cNvGrpSpPr/>
          <p:nvPr/>
        </p:nvGrpSpPr>
        <p:grpSpPr>
          <a:xfrm>
            <a:off x="8594947" y="2417284"/>
            <a:ext cx="1971603" cy="882797"/>
            <a:chOff x="9058475" y="2836568"/>
            <a:chExt cx="1566152" cy="577810"/>
          </a:xfrm>
        </p:grpSpPr>
        <p:sp>
          <p:nvSpPr>
            <p:cNvPr id="61" name="Flèche : virage 60">
              <a:extLst>
                <a:ext uri="{FF2B5EF4-FFF2-40B4-BE49-F238E27FC236}">
                  <a16:creationId xmlns:a16="http://schemas.microsoft.com/office/drawing/2014/main" id="{FED08932-ADD7-D2A1-8E5A-D62CEEB1B93F}"/>
                </a:ext>
              </a:extLst>
            </p:cNvPr>
            <p:cNvSpPr/>
            <p:nvPr/>
          </p:nvSpPr>
          <p:spPr>
            <a:xfrm rot="5400000">
              <a:off x="9563593" y="2353345"/>
              <a:ext cx="572849" cy="1549218"/>
            </a:xfrm>
            <a:prstGeom prst="bentArrow">
              <a:avLst>
                <a:gd name="adj1" fmla="val 38639"/>
                <a:gd name="adj2" fmla="val 38302"/>
                <a:gd name="adj3" fmla="val 16744"/>
                <a:gd name="adj4" fmla="val 20160"/>
              </a:avLst>
            </a:prstGeom>
            <a:solidFill>
              <a:srgbClr val="B2CA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62" name="ZoneTexte 61">
              <a:extLst>
                <a:ext uri="{FF2B5EF4-FFF2-40B4-BE49-F238E27FC236}">
                  <a16:creationId xmlns:a16="http://schemas.microsoft.com/office/drawing/2014/main" id="{2C25BFE2-5262-D3BC-BDD8-923C0B8002AD}"/>
                </a:ext>
              </a:extLst>
            </p:cNvPr>
            <p:cNvSpPr txBox="1"/>
            <p:nvPr/>
          </p:nvSpPr>
          <p:spPr>
            <a:xfrm>
              <a:off x="9058475" y="2836568"/>
              <a:ext cx="1384681" cy="14101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fr-FR" sz="800" dirty="0">
                  <a:solidFill>
                    <a:schemeClr val="bg1"/>
                  </a:solidFill>
                  <a:latin typeface="Arial Nova" panose="020B0504020202020204" pitchFamily="34" charset="0"/>
                </a:rPr>
                <a:t>Arbre en position angulaire initiale</a:t>
              </a:r>
            </a:p>
          </p:txBody>
        </p:sp>
      </p:grpSp>
      <p:pic>
        <p:nvPicPr>
          <p:cNvPr id="63" name="Image 62">
            <a:extLst>
              <a:ext uri="{FF2B5EF4-FFF2-40B4-BE49-F238E27FC236}">
                <a16:creationId xmlns:a16="http://schemas.microsoft.com/office/drawing/2014/main" id="{8DAAFC9A-79A3-4B2C-A73E-32BE33F62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545" y="1536359"/>
            <a:ext cx="434918" cy="1520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4" name="ZoneTexte 63">
                <a:extLst>
                  <a:ext uri="{FF2B5EF4-FFF2-40B4-BE49-F238E27FC236}">
                    <a16:creationId xmlns:a16="http://schemas.microsoft.com/office/drawing/2014/main" id="{A29D106A-C634-EC49-818B-7FFD6B86043E}"/>
                  </a:ext>
                </a:extLst>
              </p:cNvPr>
              <p:cNvSpPr txBox="1"/>
              <p:nvPr/>
            </p:nvSpPr>
            <p:spPr>
              <a:xfrm>
                <a:off x="170158" y="3784816"/>
                <a:ext cx="11619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b="1" dirty="0">
                    <a:solidFill>
                      <a:srgbClr val="FFB25A"/>
                    </a:solidFill>
                    <a:latin typeface="Arial Nova" panose="020B0504020202020204" pitchFamily="34" charset="0"/>
                  </a:rPr>
                  <a:t>230 V </a:t>
                </a:r>
                <a14:m>
                  <m:oMath xmlns:m="http://schemas.openxmlformats.org/officeDocument/2006/math">
                    <m:r>
                      <a:rPr lang="fr-FR" sz="1200" b="1" i="1" smtClean="0">
                        <a:solidFill>
                          <a:srgbClr val="FFB25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~</m:t>
                    </m:r>
                  </m:oMath>
                </a14:m>
                <a:endParaRPr lang="fr-FR" sz="1200" b="1" dirty="0">
                  <a:solidFill>
                    <a:srgbClr val="FFB25A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64" name="ZoneTexte 63">
                <a:extLst>
                  <a:ext uri="{FF2B5EF4-FFF2-40B4-BE49-F238E27FC236}">
                    <a16:creationId xmlns:a16="http://schemas.microsoft.com/office/drawing/2014/main" id="{A29D106A-C634-EC49-818B-7FFD6B8604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158" y="3784816"/>
                <a:ext cx="1161960" cy="276999"/>
              </a:xfrm>
              <a:prstGeom prst="rect">
                <a:avLst/>
              </a:prstGeom>
              <a:blipFill>
                <a:blip r:embed="rId9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ZoneTexte 64">
                <a:extLst>
                  <a:ext uri="{FF2B5EF4-FFF2-40B4-BE49-F238E27FC236}">
                    <a16:creationId xmlns:a16="http://schemas.microsoft.com/office/drawing/2014/main" id="{98529472-463C-B655-7D36-3F43A14EC5EF}"/>
                  </a:ext>
                </a:extLst>
              </p:cNvPr>
              <p:cNvSpPr txBox="1"/>
              <p:nvPr/>
            </p:nvSpPr>
            <p:spPr>
              <a:xfrm>
                <a:off x="2282648" y="3611652"/>
                <a:ext cx="11619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b="1" dirty="0">
                    <a:solidFill>
                      <a:srgbClr val="FFB25A"/>
                    </a:solidFill>
                    <a:latin typeface="Arial Nova" panose="020B0504020202020204" pitchFamily="34" charset="0"/>
                  </a:rPr>
                  <a:t> 7,5 V </a:t>
                </a:r>
                <a14:m>
                  <m:oMath xmlns:m="http://schemas.openxmlformats.org/officeDocument/2006/math">
                    <m:r>
                      <a:rPr lang="fr-FR" sz="1200" b="1" i="0" smtClean="0">
                        <a:solidFill>
                          <a:srgbClr val="FFB25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</m:oMath>
                </a14:m>
                <a:endParaRPr lang="fr-FR" sz="1100" b="1" dirty="0">
                  <a:solidFill>
                    <a:srgbClr val="FFB25A"/>
                  </a:solidFill>
                  <a:latin typeface="Arial Nova" panose="020B050402020202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fr-FR" sz="1200" b="1" i="1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fr-FR" sz="1200" b="1" i="1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b="1" i="1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</a:rPr>
                        <m:t>𝑼𝑰</m:t>
                      </m:r>
                    </m:oMath>
                  </m:oMathPara>
                </a14:m>
                <a:endParaRPr lang="fr-FR" sz="1200" b="1" dirty="0">
                  <a:solidFill>
                    <a:srgbClr val="FFB25A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65" name="ZoneTexte 64">
                <a:extLst>
                  <a:ext uri="{FF2B5EF4-FFF2-40B4-BE49-F238E27FC236}">
                    <a16:creationId xmlns:a16="http://schemas.microsoft.com/office/drawing/2014/main" id="{98529472-463C-B655-7D36-3F43A14EC5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2648" y="3611652"/>
                <a:ext cx="1161960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3" name="Groupe 92">
            <a:extLst>
              <a:ext uri="{FF2B5EF4-FFF2-40B4-BE49-F238E27FC236}">
                <a16:creationId xmlns:a16="http://schemas.microsoft.com/office/drawing/2014/main" id="{633A414C-079F-72BC-C836-01640E3DA896}"/>
              </a:ext>
            </a:extLst>
          </p:cNvPr>
          <p:cNvGrpSpPr/>
          <p:nvPr/>
        </p:nvGrpSpPr>
        <p:grpSpPr>
          <a:xfrm>
            <a:off x="1216851" y="1780222"/>
            <a:ext cx="360000" cy="360000"/>
            <a:chOff x="5404964" y="4396133"/>
            <a:chExt cx="1800000" cy="1800000"/>
          </a:xfrm>
        </p:grpSpPr>
        <p:sp>
          <p:nvSpPr>
            <p:cNvPr id="94" name="Ellipse 93">
              <a:extLst>
                <a:ext uri="{FF2B5EF4-FFF2-40B4-BE49-F238E27FC236}">
                  <a16:creationId xmlns:a16="http://schemas.microsoft.com/office/drawing/2014/main" id="{7DA91EB8-E9B2-6DC6-B932-B3F8200FCB4C}"/>
                </a:ext>
              </a:extLst>
            </p:cNvPr>
            <p:cNvSpPr/>
            <p:nvPr/>
          </p:nvSpPr>
          <p:spPr>
            <a:xfrm>
              <a:off x="5404964" y="4396133"/>
              <a:ext cx="1800000" cy="1800000"/>
            </a:xfrm>
            <a:prstGeom prst="ellipse">
              <a:avLst/>
            </a:prstGeom>
            <a:solidFill>
              <a:srgbClr val="0051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95" name="Image 94">
              <a:extLst>
                <a:ext uri="{FF2B5EF4-FFF2-40B4-BE49-F238E27FC236}">
                  <a16:creationId xmlns:a16="http://schemas.microsoft.com/office/drawing/2014/main" id="{C57FF404-E034-F790-1839-6255F70696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543445" y="4536296"/>
              <a:ext cx="1358232" cy="1440000"/>
            </a:xfrm>
            <a:prstGeom prst="rect">
              <a:avLst/>
            </a:prstGeom>
          </p:spPr>
        </p:pic>
      </p:grpSp>
      <p:sp>
        <p:nvSpPr>
          <p:cNvPr id="72" name="Rectangle 71">
            <a:extLst>
              <a:ext uri="{FF2B5EF4-FFF2-40B4-BE49-F238E27FC236}">
                <a16:creationId xmlns:a16="http://schemas.microsoft.com/office/drawing/2014/main" id="{22DFAA51-C6D3-9FCC-9035-87E9C9207526}"/>
              </a:ext>
            </a:extLst>
          </p:cNvPr>
          <p:cNvSpPr/>
          <p:nvPr/>
        </p:nvSpPr>
        <p:spPr>
          <a:xfrm>
            <a:off x="461781" y="4858776"/>
            <a:ext cx="8528438" cy="1018492"/>
          </a:xfrm>
          <a:prstGeom prst="rect">
            <a:avLst/>
          </a:prstGeom>
          <a:solidFill>
            <a:srgbClr val="DFE3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9263" algn="just"/>
            <a:r>
              <a:rPr lang="fr-FR" sz="1400" dirty="0">
                <a:solidFill>
                  <a:srgbClr val="00547F"/>
                </a:solidFill>
              </a:rPr>
              <a:t>Le codeur est indispensable pour réaliser l’asservissement en position du moteur. </a:t>
            </a:r>
          </a:p>
          <a:p>
            <a:pPr marL="449263" algn="just"/>
            <a:r>
              <a:rPr lang="fr-FR" sz="1400" dirty="0">
                <a:solidFill>
                  <a:srgbClr val="00547F"/>
                </a:solidFill>
              </a:rPr>
              <a:t>Il n’y a pas forcément de réducteur ou de codeur sur un MCC</a:t>
            </a:r>
          </a:p>
        </p:txBody>
      </p:sp>
      <p:grpSp>
        <p:nvGrpSpPr>
          <p:cNvPr id="103" name="Groupe 102">
            <a:extLst>
              <a:ext uri="{FF2B5EF4-FFF2-40B4-BE49-F238E27FC236}">
                <a16:creationId xmlns:a16="http://schemas.microsoft.com/office/drawing/2014/main" id="{58AD15BE-FF0B-AB8F-1B32-BB8FEEBA2DEA}"/>
              </a:ext>
            </a:extLst>
          </p:cNvPr>
          <p:cNvGrpSpPr/>
          <p:nvPr/>
        </p:nvGrpSpPr>
        <p:grpSpPr>
          <a:xfrm>
            <a:off x="3747478" y="3711688"/>
            <a:ext cx="360000" cy="360000"/>
            <a:chOff x="4235640" y="2696679"/>
            <a:chExt cx="1800000" cy="1800000"/>
          </a:xfrm>
        </p:grpSpPr>
        <p:sp>
          <p:nvSpPr>
            <p:cNvPr id="104" name="Ellipse 103">
              <a:extLst>
                <a:ext uri="{FF2B5EF4-FFF2-40B4-BE49-F238E27FC236}">
                  <a16:creationId xmlns:a16="http://schemas.microsoft.com/office/drawing/2014/main" id="{617E9B91-42CB-D7A6-CB9D-2F41FFC4BB96}"/>
                </a:ext>
              </a:extLst>
            </p:cNvPr>
            <p:cNvSpPr/>
            <p:nvPr/>
          </p:nvSpPr>
          <p:spPr>
            <a:xfrm>
              <a:off x="4235640" y="2696679"/>
              <a:ext cx="1800000" cy="1800000"/>
            </a:xfrm>
            <a:prstGeom prst="ellipse">
              <a:avLst/>
            </a:prstGeom>
            <a:solidFill>
              <a:srgbClr val="0C73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105" name="Image 104">
              <a:extLst>
                <a:ext uri="{FF2B5EF4-FFF2-40B4-BE49-F238E27FC236}">
                  <a16:creationId xmlns:a16="http://schemas.microsoft.com/office/drawing/2014/main" id="{99E60331-B84D-5566-9183-29714B6CEC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451640" y="3100228"/>
              <a:ext cx="1368000" cy="992903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B39CA18C-C050-2248-E6F6-D99BB87303C8}"/>
                  </a:ext>
                </a:extLst>
              </p:cNvPr>
              <p:cNvSpPr txBox="1"/>
              <p:nvPr/>
            </p:nvSpPr>
            <p:spPr>
              <a:xfrm>
                <a:off x="4452429" y="3639956"/>
                <a:ext cx="11619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b="1" dirty="0">
                    <a:solidFill>
                      <a:srgbClr val="FFB25A"/>
                    </a:solidFill>
                    <a:latin typeface="Arial Nova" panose="020B0504020202020204" pitchFamily="34" charset="0"/>
                  </a:rPr>
                  <a:t> 7,5 V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fr-FR" sz="1200" b="1" i="1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fr-FR" sz="1200" b="1" i="1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b="1" i="1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</a:rPr>
                        <m:t>𝑼𝑰</m:t>
                      </m:r>
                    </m:oMath>
                  </m:oMathPara>
                </a14:m>
                <a:endParaRPr lang="fr-FR" sz="1200" b="1" dirty="0">
                  <a:solidFill>
                    <a:srgbClr val="FFB25A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B39CA18C-C050-2248-E6F6-D99BB87303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429" y="3639956"/>
                <a:ext cx="1161960" cy="4616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e 30">
            <a:extLst>
              <a:ext uri="{FF2B5EF4-FFF2-40B4-BE49-F238E27FC236}">
                <a16:creationId xmlns:a16="http://schemas.microsoft.com/office/drawing/2014/main" id="{89225F91-8C4A-4D28-806F-C285AA8AEAEF}"/>
              </a:ext>
            </a:extLst>
          </p:cNvPr>
          <p:cNvGrpSpPr/>
          <p:nvPr/>
        </p:nvGrpSpPr>
        <p:grpSpPr>
          <a:xfrm>
            <a:off x="2017649" y="1767756"/>
            <a:ext cx="360000" cy="360000"/>
            <a:chOff x="6054233" y="4960569"/>
            <a:chExt cx="1800000" cy="1800000"/>
          </a:xfrm>
        </p:grpSpPr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002BBCC8-7149-2E70-FA08-89D364A2E7EE}"/>
                </a:ext>
              </a:extLst>
            </p:cNvPr>
            <p:cNvSpPr/>
            <p:nvPr/>
          </p:nvSpPr>
          <p:spPr>
            <a:xfrm>
              <a:off x="6054233" y="4960569"/>
              <a:ext cx="1800000" cy="180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b="1"/>
            </a:p>
          </p:txBody>
        </p:sp>
        <p:pic>
          <p:nvPicPr>
            <p:cNvPr id="33" name="Image 32">
              <a:extLst>
                <a:ext uri="{FF2B5EF4-FFF2-40B4-BE49-F238E27FC236}">
                  <a16:creationId xmlns:a16="http://schemas.microsoft.com/office/drawing/2014/main" id="{6C676998-302E-BC6E-6F7D-BB576DC316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298697" y="5322283"/>
              <a:ext cx="1311072" cy="1076572"/>
            </a:xfrm>
            <a:prstGeom prst="rect">
              <a:avLst/>
            </a:prstGeom>
          </p:spPr>
        </p:pic>
      </p:grpSp>
      <p:grpSp>
        <p:nvGrpSpPr>
          <p:cNvPr id="36" name="Groupe 35">
            <a:extLst>
              <a:ext uri="{FF2B5EF4-FFF2-40B4-BE49-F238E27FC236}">
                <a16:creationId xmlns:a16="http://schemas.microsoft.com/office/drawing/2014/main" id="{4EF7F7D8-2F1F-EFB2-7B01-FE36DBE37CAC}"/>
              </a:ext>
            </a:extLst>
          </p:cNvPr>
          <p:cNvGrpSpPr/>
          <p:nvPr/>
        </p:nvGrpSpPr>
        <p:grpSpPr>
          <a:xfrm>
            <a:off x="1531686" y="1762048"/>
            <a:ext cx="360000" cy="360000"/>
            <a:chOff x="8612196" y="3801520"/>
            <a:chExt cx="1800000" cy="1800000"/>
          </a:xfrm>
        </p:grpSpPr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592B6240-4C9F-EF53-43C9-2EF4042F1297}"/>
                </a:ext>
              </a:extLst>
            </p:cNvPr>
            <p:cNvSpPr/>
            <p:nvPr/>
          </p:nvSpPr>
          <p:spPr>
            <a:xfrm>
              <a:off x="8612196" y="3801520"/>
              <a:ext cx="1800000" cy="180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b="1"/>
            </a:p>
          </p:txBody>
        </p:sp>
        <p:pic>
          <p:nvPicPr>
            <p:cNvPr id="38" name="Image 37">
              <a:extLst>
                <a:ext uri="{FF2B5EF4-FFF2-40B4-BE49-F238E27FC236}">
                  <a16:creationId xmlns:a16="http://schemas.microsoft.com/office/drawing/2014/main" id="{9B612B94-26B1-6868-1365-E552161EFE7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696428" y="3885752"/>
              <a:ext cx="1631536" cy="1631536"/>
            </a:xfrm>
            <a:prstGeom prst="rect">
              <a:avLst/>
            </a:prstGeom>
          </p:spPr>
        </p:pic>
      </p:grp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35931AB4-0EF3-CC11-6A37-25E736DC8855}"/>
              </a:ext>
            </a:extLst>
          </p:cNvPr>
          <p:cNvGrpSpPr/>
          <p:nvPr/>
        </p:nvGrpSpPr>
        <p:grpSpPr>
          <a:xfrm>
            <a:off x="2430172" y="1780222"/>
            <a:ext cx="360000" cy="360000"/>
            <a:chOff x="7698044" y="3453428"/>
            <a:chExt cx="1800000" cy="1800000"/>
          </a:xfrm>
        </p:grpSpPr>
        <p:sp>
          <p:nvSpPr>
            <p:cNvPr id="41" name="Ellipse 40">
              <a:extLst>
                <a:ext uri="{FF2B5EF4-FFF2-40B4-BE49-F238E27FC236}">
                  <a16:creationId xmlns:a16="http://schemas.microsoft.com/office/drawing/2014/main" id="{662F5EF4-F0F0-CACE-D022-BD474B949765}"/>
                </a:ext>
              </a:extLst>
            </p:cNvPr>
            <p:cNvSpPr/>
            <p:nvPr/>
          </p:nvSpPr>
          <p:spPr>
            <a:xfrm>
              <a:off x="7698044" y="3453428"/>
              <a:ext cx="1800000" cy="180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b="1"/>
            </a:p>
          </p:txBody>
        </p:sp>
        <p:pic>
          <p:nvPicPr>
            <p:cNvPr id="42" name="Image 41">
              <a:extLst>
                <a:ext uri="{FF2B5EF4-FFF2-40B4-BE49-F238E27FC236}">
                  <a16:creationId xmlns:a16="http://schemas.microsoft.com/office/drawing/2014/main" id="{207B4028-D127-40B0-9A2E-251E6B641A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7939554" y="3812716"/>
              <a:ext cx="1316981" cy="1081424"/>
            </a:xfrm>
            <a:prstGeom prst="rect">
              <a:avLst/>
            </a:prstGeom>
          </p:spPr>
        </p:pic>
      </p:grpSp>
      <p:grpSp>
        <p:nvGrpSpPr>
          <p:cNvPr id="76" name="Groupe 75">
            <a:extLst>
              <a:ext uri="{FF2B5EF4-FFF2-40B4-BE49-F238E27FC236}">
                <a16:creationId xmlns:a16="http://schemas.microsoft.com/office/drawing/2014/main" id="{19663B7E-D161-9EFA-9C0C-DD72CA7CD5F3}"/>
              </a:ext>
            </a:extLst>
          </p:cNvPr>
          <p:cNvGrpSpPr/>
          <p:nvPr/>
        </p:nvGrpSpPr>
        <p:grpSpPr>
          <a:xfrm>
            <a:off x="4569414" y="3996930"/>
            <a:ext cx="288000" cy="288000"/>
            <a:chOff x="6054233" y="4960569"/>
            <a:chExt cx="1800000" cy="1800000"/>
          </a:xfrm>
        </p:grpSpPr>
        <p:sp>
          <p:nvSpPr>
            <p:cNvPr id="83" name="Ellipse 82">
              <a:extLst>
                <a:ext uri="{FF2B5EF4-FFF2-40B4-BE49-F238E27FC236}">
                  <a16:creationId xmlns:a16="http://schemas.microsoft.com/office/drawing/2014/main" id="{16D5DB05-5A42-D1F5-377B-CDBD0872CC09}"/>
                </a:ext>
              </a:extLst>
            </p:cNvPr>
            <p:cNvSpPr/>
            <p:nvPr/>
          </p:nvSpPr>
          <p:spPr>
            <a:xfrm>
              <a:off x="6054233" y="4960569"/>
              <a:ext cx="1800000" cy="180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b="1"/>
            </a:p>
          </p:txBody>
        </p:sp>
        <p:pic>
          <p:nvPicPr>
            <p:cNvPr id="84" name="Image 83">
              <a:extLst>
                <a:ext uri="{FF2B5EF4-FFF2-40B4-BE49-F238E27FC236}">
                  <a16:creationId xmlns:a16="http://schemas.microsoft.com/office/drawing/2014/main" id="{7369074B-A1C6-2F25-51BF-F9B0973126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298697" y="5322283"/>
              <a:ext cx="1311072" cy="1076572"/>
            </a:xfrm>
            <a:prstGeom prst="rect">
              <a:avLst/>
            </a:prstGeom>
          </p:spPr>
        </p:pic>
      </p:grpSp>
      <p:grpSp>
        <p:nvGrpSpPr>
          <p:cNvPr id="85" name="Groupe 84">
            <a:extLst>
              <a:ext uri="{FF2B5EF4-FFF2-40B4-BE49-F238E27FC236}">
                <a16:creationId xmlns:a16="http://schemas.microsoft.com/office/drawing/2014/main" id="{F437ECE9-9E2D-BFC7-A0DF-EF636FA1ABBB}"/>
              </a:ext>
            </a:extLst>
          </p:cNvPr>
          <p:cNvGrpSpPr/>
          <p:nvPr/>
        </p:nvGrpSpPr>
        <p:grpSpPr>
          <a:xfrm>
            <a:off x="4569414" y="4316881"/>
            <a:ext cx="288000" cy="288000"/>
            <a:chOff x="7698044" y="3453428"/>
            <a:chExt cx="1800000" cy="1800000"/>
          </a:xfrm>
        </p:grpSpPr>
        <p:sp>
          <p:nvSpPr>
            <p:cNvPr id="86" name="Ellipse 85">
              <a:extLst>
                <a:ext uri="{FF2B5EF4-FFF2-40B4-BE49-F238E27FC236}">
                  <a16:creationId xmlns:a16="http://schemas.microsoft.com/office/drawing/2014/main" id="{E6CC4587-1D7D-076B-B029-3A21569085CF}"/>
                </a:ext>
              </a:extLst>
            </p:cNvPr>
            <p:cNvSpPr/>
            <p:nvPr/>
          </p:nvSpPr>
          <p:spPr>
            <a:xfrm>
              <a:off x="7698044" y="3453428"/>
              <a:ext cx="1800000" cy="180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b="1"/>
            </a:p>
          </p:txBody>
        </p:sp>
        <p:pic>
          <p:nvPicPr>
            <p:cNvPr id="91" name="Image 90">
              <a:extLst>
                <a:ext uri="{FF2B5EF4-FFF2-40B4-BE49-F238E27FC236}">
                  <a16:creationId xmlns:a16="http://schemas.microsoft.com/office/drawing/2014/main" id="{41791507-689A-EC44-DCDE-0324A105C19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7939554" y="3812716"/>
              <a:ext cx="1316981" cy="1081424"/>
            </a:xfrm>
            <a:prstGeom prst="rect">
              <a:avLst/>
            </a:prstGeom>
          </p:spPr>
        </p:pic>
      </p:grpSp>
      <p:grpSp>
        <p:nvGrpSpPr>
          <p:cNvPr id="101" name="Groupe 100">
            <a:extLst>
              <a:ext uri="{FF2B5EF4-FFF2-40B4-BE49-F238E27FC236}">
                <a16:creationId xmlns:a16="http://schemas.microsoft.com/office/drawing/2014/main" id="{3A416195-885D-B412-950E-1F349C5CC6AB}"/>
              </a:ext>
            </a:extLst>
          </p:cNvPr>
          <p:cNvGrpSpPr/>
          <p:nvPr/>
        </p:nvGrpSpPr>
        <p:grpSpPr>
          <a:xfrm>
            <a:off x="7528615" y="3732095"/>
            <a:ext cx="360000" cy="360000"/>
            <a:chOff x="5447928" y="2816932"/>
            <a:chExt cx="1800000" cy="1800000"/>
          </a:xfrm>
        </p:grpSpPr>
        <p:sp>
          <p:nvSpPr>
            <p:cNvPr id="108" name="Ellipse 107">
              <a:extLst>
                <a:ext uri="{FF2B5EF4-FFF2-40B4-BE49-F238E27FC236}">
                  <a16:creationId xmlns:a16="http://schemas.microsoft.com/office/drawing/2014/main" id="{689719FF-319E-F4C6-E150-B6C708728D00}"/>
                </a:ext>
              </a:extLst>
            </p:cNvPr>
            <p:cNvSpPr/>
            <p:nvPr/>
          </p:nvSpPr>
          <p:spPr>
            <a:xfrm>
              <a:off x="5447928" y="2816932"/>
              <a:ext cx="1800000" cy="1800000"/>
            </a:xfrm>
            <a:prstGeom prst="ellipse">
              <a:avLst/>
            </a:prstGeom>
            <a:solidFill>
              <a:srgbClr val="EF72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109" name="Image 108">
              <a:extLst>
                <a:ext uri="{FF2B5EF4-FFF2-40B4-BE49-F238E27FC236}">
                  <a16:creationId xmlns:a16="http://schemas.microsoft.com/office/drawing/2014/main" id="{1AC2262C-D76B-934A-5E65-99DB0E926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 flipH="1">
              <a:off x="5627848" y="2996852"/>
              <a:ext cx="1440160" cy="1440160"/>
            </a:xfrm>
            <a:prstGeom prst="rect">
              <a:avLst/>
            </a:prstGeom>
          </p:spPr>
        </p:pic>
      </p:grpSp>
      <p:pic>
        <p:nvPicPr>
          <p:cNvPr id="56" name="Image 55">
            <a:extLst>
              <a:ext uri="{FF2B5EF4-FFF2-40B4-BE49-F238E27FC236}">
                <a16:creationId xmlns:a16="http://schemas.microsoft.com/office/drawing/2014/main" id="{D4576F57-5AAB-FD75-0B39-CF56E4A144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8660" y="3217205"/>
            <a:ext cx="360000" cy="36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1" name="ZoneTexte 50">
                <a:extLst>
                  <a:ext uri="{FF2B5EF4-FFF2-40B4-BE49-F238E27FC236}">
                    <a16:creationId xmlns:a16="http://schemas.microsoft.com/office/drawing/2014/main" id="{6D25FEB6-8D32-0047-ABCC-BC9DE89AF675}"/>
                  </a:ext>
                </a:extLst>
              </p:cNvPr>
              <p:cNvSpPr txBox="1"/>
              <p:nvPr/>
            </p:nvSpPr>
            <p:spPr>
              <a:xfrm>
                <a:off x="6388732" y="3969305"/>
                <a:ext cx="1601173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sz="1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fr-FR" sz="1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fr-FR" sz="1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sSub>
                        <m:sSubPr>
                          <m:ctrlPr>
                            <a:rPr lang="fr-FR" sz="1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fr-FR" sz="1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</m:oMath>
                  </m:oMathPara>
                </a14:m>
                <a:endParaRPr lang="fr-FR" sz="11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1" name="ZoneTexte 50">
                <a:extLst>
                  <a:ext uri="{FF2B5EF4-FFF2-40B4-BE49-F238E27FC236}">
                    <a16:creationId xmlns:a16="http://schemas.microsoft.com/office/drawing/2014/main" id="{6D25FEB6-8D32-0047-ABCC-BC9DE89AF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8732" y="3969305"/>
                <a:ext cx="1601173" cy="2616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Connecteur : en angle 74">
            <a:extLst>
              <a:ext uri="{FF2B5EF4-FFF2-40B4-BE49-F238E27FC236}">
                <a16:creationId xmlns:a16="http://schemas.microsoft.com/office/drawing/2014/main" id="{9A176452-8264-FDB3-BCB6-A57D3DD6A811}"/>
              </a:ext>
            </a:extLst>
          </p:cNvPr>
          <p:cNvCxnSpPr>
            <a:cxnSpLocks/>
            <a:stCxn id="43" idx="2"/>
            <a:endCxn id="6" idx="1"/>
          </p:cNvCxnSpPr>
          <p:nvPr/>
        </p:nvCxnSpPr>
        <p:spPr>
          <a:xfrm rot="5400000" flipH="1">
            <a:off x="3135586" y="-478302"/>
            <a:ext cx="1958842" cy="6116203"/>
          </a:xfrm>
          <a:prstGeom prst="bentConnector4">
            <a:avLst>
              <a:gd name="adj1" fmla="val -56683"/>
              <a:gd name="adj2" fmla="val 103738"/>
            </a:avLst>
          </a:prstGeom>
          <a:ln w="25400">
            <a:solidFill>
              <a:srgbClr val="08A55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Groupe 67">
            <a:extLst>
              <a:ext uri="{FF2B5EF4-FFF2-40B4-BE49-F238E27FC236}">
                <a16:creationId xmlns:a16="http://schemas.microsoft.com/office/drawing/2014/main" id="{B841AA18-EE52-BF71-8A77-FCA95EC11591}"/>
              </a:ext>
            </a:extLst>
          </p:cNvPr>
          <p:cNvGrpSpPr/>
          <p:nvPr/>
        </p:nvGrpSpPr>
        <p:grpSpPr>
          <a:xfrm>
            <a:off x="6939108" y="3626991"/>
            <a:ext cx="288000" cy="288000"/>
            <a:chOff x="5404964" y="4396133"/>
            <a:chExt cx="1800000" cy="1800000"/>
          </a:xfrm>
        </p:grpSpPr>
        <p:sp>
          <p:nvSpPr>
            <p:cNvPr id="69" name="Ellipse 68">
              <a:extLst>
                <a:ext uri="{FF2B5EF4-FFF2-40B4-BE49-F238E27FC236}">
                  <a16:creationId xmlns:a16="http://schemas.microsoft.com/office/drawing/2014/main" id="{65F49912-F500-977C-390A-F4CE59EA478C}"/>
                </a:ext>
              </a:extLst>
            </p:cNvPr>
            <p:cNvSpPr/>
            <p:nvPr/>
          </p:nvSpPr>
          <p:spPr>
            <a:xfrm>
              <a:off x="5404964" y="4396133"/>
              <a:ext cx="1800000" cy="1800000"/>
            </a:xfrm>
            <a:prstGeom prst="ellipse">
              <a:avLst/>
            </a:prstGeom>
            <a:solidFill>
              <a:srgbClr val="0051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70" name="Image 69">
              <a:extLst>
                <a:ext uri="{FF2B5EF4-FFF2-40B4-BE49-F238E27FC236}">
                  <a16:creationId xmlns:a16="http://schemas.microsoft.com/office/drawing/2014/main" id="{E46C5A9A-E0F4-935F-E346-29D344A63A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543445" y="4536296"/>
              <a:ext cx="1358232" cy="144000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ZoneTexte 70">
                <a:extLst>
                  <a:ext uri="{FF2B5EF4-FFF2-40B4-BE49-F238E27FC236}">
                    <a16:creationId xmlns:a16="http://schemas.microsoft.com/office/drawing/2014/main" id="{D9833143-E31B-E5B9-1329-DE97200F50C2}"/>
                  </a:ext>
                </a:extLst>
              </p:cNvPr>
              <p:cNvSpPr txBox="1"/>
              <p:nvPr/>
            </p:nvSpPr>
            <p:spPr>
              <a:xfrm>
                <a:off x="8465959" y="3675960"/>
                <a:ext cx="1601173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sz="1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fr-FR" sz="1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fr-FR" sz="1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  <m:sSub>
                        <m:sSubPr>
                          <m:ctrlPr>
                            <a:rPr lang="fr-FR" sz="1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fr-FR" sz="1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</m:oMath>
                  </m:oMathPara>
                </a14:m>
                <a:endParaRPr lang="fr-FR" sz="11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1" name="ZoneTexte 70">
                <a:extLst>
                  <a:ext uri="{FF2B5EF4-FFF2-40B4-BE49-F238E27FC236}">
                    <a16:creationId xmlns:a16="http://schemas.microsoft.com/office/drawing/2014/main" id="{D9833143-E31B-E5B9-1329-DE97200F5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5959" y="3675960"/>
                <a:ext cx="1601173" cy="2616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e 24">
            <a:extLst>
              <a:ext uri="{FF2B5EF4-FFF2-40B4-BE49-F238E27FC236}">
                <a16:creationId xmlns:a16="http://schemas.microsoft.com/office/drawing/2014/main" id="{F7A18018-C728-6B01-3037-0421AF781FBB}"/>
              </a:ext>
            </a:extLst>
          </p:cNvPr>
          <p:cNvGrpSpPr/>
          <p:nvPr/>
        </p:nvGrpSpPr>
        <p:grpSpPr>
          <a:xfrm>
            <a:off x="545470" y="4032360"/>
            <a:ext cx="360000" cy="360000"/>
            <a:chOff x="4197400" y="3547713"/>
            <a:chExt cx="1800000" cy="1800000"/>
          </a:xfrm>
        </p:grpSpPr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AF615AC5-8CF6-FF34-1EF7-5C5D2FE5B9E8}"/>
                </a:ext>
              </a:extLst>
            </p:cNvPr>
            <p:cNvSpPr/>
            <p:nvPr/>
          </p:nvSpPr>
          <p:spPr>
            <a:xfrm>
              <a:off x="4197400" y="3547713"/>
              <a:ext cx="1800000" cy="1800000"/>
            </a:xfrm>
            <a:prstGeom prst="ellipse">
              <a:avLst/>
            </a:prstGeom>
            <a:solidFill>
              <a:srgbClr val="FFB2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7" name="Image 26">
              <a:extLst>
                <a:ext uri="{FF2B5EF4-FFF2-40B4-BE49-F238E27FC236}">
                  <a16:creationId xmlns:a16="http://schemas.microsoft.com/office/drawing/2014/main" id="{D99F6707-A222-D5E1-C4A9-E878E9F04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4526157" y="3876470"/>
              <a:ext cx="1142486" cy="11424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69435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E5C1CAA4-BEC8-E034-06F5-82D8ED3BF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Robot à câbles RC4</a:t>
            </a:r>
          </a:p>
        </p:txBody>
      </p: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EB498997-806C-6284-C427-2C6CD67C73E8}"/>
              </a:ext>
            </a:extLst>
          </p:cNvPr>
          <p:cNvGrpSpPr/>
          <p:nvPr/>
        </p:nvGrpSpPr>
        <p:grpSpPr>
          <a:xfrm>
            <a:off x="170158" y="1199142"/>
            <a:ext cx="11238675" cy="3962440"/>
            <a:chOff x="170158" y="1313442"/>
            <a:chExt cx="11238675" cy="3962440"/>
          </a:xfrm>
        </p:grpSpPr>
        <p:sp>
          <p:nvSpPr>
            <p:cNvPr id="6" name="Rectangle : coins arrondis 5">
              <a:extLst>
                <a:ext uri="{FF2B5EF4-FFF2-40B4-BE49-F238E27FC236}">
                  <a16:creationId xmlns:a16="http://schemas.microsoft.com/office/drawing/2014/main" id="{F7822C3A-6752-03D9-8DF8-C9BF49763BD8}"/>
                </a:ext>
              </a:extLst>
            </p:cNvPr>
            <p:cNvSpPr/>
            <p:nvPr/>
          </p:nvSpPr>
          <p:spPr>
            <a:xfrm>
              <a:off x="1056905" y="1444678"/>
              <a:ext cx="1440000" cy="540000"/>
            </a:xfrm>
            <a:prstGeom prst="roundRect">
              <a:avLst>
                <a:gd name="adj" fmla="val 11914"/>
              </a:avLst>
            </a:prstGeom>
            <a:noFill/>
            <a:ln w="19050">
              <a:solidFill>
                <a:srgbClr val="004F7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rgbClr val="004F77"/>
                  </a:solidFill>
                  <a:latin typeface="Arial Nova" panose="020B0504020202020204" pitchFamily="34" charset="0"/>
                </a:rPr>
                <a:t>Acquérir</a:t>
              </a:r>
            </a:p>
          </p:txBody>
        </p:sp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FEC70D79-FF53-E1E6-8F5D-7DB4552BDEB8}"/>
                </a:ext>
              </a:extLst>
            </p:cNvPr>
            <p:cNvSpPr/>
            <p:nvPr/>
          </p:nvSpPr>
          <p:spPr>
            <a:xfrm>
              <a:off x="1056905" y="2219824"/>
              <a:ext cx="1440000" cy="720000"/>
            </a:xfrm>
            <a:prstGeom prst="roundRect">
              <a:avLst>
                <a:gd name="adj" fmla="val 11914"/>
              </a:avLst>
            </a:prstGeom>
            <a:solidFill>
              <a:srgbClr val="DFE3EB"/>
            </a:solidFill>
            <a:ln w="19050">
              <a:solidFill>
                <a:srgbClr val="DFE3E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700" dirty="0">
                  <a:solidFill>
                    <a:srgbClr val="004F77"/>
                  </a:solidFill>
                  <a:latin typeface="Arial Nova" panose="020B0504020202020204" pitchFamily="34" charset="0"/>
                </a:rPr>
                <a:t>Détecteur fin de course</a:t>
              </a:r>
            </a:p>
            <a:p>
              <a:pPr algn="ctr"/>
              <a:r>
                <a:rPr lang="fr-FR" sz="700" dirty="0">
                  <a:solidFill>
                    <a:srgbClr val="004F77"/>
                  </a:solidFill>
                  <a:latin typeface="Arial Nova" panose="020B0504020202020204" pitchFamily="34" charset="0"/>
                </a:rPr>
                <a:t>Capteur de courant moteur</a:t>
              </a:r>
            </a:p>
            <a:p>
              <a:pPr algn="ctr"/>
              <a:r>
                <a:rPr lang="fr-FR" sz="700" dirty="0">
                  <a:solidFill>
                    <a:srgbClr val="004F77"/>
                  </a:solidFill>
                  <a:latin typeface="Arial Nova" panose="020B0504020202020204" pitchFamily="34" charset="0"/>
                </a:rPr>
                <a:t>Codeur incrémental 8192 impulsions par tour</a:t>
              </a:r>
            </a:p>
            <a:p>
              <a:pPr algn="ctr"/>
              <a:r>
                <a:rPr lang="fr-FR" sz="700" dirty="0">
                  <a:solidFill>
                    <a:srgbClr val="004F77"/>
                  </a:solidFill>
                  <a:latin typeface="Arial Nova" panose="020B0504020202020204" pitchFamily="34" charset="0"/>
                </a:rPr>
                <a:t>Capteur d’effort</a:t>
              </a:r>
            </a:p>
          </p:txBody>
        </p:sp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492C39D7-C7C7-3458-7E55-FC4FCBD955B0}"/>
                </a:ext>
              </a:extLst>
            </p:cNvPr>
            <p:cNvSpPr/>
            <p:nvPr/>
          </p:nvSpPr>
          <p:spPr>
            <a:xfrm>
              <a:off x="3229319" y="1443142"/>
              <a:ext cx="1440000" cy="540000"/>
            </a:xfrm>
            <a:prstGeom prst="roundRect">
              <a:avLst>
                <a:gd name="adj" fmla="val 11914"/>
              </a:avLst>
            </a:prstGeom>
            <a:noFill/>
            <a:ln w="19050">
              <a:solidFill>
                <a:srgbClr val="004F7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rgbClr val="0C7391"/>
                  </a:solidFill>
                  <a:latin typeface="Arial Nova" panose="020B0504020202020204" pitchFamily="34" charset="0"/>
                </a:rPr>
                <a:t>Traiter</a:t>
              </a:r>
            </a:p>
          </p:txBody>
        </p:sp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5E73C37F-4A2D-AB41-B3A3-7332F9A357A2}"/>
                </a:ext>
              </a:extLst>
            </p:cNvPr>
            <p:cNvSpPr/>
            <p:nvPr/>
          </p:nvSpPr>
          <p:spPr>
            <a:xfrm>
              <a:off x="3218894" y="2236003"/>
              <a:ext cx="1440000" cy="540000"/>
            </a:xfrm>
            <a:prstGeom prst="roundRect">
              <a:avLst>
                <a:gd name="adj" fmla="val 11914"/>
              </a:avLst>
            </a:prstGeom>
            <a:solidFill>
              <a:srgbClr val="E4EBF0"/>
            </a:solidFill>
            <a:ln w="19050">
              <a:solidFill>
                <a:srgbClr val="E4EB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 dirty="0">
                  <a:solidFill>
                    <a:srgbClr val="0C7391"/>
                  </a:solidFill>
                  <a:latin typeface="Arial Nova" panose="020B0504020202020204" pitchFamily="34" charset="0"/>
                </a:rPr>
                <a:t>Carte EPOS</a:t>
              </a:r>
            </a:p>
          </p:txBody>
        </p:sp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8BE8DB55-CD2C-9609-869B-BFB5FBA5A6D3}"/>
                </a:ext>
              </a:extLst>
            </p:cNvPr>
            <p:cNvSpPr/>
            <p:nvPr/>
          </p:nvSpPr>
          <p:spPr>
            <a:xfrm>
              <a:off x="5389319" y="1420801"/>
              <a:ext cx="1440000" cy="576000"/>
            </a:xfrm>
            <a:prstGeom prst="roundRect">
              <a:avLst>
                <a:gd name="adj" fmla="val 11914"/>
              </a:avLst>
            </a:prstGeom>
            <a:noFill/>
            <a:ln w="19050">
              <a:solidFill>
                <a:srgbClr val="08A5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rgbClr val="08A559"/>
                  </a:solidFill>
                  <a:latin typeface="Arial Nova" panose="020B0504020202020204" pitchFamily="34" charset="0"/>
                </a:rPr>
                <a:t>Communiquer</a:t>
              </a:r>
            </a:p>
          </p:txBody>
        </p: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E7C50B13-9945-267C-9C0F-3901C1922B55}"/>
                </a:ext>
              </a:extLst>
            </p:cNvPr>
            <p:cNvSpPr/>
            <p:nvPr/>
          </p:nvSpPr>
          <p:spPr>
            <a:xfrm>
              <a:off x="5389319" y="2214770"/>
              <a:ext cx="1406281" cy="534390"/>
            </a:xfrm>
            <a:prstGeom prst="roundRect">
              <a:avLst>
                <a:gd name="adj" fmla="val 11914"/>
              </a:avLst>
            </a:prstGeom>
            <a:solidFill>
              <a:srgbClr val="E8F3E8"/>
            </a:solidFill>
            <a:ln w="19050">
              <a:solidFill>
                <a:srgbClr val="E8F3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 dirty="0" err="1">
                  <a:solidFill>
                    <a:srgbClr val="08A559"/>
                  </a:solidFill>
                  <a:latin typeface="Arial Nova" panose="020B0504020202020204" pitchFamily="34" charset="0"/>
                </a:rPr>
                <a:t>Tranceiver</a:t>
              </a:r>
              <a:endParaRPr lang="fr-FR" sz="1200" dirty="0">
                <a:solidFill>
                  <a:srgbClr val="08A559"/>
                </a:solidFill>
                <a:latin typeface="Arial Nova" panose="020B0504020202020204" pitchFamily="34" charset="0"/>
              </a:endParaRPr>
            </a:p>
            <a:p>
              <a:pPr algn="ctr"/>
              <a:r>
                <a:rPr lang="fr-FR" sz="1200" dirty="0">
                  <a:solidFill>
                    <a:srgbClr val="08A559"/>
                  </a:solidFill>
                  <a:latin typeface="Arial Nova" panose="020B0504020202020204" pitchFamily="34" charset="0"/>
                </a:rPr>
                <a:t>Liaison USB</a:t>
              </a:r>
            </a:p>
          </p:txBody>
        </p:sp>
        <p:sp>
          <p:nvSpPr>
            <p:cNvPr id="12" name="Rectangle : coins arrondis 11">
              <a:extLst>
                <a:ext uri="{FF2B5EF4-FFF2-40B4-BE49-F238E27FC236}">
                  <a16:creationId xmlns:a16="http://schemas.microsoft.com/office/drawing/2014/main" id="{8CFBB7BE-C306-859A-CF41-F04DD9BC455C}"/>
                </a:ext>
              </a:extLst>
            </p:cNvPr>
            <p:cNvSpPr/>
            <p:nvPr/>
          </p:nvSpPr>
          <p:spPr>
            <a:xfrm>
              <a:off x="1056905" y="3437532"/>
              <a:ext cx="1440000" cy="540000"/>
            </a:xfrm>
            <a:prstGeom prst="roundRect">
              <a:avLst>
                <a:gd name="adj" fmla="val 11914"/>
              </a:avLst>
            </a:prstGeom>
            <a:noFill/>
            <a:ln w="19050">
              <a:solidFill>
                <a:srgbClr val="FDAD5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rgbClr val="FDAD57"/>
                  </a:solidFill>
                  <a:latin typeface="Arial Nova" panose="020B0504020202020204" pitchFamily="34" charset="0"/>
                </a:rPr>
                <a:t>Alimenter</a:t>
              </a:r>
            </a:p>
          </p:txBody>
        </p:sp>
        <p:sp>
          <p:nvSpPr>
            <p:cNvPr id="13" name="Rectangle : coins arrondis 12">
              <a:extLst>
                <a:ext uri="{FF2B5EF4-FFF2-40B4-BE49-F238E27FC236}">
                  <a16:creationId xmlns:a16="http://schemas.microsoft.com/office/drawing/2014/main" id="{D364B3FD-91A8-1B5F-5FD3-55E164E3B9AE}"/>
                </a:ext>
              </a:extLst>
            </p:cNvPr>
            <p:cNvSpPr/>
            <p:nvPr/>
          </p:nvSpPr>
          <p:spPr>
            <a:xfrm>
              <a:off x="1056905" y="4132287"/>
              <a:ext cx="1440000" cy="540000"/>
            </a:xfrm>
            <a:prstGeom prst="roundRect">
              <a:avLst>
                <a:gd name="adj" fmla="val 11914"/>
              </a:avLst>
            </a:prstGeom>
            <a:solidFill>
              <a:srgbClr val="FEE6CC"/>
            </a:solidFill>
            <a:ln w="19050">
              <a:solidFill>
                <a:srgbClr val="FEE6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 dirty="0">
                  <a:solidFill>
                    <a:srgbClr val="FDAD57"/>
                  </a:solidFill>
                  <a:latin typeface="Arial Nova" panose="020B0504020202020204" pitchFamily="34" charset="0"/>
                </a:rPr>
                <a:t>Alimentation</a:t>
              </a:r>
            </a:p>
          </p:txBody>
        </p:sp>
        <p:sp>
          <p:nvSpPr>
            <p:cNvPr id="14" name="Rectangle : coins arrondis 13">
              <a:extLst>
                <a:ext uri="{FF2B5EF4-FFF2-40B4-BE49-F238E27FC236}">
                  <a16:creationId xmlns:a16="http://schemas.microsoft.com/office/drawing/2014/main" id="{96A2B729-7EE6-8CA6-72B2-5A16AA5A785A}"/>
                </a:ext>
              </a:extLst>
            </p:cNvPr>
            <p:cNvSpPr/>
            <p:nvPr/>
          </p:nvSpPr>
          <p:spPr>
            <a:xfrm>
              <a:off x="3218894" y="3432769"/>
              <a:ext cx="1440000" cy="540000"/>
            </a:xfrm>
            <a:prstGeom prst="roundRect">
              <a:avLst>
                <a:gd name="adj" fmla="val 11914"/>
              </a:avLst>
            </a:prstGeom>
            <a:noFill/>
            <a:ln w="19050">
              <a:solidFill>
                <a:srgbClr val="0C739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rgbClr val="0C7391"/>
                  </a:solidFill>
                  <a:latin typeface="Arial Nova" panose="020B0504020202020204" pitchFamily="34" charset="0"/>
                </a:rPr>
                <a:t>Distribuer</a:t>
              </a:r>
            </a:p>
          </p:txBody>
        </p:sp>
        <p:sp>
          <p:nvSpPr>
            <p:cNvPr id="15" name="Rectangle : coins arrondis 14">
              <a:extLst>
                <a:ext uri="{FF2B5EF4-FFF2-40B4-BE49-F238E27FC236}">
                  <a16:creationId xmlns:a16="http://schemas.microsoft.com/office/drawing/2014/main" id="{3841B1B6-C546-170C-78BF-906D65F5DAA8}"/>
                </a:ext>
              </a:extLst>
            </p:cNvPr>
            <p:cNvSpPr/>
            <p:nvPr/>
          </p:nvSpPr>
          <p:spPr>
            <a:xfrm>
              <a:off x="3229319" y="4117990"/>
              <a:ext cx="1440000" cy="540000"/>
            </a:xfrm>
            <a:prstGeom prst="roundRect">
              <a:avLst>
                <a:gd name="adj" fmla="val 11914"/>
              </a:avLst>
            </a:prstGeom>
            <a:solidFill>
              <a:srgbClr val="9EC7D3"/>
            </a:solidFill>
            <a:ln w="19050">
              <a:solidFill>
                <a:srgbClr val="9EC7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 dirty="0">
                  <a:solidFill>
                    <a:srgbClr val="0C7391"/>
                  </a:solidFill>
                  <a:latin typeface="Arial Nova" panose="020B0504020202020204" pitchFamily="34" charset="0"/>
                </a:rPr>
                <a:t>Hacheur</a:t>
              </a:r>
            </a:p>
            <a:p>
              <a:pPr algn="ctr"/>
              <a:r>
                <a:rPr lang="fr-FR" sz="1200" dirty="0">
                  <a:solidFill>
                    <a:srgbClr val="0C7391"/>
                  </a:solidFill>
                  <a:latin typeface="Arial Nova" panose="020B0504020202020204" pitchFamily="34" charset="0"/>
                </a:rPr>
                <a:t>Carte EPOS </a:t>
              </a:r>
            </a:p>
          </p:txBody>
        </p:sp>
        <p:sp>
          <p:nvSpPr>
            <p:cNvPr id="16" name="Rectangle : coins arrondis 15">
              <a:extLst>
                <a:ext uri="{FF2B5EF4-FFF2-40B4-BE49-F238E27FC236}">
                  <a16:creationId xmlns:a16="http://schemas.microsoft.com/office/drawing/2014/main" id="{B8181AD4-9AB8-CA7B-EFBF-8B9CD4369264}"/>
                </a:ext>
              </a:extLst>
            </p:cNvPr>
            <p:cNvSpPr/>
            <p:nvPr/>
          </p:nvSpPr>
          <p:spPr>
            <a:xfrm>
              <a:off x="5380883" y="3437532"/>
              <a:ext cx="1440000" cy="540000"/>
            </a:xfrm>
            <a:prstGeom prst="roundRect">
              <a:avLst>
                <a:gd name="adj" fmla="val 11914"/>
              </a:avLst>
            </a:prstGeom>
            <a:noFill/>
            <a:ln w="19050">
              <a:solidFill>
                <a:srgbClr val="6834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rgbClr val="68348B"/>
                  </a:solidFill>
                  <a:latin typeface="Arial Nova" panose="020B0504020202020204" pitchFamily="34" charset="0"/>
                </a:rPr>
                <a:t>Convertir</a:t>
              </a:r>
            </a:p>
          </p:txBody>
        </p:sp>
        <p:sp>
          <p:nvSpPr>
            <p:cNvPr id="17" name="Rectangle : coins arrondis 16">
              <a:extLst>
                <a:ext uri="{FF2B5EF4-FFF2-40B4-BE49-F238E27FC236}">
                  <a16:creationId xmlns:a16="http://schemas.microsoft.com/office/drawing/2014/main" id="{7E462E27-42D7-734B-5E6F-B78EF40987B6}"/>
                </a:ext>
              </a:extLst>
            </p:cNvPr>
            <p:cNvSpPr/>
            <p:nvPr/>
          </p:nvSpPr>
          <p:spPr>
            <a:xfrm>
              <a:off x="5389319" y="4117990"/>
              <a:ext cx="1440000" cy="540000"/>
            </a:xfrm>
            <a:prstGeom prst="roundRect">
              <a:avLst>
                <a:gd name="adj" fmla="val 11914"/>
              </a:avLst>
            </a:prstGeom>
            <a:solidFill>
              <a:srgbClr val="C3AED1"/>
            </a:solidFill>
            <a:ln w="19050">
              <a:solidFill>
                <a:srgbClr val="C3AED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 dirty="0">
                  <a:solidFill>
                    <a:srgbClr val="68348B"/>
                  </a:solidFill>
                  <a:latin typeface="Arial Nova" panose="020B0504020202020204" pitchFamily="34" charset="0"/>
                </a:rPr>
                <a:t>Moteur CC</a:t>
              </a:r>
            </a:p>
          </p:txBody>
        </p:sp>
        <p:sp>
          <p:nvSpPr>
            <p:cNvPr id="18" name="Rectangle : coins arrondis 17">
              <a:extLst>
                <a:ext uri="{FF2B5EF4-FFF2-40B4-BE49-F238E27FC236}">
                  <a16:creationId xmlns:a16="http://schemas.microsoft.com/office/drawing/2014/main" id="{AA76E29F-1BCE-DD76-499C-CE8F3E850A8E}"/>
                </a:ext>
              </a:extLst>
            </p:cNvPr>
            <p:cNvSpPr/>
            <p:nvPr/>
          </p:nvSpPr>
          <p:spPr>
            <a:xfrm>
              <a:off x="7542872" y="3440639"/>
              <a:ext cx="1365662" cy="534390"/>
            </a:xfrm>
            <a:prstGeom prst="roundRect">
              <a:avLst>
                <a:gd name="adj" fmla="val 11914"/>
              </a:avLst>
            </a:prstGeom>
            <a:noFill/>
            <a:ln w="19050">
              <a:solidFill>
                <a:srgbClr val="EE685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rgbClr val="EE685D"/>
                  </a:solidFill>
                  <a:latin typeface="Arial Nova" panose="020B0504020202020204" pitchFamily="34" charset="0"/>
                </a:rPr>
                <a:t>Transmettre</a:t>
              </a:r>
            </a:p>
          </p:txBody>
        </p:sp>
        <p:sp>
          <p:nvSpPr>
            <p:cNvPr id="19" name="Rectangle : coins arrondis 18">
              <a:extLst>
                <a:ext uri="{FF2B5EF4-FFF2-40B4-BE49-F238E27FC236}">
                  <a16:creationId xmlns:a16="http://schemas.microsoft.com/office/drawing/2014/main" id="{A66FC087-C9BC-9FD1-6C13-AD7571852AD4}"/>
                </a:ext>
              </a:extLst>
            </p:cNvPr>
            <p:cNvSpPr/>
            <p:nvPr/>
          </p:nvSpPr>
          <p:spPr>
            <a:xfrm>
              <a:off x="7549319" y="4097486"/>
              <a:ext cx="1365662" cy="652851"/>
            </a:xfrm>
            <a:prstGeom prst="roundRect">
              <a:avLst>
                <a:gd name="adj" fmla="val 11914"/>
              </a:avLst>
            </a:prstGeom>
            <a:solidFill>
              <a:srgbClr val="F7B8B3"/>
            </a:solidFill>
            <a:ln w="19050">
              <a:solidFill>
                <a:srgbClr val="F7B8B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900" dirty="0">
                  <a:solidFill>
                    <a:srgbClr val="EE685D"/>
                  </a:solidFill>
                  <a:latin typeface="Arial Nova" panose="020B0504020202020204" pitchFamily="34" charset="0"/>
                </a:rPr>
                <a:t>Train épicycloïdal (18)</a:t>
              </a:r>
            </a:p>
            <a:p>
              <a:pPr algn="ctr"/>
              <a:r>
                <a:rPr lang="fr-FR" sz="900" dirty="0">
                  <a:solidFill>
                    <a:srgbClr val="EE685D"/>
                  </a:solidFill>
                  <a:latin typeface="Arial Nova" panose="020B0504020202020204" pitchFamily="34" charset="0"/>
                </a:rPr>
                <a:t>Tambour</a:t>
              </a:r>
            </a:p>
            <a:p>
              <a:pPr algn="ctr"/>
              <a:r>
                <a:rPr lang="fr-FR" sz="900" dirty="0">
                  <a:solidFill>
                    <a:srgbClr val="EE685D"/>
                  </a:solidFill>
                  <a:latin typeface="Arial Nova" panose="020B0504020202020204" pitchFamily="34" charset="0"/>
                </a:rPr>
                <a:t>Poulie</a:t>
              </a:r>
            </a:p>
          </p:txBody>
        </p:sp>
        <p:pic>
          <p:nvPicPr>
            <p:cNvPr id="20" name="Image 19">
              <a:extLst>
                <a:ext uri="{FF2B5EF4-FFF2-40B4-BE49-F238E27FC236}">
                  <a16:creationId xmlns:a16="http://schemas.microsoft.com/office/drawing/2014/main" id="{7282EFC0-8E54-A4E0-6953-44E98A7B8B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24826" y="1498649"/>
              <a:ext cx="434918" cy="152010"/>
            </a:xfrm>
            <a:prstGeom prst="rect">
              <a:avLst/>
            </a:prstGeom>
          </p:spPr>
        </p:pic>
        <p:cxnSp>
          <p:nvCxnSpPr>
            <p:cNvPr id="21" name="Connecteur droit avec flèche 20">
              <a:extLst>
                <a:ext uri="{FF2B5EF4-FFF2-40B4-BE49-F238E27FC236}">
                  <a16:creationId xmlns:a16="http://schemas.microsoft.com/office/drawing/2014/main" id="{BE599621-6A35-D218-9184-0073520A41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6905" y="1722751"/>
              <a:ext cx="720000" cy="1536"/>
            </a:xfrm>
            <a:prstGeom prst="straightConnector1">
              <a:avLst/>
            </a:prstGeom>
            <a:ln w="25400" cap="rnd">
              <a:solidFill>
                <a:srgbClr val="004F77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avec flèche 21">
              <a:extLst>
                <a:ext uri="{FF2B5EF4-FFF2-40B4-BE49-F238E27FC236}">
                  <a16:creationId xmlns:a16="http://schemas.microsoft.com/office/drawing/2014/main" id="{25CB3708-D27C-9C0F-920D-E2174EF1D3C1}"/>
                </a:ext>
              </a:extLst>
            </p:cNvPr>
            <p:cNvCxnSpPr/>
            <p:nvPr/>
          </p:nvCxnSpPr>
          <p:spPr>
            <a:xfrm flipV="1">
              <a:off x="4669319" y="1708801"/>
              <a:ext cx="720000" cy="1536"/>
            </a:xfrm>
            <a:prstGeom prst="straightConnector1">
              <a:avLst/>
            </a:prstGeom>
            <a:ln w="25400" cap="rnd">
              <a:solidFill>
                <a:srgbClr val="004F77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3" name="Image 22">
              <a:extLst>
                <a:ext uri="{FF2B5EF4-FFF2-40B4-BE49-F238E27FC236}">
                  <a16:creationId xmlns:a16="http://schemas.microsoft.com/office/drawing/2014/main" id="{6B85577F-75F2-AC91-9B29-7674830D4F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38894" y="1313442"/>
              <a:ext cx="360000" cy="360000"/>
            </a:xfrm>
            <a:prstGeom prst="rect">
              <a:avLst/>
            </a:prstGeom>
          </p:spPr>
        </p:pic>
        <p:cxnSp>
          <p:nvCxnSpPr>
            <p:cNvPr id="24" name="Connecteur droit avec flèche 23">
              <a:extLst>
                <a:ext uri="{FF2B5EF4-FFF2-40B4-BE49-F238E27FC236}">
                  <a16:creationId xmlns:a16="http://schemas.microsoft.com/office/drawing/2014/main" id="{4D3E9C84-1558-D9D2-B9AE-51FFDFD2AC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09319" y="3705996"/>
              <a:ext cx="720000" cy="1536"/>
            </a:xfrm>
            <a:prstGeom prst="straightConnector1">
              <a:avLst/>
            </a:prstGeom>
            <a:ln w="25400" cap="rnd">
              <a:solidFill>
                <a:srgbClr val="FDAD57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e 24">
              <a:extLst>
                <a:ext uri="{FF2B5EF4-FFF2-40B4-BE49-F238E27FC236}">
                  <a16:creationId xmlns:a16="http://schemas.microsoft.com/office/drawing/2014/main" id="{F7A18018-C728-6B01-3037-0421AF781FBB}"/>
                </a:ext>
              </a:extLst>
            </p:cNvPr>
            <p:cNvGrpSpPr/>
            <p:nvPr/>
          </p:nvGrpSpPr>
          <p:grpSpPr>
            <a:xfrm>
              <a:off x="1596905" y="3874910"/>
              <a:ext cx="360000" cy="360000"/>
              <a:chOff x="4197400" y="3547713"/>
              <a:chExt cx="1800000" cy="1800000"/>
            </a:xfrm>
          </p:grpSpPr>
          <p:sp>
            <p:nvSpPr>
              <p:cNvPr id="26" name="Ellipse 25">
                <a:extLst>
                  <a:ext uri="{FF2B5EF4-FFF2-40B4-BE49-F238E27FC236}">
                    <a16:creationId xmlns:a16="http://schemas.microsoft.com/office/drawing/2014/main" id="{AF615AC5-8CF6-FF34-1EF7-5C5D2FE5B9E8}"/>
                  </a:ext>
                </a:extLst>
              </p:cNvPr>
              <p:cNvSpPr/>
              <p:nvPr/>
            </p:nvSpPr>
            <p:spPr>
              <a:xfrm>
                <a:off x="4197400" y="3547713"/>
                <a:ext cx="1800000" cy="1800000"/>
              </a:xfrm>
              <a:prstGeom prst="ellipse">
                <a:avLst/>
              </a:prstGeom>
              <a:solidFill>
                <a:srgbClr val="FFB25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pic>
            <p:nvPicPr>
              <p:cNvPr id="27" name="Image 26">
                <a:extLst>
                  <a:ext uri="{FF2B5EF4-FFF2-40B4-BE49-F238E27FC236}">
                    <a16:creationId xmlns:a16="http://schemas.microsoft.com/office/drawing/2014/main" id="{D99F6707-A222-D5E1-C4A9-E878E9F04E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26155" y="3876468"/>
                <a:ext cx="1142485" cy="1142485"/>
              </a:xfrm>
              <a:prstGeom prst="rect">
                <a:avLst/>
              </a:prstGeom>
            </p:spPr>
          </p:pic>
        </p:grpSp>
        <p:pic>
          <p:nvPicPr>
            <p:cNvPr id="28" name="Image 27">
              <a:extLst>
                <a:ext uri="{FF2B5EF4-FFF2-40B4-BE49-F238E27FC236}">
                  <a16:creationId xmlns:a16="http://schemas.microsoft.com/office/drawing/2014/main" id="{35145E60-25D8-7A86-65AE-7F3729EC784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8044" y="3561065"/>
              <a:ext cx="360000" cy="360000"/>
            </a:xfrm>
            <a:prstGeom prst="rect">
              <a:avLst/>
            </a:prstGeom>
          </p:spPr>
        </p:pic>
        <p:pic>
          <p:nvPicPr>
            <p:cNvPr id="29" name="Image 28">
              <a:extLst>
                <a:ext uri="{FF2B5EF4-FFF2-40B4-BE49-F238E27FC236}">
                  <a16:creationId xmlns:a16="http://schemas.microsoft.com/office/drawing/2014/main" id="{3C7DD139-EB5F-1D13-171E-251FB77C6B3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76905" y="3288253"/>
              <a:ext cx="360000" cy="360000"/>
            </a:xfrm>
            <a:prstGeom prst="rect">
              <a:avLst/>
            </a:prstGeom>
          </p:spPr>
        </p:pic>
        <p:grpSp>
          <p:nvGrpSpPr>
            <p:cNvPr id="30" name="Groupe 29">
              <a:extLst>
                <a:ext uri="{FF2B5EF4-FFF2-40B4-BE49-F238E27FC236}">
                  <a16:creationId xmlns:a16="http://schemas.microsoft.com/office/drawing/2014/main" id="{AC6DF14C-2036-7CE5-3981-073062ECDD3C}"/>
                </a:ext>
              </a:extLst>
            </p:cNvPr>
            <p:cNvGrpSpPr/>
            <p:nvPr/>
          </p:nvGrpSpPr>
          <p:grpSpPr>
            <a:xfrm>
              <a:off x="3769319" y="3882769"/>
              <a:ext cx="360000" cy="360000"/>
              <a:chOff x="6955958" y="3325976"/>
              <a:chExt cx="1800000" cy="1800000"/>
            </a:xfrm>
          </p:grpSpPr>
          <p:sp>
            <p:nvSpPr>
              <p:cNvPr id="31" name="Ellipse 30">
                <a:extLst>
                  <a:ext uri="{FF2B5EF4-FFF2-40B4-BE49-F238E27FC236}">
                    <a16:creationId xmlns:a16="http://schemas.microsoft.com/office/drawing/2014/main" id="{45EAC513-94E2-F52A-9867-50C074B61EC3}"/>
                  </a:ext>
                </a:extLst>
              </p:cNvPr>
              <p:cNvSpPr/>
              <p:nvPr/>
            </p:nvSpPr>
            <p:spPr>
              <a:xfrm>
                <a:off x="6955958" y="3325976"/>
                <a:ext cx="1800000" cy="1800000"/>
              </a:xfrm>
              <a:prstGeom prst="ellipse">
                <a:avLst/>
              </a:prstGeom>
              <a:solidFill>
                <a:srgbClr val="0C739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pic>
            <p:nvPicPr>
              <p:cNvPr id="32" name="Image 31">
                <a:extLst>
                  <a:ext uri="{FF2B5EF4-FFF2-40B4-BE49-F238E27FC236}">
                    <a16:creationId xmlns:a16="http://schemas.microsoft.com/office/drawing/2014/main" id="{A6F00602-AFC2-FCB3-3F88-7A5AD5508B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212124" y="3645024"/>
                <a:ext cx="1394286" cy="1161904"/>
              </a:xfrm>
              <a:prstGeom prst="rect">
                <a:avLst/>
              </a:prstGeom>
            </p:spPr>
          </p:pic>
          <p:pic>
            <p:nvPicPr>
              <p:cNvPr id="33" name="Image 32">
                <a:extLst>
                  <a:ext uri="{FF2B5EF4-FFF2-40B4-BE49-F238E27FC236}">
                    <a16:creationId xmlns:a16="http://schemas.microsoft.com/office/drawing/2014/main" id="{85ED782F-FA84-9BC0-D63A-077AE70978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09267" y="4072626"/>
                <a:ext cx="246640" cy="173418"/>
              </a:xfrm>
              <a:prstGeom prst="rect">
                <a:avLst/>
              </a:prstGeom>
            </p:spPr>
          </p:pic>
        </p:grpSp>
        <p:cxnSp>
          <p:nvCxnSpPr>
            <p:cNvPr id="34" name="Connecteur droit avec flèche 33">
              <a:extLst>
                <a:ext uri="{FF2B5EF4-FFF2-40B4-BE49-F238E27FC236}">
                  <a16:creationId xmlns:a16="http://schemas.microsoft.com/office/drawing/2014/main" id="{6E52C4D0-B55B-30AA-F92B-6E09F0A4D9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69319" y="3693164"/>
              <a:ext cx="720000" cy="1536"/>
            </a:xfrm>
            <a:prstGeom prst="straightConnector1">
              <a:avLst/>
            </a:prstGeom>
            <a:ln w="25400" cap="rnd">
              <a:solidFill>
                <a:srgbClr val="0C739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5" name="Image 34">
              <a:extLst>
                <a:ext uri="{FF2B5EF4-FFF2-40B4-BE49-F238E27FC236}">
                  <a16:creationId xmlns:a16="http://schemas.microsoft.com/office/drawing/2014/main" id="{F31071D2-3D9A-9512-E018-EA9EA1D5A07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38894" y="3288253"/>
              <a:ext cx="360000" cy="360000"/>
            </a:xfrm>
            <a:prstGeom prst="rect">
              <a:avLst/>
            </a:prstGeom>
          </p:spPr>
        </p:pic>
        <p:grpSp>
          <p:nvGrpSpPr>
            <p:cNvPr id="36" name="Groupe 35">
              <a:extLst>
                <a:ext uri="{FF2B5EF4-FFF2-40B4-BE49-F238E27FC236}">
                  <a16:creationId xmlns:a16="http://schemas.microsoft.com/office/drawing/2014/main" id="{BD8878E5-16C6-2FDF-B910-1E65274FEC1D}"/>
                </a:ext>
              </a:extLst>
            </p:cNvPr>
            <p:cNvGrpSpPr/>
            <p:nvPr/>
          </p:nvGrpSpPr>
          <p:grpSpPr>
            <a:xfrm>
              <a:off x="5910458" y="3883180"/>
              <a:ext cx="360000" cy="360000"/>
              <a:chOff x="5775745" y="3144183"/>
              <a:chExt cx="1800000" cy="1800000"/>
            </a:xfrm>
          </p:grpSpPr>
          <p:sp>
            <p:nvSpPr>
              <p:cNvPr id="37" name="Ellipse 36">
                <a:extLst>
                  <a:ext uri="{FF2B5EF4-FFF2-40B4-BE49-F238E27FC236}">
                    <a16:creationId xmlns:a16="http://schemas.microsoft.com/office/drawing/2014/main" id="{C113ED22-0889-C0BD-2F28-7410DE8E0143}"/>
                  </a:ext>
                </a:extLst>
              </p:cNvPr>
              <p:cNvSpPr/>
              <p:nvPr/>
            </p:nvSpPr>
            <p:spPr>
              <a:xfrm>
                <a:off x="5775745" y="3144183"/>
                <a:ext cx="1800000" cy="1800000"/>
              </a:xfrm>
              <a:prstGeom prst="ellipse">
                <a:avLst/>
              </a:prstGeom>
              <a:solidFill>
                <a:srgbClr val="68348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pic>
            <p:nvPicPr>
              <p:cNvPr id="38" name="Image 37">
                <a:extLst>
                  <a:ext uri="{FF2B5EF4-FFF2-40B4-BE49-F238E27FC236}">
                    <a16:creationId xmlns:a16="http://schemas.microsoft.com/office/drawing/2014/main" id="{82072050-3C9E-11DC-ED47-2342075E82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903821" y="3513485"/>
                <a:ext cx="1543848" cy="1061396"/>
              </a:xfrm>
              <a:prstGeom prst="rect">
                <a:avLst/>
              </a:prstGeom>
            </p:spPr>
          </p:pic>
        </p:grpSp>
        <p:cxnSp>
          <p:nvCxnSpPr>
            <p:cNvPr id="39" name="Connecteur droit avec flèche 38">
              <a:extLst>
                <a:ext uri="{FF2B5EF4-FFF2-40B4-BE49-F238E27FC236}">
                  <a16:creationId xmlns:a16="http://schemas.microsoft.com/office/drawing/2014/main" id="{75B4C387-2DFC-8DD6-0817-E4B93F7F3F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9319" y="3702769"/>
              <a:ext cx="720000" cy="1536"/>
            </a:xfrm>
            <a:prstGeom prst="straightConnector1">
              <a:avLst/>
            </a:prstGeom>
            <a:ln w="25400" cap="rnd">
              <a:solidFill>
                <a:srgbClr val="68348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0" name="Groupe 39">
              <a:extLst>
                <a:ext uri="{FF2B5EF4-FFF2-40B4-BE49-F238E27FC236}">
                  <a16:creationId xmlns:a16="http://schemas.microsoft.com/office/drawing/2014/main" id="{F18DC0DD-A0D9-123C-B18D-07152DCB18C1}"/>
                </a:ext>
              </a:extLst>
            </p:cNvPr>
            <p:cNvGrpSpPr/>
            <p:nvPr/>
          </p:nvGrpSpPr>
          <p:grpSpPr>
            <a:xfrm>
              <a:off x="7706729" y="3877009"/>
              <a:ext cx="360000" cy="360000"/>
              <a:chOff x="5447928" y="2816932"/>
              <a:chExt cx="1800000" cy="1800000"/>
            </a:xfrm>
          </p:grpSpPr>
          <p:sp>
            <p:nvSpPr>
              <p:cNvPr id="41" name="Ellipse 40">
                <a:extLst>
                  <a:ext uri="{FF2B5EF4-FFF2-40B4-BE49-F238E27FC236}">
                    <a16:creationId xmlns:a16="http://schemas.microsoft.com/office/drawing/2014/main" id="{D64A62AB-5AFF-D5A7-6EF3-751BD61D55AB}"/>
                  </a:ext>
                </a:extLst>
              </p:cNvPr>
              <p:cNvSpPr/>
              <p:nvPr/>
            </p:nvSpPr>
            <p:spPr>
              <a:xfrm>
                <a:off x="5447928" y="2816932"/>
                <a:ext cx="1800000" cy="1800000"/>
              </a:xfrm>
              <a:prstGeom prst="ellipse">
                <a:avLst/>
              </a:prstGeom>
              <a:solidFill>
                <a:srgbClr val="EF72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pic>
            <p:nvPicPr>
              <p:cNvPr id="42" name="Image 41">
                <a:extLst>
                  <a:ext uri="{FF2B5EF4-FFF2-40B4-BE49-F238E27FC236}">
                    <a16:creationId xmlns:a16="http://schemas.microsoft.com/office/drawing/2014/main" id="{5588C4E4-79A2-5961-E133-9605335E87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 flipH="1">
                <a:off x="5627848" y="2996852"/>
                <a:ext cx="1440160" cy="1440160"/>
              </a:xfrm>
              <a:prstGeom prst="rect">
                <a:avLst/>
              </a:prstGeom>
            </p:spPr>
          </p:pic>
        </p:grpSp>
        <p:pic>
          <p:nvPicPr>
            <p:cNvPr id="43" name="Image 42">
              <a:extLst>
                <a:ext uri="{FF2B5EF4-FFF2-40B4-BE49-F238E27FC236}">
                  <a16:creationId xmlns:a16="http://schemas.microsoft.com/office/drawing/2014/main" id="{F1B5964F-3473-92A5-6A3A-F03DA766A9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993108" y="3313520"/>
              <a:ext cx="360000" cy="360000"/>
            </a:xfrm>
            <a:prstGeom prst="rect">
              <a:avLst/>
            </a:prstGeom>
          </p:spPr>
        </p:pic>
        <p:cxnSp>
          <p:nvCxnSpPr>
            <p:cNvPr id="44" name="Connecteur : en angle 43">
              <a:extLst>
                <a:ext uri="{FF2B5EF4-FFF2-40B4-BE49-F238E27FC236}">
                  <a16:creationId xmlns:a16="http://schemas.microsoft.com/office/drawing/2014/main" id="{2C5943AA-979A-103D-FC4E-264A925A4FF0}"/>
                </a:ext>
              </a:extLst>
            </p:cNvPr>
            <p:cNvCxnSpPr>
              <a:cxnSpLocks/>
              <a:stCxn id="10" idx="3"/>
              <a:endCxn id="45" idx="3"/>
            </p:cNvCxnSpPr>
            <p:nvPr/>
          </p:nvCxnSpPr>
          <p:spPr>
            <a:xfrm flipH="1">
              <a:off x="6795600" y="1708801"/>
              <a:ext cx="33719" cy="1346496"/>
            </a:xfrm>
            <a:prstGeom prst="bentConnector3">
              <a:avLst>
                <a:gd name="adj1" fmla="val -1067152"/>
              </a:avLst>
            </a:prstGeom>
            <a:ln w="25400">
              <a:solidFill>
                <a:srgbClr val="08A559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ectangle : coins arrondis 44">
              <a:extLst>
                <a:ext uri="{FF2B5EF4-FFF2-40B4-BE49-F238E27FC236}">
                  <a16:creationId xmlns:a16="http://schemas.microsoft.com/office/drawing/2014/main" id="{4EDA86AC-B60C-0765-FBC6-4E7119B8D620}"/>
                </a:ext>
              </a:extLst>
            </p:cNvPr>
            <p:cNvSpPr/>
            <p:nvPr/>
          </p:nvSpPr>
          <p:spPr>
            <a:xfrm>
              <a:off x="5389319" y="2889618"/>
              <a:ext cx="1406281" cy="331358"/>
            </a:xfrm>
            <a:prstGeom prst="roundRect">
              <a:avLst>
                <a:gd name="adj" fmla="val 11914"/>
              </a:avLst>
            </a:prstGeom>
            <a:solidFill>
              <a:srgbClr val="08A559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 dirty="0">
                  <a:solidFill>
                    <a:schemeClr val="bg1"/>
                  </a:solidFill>
                  <a:latin typeface="Arial Nova" panose="020B0504020202020204" pitchFamily="34" charset="0"/>
                </a:rPr>
                <a:t>Ordres (PWM)</a:t>
              </a:r>
            </a:p>
          </p:txBody>
        </p:sp>
        <p:cxnSp>
          <p:nvCxnSpPr>
            <p:cNvPr id="46" name="Connecteur : en angle 45">
              <a:extLst>
                <a:ext uri="{FF2B5EF4-FFF2-40B4-BE49-F238E27FC236}">
                  <a16:creationId xmlns:a16="http://schemas.microsoft.com/office/drawing/2014/main" id="{C9DF5005-6531-4D0B-0B32-A0A73479B4F0}"/>
                </a:ext>
              </a:extLst>
            </p:cNvPr>
            <p:cNvCxnSpPr>
              <a:cxnSpLocks/>
              <a:stCxn id="45" idx="1"/>
              <a:endCxn id="14" idx="0"/>
            </p:cNvCxnSpPr>
            <p:nvPr/>
          </p:nvCxnSpPr>
          <p:spPr>
            <a:xfrm rot="10800000" flipV="1">
              <a:off x="3938895" y="3055297"/>
              <a:ext cx="1450425" cy="377472"/>
            </a:xfrm>
            <a:prstGeom prst="bentConnector2">
              <a:avLst/>
            </a:prstGeom>
            <a:ln w="25400">
              <a:solidFill>
                <a:srgbClr val="08A559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7" name="Image 46">
              <a:extLst>
                <a:ext uri="{FF2B5EF4-FFF2-40B4-BE49-F238E27FC236}">
                  <a16:creationId xmlns:a16="http://schemas.microsoft.com/office/drawing/2014/main" id="{5684C887-250C-3EE4-51A9-97E49BAEEC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03108" y="2837764"/>
              <a:ext cx="180000" cy="180000"/>
            </a:xfrm>
            <a:prstGeom prst="rect">
              <a:avLst/>
            </a:prstGeom>
          </p:spPr>
        </p:pic>
        <p:pic>
          <p:nvPicPr>
            <p:cNvPr id="48" name="Image 47">
              <a:extLst>
                <a:ext uri="{FF2B5EF4-FFF2-40B4-BE49-F238E27FC236}">
                  <a16:creationId xmlns:a16="http://schemas.microsoft.com/office/drawing/2014/main" id="{A2DBB512-E0D6-1DCF-AD42-945E61453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05152" y="3113393"/>
              <a:ext cx="180000" cy="180000"/>
            </a:xfrm>
            <a:prstGeom prst="rect">
              <a:avLst/>
            </a:prstGeom>
          </p:spPr>
        </p:pic>
        <p:sp>
          <p:nvSpPr>
            <p:cNvPr id="49" name="Rectangle : coins arrondis 48">
              <a:extLst>
                <a:ext uri="{FF2B5EF4-FFF2-40B4-BE49-F238E27FC236}">
                  <a16:creationId xmlns:a16="http://schemas.microsoft.com/office/drawing/2014/main" id="{41C8C10B-28B1-AAD9-17B3-48F680D32BCC}"/>
                </a:ext>
              </a:extLst>
            </p:cNvPr>
            <p:cNvSpPr/>
            <p:nvPr/>
          </p:nvSpPr>
          <p:spPr>
            <a:xfrm>
              <a:off x="9634981" y="3429000"/>
              <a:ext cx="1365662" cy="1194790"/>
            </a:xfrm>
            <a:prstGeom prst="roundRect">
              <a:avLst>
                <a:gd name="adj" fmla="val 11914"/>
              </a:avLst>
            </a:prstGeom>
            <a:solidFill>
              <a:srgbClr val="B2CAD6"/>
            </a:solidFill>
            <a:ln w="19050">
              <a:solidFill>
                <a:srgbClr val="B2CA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 dirty="0">
                  <a:solidFill>
                    <a:srgbClr val="0D587E"/>
                  </a:solidFill>
                  <a:latin typeface="Arial Nova" panose="020B0504020202020204" pitchFamily="34" charset="0"/>
                </a:rPr>
                <a:t>Enrouleur</a:t>
              </a:r>
            </a:p>
          </p:txBody>
        </p:sp>
        <p:cxnSp>
          <p:nvCxnSpPr>
            <p:cNvPr id="50" name="Connecteur droit avec flèche 49">
              <a:extLst>
                <a:ext uri="{FF2B5EF4-FFF2-40B4-BE49-F238E27FC236}">
                  <a16:creationId xmlns:a16="http://schemas.microsoft.com/office/drawing/2014/main" id="{505D6021-1B16-1674-733B-C648AC1129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11620" y="3702769"/>
              <a:ext cx="720000" cy="1536"/>
            </a:xfrm>
            <a:prstGeom prst="straightConnector1">
              <a:avLst/>
            </a:prstGeom>
            <a:ln w="25400" cap="rnd">
              <a:solidFill>
                <a:srgbClr val="68348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2" name="Groupe 51">
              <a:extLst>
                <a:ext uri="{FF2B5EF4-FFF2-40B4-BE49-F238E27FC236}">
                  <a16:creationId xmlns:a16="http://schemas.microsoft.com/office/drawing/2014/main" id="{C3681FD9-BFE4-7350-1964-9C093DDF1B5E}"/>
                </a:ext>
              </a:extLst>
            </p:cNvPr>
            <p:cNvGrpSpPr/>
            <p:nvPr/>
          </p:nvGrpSpPr>
          <p:grpSpPr>
            <a:xfrm>
              <a:off x="3770117" y="1925231"/>
              <a:ext cx="360000" cy="360000"/>
              <a:chOff x="6138169" y="4069439"/>
              <a:chExt cx="1800000" cy="1800000"/>
            </a:xfrm>
          </p:grpSpPr>
          <p:sp>
            <p:nvSpPr>
              <p:cNvPr id="53" name="Ellipse 52">
                <a:extLst>
                  <a:ext uri="{FF2B5EF4-FFF2-40B4-BE49-F238E27FC236}">
                    <a16:creationId xmlns:a16="http://schemas.microsoft.com/office/drawing/2014/main" id="{599396A5-DEE6-FF8C-4576-A72DC9E6130D}"/>
                  </a:ext>
                </a:extLst>
              </p:cNvPr>
              <p:cNvSpPr/>
              <p:nvPr/>
            </p:nvSpPr>
            <p:spPr>
              <a:xfrm>
                <a:off x="6138169" y="4069439"/>
                <a:ext cx="1800000" cy="1800000"/>
              </a:xfrm>
              <a:prstGeom prst="ellipse">
                <a:avLst/>
              </a:prstGeom>
              <a:solidFill>
                <a:srgbClr val="00547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pic>
            <p:nvPicPr>
              <p:cNvPr id="54" name="Image 53">
                <a:extLst>
                  <a:ext uri="{FF2B5EF4-FFF2-40B4-BE49-F238E27FC236}">
                    <a16:creationId xmlns:a16="http://schemas.microsoft.com/office/drawing/2014/main" id="{F05DEF27-F929-BD20-2E07-1628A11DB3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243433" y="4174703"/>
                <a:ext cx="1589472" cy="1589472"/>
              </a:xfrm>
              <a:prstGeom prst="rect">
                <a:avLst/>
              </a:prstGeom>
            </p:spPr>
          </p:pic>
        </p:grpSp>
        <p:cxnSp>
          <p:nvCxnSpPr>
            <p:cNvPr id="55" name="Connecteur droit avec flèche 54">
              <a:extLst>
                <a:ext uri="{FF2B5EF4-FFF2-40B4-BE49-F238E27FC236}">
                  <a16:creationId xmlns:a16="http://schemas.microsoft.com/office/drawing/2014/main" id="{CEC25A5B-4B64-B67F-296D-04E6B189266D}"/>
                </a:ext>
              </a:extLst>
            </p:cNvPr>
            <p:cNvCxnSpPr/>
            <p:nvPr/>
          </p:nvCxnSpPr>
          <p:spPr>
            <a:xfrm flipV="1">
              <a:off x="6829319" y="1630730"/>
              <a:ext cx="720000" cy="1536"/>
            </a:xfrm>
            <a:prstGeom prst="straightConnector1">
              <a:avLst/>
            </a:prstGeom>
            <a:ln w="25400">
              <a:solidFill>
                <a:srgbClr val="08A559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6" name="Image 55">
              <a:extLst>
                <a:ext uri="{FF2B5EF4-FFF2-40B4-BE49-F238E27FC236}">
                  <a16:creationId xmlns:a16="http://schemas.microsoft.com/office/drawing/2014/main" id="{16A8AD74-A603-AD54-1D93-18C13D9443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04880" y="4119120"/>
              <a:ext cx="288000" cy="100660"/>
            </a:xfrm>
            <a:prstGeom prst="rect">
              <a:avLst/>
            </a:prstGeom>
          </p:spPr>
        </p:pic>
        <p:grpSp>
          <p:nvGrpSpPr>
            <p:cNvPr id="57" name="Groupe 56">
              <a:extLst>
                <a:ext uri="{FF2B5EF4-FFF2-40B4-BE49-F238E27FC236}">
                  <a16:creationId xmlns:a16="http://schemas.microsoft.com/office/drawing/2014/main" id="{CA7F3E2C-9FA7-42D8-DEF0-9439478A5709}"/>
                </a:ext>
              </a:extLst>
            </p:cNvPr>
            <p:cNvGrpSpPr/>
            <p:nvPr/>
          </p:nvGrpSpPr>
          <p:grpSpPr>
            <a:xfrm rot="5400000" flipV="1">
              <a:off x="10181964" y="4049013"/>
              <a:ext cx="835963" cy="1617775"/>
              <a:chOff x="9150640" y="2423323"/>
              <a:chExt cx="835963" cy="2135794"/>
            </a:xfrm>
          </p:grpSpPr>
          <p:sp>
            <p:nvSpPr>
              <p:cNvPr id="58" name="Flèche : virage 57">
                <a:extLst>
                  <a:ext uri="{FF2B5EF4-FFF2-40B4-BE49-F238E27FC236}">
                    <a16:creationId xmlns:a16="http://schemas.microsoft.com/office/drawing/2014/main" id="{A404FB7A-E23C-BD6A-6263-4B2DE2013DB7}"/>
                  </a:ext>
                </a:extLst>
              </p:cNvPr>
              <p:cNvSpPr/>
              <p:nvPr/>
            </p:nvSpPr>
            <p:spPr>
              <a:xfrm rot="5400000">
                <a:off x="8500725" y="3073238"/>
                <a:ext cx="2135794" cy="835963"/>
              </a:xfrm>
              <a:prstGeom prst="bentArrow">
                <a:avLst>
                  <a:gd name="adj1" fmla="val 31434"/>
                  <a:gd name="adj2" fmla="val 25000"/>
                  <a:gd name="adj3" fmla="val 17852"/>
                  <a:gd name="adj4" fmla="val 20160"/>
                </a:avLst>
              </a:prstGeom>
              <a:solidFill>
                <a:srgbClr val="B2CA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ZoneTexte 58">
                <a:extLst>
                  <a:ext uri="{FF2B5EF4-FFF2-40B4-BE49-F238E27FC236}">
                    <a16:creationId xmlns:a16="http://schemas.microsoft.com/office/drawing/2014/main" id="{D9969D2B-BFBA-54A7-C4C5-06DFD5138BC1}"/>
                  </a:ext>
                </a:extLst>
              </p:cNvPr>
              <p:cNvSpPr txBox="1"/>
              <p:nvPr/>
            </p:nvSpPr>
            <p:spPr>
              <a:xfrm rot="16200000">
                <a:off x="8798744" y="3317013"/>
                <a:ext cx="1918043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fr-FR" sz="900" dirty="0">
                    <a:solidFill>
                      <a:schemeClr val="bg1"/>
                    </a:solidFill>
                    <a:latin typeface="Arial Nova" panose="020B0504020202020204" pitchFamily="34" charset="0"/>
                  </a:rPr>
                  <a:t>Mobile en mouvement</a:t>
                </a:r>
              </a:p>
            </p:txBody>
          </p:sp>
        </p:grpSp>
        <p:grpSp>
          <p:nvGrpSpPr>
            <p:cNvPr id="60" name="Groupe 59">
              <a:extLst>
                <a:ext uri="{FF2B5EF4-FFF2-40B4-BE49-F238E27FC236}">
                  <a16:creationId xmlns:a16="http://schemas.microsoft.com/office/drawing/2014/main" id="{32A82909-C4F5-9AA0-D150-C388F421C774}"/>
                </a:ext>
              </a:extLst>
            </p:cNvPr>
            <p:cNvGrpSpPr/>
            <p:nvPr/>
          </p:nvGrpSpPr>
          <p:grpSpPr>
            <a:xfrm>
              <a:off x="8611878" y="2802701"/>
              <a:ext cx="1549219" cy="611677"/>
              <a:chOff x="9075408" y="2802701"/>
              <a:chExt cx="1549219" cy="611677"/>
            </a:xfrm>
          </p:grpSpPr>
          <p:sp>
            <p:nvSpPr>
              <p:cNvPr id="61" name="Flèche : virage 60">
                <a:extLst>
                  <a:ext uri="{FF2B5EF4-FFF2-40B4-BE49-F238E27FC236}">
                    <a16:creationId xmlns:a16="http://schemas.microsoft.com/office/drawing/2014/main" id="{FED08932-ADD7-D2A1-8E5A-D62CEEB1B93F}"/>
                  </a:ext>
                </a:extLst>
              </p:cNvPr>
              <p:cNvSpPr/>
              <p:nvPr/>
            </p:nvSpPr>
            <p:spPr>
              <a:xfrm rot="5400000">
                <a:off x="9563593" y="2353345"/>
                <a:ext cx="572849" cy="1549218"/>
              </a:xfrm>
              <a:prstGeom prst="bentArrow">
                <a:avLst>
                  <a:gd name="adj1" fmla="val 38639"/>
                  <a:gd name="adj2" fmla="val 38302"/>
                  <a:gd name="adj3" fmla="val 16744"/>
                  <a:gd name="adj4" fmla="val 20160"/>
                </a:avLst>
              </a:prstGeom>
              <a:solidFill>
                <a:srgbClr val="B2CA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ZoneTexte 61">
                <a:extLst>
                  <a:ext uri="{FF2B5EF4-FFF2-40B4-BE49-F238E27FC236}">
                    <a16:creationId xmlns:a16="http://schemas.microsoft.com/office/drawing/2014/main" id="{2C25BFE2-5262-D3BC-BDD8-923C0B8002AD}"/>
                  </a:ext>
                </a:extLst>
              </p:cNvPr>
              <p:cNvSpPr txBox="1"/>
              <p:nvPr/>
            </p:nvSpPr>
            <p:spPr>
              <a:xfrm>
                <a:off x="9075408" y="2802701"/>
                <a:ext cx="147371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fr-FR" sz="1200" dirty="0">
                    <a:solidFill>
                      <a:schemeClr val="bg1"/>
                    </a:solidFill>
                    <a:latin typeface="Arial Nova" panose="020B0504020202020204" pitchFamily="34" charset="0"/>
                  </a:rPr>
                  <a:t>Mobile à l’arrêt</a:t>
                </a:r>
              </a:p>
            </p:txBody>
          </p:sp>
        </p:grpSp>
        <p:pic>
          <p:nvPicPr>
            <p:cNvPr id="63" name="Image 62">
              <a:extLst>
                <a:ext uri="{FF2B5EF4-FFF2-40B4-BE49-F238E27FC236}">
                  <a16:creationId xmlns:a16="http://schemas.microsoft.com/office/drawing/2014/main" id="{8DAAFC9A-79A3-4B2C-A73E-32BE33F624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8545" y="1650659"/>
              <a:ext cx="434918" cy="15201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ZoneTexte 63">
                  <a:extLst>
                    <a:ext uri="{FF2B5EF4-FFF2-40B4-BE49-F238E27FC236}">
                      <a16:creationId xmlns:a16="http://schemas.microsoft.com/office/drawing/2014/main" id="{A29D106A-C634-EC49-818B-7FFD6B86043E}"/>
                    </a:ext>
                  </a:extLst>
                </p:cNvPr>
                <p:cNvSpPr txBox="1"/>
                <p:nvPr/>
              </p:nvSpPr>
              <p:spPr>
                <a:xfrm>
                  <a:off x="170158" y="3899116"/>
                  <a:ext cx="116196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fr-FR" sz="1200" b="1" dirty="0">
                      <a:solidFill>
                        <a:srgbClr val="FFB25A"/>
                      </a:solidFill>
                      <a:latin typeface="Arial Nova" panose="020B0504020202020204" pitchFamily="34" charset="0"/>
                    </a:rPr>
                    <a:t>230 V </a:t>
                  </a:r>
                  <a14:m>
                    <m:oMath xmlns:m="http://schemas.openxmlformats.org/officeDocument/2006/math">
                      <m:r>
                        <a:rPr lang="fr-FR" sz="1200" b="1" i="1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~</m:t>
                      </m:r>
                    </m:oMath>
                  </a14:m>
                  <a:endParaRPr lang="fr-FR" sz="1200" b="1" dirty="0">
                    <a:solidFill>
                      <a:srgbClr val="FFB25A"/>
                    </a:solidFill>
                    <a:latin typeface="Arial Nova" panose="020B0504020202020204" pitchFamily="34" charset="0"/>
                  </a:endParaRPr>
                </a:p>
              </p:txBody>
            </p:sp>
          </mc:Choice>
          <mc:Fallback xmlns="">
            <p:sp>
              <p:nvSpPr>
                <p:cNvPr id="64" name="ZoneTexte 63">
                  <a:extLst>
                    <a:ext uri="{FF2B5EF4-FFF2-40B4-BE49-F238E27FC236}">
                      <a16:creationId xmlns:a16="http://schemas.microsoft.com/office/drawing/2014/main" id="{A29D106A-C634-EC49-818B-7FFD6B8604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158" y="3899116"/>
                  <a:ext cx="1161960" cy="276999"/>
                </a:xfrm>
                <a:prstGeom prst="rect">
                  <a:avLst/>
                </a:prstGeom>
                <a:blipFill>
                  <a:blip r:embed="rId12"/>
                  <a:stretch>
                    <a:fillRect t="-2222" b="-17778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ZoneTexte 64">
                  <a:extLst>
                    <a:ext uri="{FF2B5EF4-FFF2-40B4-BE49-F238E27FC236}">
                      <a16:creationId xmlns:a16="http://schemas.microsoft.com/office/drawing/2014/main" id="{98529472-463C-B655-7D36-3F43A14EC5EF}"/>
                    </a:ext>
                  </a:extLst>
                </p:cNvPr>
                <p:cNvSpPr txBox="1"/>
                <p:nvPr/>
              </p:nvSpPr>
              <p:spPr>
                <a:xfrm>
                  <a:off x="4443619" y="3709151"/>
                  <a:ext cx="116196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fr-FR" sz="1200" b="1" dirty="0">
                      <a:solidFill>
                        <a:srgbClr val="FFB25A"/>
                      </a:solidFill>
                      <a:latin typeface="Arial Nova" panose="020B0504020202020204" pitchFamily="34" charset="0"/>
                    </a:rPr>
                    <a:t> 18 V </a:t>
                  </a:r>
                  <a14:m>
                    <m:oMath xmlns:m="http://schemas.openxmlformats.org/officeDocument/2006/math">
                      <m:r>
                        <a:rPr lang="fr-FR" sz="1200" b="1" i="0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</m:oMath>
                  </a14:m>
                  <a:endParaRPr lang="fr-FR" sz="1200" b="1" dirty="0">
                    <a:solidFill>
                      <a:srgbClr val="FFB25A"/>
                    </a:solidFill>
                    <a:latin typeface="Arial Nova" panose="020B0504020202020204" pitchFamily="34" charset="0"/>
                  </a:endParaRPr>
                </a:p>
              </p:txBody>
            </p:sp>
          </mc:Choice>
          <mc:Fallback xmlns="">
            <p:sp>
              <p:nvSpPr>
                <p:cNvPr id="65" name="ZoneTexte 64">
                  <a:extLst>
                    <a:ext uri="{FF2B5EF4-FFF2-40B4-BE49-F238E27FC236}">
                      <a16:creationId xmlns:a16="http://schemas.microsoft.com/office/drawing/2014/main" id="{98529472-463C-B655-7D36-3F43A14EC5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43619" y="3709151"/>
                  <a:ext cx="1161960" cy="276999"/>
                </a:xfrm>
                <a:prstGeom prst="rect">
                  <a:avLst/>
                </a:prstGeom>
                <a:blipFill>
                  <a:blip r:embed="rId13"/>
                  <a:stretch>
                    <a:fillRect t="-2222" b="-17778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75" name="Image 74">
              <a:extLst>
                <a:ext uri="{FF2B5EF4-FFF2-40B4-BE49-F238E27FC236}">
                  <a16:creationId xmlns:a16="http://schemas.microsoft.com/office/drawing/2014/main" id="{C3984323-3DB7-9552-D8F6-CC335C9365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46789" y="4072663"/>
              <a:ext cx="288000" cy="100660"/>
            </a:xfrm>
            <a:prstGeom prst="rect">
              <a:avLst/>
            </a:prstGeom>
          </p:spPr>
        </p:pic>
        <p:grpSp>
          <p:nvGrpSpPr>
            <p:cNvPr id="79" name="Groupe 78">
              <a:extLst>
                <a:ext uri="{FF2B5EF4-FFF2-40B4-BE49-F238E27FC236}">
                  <a16:creationId xmlns:a16="http://schemas.microsoft.com/office/drawing/2014/main" id="{E5E8BA72-62F0-623B-BB03-9C97E1215258}"/>
                </a:ext>
              </a:extLst>
            </p:cNvPr>
            <p:cNvGrpSpPr/>
            <p:nvPr/>
          </p:nvGrpSpPr>
          <p:grpSpPr>
            <a:xfrm rot="5400000">
              <a:off x="7557744" y="1380659"/>
              <a:ext cx="540000" cy="540000"/>
              <a:chOff x="8494276" y="748802"/>
              <a:chExt cx="1800000" cy="1800000"/>
            </a:xfrm>
          </p:grpSpPr>
          <p:sp>
            <p:nvSpPr>
              <p:cNvPr id="80" name="Ellipse 79">
                <a:extLst>
                  <a:ext uri="{FF2B5EF4-FFF2-40B4-BE49-F238E27FC236}">
                    <a16:creationId xmlns:a16="http://schemas.microsoft.com/office/drawing/2014/main" id="{8797782F-D293-857F-9535-3AEEA223291C}"/>
                  </a:ext>
                </a:extLst>
              </p:cNvPr>
              <p:cNvSpPr/>
              <p:nvPr/>
            </p:nvSpPr>
            <p:spPr>
              <a:xfrm>
                <a:off x="8494276" y="748802"/>
                <a:ext cx="1800000" cy="1800000"/>
              </a:xfrm>
              <a:prstGeom prst="ellipse">
                <a:avLst/>
              </a:prstGeom>
              <a:solidFill>
                <a:srgbClr val="08AF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pic>
            <p:nvPicPr>
              <p:cNvPr id="81" name="Image 80">
                <a:extLst>
                  <a:ext uri="{FF2B5EF4-FFF2-40B4-BE49-F238E27FC236}">
                    <a16:creationId xmlns:a16="http://schemas.microsoft.com/office/drawing/2014/main" id="{3C056DE1-E9CB-4E8C-3E56-45F4E72EDF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943232" y="938192"/>
                <a:ext cx="902088" cy="1440000"/>
              </a:xfrm>
              <a:prstGeom prst="rect">
                <a:avLst/>
              </a:prstGeom>
            </p:spPr>
          </p:pic>
        </p:grpSp>
        <p:grpSp>
          <p:nvGrpSpPr>
            <p:cNvPr id="83" name="Groupe 82">
              <a:extLst>
                <a:ext uri="{FF2B5EF4-FFF2-40B4-BE49-F238E27FC236}">
                  <a16:creationId xmlns:a16="http://schemas.microsoft.com/office/drawing/2014/main" id="{C45F2952-AB7B-E645-3734-B4D7C5C482F2}"/>
                </a:ext>
              </a:extLst>
            </p:cNvPr>
            <p:cNvGrpSpPr/>
            <p:nvPr/>
          </p:nvGrpSpPr>
          <p:grpSpPr>
            <a:xfrm flipH="1">
              <a:off x="4502938" y="4010490"/>
              <a:ext cx="288000" cy="288000"/>
              <a:chOff x="6054233" y="4960569"/>
              <a:chExt cx="1800000" cy="1800000"/>
            </a:xfrm>
          </p:grpSpPr>
          <p:sp>
            <p:nvSpPr>
              <p:cNvPr id="84" name="Ellipse 83">
                <a:extLst>
                  <a:ext uri="{FF2B5EF4-FFF2-40B4-BE49-F238E27FC236}">
                    <a16:creationId xmlns:a16="http://schemas.microsoft.com/office/drawing/2014/main" id="{694CA716-B439-0D99-DD26-7939210E96CC}"/>
                  </a:ext>
                </a:extLst>
              </p:cNvPr>
              <p:cNvSpPr/>
              <p:nvPr/>
            </p:nvSpPr>
            <p:spPr>
              <a:xfrm>
                <a:off x="6054233" y="4960569"/>
                <a:ext cx="1800000" cy="1800000"/>
              </a:xfrm>
              <a:prstGeom prst="ellipse">
                <a:avLst/>
              </a:prstGeom>
              <a:solidFill>
                <a:srgbClr val="00547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b="1"/>
              </a:p>
            </p:txBody>
          </p:sp>
          <p:pic>
            <p:nvPicPr>
              <p:cNvPr id="85" name="Image 84">
                <a:extLst>
                  <a:ext uri="{FF2B5EF4-FFF2-40B4-BE49-F238E27FC236}">
                    <a16:creationId xmlns:a16="http://schemas.microsoft.com/office/drawing/2014/main" id="{54F7A28F-AB1C-EEE3-A4AE-21627A8C72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298697" y="5322283"/>
                <a:ext cx="1311072" cy="1076572"/>
              </a:xfrm>
              <a:prstGeom prst="rect">
                <a:avLst/>
              </a:prstGeom>
            </p:spPr>
          </p:pic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ZoneTexte 85">
                  <a:extLst>
                    <a:ext uri="{FF2B5EF4-FFF2-40B4-BE49-F238E27FC236}">
                      <a16:creationId xmlns:a16="http://schemas.microsoft.com/office/drawing/2014/main" id="{0BE254AA-7402-4530-3CB3-372726A90B41}"/>
                    </a:ext>
                  </a:extLst>
                </p:cNvPr>
                <p:cNvSpPr txBox="1"/>
                <p:nvPr/>
              </p:nvSpPr>
              <p:spPr>
                <a:xfrm>
                  <a:off x="2265869" y="3846667"/>
                  <a:ext cx="116196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fr-FR" sz="1200" b="1" dirty="0">
                      <a:solidFill>
                        <a:srgbClr val="FFB25A"/>
                      </a:solidFill>
                      <a:latin typeface="Arial Nova" panose="020B0504020202020204" pitchFamily="34" charset="0"/>
                    </a:rPr>
                    <a:t> 24 V </a:t>
                  </a:r>
                  <a14:m>
                    <m:oMath xmlns:m="http://schemas.openxmlformats.org/officeDocument/2006/math">
                      <m:r>
                        <a:rPr lang="fr-FR" sz="1200" b="1" i="0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</m:oMath>
                  </a14:m>
                  <a:endParaRPr lang="fr-FR" sz="1200" b="1" dirty="0">
                    <a:solidFill>
                      <a:srgbClr val="FFB25A"/>
                    </a:solidFill>
                    <a:latin typeface="Arial Nova" panose="020B0504020202020204" pitchFamily="34" charset="0"/>
                  </a:endParaRPr>
                </a:p>
              </p:txBody>
            </p:sp>
          </mc:Choice>
          <mc:Fallback xmlns="">
            <p:sp>
              <p:nvSpPr>
                <p:cNvPr id="86" name="ZoneTexte 85">
                  <a:extLst>
                    <a:ext uri="{FF2B5EF4-FFF2-40B4-BE49-F238E27FC236}">
                      <a16:creationId xmlns:a16="http://schemas.microsoft.com/office/drawing/2014/main" id="{0BE254AA-7402-4530-3CB3-372726A90B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65869" y="3846667"/>
                  <a:ext cx="1161960" cy="276999"/>
                </a:xfrm>
                <a:prstGeom prst="rect">
                  <a:avLst/>
                </a:prstGeom>
                <a:blipFill>
                  <a:blip r:embed="rId16"/>
                  <a:stretch>
                    <a:fillRect b="-1521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9" name="Groupe 98">
              <a:extLst>
                <a:ext uri="{FF2B5EF4-FFF2-40B4-BE49-F238E27FC236}">
                  <a16:creationId xmlns:a16="http://schemas.microsoft.com/office/drawing/2014/main" id="{0ECA4CF8-4630-FE85-3DB7-8EAA30BBD558}"/>
                </a:ext>
              </a:extLst>
            </p:cNvPr>
            <p:cNvGrpSpPr/>
            <p:nvPr/>
          </p:nvGrpSpPr>
          <p:grpSpPr>
            <a:xfrm>
              <a:off x="1200023" y="1934397"/>
              <a:ext cx="1161844" cy="360000"/>
              <a:chOff x="1086457" y="1910466"/>
              <a:chExt cx="1161844" cy="360000"/>
            </a:xfrm>
          </p:grpSpPr>
          <p:grpSp>
            <p:nvGrpSpPr>
              <p:cNvPr id="87" name="Groupe 86">
                <a:extLst>
                  <a:ext uri="{FF2B5EF4-FFF2-40B4-BE49-F238E27FC236}">
                    <a16:creationId xmlns:a16="http://schemas.microsoft.com/office/drawing/2014/main" id="{E9153400-DF88-441B-1F32-AE824AB4C9D0}"/>
                  </a:ext>
                </a:extLst>
              </p:cNvPr>
              <p:cNvGrpSpPr/>
              <p:nvPr/>
            </p:nvGrpSpPr>
            <p:grpSpPr>
              <a:xfrm>
                <a:off x="1086457" y="1910466"/>
                <a:ext cx="360000" cy="360000"/>
                <a:chOff x="262758" y="2633974"/>
                <a:chExt cx="720000" cy="720000"/>
              </a:xfrm>
            </p:grpSpPr>
            <p:sp>
              <p:nvSpPr>
                <p:cNvPr id="88" name="Ellipse 87">
                  <a:extLst>
                    <a:ext uri="{FF2B5EF4-FFF2-40B4-BE49-F238E27FC236}">
                      <a16:creationId xmlns:a16="http://schemas.microsoft.com/office/drawing/2014/main" id="{903AB8DF-F4D2-7C8B-5ECC-CCE645EB9C9A}"/>
                    </a:ext>
                  </a:extLst>
                </p:cNvPr>
                <p:cNvSpPr/>
                <p:nvPr/>
              </p:nvSpPr>
              <p:spPr>
                <a:xfrm>
                  <a:off x="262758" y="2633974"/>
                  <a:ext cx="720000" cy="720000"/>
                </a:xfrm>
                <a:prstGeom prst="ellipse">
                  <a:avLst/>
                </a:prstGeom>
                <a:solidFill>
                  <a:srgbClr val="00547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pic>
              <p:nvPicPr>
                <p:cNvPr id="89" name="Image 88">
                  <a:extLst>
                    <a:ext uri="{FF2B5EF4-FFF2-40B4-BE49-F238E27FC236}">
                      <a16:creationId xmlns:a16="http://schemas.microsoft.com/office/drawing/2014/main" id="{D2C60E2E-75A4-B407-4649-EE5EC04406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63558" y="2734774"/>
                  <a:ext cx="518400" cy="518400"/>
                </a:xfrm>
                <a:prstGeom prst="rect">
                  <a:avLst/>
                </a:prstGeom>
              </p:spPr>
            </p:pic>
          </p:grpSp>
          <p:grpSp>
            <p:nvGrpSpPr>
              <p:cNvPr id="93" name="Groupe 92">
                <a:extLst>
                  <a:ext uri="{FF2B5EF4-FFF2-40B4-BE49-F238E27FC236}">
                    <a16:creationId xmlns:a16="http://schemas.microsoft.com/office/drawing/2014/main" id="{633A414C-079F-72BC-C836-01640E3DA896}"/>
                  </a:ext>
                </a:extLst>
              </p:cNvPr>
              <p:cNvGrpSpPr/>
              <p:nvPr/>
            </p:nvGrpSpPr>
            <p:grpSpPr>
              <a:xfrm>
                <a:off x="1487379" y="1910466"/>
                <a:ext cx="360000" cy="360000"/>
                <a:chOff x="5404964" y="4396133"/>
                <a:chExt cx="1800000" cy="1800000"/>
              </a:xfrm>
            </p:grpSpPr>
            <p:sp>
              <p:nvSpPr>
                <p:cNvPr id="94" name="Ellipse 93">
                  <a:extLst>
                    <a:ext uri="{FF2B5EF4-FFF2-40B4-BE49-F238E27FC236}">
                      <a16:creationId xmlns:a16="http://schemas.microsoft.com/office/drawing/2014/main" id="{7DA91EB8-E9B2-6DC6-B932-B3F8200FCB4C}"/>
                    </a:ext>
                  </a:extLst>
                </p:cNvPr>
                <p:cNvSpPr/>
                <p:nvPr/>
              </p:nvSpPr>
              <p:spPr>
                <a:xfrm>
                  <a:off x="5404964" y="4396133"/>
                  <a:ext cx="1800000" cy="1800000"/>
                </a:xfrm>
                <a:prstGeom prst="ellipse">
                  <a:avLst/>
                </a:prstGeom>
                <a:solidFill>
                  <a:srgbClr val="00517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pic>
              <p:nvPicPr>
                <p:cNvPr id="95" name="Image 94">
                  <a:extLst>
                    <a:ext uri="{FF2B5EF4-FFF2-40B4-BE49-F238E27FC236}">
                      <a16:creationId xmlns:a16="http://schemas.microsoft.com/office/drawing/2014/main" id="{C57FF404-E034-F790-1839-6255F70696F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543445" y="4536296"/>
                  <a:ext cx="1358232" cy="1440000"/>
                </a:xfrm>
                <a:prstGeom prst="rect">
                  <a:avLst/>
                </a:prstGeom>
              </p:spPr>
            </p:pic>
          </p:grpSp>
          <p:grpSp>
            <p:nvGrpSpPr>
              <p:cNvPr id="96" name="Groupe 95">
                <a:extLst>
                  <a:ext uri="{FF2B5EF4-FFF2-40B4-BE49-F238E27FC236}">
                    <a16:creationId xmlns:a16="http://schemas.microsoft.com/office/drawing/2014/main" id="{4934780D-118D-5BB6-1A09-C3BF6F8738BE}"/>
                  </a:ext>
                </a:extLst>
              </p:cNvPr>
              <p:cNvGrpSpPr/>
              <p:nvPr/>
            </p:nvGrpSpPr>
            <p:grpSpPr>
              <a:xfrm>
                <a:off x="1888301" y="1910466"/>
                <a:ext cx="360000" cy="360000"/>
                <a:chOff x="6054233" y="4960569"/>
                <a:chExt cx="1800000" cy="1800000"/>
              </a:xfrm>
            </p:grpSpPr>
            <p:sp>
              <p:nvSpPr>
                <p:cNvPr id="97" name="Ellipse 96">
                  <a:extLst>
                    <a:ext uri="{FF2B5EF4-FFF2-40B4-BE49-F238E27FC236}">
                      <a16:creationId xmlns:a16="http://schemas.microsoft.com/office/drawing/2014/main" id="{96D55BF4-A114-4647-D029-A60712B863CC}"/>
                    </a:ext>
                  </a:extLst>
                </p:cNvPr>
                <p:cNvSpPr/>
                <p:nvPr/>
              </p:nvSpPr>
              <p:spPr>
                <a:xfrm>
                  <a:off x="6054233" y="4960569"/>
                  <a:ext cx="1800000" cy="1800000"/>
                </a:xfrm>
                <a:prstGeom prst="ellipse">
                  <a:avLst/>
                </a:prstGeom>
                <a:solidFill>
                  <a:srgbClr val="00547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b="1"/>
                </a:p>
              </p:txBody>
            </p:sp>
            <p:pic>
              <p:nvPicPr>
                <p:cNvPr id="98" name="Image 97">
                  <a:extLst>
                    <a:ext uri="{FF2B5EF4-FFF2-40B4-BE49-F238E27FC236}">
                      <a16:creationId xmlns:a16="http://schemas.microsoft.com/office/drawing/2014/main" id="{1B7B664B-613A-7FD8-87CD-0348B80E0D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298697" y="5322283"/>
                  <a:ext cx="1311072" cy="1076572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2" name="Groupe 101">
              <a:extLst>
                <a:ext uri="{FF2B5EF4-FFF2-40B4-BE49-F238E27FC236}">
                  <a16:creationId xmlns:a16="http://schemas.microsoft.com/office/drawing/2014/main" id="{E31DA6A4-FC36-37BB-DD67-889B787CE436}"/>
                </a:ext>
              </a:extLst>
            </p:cNvPr>
            <p:cNvGrpSpPr/>
            <p:nvPr/>
          </p:nvGrpSpPr>
          <p:grpSpPr>
            <a:xfrm>
              <a:off x="8750745" y="3992695"/>
              <a:ext cx="288000" cy="288000"/>
              <a:chOff x="5404964" y="4396133"/>
              <a:chExt cx="1800000" cy="1800000"/>
            </a:xfrm>
          </p:grpSpPr>
          <p:sp>
            <p:nvSpPr>
              <p:cNvPr id="106" name="Ellipse 105">
                <a:extLst>
                  <a:ext uri="{FF2B5EF4-FFF2-40B4-BE49-F238E27FC236}">
                    <a16:creationId xmlns:a16="http://schemas.microsoft.com/office/drawing/2014/main" id="{6B23EFC2-53E7-FF97-9D84-20FD6FA31F4A}"/>
                  </a:ext>
                </a:extLst>
              </p:cNvPr>
              <p:cNvSpPr/>
              <p:nvPr/>
            </p:nvSpPr>
            <p:spPr>
              <a:xfrm>
                <a:off x="5404964" y="4396133"/>
                <a:ext cx="1800000" cy="1800000"/>
              </a:xfrm>
              <a:prstGeom prst="ellipse">
                <a:avLst/>
              </a:prstGeom>
              <a:solidFill>
                <a:srgbClr val="0051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pic>
            <p:nvPicPr>
              <p:cNvPr id="107" name="Image 106">
                <a:extLst>
                  <a:ext uri="{FF2B5EF4-FFF2-40B4-BE49-F238E27FC236}">
                    <a16:creationId xmlns:a16="http://schemas.microsoft.com/office/drawing/2014/main" id="{C61D1169-B2D8-2A3E-5B42-0FC2EAC1DF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543445" y="4536296"/>
                <a:ext cx="1358232" cy="1440000"/>
              </a:xfrm>
              <a:prstGeom prst="rect">
                <a:avLst/>
              </a:prstGeom>
            </p:spPr>
          </p:pic>
        </p:grpSp>
        <p:pic>
          <p:nvPicPr>
            <p:cNvPr id="110" name="Image 109">
              <a:extLst>
                <a:ext uri="{FF2B5EF4-FFF2-40B4-BE49-F238E27FC236}">
                  <a16:creationId xmlns:a16="http://schemas.microsoft.com/office/drawing/2014/main" id="{85C6EE0C-C52A-6134-EB1B-6F3C574923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9082791" y="3556288"/>
              <a:ext cx="288000" cy="105516"/>
            </a:xfrm>
            <a:prstGeom prst="rect">
              <a:avLst/>
            </a:prstGeom>
          </p:spPr>
        </p:pic>
        <p:grpSp>
          <p:nvGrpSpPr>
            <p:cNvPr id="2" name="Groupe 1">
              <a:extLst>
                <a:ext uri="{FF2B5EF4-FFF2-40B4-BE49-F238E27FC236}">
                  <a16:creationId xmlns:a16="http://schemas.microsoft.com/office/drawing/2014/main" id="{82F139EB-71C2-3498-81E8-D233E1373C92}"/>
                </a:ext>
              </a:extLst>
            </p:cNvPr>
            <p:cNvGrpSpPr/>
            <p:nvPr/>
          </p:nvGrpSpPr>
          <p:grpSpPr>
            <a:xfrm>
              <a:off x="8318020" y="3857615"/>
              <a:ext cx="360000" cy="360000"/>
              <a:chOff x="10441958" y="3705191"/>
              <a:chExt cx="720000" cy="720000"/>
            </a:xfrm>
          </p:grpSpPr>
          <p:sp>
            <p:nvSpPr>
              <p:cNvPr id="3" name="Ellipse 2">
                <a:extLst>
                  <a:ext uri="{FF2B5EF4-FFF2-40B4-BE49-F238E27FC236}">
                    <a16:creationId xmlns:a16="http://schemas.microsoft.com/office/drawing/2014/main" id="{E5E9D7B9-5A35-EF22-2FBC-F30FBC07B151}"/>
                  </a:ext>
                </a:extLst>
              </p:cNvPr>
              <p:cNvSpPr/>
              <p:nvPr/>
            </p:nvSpPr>
            <p:spPr>
              <a:xfrm>
                <a:off x="10441958" y="3705191"/>
                <a:ext cx="720000" cy="720000"/>
              </a:xfrm>
              <a:prstGeom prst="ellipse">
                <a:avLst/>
              </a:prstGeom>
              <a:solidFill>
                <a:srgbClr val="EF72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fr-FR" dirty="0"/>
              </a:p>
            </p:txBody>
          </p:sp>
          <p:pic>
            <p:nvPicPr>
              <p:cNvPr id="5" name="Image 4">
                <a:extLst>
                  <a:ext uri="{FF2B5EF4-FFF2-40B4-BE49-F238E27FC236}">
                    <a16:creationId xmlns:a16="http://schemas.microsoft.com/office/drawing/2014/main" id="{72507372-5128-AD77-ED53-33E77A6F76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566042" y="3862171"/>
                <a:ext cx="471833" cy="471833"/>
              </a:xfrm>
              <a:prstGeom prst="rect">
                <a:avLst/>
              </a:prstGeom>
            </p:spPr>
          </p:pic>
        </p:grpSp>
        <p:grpSp>
          <p:nvGrpSpPr>
            <p:cNvPr id="51" name="Groupe 50">
              <a:extLst>
                <a:ext uri="{FF2B5EF4-FFF2-40B4-BE49-F238E27FC236}">
                  <a16:creationId xmlns:a16="http://schemas.microsoft.com/office/drawing/2014/main" id="{56AD5DBE-5808-C210-5149-21ED92B5262A}"/>
                </a:ext>
              </a:extLst>
            </p:cNvPr>
            <p:cNvGrpSpPr/>
            <p:nvPr/>
          </p:nvGrpSpPr>
          <p:grpSpPr>
            <a:xfrm>
              <a:off x="2402575" y="1920659"/>
              <a:ext cx="360000" cy="360000"/>
              <a:chOff x="-2063262" y="2086237"/>
              <a:chExt cx="1800000" cy="1800000"/>
            </a:xfrm>
          </p:grpSpPr>
          <p:sp>
            <p:nvSpPr>
              <p:cNvPr id="66" name="Ellipse 65">
                <a:extLst>
                  <a:ext uri="{FF2B5EF4-FFF2-40B4-BE49-F238E27FC236}">
                    <a16:creationId xmlns:a16="http://schemas.microsoft.com/office/drawing/2014/main" id="{30506464-BA73-A9A8-C287-8425A90416F4}"/>
                  </a:ext>
                </a:extLst>
              </p:cNvPr>
              <p:cNvSpPr/>
              <p:nvPr/>
            </p:nvSpPr>
            <p:spPr>
              <a:xfrm>
                <a:off x="-2063262" y="2086237"/>
                <a:ext cx="1800000" cy="1800000"/>
              </a:xfrm>
              <a:prstGeom prst="ellipse">
                <a:avLst/>
              </a:prstGeom>
              <a:solidFill>
                <a:srgbClr val="00547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pic>
            <p:nvPicPr>
              <p:cNvPr id="67" name="Image 66">
                <a:extLst>
                  <a:ext uri="{FF2B5EF4-FFF2-40B4-BE49-F238E27FC236}">
                    <a16:creationId xmlns:a16="http://schemas.microsoft.com/office/drawing/2014/main" id="{0C99C92F-85C7-12A8-2639-E5370EEA81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-1609131" y="2149544"/>
                <a:ext cx="891738" cy="1673385"/>
              </a:xfrm>
              <a:prstGeom prst="rect">
                <a:avLst/>
              </a:prstGeom>
            </p:spPr>
          </p:pic>
        </p:grpSp>
        <p:grpSp>
          <p:nvGrpSpPr>
            <p:cNvPr id="68" name="Groupe 67">
              <a:extLst>
                <a:ext uri="{FF2B5EF4-FFF2-40B4-BE49-F238E27FC236}">
                  <a16:creationId xmlns:a16="http://schemas.microsoft.com/office/drawing/2014/main" id="{7A0B8E77-5301-227F-FD54-9AE45C731434}"/>
                </a:ext>
              </a:extLst>
            </p:cNvPr>
            <p:cNvGrpSpPr/>
            <p:nvPr/>
          </p:nvGrpSpPr>
          <p:grpSpPr>
            <a:xfrm>
              <a:off x="8750745" y="4350312"/>
              <a:ext cx="288000" cy="288000"/>
              <a:chOff x="-2063262" y="2086237"/>
              <a:chExt cx="1800000" cy="1800000"/>
            </a:xfrm>
          </p:grpSpPr>
          <p:sp>
            <p:nvSpPr>
              <p:cNvPr id="69" name="Ellipse 68">
                <a:extLst>
                  <a:ext uri="{FF2B5EF4-FFF2-40B4-BE49-F238E27FC236}">
                    <a16:creationId xmlns:a16="http://schemas.microsoft.com/office/drawing/2014/main" id="{AAD785D5-CCC0-76D1-9E0E-B47BECBF7593}"/>
                  </a:ext>
                </a:extLst>
              </p:cNvPr>
              <p:cNvSpPr/>
              <p:nvPr/>
            </p:nvSpPr>
            <p:spPr>
              <a:xfrm>
                <a:off x="-2063262" y="2086237"/>
                <a:ext cx="1800000" cy="1800000"/>
              </a:xfrm>
              <a:prstGeom prst="ellipse">
                <a:avLst/>
              </a:prstGeom>
              <a:solidFill>
                <a:srgbClr val="00547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pic>
            <p:nvPicPr>
              <p:cNvPr id="70" name="Image 69">
                <a:extLst>
                  <a:ext uri="{FF2B5EF4-FFF2-40B4-BE49-F238E27FC236}">
                    <a16:creationId xmlns:a16="http://schemas.microsoft.com/office/drawing/2014/main" id="{D737B9A9-62A6-CFBB-B5E1-9F86F8EC08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-1609131" y="2149544"/>
                <a:ext cx="891738" cy="1673385"/>
              </a:xfrm>
              <a:prstGeom prst="rect">
                <a:avLst/>
              </a:prstGeom>
            </p:spPr>
          </p:pic>
        </p:grpSp>
        <p:pic>
          <p:nvPicPr>
            <p:cNvPr id="71" name="Image 70">
              <a:extLst>
                <a:ext uri="{FF2B5EF4-FFF2-40B4-BE49-F238E27FC236}">
                  <a16:creationId xmlns:a16="http://schemas.microsoft.com/office/drawing/2014/main" id="{744A36EB-CAFB-2298-449F-D861AD273A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55025" y="4423911"/>
              <a:ext cx="288000" cy="100660"/>
            </a:xfrm>
            <a:prstGeom prst="rect">
              <a:avLst/>
            </a:prstGeom>
          </p:spPr>
        </p:pic>
      </p:grpSp>
      <p:grpSp>
        <p:nvGrpSpPr>
          <p:cNvPr id="113" name="Groupe 112">
            <a:extLst>
              <a:ext uri="{FF2B5EF4-FFF2-40B4-BE49-F238E27FC236}">
                <a16:creationId xmlns:a16="http://schemas.microsoft.com/office/drawing/2014/main" id="{52C089C3-9AA9-094F-E8FA-BEC6C5F80797}"/>
              </a:ext>
            </a:extLst>
          </p:cNvPr>
          <p:cNvGrpSpPr/>
          <p:nvPr/>
        </p:nvGrpSpPr>
        <p:grpSpPr>
          <a:xfrm>
            <a:off x="203861" y="4845333"/>
            <a:ext cx="6954225" cy="1396923"/>
            <a:chOff x="1363795" y="4921533"/>
            <a:chExt cx="6954225" cy="1396923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22DFAA51-C6D3-9FCC-9035-87E9C9207526}"/>
                </a:ext>
              </a:extLst>
            </p:cNvPr>
            <p:cNvSpPr/>
            <p:nvPr/>
          </p:nvSpPr>
          <p:spPr>
            <a:xfrm>
              <a:off x="1363795" y="4921533"/>
              <a:ext cx="6954225" cy="1396923"/>
            </a:xfrm>
            <a:prstGeom prst="rect">
              <a:avLst/>
            </a:prstGeom>
            <a:solidFill>
              <a:srgbClr val="DFE3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49263" algn="just">
                <a:lnSpc>
                  <a:spcPct val="150000"/>
                </a:lnSpc>
              </a:pPr>
              <a:r>
                <a:rPr lang="fr-FR" sz="1400" dirty="0">
                  <a:solidFill>
                    <a:srgbClr val="00547F"/>
                  </a:solidFill>
                </a:rPr>
                <a:t>Le capteur d’effort est un capteur présent uniquement pour des raisons pédagogiques.</a:t>
              </a:r>
            </a:p>
            <a:p>
              <a:pPr marL="449263" algn="just">
                <a:lnSpc>
                  <a:spcPct val="150000"/>
                </a:lnSpc>
              </a:pPr>
              <a:r>
                <a:rPr lang="fr-FR" sz="1400" dirty="0">
                  <a:solidFill>
                    <a:srgbClr val="00547F"/>
                  </a:solidFill>
                </a:rPr>
                <a:t>Les détecteurs de fin de course permettent l’initialisation des codeurs. </a:t>
              </a:r>
            </a:p>
            <a:p>
              <a:pPr marL="449263" algn="just">
                <a:lnSpc>
                  <a:spcPct val="150000"/>
                </a:lnSpc>
              </a:pPr>
              <a:r>
                <a:rPr lang="fr-FR" sz="1400" dirty="0">
                  <a:solidFill>
                    <a:srgbClr val="00547F"/>
                  </a:solidFill>
                </a:rPr>
                <a:t>Les codeurs sont indispensables pour connaître l’enroulement des câbles.</a:t>
              </a:r>
            </a:p>
            <a:p>
              <a:pPr marL="449263" algn="just">
                <a:lnSpc>
                  <a:spcPct val="150000"/>
                </a:lnSpc>
              </a:pPr>
              <a:r>
                <a:rPr lang="fr-FR" sz="1400" dirty="0">
                  <a:solidFill>
                    <a:srgbClr val="00547F"/>
                  </a:solidFill>
                </a:rPr>
                <a:t>Les capteur de courant sont utilisés par la boucle d’asservissement du moteur. </a:t>
              </a:r>
            </a:p>
          </p:txBody>
        </p:sp>
        <p:grpSp>
          <p:nvGrpSpPr>
            <p:cNvPr id="73" name="Groupe 72">
              <a:extLst>
                <a:ext uri="{FF2B5EF4-FFF2-40B4-BE49-F238E27FC236}">
                  <a16:creationId xmlns:a16="http://schemas.microsoft.com/office/drawing/2014/main" id="{DA894BE2-9BF5-B8A6-89C8-0172BC3DDEE9}"/>
                </a:ext>
              </a:extLst>
            </p:cNvPr>
            <p:cNvGrpSpPr/>
            <p:nvPr/>
          </p:nvGrpSpPr>
          <p:grpSpPr>
            <a:xfrm>
              <a:off x="1484641" y="5041263"/>
              <a:ext cx="288000" cy="288000"/>
              <a:chOff x="-2063262" y="2086237"/>
              <a:chExt cx="1800000" cy="1800000"/>
            </a:xfrm>
          </p:grpSpPr>
          <p:sp>
            <p:nvSpPr>
              <p:cNvPr id="74" name="Ellipse 73">
                <a:extLst>
                  <a:ext uri="{FF2B5EF4-FFF2-40B4-BE49-F238E27FC236}">
                    <a16:creationId xmlns:a16="http://schemas.microsoft.com/office/drawing/2014/main" id="{11548EAF-197C-6CDB-A82E-4D0333560A14}"/>
                  </a:ext>
                </a:extLst>
              </p:cNvPr>
              <p:cNvSpPr/>
              <p:nvPr/>
            </p:nvSpPr>
            <p:spPr>
              <a:xfrm>
                <a:off x="-2063262" y="2086237"/>
                <a:ext cx="1800000" cy="1800000"/>
              </a:xfrm>
              <a:prstGeom prst="ellipse">
                <a:avLst/>
              </a:prstGeom>
              <a:solidFill>
                <a:srgbClr val="00547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pic>
            <p:nvPicPr>
              <p:cNvPr id="76" name="Image 75">
                <a:extLst>
                  <a:ext uri="{FF2B5EF4-FFF2-40B4-BE49-F238E27FC236}">
                    <a16:creationId xmlns:a16="http://schemas.microsoft.com/office/drawing/2014/main" id="{DFC763EF-799D-1126-2F97-F74E25B572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-1609131" y="2149544"/>
                <a:ext cx="891738" cy="1673385"/>
              </a:xfrm>
              <a:prstGeom prst="rect">
                <a:avLst/>
              </a:prstGeom>
            </p:spPr>
          </p:pic>
        </p:grpSp>
        <p:grpSp>
          <p:nvGrpSpPr>
            <p:cNvPr id="90" name="Groupe 89">
              <a:extLst>
                <a:ext uri="{FF2B5EF4-FFF2-40B4-BE49-F238E27FC236}">
                  <a16:creationId xmlns:a16="http://schemas.microsoft.com/office/drawing/2014/main" id="{39CA4F3A-0CC6-5041-12E4-236CABBCDF7A}"/>
                </a:ext>
              </a:extLst>
            </p:cNvPr>
            <p:cNvGrpSpPr/>
            <p:nvPr/>
          </p:nvGrpSpPr>
          <p:grpSpPr>
            <a:xfrm>
              <a:off x="1484641" y="5353250"/>
              <a:ext cx="288000" cy="288000"/>
              <a:chOff x="262758" y="2633974"/>
              <a:chExt cx="720000" cy="720000"/>
            </a:xfrm>
          </p:grpSpPr>
          <p:sp>
            <p:nvSpPr>
              <p:cNvPr id="111" name="Ellipse 110">
                <a:extLst>
                  <a:ext uri="{FF2B5EF4-FFF2-40B4-BE49-F238E27FC236}">
                    <a16:creationId xmlns:a16="http://schemas.microsoft.com/office/drawing/2014/main" id="{5430EF8A-90C1-B3D1-26FF-6D15AFB32F38}"/>
                  </a:ext>
                </a:extLst>
              </p:cNvPr>
              <p:cNvSpPr/>
              <p:nvPr/>
            </p:nvSpPr>
            <p:spPr>
              <a:xfrm>
                <a:off x="262758" y="2633974"/>
                <a:ext cx="720000" cy="720000"/>
              </a:xfrm>
              <a:prstGeom prst="ellipse">
                <a:avLst/>
              </a:prstGeom>
              <a:solidFill>
                <a:srgbClr val="00547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pic>
            <p:nvPicPr>
              <p:cNvPr id="112" name="Image 111">
                <a:extLst>
                  <a:ext uri="{FF2B5EF4-FFF2-40B4-BE49-F238E27FC236}">
                    <a16:creationId xmlns:a16="http://schemas.microsoft.com/office/drawing/2014/main" id="{6A5B490D-606A-9BCA-4A3E-4EB37ACA7C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63558" y="2734774"/>
                <a:ext cx="518400" cy="518400"/>
              </a:xfrm>
              <a:prstGeom prst="rect">
                <a:avLst/>
              </a:prstGeom>
            </p:spPr>
          </p:pic>
        </p:grpSp>
        <p:grpSp>
          <p:nvGrpSpPr>
            <p:cNvPr id="91" name="Groupe 90">
              <a:extLst>
                <a:ext uri="{FF2B5EF4-FFF2-40B4-BE49-F238E27FC236}">
                  <a16:creationId xmlns:a16="http://schemas.microsoft.com/office/drawing/2014/main" id="{15C75E46-C62B-74DC-A63F-6D5D5761CD65}"/>
                </a:ext>
              </a:extLst>
            </p:cNvPr>
            <p:cNvGrpSpPr/>
            <p:nvPr/>
          </p:nvGrpSpPr>
          <p:grpSpPr>
            <a:xfrm>
              <a:off x="1484641" y="5665237"/>
              <a:ext cx="288000" cy="288000"/>
              <a:chOff x="5404964" y="4396133"/>
              <a:chExt cx="1800000" cy="1800000"/>
            </a:xfrm>
          </p:grpSpPr>
          <p:sp>
            <p:nvSpPr>
              <p:cNvPr id="108" name="Ellipse 107">
                <a:extLst>
                  <a:ext uri="{FF2B5EF4-FFF2-40B4-BE49-F238E27FC236}">
                    <a16:creationId xmlns:a16="http://schemas.microsoft.com/office/drawing/2014/main" id="{AF5557D3-5DA1-E71C-432B-A7D85B18A97E}"/>
                  </a:ext>
                </a:extLst>
              </p:cNvPr>
              <p:cNvSpPr/>
              <p:nvPr/>
            </p:nvSpPr>
            <p:spPr>
              <a:xfrm>
                <a:off x="5404964" y="4396133"/>
                <a:ext cx="1800000" cy="1800000"/>
              </a:xfrm>
              <a:prstGeom prst="ellipse">
                <a:avLst/>
              </a:prstGeom>
              <a:solidFill>
                <a:srgbClr val="0051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pic>
            <p:nvPicPr>
              <p:cNvPr id="109" name="Image 108">
                <a:extLst>
                  <a:ext uri="{FF2B5EF4-FFF2-40B4-BE49-F238E27FC236}">
                    <a16:creationId xmlns:a16="http://schemas.microsoft.com/office/drawing/2014/main" id="{29E4B1D6-F9ED-3FCA-34C2-A6EC5B52DA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543445" y="4536296"/>
                <a:ext cx="1358232" cy="1440000"/>
              </a:xfrm>
              <a:prstGeom prst="rect">
                <a:avLst/>
              </a:prstGeom>
            </p:spPr>
          </p:pic>
        </p:grpSp>
        <p:grpSp>
          <p:nvGrpSpPr>
            <p:cNvPr id="92" name="Groupe 91">
              <a:extLst>
                <a:ext uri="{FF2B5EF4-FFF2-40B4-BE49-F238E27FC236}">
                  <a16:creationId xmlns:a16="http://schemas.microsoft.com/office/drawing/2014/main" id="{8B8478B6-64C7-1525-AF26-1E3243842FA0}"/>
                </a:ext>
              </a:extLst>
            </p:cNvPr>
            <p:cNvGrpSpPr/>
            <p:nvPr/>
          </p:nvGrpSpPr>
          <p:grpSpPr>
            <a:xfrm>
              <a:off x="1484641" y="5977224"/>
              <a:ext cx="288000" cy="288000"/>
              <a:chOff x="6054233" y="4960569"/>
              <a:chExt cx="1800000" cy="1800000"/>
            </a:xfrm>
          </p:grpSpPr>
          <p:sp>
            <p:nvSpPr>
              <p:cNvPr id="100" name="Ellipse 99">
                <a:extLst>
                  <a:ext uri="{FF2B5EF4-FFF2-40B4-BE49-F238E27FC236}">
                    <a16:creationId xmlns:a16="http://schemas.microsoft.com/office/drawing/2014/main" id="{4A5D6224-4FFF-7E77-DEC8-E908D81B7C55}"/>
                  </a:ext>
                </a:extLst>
              </p:cNvPr>
              <p:cNvSpPr/>
              <p:nvPr/>
            </p:nvSpPr>
            <p:spPr>
              <a:xfrm>
                <a:off x="6054233" y="4960569"/>
                <a:ext cx="1800000" cy="1800000"/>
              </a:xfrm>
              <a:prstGeom prst="ellipse">
                <a:avLst/>
              </a:prstGeom>
              <a:solidFill>
                <a:srgbClr val="00547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b="1"/>
              </a:p>
            </p:txBody>
          </p:sp>
          <p:pic>
            <p:nvPicPr>
              <p:cNvPr id="101" name="Image 100">
                <a:extLst>
                  <a:ext uri="{FF2B5EF4-FFF2-40B4-BE49-F238E27FC236}">
                    <a16:creationId xmlns:a16="http://schemas.microsoft.com/office/drawing/2014/main" id="{D44A1A3D-8AE8-434E-87AC-8E12741D19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298697" y="5322283"/>
                <a:ext cx="1311072" cy="1076572"/>
              </a:xfrm>
              <a:prstGeom prst="rect">
                <a:avLst/>
              </a:prstGeom>
            </p:spPr>
          </p:pic>
        </p:grpSp>
      </p:grpSp>
      <p:pic>
        <p:nvPicPr>
          <p:cNvPr id="115" name="Image 114"/>
          <p:cNvPicPr/>
          <p:nvPr/>
        </p:nvPicPr>
        <p:blipFill>
          <a:blip r:embed="rId22"/>
          <a:stretch>
            <a:fillRect/>
          </a:stretch>
        </p:blipFill>
        <p:spPr>
          <a:xfrm>
            <a:off x="10403718" y="128649"/>
            <a:ext cx="1694815" cy="2025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476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re 3">
                <a:extLst>
                  <a:ext uri="{FF2B5EF4-FFF2-40B4-BE49-F238E27FC236}">
                    <a16:creationId xmlns:a16="http://schemas.microsoft.com/office/drawing/2014/main" id="{E5C1CAA4-BEC8-E034-06F5-82D8ED3BFB4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fr-FR" dirty="0"/>
                  <a:t>I3D – Chaine fonctionnelle de l’axe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sub>
                    </m:sSub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4" name="Titre 3">
                <a:extLst>
                  <a:ext uri="{FF2B5EF4-FFF2-40B4-BE49-F238E27FC236}">
                    <a16:creationId xmlns:a16="http://schemas.microsoft.com/office/drawing/2014/main" id="{E5C1CAA4-BEC8-E034-06F5-82D8ED3BFB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000" t="-2759" b="-3103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 4">
            <a:extLst>
              <a:ext uri="{FF2B5EF4-FFF2-40B4-BE49-F238E27FC236}">
                <a16:creationId xmlns:a16="http://schemas.microsoft.com/office/drawing/2014/main" id="{B8345992-3C76-2616-3097-82F05E9F5C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56322"/>
            <a:ext cx="12192000" cy="4745356"/>
          </a:xfrm>
          <a:prstGeom prst="rect">
            <a:avLst/>
          </a:prstGeom>
        </p:spPr>
      </p:pic>
      <p:pic>
        <p:nvPicPr>
          <p:cNvPr id="30" name="Image 29">
            <a:extLst>
              <a:ext uri="{FF2B5EF4-FFF2-40B4-BE49-F238E27FC236}">
                <a16:creationId xmlns:a16="http://schemas.microsoft.com/office/drawing/2014/main" id="{4ADC918F-90C7-E93D-A8FB-8D4CD2DA19A9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7722652" y="1245870"/>
            <a:ext cx="987007" cy="182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2220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E5C1CAA4-BEC8-E034-06F5-82D8ED3BF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I3D – Chaine fonctionnelle de la tête chauffante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F7822C3A-6752-03D9-8DF8-C9BF49763BD8}"/>
              </a:ext>
            </a:extLst>
          </p:cNvPr>
          <p:cNvSpPr/>
          <p:nvPr/>
        </p:nvSpPr>
        <p:spPr>
          <a:xfrm>
            <a:off x="1056905" y="1330378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04F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04F77"/>
                </a:solidFill>
                <a:latin typeface="Arial Nova" panose="020B0504020202020204" pitchFamily="34" charset="0"/>
              </a:rPr>
              <a:t>Acquérir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FEC70D79-FF53-E1E6-8F5D-7DB4552BDEB8}"/>
              </a:ext>
            </a:extLst>
          </p:cNvPr>
          <p:cNvSpPr/>
          <p:nvPr/>
        </p:nvSpPr>
        <p:spPr>
          <a:xfrm>
            <a:off x="1056905" y="2105524"/>
            <a:ext cx="1440000" cy="536003"/>
          </a:xfrm>
          <a:prstGeom prst="roundRect">
            <a:avLst>
              <a:gd name="adj" fmla="val 11914"/>
            </a:avLst>
          </a:prstGeom>
          <a:solidFill>
            <a:srgbClr val="DFE3EB"/>
          </a:solidFill>
          <a:ln w="19050">
            <a:solidFill>
              <a:srgbClr val="DFE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200" dirty="0">
                <a:solidFill>
                  <a:srgbClr val="004F77"/>
                </a:solidFill>
                <a:latin typeface="Arial Nova" panose="020B0504020202020204" pitchFamily="34" charset="0"/>
              </a:rPr>
              <a:t>Thermistance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492C39D7-C7C7-3458-7E55-FC4FCBD955B0}"/>
              </a:ext>
            </a:extLst>
          </p:cNvPr>
          <p:cNvSpPr/>
          <p:nvPr/>
        </p:nvSpPr>
        <p:spPr>
          <a:xfrm>
            <a:off x="3229319" y="1328842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04F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C7391"/>
                </a:solidFill>
                <a:latin typeface="Arial Nova" panose="020B0504020202020204" pitchFamily="34" charset="0"/>
              </a:rPr>
              <a:t>Traiter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5E73C37F-4A2D-AB41-B3A3-7332F9A357A2}"/>
              </a:ext>
            </a:extLst>
          </p:cNvPr>
          <p:cNvSpPr/>
          <p:nvPr/>
        </p:nvSpPr>
        <p:spPr>
          <a:xfrm>
            <a:off x="3218894" y="2121703"/>
            <a:ext cx="1440000" cy="540000"/>
          </a:xfrm>
          <a:prstGeom prst="roundRect">
            <a:avLst>
              <a:gd name="adj" fmla="val 11914"/>
            </a:avLst>
          </a:prstGeom>
          <a:solidFill>
            <a:srgbClr val="E4EBF0"/>
          </a:solidFill>
          <a:ln w="19050">
            <a:solidFill>
              <a:srgbClr val="E4EB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0C7391"/>
                </a:solidFill>
                <a:latin typeface="Arial Nova" panose="020B0504020202020204" pitchFamily="34" charset="0"/>
              </a:rPr>
              <a:t>Carte </a:t>
            </a:r>
            <a:r>
              <a:rPr lang="fr-FR" sz="1200" dirty="0" err="1">
                <a:solidFill>
                  <a:srgbClr val="0C7391"/>
                </a:solidFill>
                <a:latin typeface="Arial Nova" panose="020B0504020202020204" pitchFamily="34" charset="0"/>
              </a:rPr>
              <a:t>eMOTRONIC</a:t>
            </a:r>
            <a:endParaRPr lang="fr-FR" sz="1200" dirty="0">
              <a:solidFill>
                <a:srgbClr val="0C7391"/>
              </a:solidFill>
              <a:latin typeface="Arial Nova" panose="020B0504020202020204" pitchFamily="34" charset="0"/>
            </a:endParaRP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8BE8DB55-CD2C-9609-869B-BFB5FBA5A6D3}"/>
              </a:ext>
            </a:extLst>
          </p:cNvPr>
          <p:cNvSpPr/>
          <p:nvPr/>
        </p:nvSpPr>
        <p:spPr>
          <a:xfrm>
            <a:off x="5389319" y="1306501"/>
            <a:ext cx="1440000" cy="576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8A5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8A559"/>
                </a:solidFill>
                <a:latin typeface="Arial Nova" panose="020B0504020202020204" pitchFamily="34" charset="0"/>
              </a:rPr>
              <a:t>Communiquer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E7C50B13-9945-267C-9C0F-3901C1922B55}"/>
              </a:ext>
            </a:extLst>
          </p:cNvPr>
          <p:cNvSpPr/>
          <p:nvPr/>
        </p:nvSpPr>
        <p:spPr>
          <a:xfrm>
            <a:off x="5389319" y="2100470"/>
            <a:ext cx="1406281" cy="534390"/>
          </a:xfrm>
          <a:prstGeom prst="roundRect">
            <a:avLst>
              <a:gd name="adj" fmla="val 11914"/>
            </a:avLst>
          </a:prstGeom>
          <a:solidFill>
            <a:srgbClr val="E8F3E8"/>
          </a:solidFill>
          <a:ln w="19050">
            <a:solidFill>
              <a:srgbClr val="E8F3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08A559"/>
                </a:solidFill>
                <a:latin typeface="Arial Nova" panose="020B0504020202020204" pitchFamily="34" charset="0"/>
              </a:rPr>
              <a:t>Carte </a:t>
            </a:r>
            <a:r>
              <a:rPr lang="fr-FR" sz="1200" dirty="0" err="1">
                <a:solidFill>
                  <a:srgbClr val="08A559"/>
                </a:solidFill>
                <a:latin typeface="Arial Nova" panose="020B0504020202020204" pitchFamily="34" charset="0"/>
              </a:rPr>
              <a:t>eMOTRONIC</a:t>
            </a:r>
            <a:endParaRPr lang="fr-FR" sz="1200" dirty="0">
              <a:solidFill>
                <a:srgbClr val="08A559"/>
              </a:solidFill>
              <a:latin typeface="Arial Nova" panose="020B0504020202020204" pitchFamily="34" charset="0"/>
            </a:endParaRP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8CFBB7BE-C306-859A-CF41-F04DD9BC455C}"/>
              </a:ext>
            </a:extLst>
          </p:cNvPr>
          <p:cNvSpPr/>
          <p:nvPr/>
        </p:nvSpPr>
        <p:spPr>
          <a:xfrm>
            <a:off x="1056905" y="3323232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FDAD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FDAD57"/>
                </a:solidFill>
                <a:latin typeface="Arial Nova" panose="020B0504020202020204" pitchFamily="34" charset="0"/>
              </a:rPr>
              <a:t>Alimenter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D364B3FD-91A8-1B5F-5FD3-55E164E3B9AE}"/>
              </a:ext>
            </a:extLst>
          </p:cNvPr>
          <p:cNvSpPr/>
          <p:nvPr/>
        </p:nvSpPr>
        <p:spPr>
          <a:xfrm>
            <a:off x="1056905" y="4017987"/>
            <a:ext cx="1440000" cy="540000"/>
          </a:xfrm>
          <a:prstGeom prst="roundRect">
            <a:avLst>
              <a:gd name="adj" fmla="val 11914"/>
            </a:avLst>
          </a:prstGeom>
          <a:solidFill>
            <a:srgbClr val="FEE6CC"/>
          </a:solidFill>
          <a:ln w="19050">
            <a:solidFill>
              <a:srgbClr val="FEE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FDAD57"/>
                </a:solidFill>
                <a:latin typeface="Arial Nova" panose="020B0504020202020204" pitchFamily="34" charset="0"/>
              </a:rPr>
              <a:t>Alimentation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96A2B729-7EE6-8CA6-72B2-5A16AA5A785A}"/>
              </a:ext>
            </a:extLst>
          </p:cNvPr>
          <p:cNvSpPr/>
          <p:nvPr/>
        </p:nvSpPr>
        <p:spPr>
          <a:xfrm>
            <a:off x="3218894" y="3318469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C739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C7391"/>
                </a:solidFill>
                <a:latin typeface="Arial Nova" panose="020B0504020202020204" pitchFamily="34" charset="0"/>
              </a:rPr>
              <a:t>Distribuer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3841B1B6-C546-170C-78BF-906D65F5DAA8}"/>
              </a:ext>
            </a:extLst>
          </p:cNvPr>
          <p:cNvSpPr/>
          <p:nvPr/>
        </p:nvSpPr>
        <p:spPr>
          <a:xfrm>
            <a:off x="3229319" y="4003689"/>
            <a:ext cx="1440000" cy="540001"/>
          </a:xfrm>
          <a:prstGeom prst="roundRect">
            <a:avLst>
              <a:gd name="adj" fmla="val 11914"/>
            </a:avLst>
          </a:prstGeom>
          <a:solidFill>
            <a:srgbClr val="9EC7D3"/>
          </a:solidFill>
          <a:ln w="19050">
            <a:solidFill>
              <a:srgbClr val="9EC7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0C7391"/>
                </a:solidFill>
                <a:latin typeface="Arial Nova" panose="020B0504020202020204" pitchFamily="34" charset="0"/>
              </a:rPr>
              <a:t>Carte </a:t>
            </a:r>
            <a:r>
              <a:rPr lang="fr-FR" sz="1200" dirty="0" err="1">
                <a:solidFill>
                  <a:srgbClr val="0C7391"/>
                </a:solidFill>
                <a:latin typeface="Arial Nova" panose="020B0504020202020204" pitchFamily="34" charset="0"/>
              </a:rPr>
              <a:t>eMOTRONIC</a:t>
            </a:r>
            <a:endParaRPr lang="fr-FR" sz="1200" dirty="0">
              <a:solidFill>
                <a:srgbClr val="0C7391"/>
              </a:solidFill>
              <a:latin typeface="Arial Nova" panose="020B0504020202020204" pitchFamily="34" charset="0"/>
            </a:endParaRPr>
          </a:p>
          <a:p>
            <a:pPr algn="ctr"/>
            <a:r>
              <a:rPr lang="fr-FR" sz="1200" dirty="0">
                <a:solidFill>
                  <a:srgbClr val="0C7391"/>
                </a:solidFill>
                <a:latin typeface="Arial Nova" panose="020B0504020202020204" pitchFamily="34" charset="0"/>
              </a:rPr>
              <a:t>Hacheur</a:t>
            </a:r>
            <a:endParaRPr lang="fr-FR" sz="2000" dirty="0">
              <a:solidFill>
                <a:srgbClr val="0C7391"/>
              </a:solidFill>
              <a:latin typeface="Arial Nova" panose="020B0504020202020204" pitchFamily="34" charset="0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B8181AD4-9AB8-CA7B-EFBF-8B9CD4369264}"/>
              </a:ext>
            </a:extLst>
          </p:cNvPr>
          <p:cNvSpPr/>
          <p:nvPr/>
        </p:nvSpPr>
        <p:spPr>
          <a:xfrm>
            <a:off x="5380883" y="3323232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6834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68348B"/>
                </a:solidFill>
                <a:latin typeface="Arial Nova" panose="020B0504020202020204" pitchFamily="34" charset="0"/>
              </a:rPr>
              <a:t>Convertir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7E462E27-42D7-734B-5E6F-B78EF40987B6}"/>
              </a:ext>
            </a:extLst>
          </p:cNvPr>
          <p:cNvSpPr/>
          <p:nvPr/>
        </p:nvSpPr>
        <p:spPr>
          <a:xfrm>
            <a:off x="5389319" y="4003690"/>
            <a:ext cx="1440000" cy="540000"/>
          </a:xfrm>
          <a:prstGeom prst="roundRect">
            <a:avLst>
              <a:gd name="adj" fmla="val 11914"/>
            </a:avLst>
          </a:prstGeom>
          <a:solidFill>
            <a:srgbClr val="C3AED1"/>
          </a:solidFill>
          <a:ln w="19050">
            <a:solidFill>
              <a:srgbClr val="C3AE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68348B"/>
                </a:solidFill>
                <a:latin typeface="Arial Nova" panose="020B0504020202020204" pitchFamily="34" charset="0"/>
              </a:rPr>
              <a:t>Résistance chauffante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AA76E29F-1BCE-DD76-499C-CE8F3E850A8E}"/>
              </a:ext>
            </a:extLst>
          </p:cNvPr>
          <p:cNvSpPr/>
          <p:nvPr/>
        </p:nvSpPr>
        <p:spPr>
          <a:xfrm>
            <a:off x="7542872" y="3326339"/>
            <a:ext cx="1365662" cy="53439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EE685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EE685D"/>
                </a:solidFill>
                <a:latin typeface="Arial Nova" panose="020B0504020202020204" pitchFamily="34" charset="0"/>
              </a:rPr>
              <a:t>Transmettre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A66FC087-C9BC-9FD1-6C13-AD7571852AD4}"/>
              </a:ext>
            </a:extLst>
          </p:cNvPr>
          <p:cNvSpPr/>
          <p:nvPr/>
        </p:nvSpPr>
        <p:spPr>
          <a:xfrm>
            <a:off x="7549319" y="3983186"/>
            <a:ext cx="1365662" cy="574801"/>
          </a:xfrm>
          <a:prstGeom prst="roundRect">
            <a:avLst>
              <a:gd name="adj" fmla="val 11914"/>
            </a:avLst>
          </a:prstGeom>
          <a:solidFill>
            <a:srgbClr val="F7B8B3"/>
          </a:solidFill>
          <a:ln w="19050">
            <a:solidFill>
              <a:srgbClr val="F7B8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EE685D"/>
                </a:solidFill>
                <a:latin typeface="Arial Nova" panose="020B0504020202020204" pitchFamily="34" charset="0"/>
              </a:rPr>
              <a:t>Bloc aluminium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7282EFC0-8E54-A4E0-6953-44E98A7B8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826" y="1384349"/>
            <a:ext cx="434918" cy="152010"/>
          </a:xfrm>
          <a:prstGeom prst="rect">
            <a:avLst/>
          </a:prstGeom>
        </p:spPr>
      </p:pic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BE599621-6A35-D218-9184-0073520A41FC}"/>
              </a:ext>
            </a:extLst>
          </p:cNvPr>
          <p:cNvCxnSpPr>
            <a:cxnSpLocks/>
          </p:cNvCxnSpPr>
          <p:nvPr/>
        </p:nvCxnSpPr>
        <p:spPr>
          <a:xfrm flipV="1">
            <a:off x="2496905" y="1608451"/>
            <a:ext cx="720000" cy="1536"/>
          </a:xfrm>
          <a:prstGeom prst="straightConnector1">
            <a:avLst/>
          </a:prstGeom>
          <a:ln w="25400" cap="rnd">
            <a:solidFill>
              <a:srgbClr val="004F7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25CB3708-D27C-9C0F-920D-E2174EF1D3C1}"/>
              </a:ext>
            </a:extLst>
          </p:cNvPr>
          <p:cNvCxnSpPr/>
          <p:nvPr/>
        </p:nvCxnSpPr>
        <p:spPr>
          <a:xfrm flipV="1">
            <a:off x="4669319" y="1594501"/>
            <a:ext cx="720000" cy="1536"/>
          </a:xfrm>
          <a:prstGeom prst="straightConnector1">
            <a:avLst/>
          </a:prstGeom>
          <a:ln w="25400" cap="rnd">
            <a:solidFill>
              <a:srgbClr val="004F7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Image 22">
            <a:extLst>
              <a:ext uri="{FF2B5EF4-FFF2-40B4-BE49-F238E27FC236}">
                <a16:creationId xmlns:a16="http://schemas.microsoft.com/office/drawing/2014/main" id="{6B85577F-75F2-AC91-9B29-7674830D4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894" y="1199142"/>
            <a:ext cx="360000" cy="360000"/>
          </a:xfrm>
          <a:prstGeom prst="rect">
            <a:avLst/>
          </a:prstGeom>
        </p:spPr>
      </p:pic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4D3E9C84-1558-D9D2-B9AE-51FFDFD2ACAC}"/>
              </a:ext>
            </a:extLst>
          </p:cNvPr>
          <p:cNvCxnSpPr>
            <a:cxnSpLocks/>
          </p:cNvCxnSpPr>
          <p:nvPr/>
        </p:nvCxnSpPr>
        <p:spPr>
          <a:xfrm flipV="1">
            <a:off x="2509319" y="3591696"/>
            <a:ext cx="720000" cy="1536"/>
          </a:xfrm>
          <a:prstGeom prst="straightConnector1">
            <a:avLst/>
          </a:prstGeom>
          <a:ln w="25400" cap="rnd">
            <a:solidFill>
              <a:srgbClr val="FDAD5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F7A18018-C728-6B01-3037-0421AF781FBB}"/>
              </a:ext>
            </a:extLst>
          </p:cNvPr>
          <p:cNvGrpSpPr/>
          <p:nvPr/>
        </p:nvGrpSpPr>
        <p:grpSpPr>
          <a:xfrm>
            <a:off x="475722" y="3853365"/>
            <a:ext cx="360000" cy="360000"/>
            <a:chOff x="4197400" y="3547713"/>
            <a:chExt cx="1800000" cy="1800000"/>
          </a:xfrm>
        </p:grpSpPr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AF615AC5-8CF6-FF34-1EF7-5C5D2FE5B9E8}"/>
                </a:ext>
              </a:extLst>
            </p:cNvPr>
            <p:cNvSpPr/>
            <p:nvPr/>
          </p:nvSpPr>
          <p:spPr>
            <a:xfrm>
              <a:off x="4197400" y="3547713"/>
              <a:ext cx="1800000" cy="1800000"/>
            </a:xfrm>
            <a:prstGeom prst="ellipse">
              <a:avLst/>
            </a:prstGeom>
            <a:solidFill>
              <a:srgbClr val="FFB2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7" name="Image 26">
              <a:extLst>
                <a:ext uri="{FF2B5EF4-FFF2-40B4-BE49-F238E27FC236}">
                  <a16:creationId xmlns:a16="http://schemas.microsoft.com/office/drawing/2014/main" id="{D99F6707-A222-D5E1-C4A9-E878E9F04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26157" y="3876470"/>
              <a:ext cx="1142486" cy="1142486"/>
            </a:xfrm>
            <a:prstGeom prst="rect">
              <a:avLst/>
            </a:prstGeom>
          </p:spPr>
        </p:pic>
      </p:grpSp>
      <p:pic>
        <p:nvPicPr>
          <p:cNvPr id="29" name="Image 28">
            <a:extLst>
              <a:ext uri="{FF2B5EF4-FFF2-40B4-BE49-F238E27FC236}">
                <a16:creationId xmlns:a16="http://schemas.microsoft.com/office/drawing/2014/main" id="{3C7DD139-EB5F-1D13-171E-251FB77C6B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6905" y="3173953"/>
            <a:ext cx="360000" cy="360000"/>
          </a:xfrm>
          <a:prstGeom prst="rect">
            <a:avLst/>
          </a:prstGeom>
        </p:spPr>
      </p:pic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6E52C4D0-B55B-30AA-F92B-6E09F0A4D9C9}"/>
              </a:ext>
            </a:extLst>
          </p:cNvPr>
          <p:cNvCxnSpPr>
            <a:cxnSpLocks/>
          </p:cNvCxnSpPr>
          <p:nvPr/>
        </p:nvCxnSpPr>
        <p:spPr>
          <a:xfrm flipV="1">
            <a:off x="4669319" y="3578864"/>
            <a:ext cx="720000" cy="1536"/>
          </a:xfrm>
          <a:prstGeom prst="straightConnector1">
            <a:avLst/>
          </a:prstGeom>
          <a:ln w="25400" cap="rnd">
            <a:solidFill>
              <a:srgbClr val="0C739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Image 34">
            <a:extLst>
              <a:ext uri="{FF2B5EF4-FFF2-40B4-BE49-F238E27FC236}">
                <a16:creationId xmlns:a16="http://schemas.microsoft.com/office/drawing/2014/main" id="{F31071D2-3D9A-9512-E018-EA9EA1D5A0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8894" y="3173953"/>
            <a:ext cx="360000" cy="360000"/>
          </a:xfrm>
          <a:prstGeom prst="rect">
            <a:avLst/>
          </a:prstGeom>
        </p:spPr>
      </p:pic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75B4C387-2DFC-8DD6-0817-E4B93F7F3F85}"/>
              </a:ext>
            </a:extLst>
          </p:cNvPr>
          <p:cNvCxnSpPr>
            <a:cxnSpLocks/>
          </p:cNvCxnSpPr>
          <p:nvPr/>
        </p:nvCxnSpPr>
        <p:spPr>
          <a:xfrm flipV="1">
            <a:off x="6829319" y="3588469"/>
            <a:ext cx="720000" cy="1536"/>
          </a:xfrm>
          <a:prstGeom prst="straightConnector1">
            <a:avLst/>
          </a:prstGeom>
          <a:ln w="25400" cap="rnd">
            <a:solidFill>
              <a:srgbClr val="68348B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 : en angle 43">
            <a:extLst>
              <a:ext uri="{FF2B5EF4-FFF2-40B4-BE49-F238E27FC236}">
                <a16:creationId xmlns:a16="http://schemas.microsoft.com/office/drawing/2014/main" id="{2C5943AA-979A-103D-FC4E-264A925A4FF0}"/>
              </a:ext>
            </a:extLst>
          </p:cNvPr>
          <p:cNvCxnSpPr>
            <a:cxnSpLocks/>
            <a:stCxn id="10" idx="3"/>
            <a:endCxn id="45" idx="3"/>
          </p:cNvCxnSpPr>
          <p:nvPr/>
        </p:nvCxnSpPr>
        <p:spPr>
          <a:xfrm flipH="1">
            <a:off x="6795600" y="1594501"/>
            <a:ext cx="33719" cy="1346496"/>
          </a:xfrm>
          <a:prstGeom prst="bentConnector3">
            <a:avLst>
              <a:gd name="adj1" fmla="val -1067152"/>
            </a:avLst>
          </a:prstGeom>
          <a:ln w="25400">
            <a:solidFill>
              <a:srgbClr val="08A55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 : coins arrondis 44">
            <a:extLst>
              <a:ext uri="{FF2B5EF4-FFF2-40B4-BE49-F238E27FC236}">
                <a16:creationId xmlns:a16="http://schemas.microsoft.com/office/drawing/2014/main" id="{4EDA86AC-B60C-0765-FBC6-4E7119B8D620}"/>
              </a:ext>
            </a:extLst>
          </p:cNvPr>
          <p:cNvSpPr/>
          <p:nvPr/>
        </p:nvSpPr>
        <p:spPr>
          <a:xfrm>
            <a:off x="5389319" y="2775318"/>
            <a:ext cx="1406281" cy="331358"/>
          </a:xfrm>
          <a:prstGeom prst="roundRect">
            <a:avLst>
              <a:gd name="adj" fmla="val 11914"/>
            </a:avLst>
          </a:prstGeom>
          <a:solidFill>
            <a:srgbClr val="08A55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bg1"/>
                </a:solidFill>
                <a:latin typeface="Arial Nova" panose="020B0504020202020204" pitchFamily="34" charset="0"/>
              </a:rPr>
              <a:t>Ordres</a:t>
            </a:r>
          </a:p>
        </p:txBody>
      </p:sp>
      <p:cxnSp>
        <p:nvCxnSpPr>
          <p:cNvPr id="46" name="Connecteur : en angle 45">
            <a:extLst>
              <a:ext uri="{FF2B5EF4-FFF2-40B4-BE49-F238E27FC236}">
                <a16:creationId xmlns:a16="http://schemas.microsoft.com/office/drawing/2014/main" id="{C9DF5005-6531-4D0B-0B32-A0A73479B4F0}"/>
              </a:ext>
            </a:extLst>
          </p:cNvPr>
          <p:cNvCxnSpPr>
            <a:cxnSpLocks/>
            <a:stCxn id="45" idx="1"/>
            <a:endCxn id="14" idx="0"/>
          </p:cNvCxnSpPr>
          <p:nvPr/>
        </p:nvCxnSpPr>
        <p:spPr>
          <a:xfrm rot="10800000" flipV="1">
            <a:off x="3938895" y="2940997"/>
            <a:ext cx="1450425" cy="377472"/>
          </a:xfrm>
          <a:prstGeom prst="bentConnector2">
            <a:avLst/>
          </a:prstGeom>
          <a:ln w="25400">
            <a:solidFill>
              <a:srgbClr val="08A55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Image 46">
            <a:extLst>
              <a:ext uri="{FF2B5EF4-FFF2-40B4-BE49-F238E27FC236}">
                <a16:creationId xmlns:a16="http://schemas.microsoft.com/office/drawing/2014/main" id="{5684C887-250C-3EE4-51A9-97E49BAEE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108" y="2723464"/>
            <a:ext cx="180000" cy="180000"/>
          </a:xfrm>
          <a:prstGeom prst="rect">
            <a:avLst/>
          </a:prstGeom>
        </p:spPr>
      </p:pic>
      <p:pic>
        <p:nvPicPr>
          <p:cNvPr id="48" name="Image 47">
            <a:extLst>
              <a:ext uri="{FF2B5EF4-FFF2-40B4-BE49-F238E27FC236}">
                <a16:creationId xmlns:a16="http://schemas.microsoft.com/office/drawing/2014/main" id="{A2DBB512-E0D6-1DCF-AD42-945E61453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5152" y="2999093"/>
            <a:ext cx="180000" cy="180000"/>
          </a:xfrm>
          <a:prstGeom prst="rect">
            <a:avLst/>
          </a:prstGeom>
        </p:spPr>
      </p:pic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41C8C10B-28B1-AAD9-17B3-48F680D32BCC}"/>
              </a:ext>
            </a:extLst>
          </p:cNvPr>
          <p:cNvSpPr/>
          <p:nvPr/>
        </p:nvSpPr>
        <p:spPr>
          <a:xfrm>
            <a:off x="9634981" y="3314700"/>
            <a:ext cx="1365662" cy="1194790"/>
          </a:xfrm>
          <a:prstGeom prst="roundRect">
            <a:avLst>
              <a:gd name="adj" fmla="val 11914"/>
            </a:avLst>
          </a:prstGeom>
          <a:solidFill>
            <a:srgbClr val="B2CAD6"/>
          </a:solidFill>
          <a:ln w="19050">
            <a:solidFill>
              <a:srgbClr val="B2CA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0D587E"/>
                </a:solidFill>
                <a:latin typeface="Arial Nova" panose="020B0504020202020204" pitchFamily="34" charset="0"/>
              </a:rPr>
              <a:t>Tête d’impression</a:t>
            </a:r>
          </a:p>
        </p:txBody>
      </p:sp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id="{505D6021-1B16-1674-733B-C648AC112904}"/>
              </a:ext>
            </a:extLst>
          </p:cNvPr>
          <p:cNvCxnSpPr>
            <a:cxnSpLocks/>
          </p:cNvCxnSpPr>
          <p:nvPr/>
        </p:nvCxnSpPr>
        <p:spPr>
          <a:xfrm flipV="1">
            <a:off x="8911620" y="3588469"/>
            <a:ext cx="720000" cy="1536"/>
          </a:xfrm>
          <a:prstGeom prst="straightConnector1">
            <a:avLst/>
          </a:prstGeom>
          <a:ln w="25400" cap="rnd">
            <a:solidFill>
              <a:srgbClr val="68348B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Groupe 51">
            <a:extLst>
              <a:ext uri="{FF2B5EF4-FFF2-40B4-BE49-F238E27FC236}">
                <a16:creationId xmlns:a16="http://schemas.microsoft.com/office/drawing/2014/main" id="{C3681FD9-BFE4-7350-1964-9C093DDF1B5E}"/>
              </a:ext>
            </a:extLst>
          </p:cNvPr>
          <p:cNvGrpSpPr/>
          <p:nvPr/>
        </p:nvGrpSpPr>
        <p:grpSpPr>
          <a:xfrm>
            <a:off x="3770117" y="1810931"/>
            <a:ext cx="360000" cy="360000"/>
            <a:chOff x="6138169" y="4069439"/>
            <a:chExt cx="1800000" cy="1800000"/>
          </a:xfrm>
        </p:grpSpPr>
        <p:sp>
          <p:nvSpPr>
            <p:cNvPr id="53" name="Ellipse 52">
              <a:extLst>
                <a:ext uri="{FF2B5EF4-FFF2-40B4-BE49-F238E27FC236}">
                  <a16:creationId xmlns:a16="http://schemas.microsoft.com/office/drawing/2014/main" id="{599396A5-DEE6-FF8C-4576-A72DC9E6130D}"/>
                </a:ext>
              </a:extLst>
            </p:cNvPr>
            <p:cNvSpPr/>
            <p:nvPr/>
          </p:nvSpPr>
          <p:spPr>
            <a:xfrm>
              <a:off x="6138169" y="4069439"/>
              <a:ext cx="1800000" cy="180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54" name="Image 53">
              <a:extLst>
                <a:ext uri="{FF2B5EF4-FFF2-40B4-BE49-F238E27FC236}">
                  <a16:creationId xmlns:a16="http://schemas.microsoft.com/office/drawing/2014/main" id="{F05DEF27-F929-BD20-2E07-1628A11DB34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43433" y="4174703"/>
              <a:ext cx="1589472" cy="1589472"/>
            </a:xfrm>
            <a:prstGeom prst="rect">
              <a:avLst/>
            </a:prstGeom>
          </p:spPr>
        </p:pic>
      </p:grpSp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CEC25A5B-4B64-B67F-296D-04E6B189266D}"/>
              </a:ext>
            </a:extLst>
          </p:cNvPr>
          <p:cNvCxnSpPr/>
          <p:nvPr/>
        </p:nvCxnSpPr>
        <p:spPr>
          <a:xfrm flipV="1">
            <a:off x="6829319" y="1516430"/>
            <a:ext cx="720000" cy="1536"/>
          </a:xfrm>
          <a:prstGeom prst="straightConnector1">
            <a:avLst/>
          </a:prstGeom>
          <a:ln w="25400">
            <a:solidFill>
              <a:srgbClr val="08A55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7F3E2C-9FA7-42D8-DEF0-9439478A5709}"/>
              </a:ext>
            </a:extLst>
          </p:cNvPr>
          <p:cNvGrpSpPr/>
          <p:nvPr/>
        </p:nvGrpSpPr>
        <p:grpSpPr>
          <a:xfrm rot="5400000" flipV="1">
            <a:off x="10181964" y="3934713"/>
            <a:ext cx="835963" cy="1617775"/>
            <a:chOff x="9150640" y="2423323"/>
            <a:chExt cx="835963" cy="2135794"/>
          </a:xfrm>
        </p:grpSpPr>
        <p:sp>
          <p:nvSpPr>
            <p:cNvPr id="58" name="Flèche : virage 57">
              <a:extLst>
                <a:ext uri="{FF2B5EF4-FFF2-40B4-BE49-F238E27FC236}">
                  <a16:creationId xmlns:a16="http://schemas.microsoft.com/office/drawing/2014/main" id="{A404FB7A-E23C-BD6A-6263-4B2DE2013DB7}"/>
                </a:ext>
              </a:extLst>
            </p:cNvPr>
            <p:cNvSpPr/>
            <p:nvPr/>
          </p:nvSpPr>
          <p:spPr>
            <a:xfrm rot="5400000">
              <a:off x="8500725" y="3073238"/>
              <a:ext cx="2135794" cy="835963"/>
            </a:xfrm>
            <a:prstGeom prst="bentArrow">
              <a:avLst>
                <a:gd name="adj1" fmla="val 31434"/>
                <a:gd name="adj2" fmla="val 25000"/>
                <a:gd name="adj3" fmla="val 17852"/>
                <a:gd name="adj4" fmla="val 20160"/>
              </a:avLst>
            </a:prstGeom>
            <a:solidFill>
              <a:srgbClr val="B2CA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59" name="ZoneTexte 58">
              <a:extLst>
                <a:ext uri="{FF2B5EF4-FFF2-40B4-BE49-F238E27FC236}">
                  <a16:creationId xmlns:a16="http://schemas.microsoft.com/office/drawing/2014/main" id="{D9969D2B-BFBA-54A7-C4C5-06DFD5138BC1}"/>
                </a:ext>
              </a:extLst>
            </p:cNvPr>
            <p:cNvSpPr txBox="1"/>
            <p:nvPr/>
          </p:nvSpPr>
          <p:spPr>
            <a:xfrm rot="16200000">
              <a:off x="8815678" y="3247763"/>
              <a:ext cx="1918043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fr-FR" sz="900" dirty="0">
                  <a:solidFill>
                    <a:schemeClr val="bg1"/>
                  </a:solidFill>
                  <a:latin typeface="Arial Nova" panose="020B0504020202020204" pitchFamily="34" charset="0"/>
                </a:rPr>
                <a:t>Tête d’impression chaude</a:t>
              </a:r>
            </a:p>
          </p:txBody>
        </p:sp>
      </p:grp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32A82909-C4F5-9AA0-D150-C388F421C774}"/>
              </a:ext>
            </a:extLst>
          </p:cNvPr>
          <p:cNvGrpSpPr/>
          <p:nvPr/>
        </p:nvGrpSpPr>
        <p:grpSpPr>
          <a:xfrm>
            <a:off x="8594944" y="2722269"/>
            <a:ext cx="1566153" cy="577809"/>
            <a:chOff x="9058474" y="2836569"/>
            <a:chExt cx="1566153" cy="577809"/>
          </a:xfrm>
        </p:grpSpPr>
        <p:sp>
          <p:nvSpPr>
            <p:cNvPr id="61" name="Flèche : virage 60">
              <a:extLst>
                <a:ext uri="{FF2B5EF4-FFF2-40B4-BE49-F238E27FC236}">
                  <a16:creationId xmlns:a16="http://schemas.microsoft.com/office/drawing/2014/main" id="{FED08932-ADD7-D2A1-8E5A-D62CEEB1B93F}"/>
                </a:ext>
              </a:extLst>
            </p:cNvPr>
            <p:cNvSpPr/>
            <p:nvPr/>
          </p:nvSpPr>
          <p:spPr>
            <a:xfrm rot="5400000">
              <a:off x="9563593" y="2353345"/>
              <a:ext cx="572849" cy="1549218"/>
            </a:xfrm>
            <a:prstGeom prst="bentArrow">
              <a:avLst>
                <a:gd name="adj1" fmla="val 38639"/>
                <a:gd name="adj2" fmla="val 38302"/>
                <a:gd name="adj3" fmla="val 16744"/>
                <a:gd name="adj4" fmla="val 20160"/>
              </a:avLst>
            </a:prstGeom>
            <a:solidFill>
              <a:srgbClr val="B2CA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62" name="ZoneTexte 61">
              <a:extLst>
                <a:ext uri="{FF2B5EF4-FFF2-40B4-BE49-F238E27FC236}">
                  <a16:creationId xmlns:a16="http://schemas.microsoft.com/office/drawing/2014/main" id="{2C25BFE2-5262-D3BC-BDD8-923C0B8002AD}"/>
                </a:ext>
              </a:extLst>
            </p:cNvPr>
            <p:cNvSpPr txBox="1"/>
            <p:nvPr/>
          </p:nvSpPr>
          <p:spPr>
            <a:xfrm>
              <a:off x="9058474" y="2836569"/>
              <a:ext cx="1473718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fr-FR" sz="800" dirty="0">
                  <a:solidFill>
                    <a:schemeClr val="bg1"/>
                  </a:solidFill>
                  <a:latin typeface="Arial Nova" panose="020B0504020202020204" pitchFamily="34" charset="0"/>
                </a:rPr>
                <a:t>Tête d’impression froide</a:t>
              </a:r>
            </a:p>
          </p:txBody>
        </p:sp>
      </p:grpSp>
      <p:pic>
        <p:nvPicPr>
          <p:cNvPr id="63" name="Image 62">
            <a:extLst>
              <a:ext uri="{FF2B5EF4-FFF2-40B4-BE49-F238E27FC236}">
                <a16:creationId xmlns:a16="http://schemas.microsoft.com/office/drawing/2014/main" id="{8DAAFC9A-79A3-4B2C-A73E-32BE33F62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545" y="1536359"/>
            <a:ext cx="434918" cy="15201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4" name="ZoneTexte 63">
                <a:extLst>
                  <a:ext uri="{FF2B5EF4-FFF2-40B4-BE49-F238E27FC236}">
                    <a16:creationId xmlns:a16="http://schemas.microsoft.com/office/drawing/2014/main" id="{A29D106A-C634-EC49-818B-7FFD6B86043E}"/>
                  </a:ext>
                </a:extLst>
              </p:cNvPr>
              <p:cNvSpPr txBox="1"/>
              <p:nvPr/>
            </p:nvSpPr>
            <p:spPr>
              <a:xfrm>
                <a:off x="170158" y="3624796"/>
                <a:ext cx="11619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b="1" dirty="0">
                    <a:solidFill>
                      <a:srgbClr val="FFB25A"/>
                    </a:solidFill>
                    <a:latin typeface="Arial Nova" panose="020B0504020202020204" pitchFamily="34" charset="0"/>
                  </a:rPr>
                  <a:t>230 V </a:t>
                </a:r>
                <a14:m>
                  <m:oMath xmlns:m="http://schemas.openxmlformats.org/officeDocument/2006/math">
                    <m:r>
                      <a:rPr lang="fr-FR" sz="1200" b="1" i="1" smtClean="0">
                        <a:solidFill>
                          <a:srgbClr val="FFB25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~</m:t>
                    </m:r>
                  </m:oMath>
                </a14:m>
                <a:endParaRPr lang="fr-FR" sz="1200" b="1" dirty="0">
                  <a:solidFill>
                    <a:srgbClr val="FFB25A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>
          <p:sp>
            <p:nvSpPr>
              <p:cNvPr id="64" name="ZoneTexte 63">
                <a:extLst>
                  <a:ext uri="{FF2B5EF4-FFF2-40B4-BE49-F238E27FC236}">
                    <a16:creationId xmlns:a16="http://schemas.microsoft.com/office/drawing/2014/main" id="{A29D106A-C634-EC49-818B-7FFD6B8604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158" y="3624796"/>
                <a:ext cx="1161960" cy="276999"/>
              </a:xfrm>
              <a:prstGeom prst="rect">
                <a:avLst/>
              </a:prstGeom>
              <a:blipFill>
                <a:blip r:embed="rId7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ZoneTexte 64">
                <a:extLst>
                  <a:ext uri="{FF2B5EF4-FFF2-40B4-BE49-F238E27FC236}">
                    <a16:creationId xmlns:a16="http://schemas.microsoft.com/office/drawing/2014/main" id="{98529472-463C-B655-7D36-3F43A14EC5EF}"/>
                  </a:ext>
                </a:extLst>
              </p:cNvPr>
              <p:cNvSpPr txBox="1"/>
              <p:nvPr/>
            </p:nvSpPr>
            <p:spPr>
              <a:xfrm>
                <a:off x="2282648" y="3611652"/>
                <a:ext cx="11619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b="1" dirty="0">
                    <a:solidFill>
                      <a:srgbClr val="FFB25A"/>
                    </a:solidFill>
                    <a:latin typeface="Arial Nova" panose="020B0504020202020204" pitchFamily="34" charset="0"/>
                  </a:rPr>
                  <a:t> xx V </a:t>
                </a:r>
                <a14:m>
                  <m:oMath xmlns:m="http://schemas.openxmlformats.org/officeDocument/2006/math">
                    <m:r>
                      <a:rPr lang="fr-FR" sz="1200" b="1" i="0" smtClean="0">
                        <a:solidFill>
                          <a:srgbClr val="FFB25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</m:oMath>
                </a14:m>
                <a:endParaRPr lang="fr-FR" sz="1200" b="1" dirty="0">
                  <a:solidFill>
                    <a:srgbClr val="FFB25A"/>
                  </a:solidFill>
                  <a:latin typeface="Arial Nova" panose="020B050402020202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sz="120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𝓟</m:t>
                          </m:r>
                        </m:e>
                        <m:sub>
                          <m:r>
                            <a:rPr lang="fr-FR" sz="120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𝒆𝒍𝒆𝒄</m:t>
                          </m:r>
                        </m:sub>
                      </m:sSub>
                      <m:r>
                        <a:rPr lang="fr-FR" sz="1200" b="1" i="1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sz="1200" b="1" i="1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𝑼𝑰</m:t>
                      </m:r>
                    </m:oMath>
                  </m:oMathPara>
                </a14:m>
                <a:endParaRPr lang="fr-FR" sz="1200" b="1" dirty="0">
                  <a:solidFill>
                    <a:srgbClr val="FFB25A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65" name="ZoneTexte 64">
                <a:extLst>
                  <a:ext uri="{FF2B5EF4-FFF2-40B4-BE49-F238E27FC236}">
                    <a16:creationId xmlns:a16="http://schemas.microsoft.com/office/drawing/2014/main" id="{98529472-463C-B655-7D36-3F43A14EC5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2648" y="3611652"/>
                <a:ext cx="1161960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5" name="Image 74">
            <a:extLst>
              <a:ext uri="{FF2B5EF4-FFF2-40B4-BE49-F238E27FC236}">
                <a16:creationId xmlns:a16="http://schemas.microsoft.com/office/drawing/2014/main" id="{C3984323-3DB7-9552-D8F6-CC335C936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2702" y="4642941"/>
            <a:ext cx="288000" cy="100660"/>
          </a:xfrm>
          <a:prstGeom prst="rect">
            <a:avLst/>
          </a:prstGeom>
        </p:spPr>
      </p:pic>
      <p:grpSp>
        <p:nvGrpSpPr>
          <p:cNvPr id="79" name="Groupe 78">
            <a:extLst>
              <a:ext uri="{FF2B5EF4-FFF2-40B4-BE49-F238E27FC236}">
                <a16:creationId xmlns:a16="http://schemas.microsoft.com/office/drawing/2014/main" id="{E5E8BA72-62F0-623B-BB03-9C97E1215258}"/>
              </a:ext>
            </a:extLst>
          </p:cNvPr>
          <p:cNvGrpSpPr/>
          <p:nvPr/>
        </p:nvGrpSpPr>
        <p:grpSpPr>
          <a:xfrm rot="5400000">
            <a:off x="7557744" y="1266359"/>
            <a:ext cx="540000" cy="540000"/>
            <a:chOff x="8494276" y="748802"/>
            <a:chExt cx="1800000" cy="1800000"/>
          </a:xfrm>
        </p:grpSpPr>
        <p:sp>
          <p:nvSpPr>
            <p:cNvPr id="80" name="Ellipse 79">
              <a:extLst>
                <a:ext uri="{FF2B5EF4-FFF2-40B4-BE49-F238E27FC236}">
                  <a16:creationId xmlns:a16="http://schemas.microsoft.com/office/drawing/2014/main" id="{8797782F-D293-857F-9535-3AEEA223291C}"/>
                </a:ext>
              </a:extLst>
            </p:cNvPr>
            <p:cNvSpPr/>
            <p:nvPr/>
          </p:nvSpPr>
          <p:spPr>
            <a:xfrm>
              <a:off x="8494276" y="748802"/>
              <a:ext cx="1800000" cy="1800000"/>
            </a:xfrm>
            <a:prstGeom prst="ellipse">
              <a:avLst/>
            </a:prstGeom>
            <a:solidFill>
              <a:srgbClr val="08AF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81" name="Image 80">
              <a:extLst>
                <a:ext uri="{FF2B5EF4-FFF2-40B4-BE49-F238E27FC236}">
                  <a16:creationId xmlns:a16="http://schemas.microsoft.com/office/drawing/2014/main" id="{3C056DE1-E9CB-4E8C-3E56-45F4E72EDF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943232" y="938192"/>
              <a:ext cx="902088" cy="1440000"/>
            </a:xfrm>
            <a:prstGeom prst="rect">
              <a:avLst/>
            </a:prstGeom>
          </p:spPr>
        </p:pic>
      </p:grpSp>
      <p:sp>
        <p:nvSpPr>
          <p:cNvPr id="72" name="Rectangle 71">
            <a:extLst>
              <a:ext uri="{FF2B5EF4-FFF2-40B4-BE49-F238E27FC236}">
                <a16:creationId xmlns:a16="http://schemas.microsoft.com/office/drawing/2014/main" id="{22DFAA51-C6D3-9FCC-9035-87E9C9207526}"/>
              </a:ext>
            </a:extLst>
          </p:cNvPr>
          <p:cNvSpPr/>
          <p:nvPr/>
        </p:nvSpPr>
        <p:spPr>
          <a:xfrm>
            <a:off x="461781" y="4858776"/>
            <a:ext cx="6954225" cy="458305"/>
          </a:xfrm>
          <a:prstGeom prst="rect">
            <a:avLst/>
          </a:prstGeom>
          <a:solidFill>
            <a:srgbClr val="DFE3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9263" algn="just">
              <a:lnSpc>
                <a:spcPct val="150000"/>
              </a:lnSpc>
            </a:pPr>
            <a:r>
              <a:rPr lang="fr-FR" sz="1400" dirty="0">
                <a:solidFill>
                  <a:srgbClr val="00547F"/>
                </a:solidFill>
              </a:rPr>
              <a:t>La thermistance permet d’assurer la régulation en température de la buse.</a:t>
            </a:r>
          </a:p>
        </p:txBody>
      </p:sp>
      <p:grpSp>
        <p:nvGrpSpPr>
          <p:cNvPr id="103" name="Groupe 102">
            <a:extLst>
              <a:ext uri="{FF2B5EF4-FFF2-40B4-BE49-F238E27FC236}">
                <a16:creationId xmlns:a16="http://schemas.microsoft.com/office/drawing/2014/main" id="{58AD15BE-FF0B-AB8F-1B32-BB8FEEBA2DEA}"/>
              </a:ext>
            </a:extLst>
          </p:cNvPr>
          <p:cNvGrpSpPr/>
          <p:nvPr/>
        </p:nvGrpSpPr>
        <p:grpSpPr>
          <a:xfrm>
            <a:off x="4230625" y="3701815"/>
            <a:ext cx="360000" cy="360000"/>
            <a:chOff x="4235640" y="2696679"/>
            <a:chExt cx="1800000" cy="1800000"/>
          </a:xfrm>
        </p:grpSpPr>
        <p:sp>
          <p:nvSpPr>
            <p:cNvPr id="104" name="Ellipse 103">
              <a:extLst>
                <a:ext uri="{FF2B5EF4-FFF2-40B4-BE49-F238E27FC236}">
                  <a16:creationId xmlns:a16="http://schemas.microsoft.com/office/drawing/2014/main" id="{617E9B91-42CB-D7A6-CB9D-2F41FFC4BB96}"/>
                </a:ext>
              </a:extLst>
            </p:cNvPr>
            <p:cNvSpPr/>
            <p:nvPr/>
          </p:nvSpPr>
          <p:spPr>
            <a:xfrm>
              <a:off x="4235640" y="2696679"/>
              <a:ext cx="1800000" cy="1800000"/>
            </a:xfrm>
            <a:prstGeom prst="ellipse">
              <a:avLst/>
            </a:prstGeom>
            <a:solidFill>
              <a:srgbClr val="0C73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105" name="Image 104">
              <a:extLst>
                <a:ext uri="{FF2B5EF4-FFF2-40B4-BE49-F238E27FC236}">
                  <a16:creationId xmlns:a16="http://schemas.microsoft.com/office/drawing/2014/main" id="{99E60331-B84D-5566-9183-29714B6CEC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451640" y="3100228"/>
              <a:ext cx="1368000" cy="992903"/>
            </a:xfrm>
            <a:prstGeom prst="rect">
              <a:avLst/>
            </a:prstGeom>
          </p:spPr>
        </p:pic>
      </p:grpSp>
      <p:grpSp>
        <p:nvGrpSpPr>
          <p:cNvPr id="2" name="Groupe 1">
            <a:extLst>
              <a:ext uri="{FF2B5EF4-FFF2-40B4-BE49-F238E27FC236}">
                <a16:creationId xmlns:a16="http://schemas.microsoft.com/office/drawing/2014/main" id="{7CC15EA9-4198-B8DB-57C0-6420E633048A}"/>
              </a:ext>
            </a:extLst>
          </p:cNvPr>
          <p:cNvGrpSpPr/>
          <p:nvPr/>
        </p:nvGrpSpPr>
        <p:grpSpPr>
          <a:xfrm>
            <a:off x="1596905" y="1770769"/>
            <a:ext cx="360000" cy="360000"/>
            <a:chOff x="2661375" y="133118"/>
            <a:chExt cx="720000" cy="720000"/>
          </a:xfrm>
        </p:grpSpPr>
        <p:sp>
          <p:nvSpPr>
            <p:cNvPr id="3" name="Ellipse 2">
              <a:extLst>
                <a:ext uri="{FF2B5EF4-FFF2-40B4-BE49-F238E27FC236}">
                  <a16:creationId xmlns:a16="http://schemas.microsoft.com/office/drawing/2014/main" id="{53B975CA-E54E-5439-8DF8-5442D2D5A07F}"/>
                </a:ext>
              </a:extLst>
            </p:cNvPr>
            <p:cNvSpPr/>
            <p:nvPr/>
          </p:nvSpPr>
          <p:spPr>
            <a:xfrm>
              <a:off x="2661375" y="133118"/>
              <a:ext cx="720000" cy="72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4AFF08F4-9A3F-379B-CD37-F985E55792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881875" y="205118"/>
              <a:ext cx="279001" cy="576000"/>
            </a:xfrm>
            <a:prstGeom prst="rect">
              <a:avLst/>
            </a:prstGeom>
          </p:spPr>
        </p:pic>
      </p:grp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F9B3D931-CBC7-898B-6B71-7D90A7C401F3}"/>
              </a:ext>
            </a:extLst>
          </p:cNvPr>
          <p:cNvGrpSpPr/>
          <p:nvPr/>
        </p:nvGrpSpPr>
        <p:grpSpPr>
          <a:xfrm>
            <a:off x="5916000" y="3726883"/>
            <a:ext cx="360000" cy="360000"/>
            <a:chOff x="10288921" y="4962102"/>
            <a:chExt cx="1800000" cy="1800000"/>
          </a:xfrm>
        </p:grpSpPr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C8E53805-9DF8-5BF6-6CF5-D053CEE86D2B}"/>
                </a:ext>
              </a:extLst>
            </p:cNvPr>
            <p:cNvSpPr/>
            <p:nvPr/>
          </p:nvSpPr>
          <p:spPr>
            <a:xfrm>
              <a:off x="10288921" y="4962102"/>
              <a:ext cx="1800000" cy="1800000"/>
            </a:xfrm>
            <a:prstGeom prst="ellipse">
              <a:avLst/>
            </a:prstGeom>
            <a:solidFill>
              <a:srgbClr val="6834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32" name="Image 31">
              <a:extLst>
                <a:ext uri="{FF2B5EF4-FFF2-40B4-BE49-F238E27FC236}">
                  <a16:creationId xmlns:a16="http://schemas.microsoft.com/office/drawing/2014/main" id="{5144BCC3-5BCE-084B-31A4-3A8EABEBF1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0628350" y="5172435"/>
              <a:ext cx="1121142" cy="1332826"/>
            </a:xfrm>
            <a:prstGeom prst="rect">
              <a:avLst/>
            </a:prstGeom>
          </p:spPr>
        </p:pic>
      </p:grp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12746A10-06E0-18F6-D798-E5BC7D6AD5C8}"/>
              </a:ext>
            </a:extLst>
          </p:cNvPr>
          <p:cNvGrpSpPr/>
          <p:nvPr/>
        </p:nvGrpSpPr>
        <p:grpSpPr>
          <a:xfrm>
            <a:off x="8081703" y="4365490"/>
            <a:ext cx="288000" cy="288000"/>
            <a:chOff x="2661375" y="133118"/>
            <a:chExt cx="720000" cy="720000"/>
          </a:xfrm>
        </p:grpSpPr>
        <p:sp>
          <p:nvSpPr>
            <p:cNvPr id="36" name="Ellipse 35">
              <a:extLst>
                <a:ext uri="{FF2B5EF4-FFF2-40B4-BE49-F238E27FC236}">
                  <a16:creationId xmlns:a16="http://schemas.microsoft.com/office/drawing/2014/main" id="{8C7478A4-4970-1DA6-C997-09D1B55018D0}"/>
                </a:ext>
              </a:extLst>
            </p:cNvPr>
            <p:cNvSpPr/>
            <p:nvPr/>
          </p:nvSpPr>
          <p:spPr>
            <a:xfrm>
              <a:off x="2661375" y="133118"/>
              <a:ext cx="720000" cy="72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37" name="Image 36">
              <a:extLst>
                <a:ext uri="{FF2B5EF4-FFF2-40B4-BE49-F238E27FC236}">
                  <a16:creationId xmlns:a16="http://schemas.microsoft.com/office/drawing/2014/main" id="{6E57C66C-0DED-F402-B8A0-B5053FD9EF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881875" y="205118"/>
              <a:ext cx="279001" cy="576000"/>
            </a:xfrm>
            <a:prstGeom prst="rect">
              <a:avLst/>
            </a:prstGeom>
          </p:spPr>
        </p:pic>
      </p:grpSp>
      <p:pic>
        <p:nvPicPr>
          <p:cNvPr id="42" name="Image 41">
            <a:extLst>
              <a:ext uri="{FF2B5EF4-FFF2-40B4-BE49-F238E27FC236}">
                <a16:creationId xmlns:a16="http://schemas.microsoft.com/office/drawing/2014/main" id="{D16C93A5-CA91-D497-642B-B8498520FA2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98537" y="3223934"/>
            <a:ext cx="163132" cy="336286"/>
          </a:xfrm>
          <a:prstGeom prst="rect">
            <a:avLst/>
          </a:prstGeom>
        </p:spPr>
      </p:pic>
      <p:pic>
        <p:nvPicPr>
          <p:cNvPr id="51" name="Image 50">
            <a:extLst>
              <a:ext uri="{FF2B5EF4-FFF2-40B4-BE49-F238E27FC236}">
                <a16:creationId xmlns:a16="http://schemas.microsoft.com/office/drawing/2014/main" id="{4647385B-A0EE-BA81-AD81-EEACDDA2DFD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89737" y="3217594"/>
            <a:ext cx="163132" cy="336286"/>
          </a:xfrm>
          <a:prstGeom prst="rect">
            <a:avLst/>
          </a:prstGeom>
        </p:spPr>
      </p:pic>
      <p:grpSp>
        <p:nvGrpSpPr>
          <p:cNvPr id="66" name="Groupe 65">
            <a:extLst>
              <a:ext uri="{FF2B5EF4-FFF2-40B4-BE49-F238E27FC236}">
                <a16:creationId xmlns:a16="http://schemas.microsoft.com/office/drawing/2014/main" id="{795310B0-31AE-7004-0D4E-EA3F185CB336}"/>
              </a:ext>
            </a:extLst>
          </p:cNvPr>
          <p:cNvGrpSpPr/>
          <p:nvPr/>
        </p:nvGrpSpPr>
        <p:grpSpPr>
          <a:xfrm>
            <a:off x="607138" y="4990346"/>
            <a:ext cx="288000" cy="288000"/>
            <a:chOff x="2661375" y="133118"/>
            <a:chExt cx="720000" cy="720000"/>
          </a:xfrm>
        </p:grpSpPr>
        <p:sp>
          <p:nvSpPr>
            <p:cNvPr id="67" name="Ellipse 66">
              <a:extLst>
                <a:ext uri="{FF2B5EF4-FFF2-40B4-BE49-F238E27FC236}">
                  <a16:creationId xmlns:a16="http://schemas.microsoft.com/office/drawing/2014/main" id="{6BB02F96-5624-EA0E-3E22-E9CC1CDD77D0}"/>
                </a:ext>
              </a:extLst>
            </p:cNvPr>
            <p:cNvSpPr/>
            <p:nvPr/>
          </p:nvSpPr>
          <p:spPr>
            <a:xfrm>
              <a:off x="2661375" y="133118"/>
              <a:ext cx="720000" cy="72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68" name="Image 67">
              <a:extLst>
                <a:ext uri="{FF2B5EF4-FFF2-40B4-BE49-F238E27FC236}">
                  <a16:creationId xmlns:a16="http://schemas.microsoft.com/office/drawing/2014/main" id="{816A5883-1569-0957-EDCC-51E4B11AD0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881875" y="205118"/>
              <a:ext cx="279001" cy="57600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ZoneTexte 37">
                <a:extLst>
                  <a:ext uri="{FF2B5EF4-FFF2-40B4-BE49-F238E27FC236}">
                    <a16:creationId xmlns:a16="http://schemas.microsoft.com/office/drawing/2014/main" id="{5863B0B5-2860-F64C-0067-FC8D4998B8FF}"/>
                  </a:ext>
                </a:extLst>
              </p:cNvPr>
              <p:cNvSpPr txBox="1"/>
              <p:nvPr/>
            </p:nvSpPr>
            <p:spPr>
              <a:xfrm>
                <a:off x="4434842" y="3600513"/>
                <a:ext cx="11619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b="1" dirty="0">
                    <a:solidFill>
                      <a:srgbClr val="FFB25A"/>
                    </a:solidFill>
                    <a:latin typeface="Arial Nova" panose="020B0504020202020204" pitchFamily="34" charset="0"/>
                  </a:rPr>
                  <a:t> 24 V </a:t>
                </a:r>
                <a14:m>
                  <m:oMath xmlns:m="http://schemas.openxmlformats.org/officeDocument/2006/math">
                    <m:r>
                      <a:rPr lang="fr-FR" sz="1200" b="1" i="0" smtClean="0">
                        <a:solidFill>
                          <a:srgbClr val="FFB25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</m:oMath>
                </a14:m>
                <a:endParaRPr lang="fr-FR" sz="1200" b="1" dirty="0">
                  <a:solidFill>
                    <a:srgbClr val="FFB25A"/>
                  </a:solidFill>
                  <a:latin typeface="Arial Nova" panose="020B050402020202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sz="120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𝓟</m:t>
                          </m:r>
                        </m:e>
                        <m:sub>
                          <m:r>
                            <a:rPr lang="fr-FR" sz="120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𝒆𝒍𝒆𝒄</m:t>
                          </m:r>
                        </m:sub>
                      </m:sSub>
                      <m:r>
                        <a:rPr lang="fr-FR" sz="1200" b="1" i="1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sz="1200" b="1" i="1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𝑼𝑰</m:t>
                      </m:r>
                    </m:oMath>
                  </m:oMathPara>
                </a14:m>
                <a:endParaRPr lang="fr-FR" sz="1200" b="1" dirty="0">
                  <a:solidFill>
                    <a:srgbClr val="FFB25A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38" name="ZoneTexte 37">
                <a:extLst>
                  <a:ext uri="{FF2B5EF4-FFF2-40B4-BE49-F238E27FC236}">
                    <a16:creationId xmlns:a16="http://schemas.microsoft.com/office/drawing/2014/main" id="{5863B0B5-2860-F64C-0067-FC8D4998B8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4842" y="3600513"/>
                <a:ext cx="1161960" cy="461665"/>
              </a:xfrm>
              <a:prstGeom prst="rect">
                <a:avLst/>
              </a:prstGeom>
              <a:blipFill>
                <a:blip r:embed="rId16"/>
                <a:stretch>
                  <a:fillRect t="-13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Connecteur : en angle 42">
            <a:extLst>
              <a:ext uri="{FF2B5EF4-FFF2-40B4-BE49-F238E27FC236}">
                <a16:creationId xmlns:a16="http://schemas.microsoft.com/office/drawing/2014/main" id="{CB36E0AD-017E-725C-19A6-24C8AF9C3865}"/>
              </a:ext>
            </a:extLst>
          </p:cNvPr>
          <p:cNvCxnSpPr>
            <a:stCxn id="19" idx="2"/>
            <a:endCxn id="3" idx="2"/>
          </p:cNvCxnSpPr>
          <p:nvPr/>
        </p:nvCxnSpPr>
        <p:spPr>
          <a:xfrm rot="5400000" flipH="1">
            <a:off x="3610919" y="-63244"/>
            <a:ext cx="2607218" cy="6635245"/>
          </a:xfrm>
          <a:prstGeom prst="bentConnector4">
            <a:avLst>
              <a:gd name="adj1" fmla="val -8768"/>
              <a:gd name="adj2" fmla="val 118757"/>
            </a:avLst>
          </a:prstGeom>
          <a:ln w="25400" cap="rnd">
            <a:solidFill>
              <a:srgbClr val="004F7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" name="Image 75"/>
          <p:cNvPicPr/>
          <p:nvPr/>
        </p:nvPicPr>
        <p:blipFill>
          <a:blip r:embed="rId17"/>
          <a:stretch>
            <a:fillRect/>
          </a:stretch>
        </p:blipFill>
        <p:spPr>
          <a:xfrm>
            <a:off x="10763033" y="126588"/>
            <a:ext cx="1231114" cy="2279542"/>
          </a:xfrm>
          <a:prstGeom prst="rect">
            <a:avLst/>
          </a:prstGeom>
        </p:spPr>
      </p:pic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1BE30B18-1F26-6063-CADD-33D88F7654BA}"/>
              </a:ext>
            </a:extLst>
          </p:cNvPr>
          <p:cNvCxnSpPr>
            <a:cxnSpLocks/>
          </p:cNvCxnSpPr>
          <p:nvPr/>
        </p:nvCxnSpPr>
        <p:spPr>
          <a:xfrm flipV="1">
            <a:off x="329592" y="3582128"/>
            <a:ext cx="720000" cy="1536"/>
          </a:xfrm>
          <a:prstGeom prst="straightConnector1">
            <a:avLst/>
          </a:prstGeom>
          <a:ln w="25400" cap="rnd">
            <a:solidFill>
              <a:srgbClr val="FDAD5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Image 40">
            <a:extLst>
              <a:ext uri="{FF2B5EF4-FFF2-40B4-BE49-F238E27FC236}">
                <a16:creationId xmlns:a16="http://schemas.microsoft.com/office/drawing/2014/main" id="{BB7FAD38-600C-503C-8E32-CC7601D311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178" y="3164385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965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5D17E5-ADD6-860B-1F6C-452D728BE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E30818-71FD-9433-9C1C-A5861A31C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3979A74-28C4-452A-07CD-B26F8E015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7361997"/>
      </p:ext>
    </p:extLst>
  </p:cSld>
  <p:clrMapOvr>
    <a:masterClrMapping/>
  </p:clrMapOvr>
</p:sld>
</file>

<file path=ppt/theme/theme1.xml><?xml version="1.0" encoding="utf-8"?>
<a:theme xmlns:a="http://schemas.openxmlformats.org/drawingml/2006/main" name="Rétrospective">
  <a:themeElements>
    <a:clrScheme name="Bleu vert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687</Words>
  <Application>Microsoft Office PowerPoint</Application>
  <PresentationFormat>Grand écran</PresentationFormat>
  <Paragraphs>212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Arial Nova</vt:lpstr>
      <vt:lpstr>Calibri</vt:lpstr>
      <vt:lpstr>Calibri Light</vt:lpstr>
      <vt:lpstr>Cambria Math</vt:lpstr>
      <vt:lpstr>Rétrospective</vt:lpstr>
      <vt:lpstr>BGR – Axe boule</vt:lpstr>
      <vt:lpstr>BGR – Axe optique</vt:lpstr>
      <vt:lpstr>Bras Beta – Axe de Rotation</vt:lpstr>
      <vt:lpstr>Bras Beta – Axe de translation</vt:lpstr>
      <vt:lpstr>Cheville NAO</vt:lpstr>
      <vt:lpstr>Comax</vt:lpstr>
      <vt:lpstr>Chaine fonctionnelle du Control’X</vt:lpstr>
      <vt:lpstr>Chaine fonctionnelle du MaxPID Attention, Différent du Maxid-E</vt:lpstr>
      <vt:lpstr>Chaine fonctionnelle du Moteur à courant continu</vt:lpstr>
      <vt:lpstr>Robot à câbles RC4</vt:lpstr>
      <vt:lpstr>I3D – Chaine fonctionnelle de l’axe Z_γ</vt:lpstr>
      <vt:lpstr>I3D – Chaine fonctionnelle de la tête chauffante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Xavier Pessoles</dc:creator>
  <cp:lastModifiedBy>Xavier Pessoles</cp:lastModifiedBy>
  <cp:revision>45</cp:revision>
  <cp:lastPrinted>2024-06-04T20:32:53Z</cp:lastPrinted>
  <dcterms:created xsi:type="dcterms:W3CDTF">2023-03-22T10:05:05Z</dcterms:created>
  <dcterms:modified xsi:type="dcterms:W3CDTF">2026-09-21T13:17:27Z</dcterms:modified>
</cp:coreProperties>
</file>