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6" r:id="rId8"/>
    <p:sldId id="287" r:id="rId9"/>
    <p:sldId id="288" r:id="rId10"/>
    <p:sldId id="284" r:id="rId11"/>
    <p:sldId id="272" r:id="rId12"/>
    <p:sldId id="271" r:id="rId13"/>
    <p:sldId id="280" r:id="rId14"/>
    <p:sldId id="274" r:id="rId15"/>
    <p:sldId id="275" r:id="rId16"/>
    <p:sldId id="281" r:id="rId17"/>
    <p:sldId id="278" r:id="rId18"/>
    <p:sldId id="289" r:id="rId19"/>
    <p:sldId id="276" r:id="rId20"/>
    <p:sldId id="277" r:id="rId21"/>
    <p:sldId id="282" r:id="rId22"/>
    <p:sldId id="283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>
        <p:scale>
          <a:sx n="66" d="100"/>
          <a:sy n="66" d="100"/>
        </p:scale>
        <p:origin x="576" y="-10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13/03/2026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13/03/2026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17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20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23" Type="http://schemas.openxmlformats.org/officeDocument/2006/relationships/image" Target="../media/image20.png"/><Relationship Id="rId10" Type="http://schemas.openxmlformats.org/officeDocument/2006/relationships/image" Target="../media/image10.png"/><Relationship Id="rId19" Type="http://schemas.openxmlformats.org/officeDocument/2006/relationships/image" Target="../media/image15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1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1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29.png"/><Relationship Id="rId5" Type="http://schemas.openxmlformats.org/officeDocument/2006/relationships/image" Target="../media/image261.png"/></Relationships>
</file>

<file path=ppt/slides/_rels/slide13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55" Type="http://schemas.openxmlformats.org/officeDocument/2006/relationships/image" Target="../media/image48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54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46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45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6" Type="http://schemas.openxmlformats.org/officeDocument/2006/relationships/image" Target="../media/image49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emf"/><Relationship Id="rId2" Type="http://schemas.openxmlformats.org/officeDocument/2006/relationships/package" Target="../embeddings/Microsoft_Excel_Worksheet.xlsx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tiff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8" Type="http://schemas.openxmlformats.org/officeDocument/2006/relationships/image" Target="../media/image170.png"/><Relationship Id="rId26" Type="http://schemas.openxmlformats.org/officeDocument/2006/relationships/image" Target="../media/image251.png"/><Relationship Id="rId39" Type="http://schemas.openxmlformats.org/officeDocument/2006/relationships/image" Target="../media/image250.png"/><Relationship Id="rId21" Type="http://schemas.openxmlformats.org/officeDocument/2006/relationships/image" Target="../media/image200.png"/><Relationship Id="rId34" Type="http://schemas.openxmlformats.org/officeDocument/2006/relationships/image" Target="../media/image36.png"/><Relationship Id="rId42" Type="http://schemas.openxmlformats.org/officeDocument/2006/relationships/image" Target="../media/image41.png"/><Relationship Id="rId47" Type="http://schemas.openxmlformats.org/officeDocument/2006/relationships/image" Target="../media/image330.png"/><Relationship Id="rId50" Type="http://schemas.openxmlformats.org/officeDocument/2006/relationships/image" Target="../media/image360.png"/><Relationship Id="rId16" Type="http://schemas.openxmlformats.org/officeDocument/2006/relationships/image" Target="../media/image150.png"/><Relationship Id="rId20" Type="http://schemas.openxmlformats.org/officeDocument/2006/relationships/image" Target="../media/image190.png"/><Relationship Id="rId29" Type="http://schemas.openxmlformats.org/officeDocument/2006/relationships/image" Target="../media/image31.png"/><Relationship Id="rId41" Type="http://schemas.openxmlformats.org/officeDocument/2006/relationships/image" Target="../media/image270.png"/><Relationship Id="rId1" Type="http://schemas.openxmlformats.org/officeDocument/2006/relationships/slideLayout" Target="../slideLayouts/slideLayout2.xml"/><Relationship Id="rId24" Type="http://schemas.openxmlformats.org/officeDocument/2006/relationships/image" Target="../media/image231.png"/><Relationship Id="rId32" Type="http://schemas.openxmlformats.org/officeDocument/2006/relationships/image" Target="../media/image34.png"/><Relationship Id="rId37" Type="http://schemas.openxmlformats.org/officeDocument/2006/relationships/image" Target="../media/image39.png"/><Relationship Id="rId40" Type="http://schemas.openxmlformats.org/officeDocument/2006/relationships/image" Target="../media/image260.png"/><Relationship Id="rId45" Type="http://schemas.openxmlformats.org/officeDocument/2006/relationships/image" Target="../media/image44.png"/><Relationship Id="rId53" Type="http://schemas.openxmlformats.org/officeDocument/2006/relationships/image" Target="../media/image540.png"/><Relationship Id="rId15" Type="http://schemas.openxmlformats.org/officeDocument/2006/relationships/image" Target="../media/image140.png"/><Relationship Id="rId23" Type="http://schemas.openxmlformats.org/officeDocument/2006/relationships/image" Target="../media/image220.png"/><Relationship Id="rId28" Type="http://schemas.openxmlformats.org/officeDocument/2006/relationships/image" Target="../media/image30.png"/><Relationship Id="rId36" Type="http://schemas.openxmlformats.org/officeDocument/2006/relationships/image" Target="../media/image38.png"/><Relationship Id="rId49" Type="http://schemas.openxmlformats.org/officeDocument/2006/relationships/image" Target="../media/image350.png"/><Relationship Id="rId19" Type="http://schemas.openxmlformats.org/officeDocument/2006/relationships/image" Target="../media/image180.png"/><Relationship Id="rId31" Type="http://schemas.openxmlformats.org/officeDocument/2006/relationships/image" Target="../media/image33.png"/><Relationship Id="rId44" Type="http://schemas.openxmlformats.org/officeDocument/2006/relationships/image" Target="../media/image43.png"/><Relationship Id="rId52" Type="http://schemas.openxmlformats.org/officeDocument/2006/relationships/image" Target="../media/image52.png"/><Relationship Id="rId14" Type="http://schemas.openxmlformats.org/officeDocument/2006/relationships/image" Target="../media/image130.png"/><Relationship Id="rId22" Type="http://schemas.openxmlformats.org/officeDocument/2006/relationships/image" Target="../media/image210.png"/><Relationship Id="rId27" Type="http://schemas.openxmlformats.org/officeDocument/2006/relationships/image" Target="../media/image280.png"/><Relationship Id="rId30" Type="http://schemas.openxmlformats.org/officeDocument/2006/relationships/image" Target="../media/image32.png"/><Relationship Id="rId35" Type="http://schemas.openxmlformats.org/officeDocument/2006/relationships/image" Target="../media/image37.png"/><Relationship Id="rId43" Type="http://schemas.openxmlformats.org/officeDocument/2006/relationships/image" Target="../media/image42.png"/><Relationship Id="rId48" Type="http://schemas.openxmlformats.org/officeDocument/2006/relationships/image" Target="../media/image340.png"/><Relationship Id="rId51" Type="http://schemas.openxmlformats.org/officeDocument/2006/relationships/image" Target="../media/image370.png"/><Relationship Id="rId17" Type="http://schemas.openxmlformats.org/officeDocument/2006/relationships/image" Target="../media/image160.png"/><Relationship Id="rId25" Type="http://schemas.openxmlformats.org/officeDocument/2006/relationships/image" Target="../media/image240.png"/><Relationship Id="rId33" Type="http://schemas.openxmlformats.org/officeDocument/2006/relationships/image" Target="../media/image35.png"/><Relationship Id="rId38" Type="http://schemas.openxmlformats.org/officeDocument/2006/relationships/image" Target="../media/image40.png"/><Relationship Id="rId46" Type="http://schemas.openxmlformats.org/officeDocument/2006/relationships/image" Target="../media/image320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MaxPID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Mécanisme 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Stator + Rotor – Vis + Ecrou + Bras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Potentiomètre rotatif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(Codeur sur le </a:t>
            </a:r>
            <a:r>
              <a:rPr lang="fr-FR" sz="800" dirty="0" err="1">
                <a:solidFill>
                  <a:srgbClr val="004F77"/>
                </a:solidFill>
                <a:latin typeface="Arial Nova" panose="020B0504020202020204" pitchFamily="34" charset="0"/>
              </a:rPr>
              <a:t>Maxpid</a:t>
            </a:r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-E)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de traitement</a:t>
            </a:r>
          </a:p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de </a:t>
            </a:r>
            <a:r>
              <a:rPr lang="fr-FR" sz="1100" dirty="0" err="1">
                <a:solidFill>
                  <a:srgbClr val="08A559"/>
                </a:solidFill>
                <a:latin typeface="Arial Nova" panose="020B0504020202020204" pitchFamily="34" charset="0"/>
              </a:rPr>
              <a:t>comm</a:t>
            </a:r>
            <a:endParaRPr lang="fr-FR" sz="1100" dirty="0">
              <a:solidFill>
                <a:srgbClr val="08A559"/>
              </a:solidFill>
              <a:latin typeface="Arial Nova" panose="020B0504020202020204" pitchFamily="34" charset="0"/>
            </a:endParaRPr>
          </a:p>
          <a:p>
            <a:pPr algn="ctr"/>
            <a:r>
              <a:rPr lang="fr-FR" sz="11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Vis – écrou à billes</a:t>
            </a:r>
          </a:p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Pas : 4 mm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168" y="3835914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4669319" y="1818298"/>
            <a:ext cx="169575" cy="1062861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2914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9025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Bras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Bras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94282" y="4173965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282" y="4173965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  <a:ea typeface="Cambria Math" panose="02040503050406030204" pitchFamily="18" charset="0"/>
                    <a:cs typeface="Calibri" panose="020F0502020204030204" pitchFamily="34" charset="0"/>
                  </a:rPr>
                  <a:t>Continu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Modulé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Image 4">
            <a:extLst>
              <a:ext uri="{FF2B5EF4-FFF2-40B4-BE49-F238E27FC236}">
                <a16:creationId xmlns:a16="http://schemas.microsoft.com/office/drawing/2014/main" id="{9D7A6D98-7B9F-A9B5-23AC-FDD7BBE7B7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56590" y="3407535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/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𝒃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30" name="ZoneTexte 29">
                <a:extLst>
                  <a:ext uri="{FF2B5EF4-FFF2-40B4-BE49-F238E27FC236}">
                    <a16:creationId xmlns:a16="http://schemas.microsoft.com/office/drawing/2014/main" id="{A910A58C-1179-CA7F-E823-40BDA4D5C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69986" y="3939627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7" name="Groupe 36">
            <a:extLst>
              <a:ext uri="{FF2B5EF4-FFF2-40B4-BE49-F238E27FC236}">
                <a16:creationId xmlns:a16="http://schemas.microsoft.com/office/drawing/2014/main" id="{9BD378B3-7B53-A753-62A4-0FE230E15643}"/>
              </a:ext>
            </a:extLst>
          </p:cNvPr>
          <p:cNvGrpSpPr/>
          <p:nvPr/>
        </p:nvGrpSpPr>
        <p:grpSpPr>
          <a:xfrm>
            <a:off x="12387220" y="3543372"/>
            <a:ext cx="360000" cy="360000"/>
            <a:chOff x="1856523" y="133118"/>
            <a:chExt cx="720000" cy="720000"/>
          </a:xfrm>
        </p:grpSpPr>
        <p:sp>
          <p:nvSpPr>
            <p:cNvPr id="38" name="Ellipse 37">
              <a:extLst>
                <a:ext uri="{FF2B5EF4-FFF2-40B4-BE49-F238E27FC236}">
                  <a16:creationId xmlns:a16="http://schemas.microsoft.com/office/drawing/2014/main" id="{3BB21AE3-2ACD-729F-E350-AFA1D4B8F162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40" name="Image 39">
              <a:extLst>
                <a:ext uri="{FF2B5EF4-FFF2-40B4-BE49-F238E27FC236}">
                  <a16:creationId xmlns:a16="http://schemas.microsoft.com/office/drawing/2014/main" id="{560049D0-4921-DFB2-54FC-73843936F173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41" name="Groupe 40">
            <a:extLst>
              <a:ext uri="{FF2B5EF4-FFF2-40B4-BE49-F238E27FC236}">
                <a16:creationId xmlns:a16="http://schemas.microsoft.com/office/drawing/2014/main" id="{B01E63F3-4BF5-704E-6471-BF9A4C55D36A}"/>
              </a:ext>
            </a:extLst>
          </p:cNvPr>
          <p:cNvGrpSpPr/>
          <p:nvPr/>
        </p:nvGrpSpPr>
        <p:grpSpPr>
          <a:xfrm>
            <a:off x="688576" y="1260713"/>
            <a:ext cx="360000" cy="360000"/>
            <a:chOff x="1856523" y="133118"/>
            <a:chExt cx="720000" cy="720000"/>
          </a:xfrm>
        </p:grpSpPr>
        <p:sp>
          <p:nvSpPr>
            <p:cNvPr id="51" name="Ellipse 50">
              <a:extLst>
                <a:ext uri="{FF2B5EF4-FFF2-40B4-BE49-F238E27FC236}">
                  <a16:creationId xmlns:a16="http://schemas.microsoft.com/office/drawing/2014/main" id="{3BEB3D33-3C61-0F37-D35D-EEEC73101051}"/>
                </a:ext>
              </a:extLst>
            </p:cNvPr>
            <p:cNvSpPr/>
            <p:nvPr/>
          </p:nvSpPr>
          <p:spPr>
            <a:xfrm>
              <a:off x="1856523" y="133118"/>
              <a:ext cx="720000" cy="72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63" name="Image 62">
              <a:extLst>
                <a:ext uri="{FF2B5EF4-FFF2-40B4-BE49-F238E27FC236}">
                  <a16:creationId xmlns:a16="http://schemas.microsoft.com/office/drawing/2014/main" id="{2B956809-6B27-95FF-8FBA-38B4BA637017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1955338" y="231933"/>
              <a:ext cx="522371" cy="522371"/>
            </a:xfrm>
            <a:prstGeom prst="rect">
              <a:avLst/>
            </a:prstGeom>
          </p:spPr>
        </p:pic>
      </p:grpSp>
      <p:grpSp>
        <p:nvGrpSpPr>
          <p:cNvPr id="73" name="Groupe 72">
            <a:extLst>
              <a:ext uri="{FF2B5EF4-FFF2-40B4-BE49-F238E27FC236}">
                <a16:creationId xmlns:a16="http://schemas.microsoft.com/office/drawing/2014/main" id="{E5D4ED94-FD8A-E9D5-5B49-962CE5C6E25B}"/>
              </a:ext>
            </a:extLst>
          </p:cNvPr>
          <p:cNvGrpSpPr/>
          <p:nvPr/>
        </p:nvGrpSpPr>
        <p:grpSpPr>
          <a:xfrm>
            <a:off x="704165" y="1638298"/>
            <a:ext cx="360000" cy="360000"/>
            <a:chOff x="3056845" y="1528414"/>
            <a:chExt cx="3454284" cy="3454284"/>
          </a:xfrm>
        </p:grpSpPr>
        <p:sp>
          <p:nvSpPr>
            <p:cNvPr id="74" name="Ellipse 73">
              <a:extLst>
                <a:ext uri="{FF2B5EF4-FFF2-40B4-BE49-F238E27FC236}">
                  <a16:creationId xmlns:a16="http://schemas.microsoft.com/office/drawing/2014/main" id="{1A4AFC09-9CB7-634D-3093-CE44DBB23C51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E100991F-29E3-91C0-E698-B6F9D679443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82" name="Groupe 81">
            <a:extLst>
              <a:ext uri="{FF2B5EF4-FFF2-40B4-BE49-F238E27FC236}">
                <a16:creationId xmlns:a16="http://schemas.microsoft.com/office/drawing/2014/main" id="{D490A147-67BA-D5AA-020E-1414E8A0E832}"/>
              </a:ext>
            </a:extLst>
          </p:cNvPr>
          <p:cNvGrpSpPr/>
          <p:nvPr/>
        </p:nvGrpSpPr>
        <p:grpSpPr>
          <a:xfrm>
            <a:off x="5912459" y="4736737"/>
            <a:ext cx="360000" cy="360000"/>
            <a:chOff x="3056845" y="1528414"/>
            <a:chExt cx="3454284" cy="3454284"/>
          </a:xfrm>
        </p:grpSpPr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F455E967-89A5-926B-9569-B0C18BCEFCEB}"/>
                </a:ext>
              </a:extLst>
            </p:cNvPr>
            <p:cNvSpPr/>
            <p:nvPr/>
          </p:nvSpPr>
          <p:spPr>
            <a:xfrm>
              <a:off x="3056845" y="1528414"/>
              <a:ext cx="3454284" cy="3454284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0" name="Image 89">
              <a:extLst>
                <a:ext uri="{FF2B5EF4-FFF2-40B4-BE49-F238E27FC236}">
                  <a16:creationId xmlns:a16="http://schemas.microsoft.com/office/drawing/2014/main" id="{E22E4030-22B7-70AB-F9A2-07A81EEE8B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3327958" y="2056096"/>
              <a:ext cx="2912058" cy="2398920"/>
            </a:xfrm>
            <a:prstGeom prst="rect">
              <a:avLst/>
            </a:prstGeom>
          </p:spPr>
        </p:pic>
      </p:grpSp>
      <p:grpSp>
        <p:nvGrpSpPr>
          <p:cNvPr id="102" name="Groupe 101">
            <a:extLst>
              <a:ext uri="{FF2B5EF4-FFF2-40B4-BE49-F238E27FC236}">
                <a16:creationId xmlns:a16="http://schemas.microsoft.com/office/drawing/2014/main" id="{52B43403-7B09-8054-59ED-49F7D05C1B54}"/>
              </a:ext>
            </a:extLst>
          </p:cNvPr>
          <p:cNvGrpSpPr/>
          <p:nvPr/>
        </p:nvGrpSpPr>
        <p:grpSpPr>
          <a:xfrm>
            <a:off x="8000684" y="3973702"/>
            <a:ext cx="463240" cy="360000"/>
            <a:chOff x="4476612" y="5880432"/>
            <a:chExt cx="1010860" cy="720000"/>
          </a:xfrm>
        </p:grpSpPr>
        <p:sp>
          <p:nvSpPr>
            <p:cNvPr id="106" name="Ellipse 105">
              <a:extLst>
                <a:ext uri="{FF2B5EF4-FFF2-40B4-BE49-F238E27FC236}">
                  <a16:creationId xmlns:a16="http://schemas.microsoft.com/office/drawing/2014/main" id="{C7749C57-CAA2-3363-F666-0D5749584068}"/>
                </a:ext>
              </a:extLst>
            </p:cNvPr>
            <p:cNvSpPr/>
            <p:nvPr/>
          </p:nvSpPr>
          <p:spPr>
            <a:xfrm>
              <a:off x="4678466" y="5880432"/>
              <a:ext cx="720000" cy="72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3" name="Image 112">
              <a:extLst>
                <a:ext uri="{FF2B5EF4-FFF2-40B4-BE49-F238E27FC236}">
                  <a16:creationId xmlns:a16="http://schemas.microsoft.com/office/drawing/2014/main" id="{FF5703C6-7107-BB41-D6A5-8F693C9E2D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4476612" y="6060432"/>
              <a:ext cx="1010860" cy="360000"/>
            </a:xfrm>
            <a:prstGeom prst="rect">
              <a:avLst/>
            </a:prstGeom>
          </p:spPr>
        </p:pic>
      </p:grpSp>
      <p:grpSp>
        <p:nvGrpSpPr>
          <p:cNvPr id="114" name="Groupe 113">
            <a:extLst>
              <a:ext uri="{FF2B5EF4-FFF2-40B4-BE49-F238E27FC236}">
                <a16:creationId xmlns:a16="http://schemas.microsoft.com/office/drawing/2014/main" id="{DBB3458D-4CEE-E727-4796-FBB9AD6D4CE5}"/>
              </a:ext>
            </a:extLst>
          </p:cNvPr>
          <p:cNvGrpSpPr/>
          <p:nvPr/>
        </p:nvGrpSpPr>
        <p:grpSpPr>
          <a:xfrm>
            <a:off x="10144506" y="3914795"/>
            <a:ext cx="360000" cy="360000"/>
            <a:chOff x="3533664" y="4396133"/>
            <a:chExt cx="1800000" cy="1800000"/>
          </a:xfrm>
        </p:grpSpPr>
        <p:sp>
          <p:nvSpPr>
            <p:cNvPr id="115" name="Ellipse 114">
              <a:extLst>
                <a:ext uri="{FF2B5EF4-FFF2-40B4-BE49-F238E27FC236}">
                  <a16:creationId xmlns:a16="http://schemas.microsoft.com/office/drawing/2014/main" id="{97E301B2-3F02-4877-1A72-C48716EC20AC}"/>
                </a:ext>
              </a:extLst>
            </p:cNvPr>
            <p:cNvSpPr/>
            <p:nvPr/>
          </p:nvSpPr>
          <p:spPr>
            <a:xfrm>
              <a:off x="3533664" y="4396133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16" name="Image 115">
              <a:extLst>
                <a:ext uri="{FF2B5EF4-FFF2-40B4-BE49-F238E27FC236}">
                  <a16:creationId xmlns:a16="http://schemas.microsoft.com/office/drawing/2014/main" id="{DAAD1D66-50CD-ECAA-883C-2A36C76F0979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3681584" y="4594762"/>
              <a:ext cx="1427962" cy="1471564"/>
            </a:xfrm>
            <a:prstGeom prst="rect">
              <a:avLst/>
            </a:prstGeom>
          </p:spPr>
        </p:pic>
      </p:grpSp>
      <p:cxnSp>
        <p:nvCxnSpPr>
          <p:cNvPr id="3" name="Connecteur droit avec flèche 2">
            <a:extLst>
              <a:ext uri="{FF2B5EF4-FFF2-40B4-BE49-F238E27FC236}">
                <a16:creationId xmlns:a16="http://schemas.microsoft.com/office/drawing/2014/main" id="{4D32D995-368F-910A-03A5-33A843A7C607}"/>
              </a:ext>
            </a:extLst>
          </p:cNvPr>
          <p:cNvCxnSpPr>
            <a:cxnSpLocks/>
          </p:cNvCxnSpPr>
          <p:nvPr/>
        </p:nvCxnSpPr>
        <p:spPr>
          <a:xfrm flipV="1">
            <a:off x="330698" y="3825761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</a:t>
            </a:r>
            <a:r>
              <a:rPr lang="fr-FR" dirty="0" err="1"/>
              <a:t>MaxPID</a:t>
            </a:r>
            <a:endParaRPr lang="fr-FR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Tous </a:t>
            </a:r>
            <a:r>
              <a:rPr lang="fr-FR" sz="1400">
                <a:solidFill>
                  <a:srgbClr val="00547F"/>
                </a:solidFill>
              </a:rPr>
              <a:t>les capteurs </a:t>
            </a:r>
            <a:r>
              <a:rPr lang="fr-FR" sz="1400" dirty="0">
                <a:solidFill>
                  <a:srgbClr val="00547F"/>
                </a:solidFill>
              </a:rPr>
              <a:t>sont nécessaires au bon fonctionnement du système.</a:t>
            </a:r>
          </a:p>
        </p:txBody>
      </p:sp>
    </p:spTree>
    <p:extLst>
      <p:ext uri="{BB962C8B-B14F-4D97-AF65-F5344CB8AC3E}">
        <p14:creationId xmlns:p14="http://schemas.microsoft.com/office/powerpoint/2010/main" val="30678430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</a:t>
            </a:r>
            <a:br>
              <a:rPr lang="fr-FR" dirty="0"/>
            </a:br>
            <a:r>
              <a:rPr lang="fr-FR" dirty="0"/>
              <a:t>Résolution géométrique et cinématique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indirecte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A5FAF0D2-AFBA-D355-8EFE-C4E73F90DF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56486"/>
                <a:ext cx="10809285" cy="5253339"/>
              </a:xfrm>
            </p:spPr>
            <p:txBody>
              <a:bodyPr>
                <a:normAutofit fontScale="55000" lnSpcReduction="20000"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func>
                                  <m:func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sSup>
                                      <m:sSup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𝜃</m:t>
                                        </m:r>
                                      </m:e>
                                      <m: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′</m:t>
                                        </m:r>
                                      </m:sup>
                                    </m:sSup>
                                  </m:e>
                                </m:func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</m:e>
                    </m:rad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fr-FR" b="0" i="1" dirty="0"/>
                  <a:t> varie de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b="0" i="1" dirty="0"/>
                  <a:t> à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fr-FR" b="0" i="1" dirty="0"/>
                  <a:t>.</a:t>
                </a: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:endParaRPr lang="fr-FR" b="0" i="1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r>
                  <a:rPr lang="fr-FR" dirty="0"/>
                  <a:t> soit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:r>
                  <a:rPr lang="fr-FR" dirty="0"/>
                  <a:t>Au final,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𝛾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′</m:t>
                                            </m:r>
                                          </m:sup>
                                        </m:sSup>
                                      </m:e>
                                    </m:func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</m:e>
                        </m:rad>
                      </m:e>
                    </m:d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rad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rad>
                          <m:radPr>
                            <m:degHide m:val="on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r>
                                          <m:rPr>
                                            <m:sty m:val="p"/>
                                          </m:rPr>
                                          <a:rPr lang="fr-FR">
                                            <a:latin typeface="Cambria Math" panose="02040503050406030204" pitchFamily="18" charset="0"/>
                                          </a:rPr>
                                          <m:t>cos</m:t>
                                        </m:r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fr-FR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func>
                                              <m:func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uncPr>
                                              <m:fName>
                                                <m:sSup>
                                                  <m:sSupPr>
                                                    <m:ctrlP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sSupPr>
                                                  <m:e>
                                                    <m:r>
                                                      <m:rPr>
                                                        <m:sty m:val="p"/>
                                                      </m:rPr>
                                                      <a:rPr lang="fr-FR">
                                                        <a:latin typeface="Cambria Math" panose="02040503050406030204" pitchFamily="18" charset="0"/>
                                                      </a:rPr>
                                                      <m:t>tan</m:t>
                                                    </m:r>
                                                  </m:e>
                                                  <m:sup>
                                                    <m: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  <m:t>−1</m:t>
                                                    </m:r>
                                                  </m:sup>
                                                </m:sSup>
                                              </m:fName>
                                              <m:e>
                                                <m:d>
                                                  <m:dPr>
                                                    <m:ctrlPr>
                                                      <a:rPr lang="fr-FR" i="1">
                                                        <a:latin typeface="Cambria Math" panose="02040503050406030204" pitchFamily="18" charset="0"/>
                                                      </a:rPr>
                                                    </m:ctrlPr>
                                                  </m:dPr>
                                                  <m:e>
                                                    <m:f>
                                                      <m:fPr>
                                                        <m:ctrlP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fPr>
                                                      <m:num>
                                                        <m: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𝑑</m:t>
                                                        </m:r>
                                                      </m:num>
                                                      <m:den>
                                                        <m:r>
                                                          <a:rPr lang="fr-FR" i="1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  <m:t>𝑐</m:t>
                                                        </m:r>
                                                      </m:den>
                                                    </m:f>
                                                  </m:e>
                                                </m:d>
                                              </m:e>
                                            </m:func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+</m:t>
                                            </m:r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𝜃</m:t>
                                            </m:r>
                                            <m:d>
                                              <m:d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𝑡</m:t>
                                                </m:r>
                                              </m:e>
                                            </m:d>
                                          </m:e>
                                        </m:d>
                                      </m:e>
                                    </m:func>
                                  </m:e>
                                </m:d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  <m: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fr-FR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fName>
                              <m:e>
                                <m:d>
                                  <m:d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func>
                                      <m:func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uncPr>
                                      <m:fNam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m:rPr>
                                                <m:sty m:val="p"/>
                                              </m:rPr>
                                              <a:rPr lang="fr-FR">
                                                <a:latin typeface="Cambria Math" panose="02040503050406030204" pitchFamily="18" charset="0"/>
                                              </a:rPr>
                                              <m:t>tan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−1</m:t>
                                            </m:r>
                                          </m:sup>
                                        </m:sSup>
                                      </m:fName>
                                      <m:e>
                                        <m:d>
                                          <m:d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dPr>
                                          <m:e>
                                            <m:f>
                                              <m:f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fPr>
                                              <m:num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𝑑</m:t>
                                                </m:r>
                                              </m:num>
                                              <m:den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den>
                                            </m:f>
                                          </m:e>
                                        </m:d>
                                      </m:e>
                                    </m:func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func>
                          </m:e>
                        </m:rad>
                      </m:e>
                    </m:d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𝜋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</a:rPr>
                          <m:t>𝑝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4301B76-EFF6-8BBA-FF82-9ABC7470106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56486"/>
                <a:ext cx="10809285" cy="5253339"/>
              </a:xfrm>
              <a:blipFill>
                <a:blip r:embed="rId3"/>
                <a:stretch>
                  <a:fillRect l="-349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22B62984-BF0B-DC5D-4B57-636165C7BE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5976" y="-502621"/>
            <a:ext cx="4336094" cy="3394296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38CD2CCE-C3EE-5884-E969-932D3CD9571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80546" y="0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060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2160A-07F8-3F5D-903C-0AC2D4ED10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fr-FR" dirty="0"/>
                  <a:t>Loi directe –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B8ABBEEF-EFC2-5EFE-2B65-5DABB5053B6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000" t="-690" b="-3310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11718605" cy="5476063"/>
              </a:xfrm>
            </p:spPr>
            <p:txBody>
              <a:bodyPr>
                <a:normAutofit fontScale="700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e>
                            </m:d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rad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pPr marL="1588" indent="0">
                  <a:buNone/>
                </a:pPr>
                <a:endParaRPr lang="fr-FR" b="0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endParaRPr lang="fr-FR" b="0" dirty="0"/>
              </a:p>
              <a:p>
                <a:r>
                  <a:rPr lang="fr-FR" dirty="0"/>
                  <a:t>Dans le triangle </a:t>
                </a:r>
                <a14:m>
                  <m:oMath xmlns:m="http://schemas.openxmlformats.org/officeDocument/2006/math">
                    <m:r>
                      <a:rPr lang="fr-FR" i="1" dirty="0" smtClean="0">
                        <a:latin typeface="Cambria Math" panose="02040503050406030204" pitchFamily="18" charset="0"/>
                      </a:rPr>
                      <m:t>𝐴𝐷𝐶</m:t>
                    </m:r>
                  </m:oMath>
                </a14:m>
                <a:r>
                  <a:rPr lang="fr-FR" dirty="0"/>
                  <a:t>, on a 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𝑎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acc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𝑏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b="0" i="0" smtClean="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)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func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sSub>
                              <m:sSub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acc>
                                  <m:accPr>
                                    <m:chr m:val="⃗"/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acc>
                              </m:e>
                              <m:sub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ac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=0</m:t>
                            </m:r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d>
                      <m:dPr>
                        <m:begChr m:val="{"/>
                        <m:endChr m:val="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𝜃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e>
                            </m:func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𝜆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)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sin</m:t>
                                </m:r>
                              </m:fName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</m:fun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𝑏</m:t>
                            </m:r>
                            <m:func>
                              <m:func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</a:rPr>
                                  <m:t>cos</m:t>
                                </m:r>
                              </m:fName>
                              <m:e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𝜃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e>
                            </m:func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fName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𝜆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+2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𝑎𝑏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func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p>
                        <m:r>
                          <a:rPr lang="fr-F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fr-FR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 i="0" smtClean="0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𝜆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𝑡</m:t>
                                        </m:r>
                                      </m:e>
                                    </m:d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𝜆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den>
                    </m:f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lvl="1"/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</a:rPr>
                      <m:t>𝜃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d>
                                  <m:dPr>
                                    <m:ctrlPr>
                                      <a:rPr lang="fr-FR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ad>
                                      <m:radPr>
                                        <m:degHide m:val="on"/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radPr>
                                      <m:deg/>
                                      <m:e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𝑑</m:t>
                                            </m:r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sSup>
                                          <m:sSupPr>
                                            <m:ctrlP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d>
                                              <m:dPr>
                                                <m:ctrlP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</m:ctrlPr>
                                              </m:dPr>
                                              <m:e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𝑏</m:t>
                                                </m:r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+</m:t>
                                                </m:r>
                                                <m:r>
                                                  <a:rPr lang="fr-FR" i="1">
                                                    <a:latin typeface="Cambria Math" panose="02040503050406030204" pitchFamily="18" charset="0"/>
                                                  </a:rPr>
                                                  <m:t>𝑐</m:t>
                                                </m:r>
                                              </m:e>
                                            </m:d>
                                          </m:e>
                                          <m:sup>
                                            <m:r>
                                              <a:rPr lang="fr-FR" i="1">
                                                <a:latin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p>
                                        </m:sSup>
                                      </m:e>
                                    </m:rad>
                                    <m:r>
                                      <m:rPr>
                                        <m:nor/>
                                      </m:rPr>
                                      <a:rPr lang="fr-FR" i="1" dirty="0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+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𝑝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×</m:t>
                                    </m:r>
                                    <m:f>
                                      <m:fPr>
                                        <m:ctrlP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fPr>
                                      <m:num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𝛾</m:t>
                                        </m:r>
                                      </m:num>
                                      <m:den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</a:rPr>
                                          <m:t>𝜋</m:t>
                                        </m:r>
                                      </m:den>
                                    </m:f>
                                  </m:e>
                                </m:d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p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p>
                                </m:sSup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𝑎𝑏</m:t>
                                </m:r>
                              </m:den>
                            </m:f>
                          </m:e>
                        </m:d>
                      </m:e>
                    </m:func>
                    <m:r>
                      <a:rPr lang="fr-FR" i="1">
                        <a:latin typeface="Cambria Math" panose="02040503050406030204" pitchFamily="18" charset="0"/>
                      </a:rPr>
                      <m:t>−</m:t>
                    </m:r>
                    <m:func>
                      <m:func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p>
                          <m:sSup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fr-FR">
                                <a:latin typeface="Cambria Math" panose="02040503050406030204" pitchFamily="18" charset="0"/>
                              </a:rPr>
                              <m:t>tan</m:t>
                            </m:r>
                          </m:e>
                          <m:sup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p>
                        </m:sSup>
                      </m:fName>
                      <m:e>
                        <m:d>
                          <m:d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𝑑</m:t>
                                </m:r>
                              </m:num>
                              <m:den>
                                <m:r>
                                  <a:rPr lang="fr-FR" i="1">
                                    <a:latin typeface="Cambria Math" panose="02040503050406030204" pitchFamily="18" charset="0"/>
                                  </a:rPr>
                                  <m:t>𝑐</m:t>
                                </m:r>
                              </m:den>
                            </m:f>
                          </m:e>
                        </m:d>
                      </m:e>
                    </m:func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F3340F-30C7-B4BD-2F58-A5A9C246229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11718605" cy="5476063"/>
              </a:xfrm>
              <a:blipFill>
                <a:blip r:embed="rId3"/>
                <a:stretch>
                  <a:fillRect l="-98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Image 3">
            <a:extLst>
              <a:ext uri="{FF2B5EF4-FFF2-40B4-BE49-F238E27FC236}">
                <a16:creationId xmlns:a16="http://schemas.microsoft.com/office/drawing/2014/main" id="{C91B98E8-3718-E1A0-1ED8-86D061B0F3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95744" y="-491192"/>
            <a:ext cx="4803486" cy="3760171"/>
          </a:xfrm>
          <a:prstGeom prst="rect">
            <a:avLst/>
          </a:prstGeom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A741CC39-6838-5C96-8901-625B066FDF1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9567" y="86581"/>
            <a:ext cx="1245430" cy="3016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98174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4EAD561-E397-48A3-8A25-608BAFD52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Tracer les courbes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0D81803-23F0-4705-3E30-BE38DBBA89D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fr-FR" dirty="0"/>
              <a:t>Voir </a:t>
            </a:r>
            <a:r>
              <a:rPr lang="fr-FR" dirty="0" err="1"/>
              <a:t>capytale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8906057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9890C1-FE7C-69F3-01BD-1A405BB59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06F0FB32-B016-FED2-32DB-B91BA7AA05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8C8992F-8C34-F226-1E01-2A59D755ED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61583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à la génératrice tachymétrique ou au codeur/potentiomètre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5568476" cy="1462084"/>
            <a:chOff x="4452429" y="3393409"/>
            <a:chExt cx="5568476" cy="1462084"/>
          </a:xfrm>
        </p:grpSpPr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Mécanisme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175FEE8-5C6C-2C21-A4AF-999762DAEB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B4AC50B9-08F3-4A73-CFB6-ED0F0C24550E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A7D91E2F-4FDF-D5B5-C6B1-38E915377D4B}"/>
              </a:ext>
            </a:extLst>
          </p:cNvPr>
          <p:cNvGrpSpPr/>
          <p:nvPr/>
        </p:nvGrpSpPr>
        <p:grpSpPr>
          <a:xfrm>
            <a:off x="6171260" y="1724511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54D97C53-FF44-9771-576F-9A8A92C8D0AB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0320D4EE-A922-CB37-5EA3-E5E586F36B3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DB310BBF-9F31-00DC-9698-D79FA32471F3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AEBC270C-2419-8AA5-276B-ED9A042D4FAE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4EBD561-4D96-E242-04F7-C8A0FFF7618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251D449D-478E-A80A-5B15-D80CD2B5A24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F3FB8FF8-FE9D-5112-A055-1B4982177882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4F8053E8-8B57-B3D1-7A97-2A5B72C2404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6C71C0DD-0021-7D7F-B5F1-A607D111AA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A8ADA475-0C3A-45CC-9B75-7DCF67610335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188BF97F-A207-142A-1AC4-0383E306DE4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E3AF8B67-016F-E790-F1F7-53E61E575CA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E673A9CF-F67C-AF13-C4CF-68AA808FFF97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01B086A6-A41D-BDB8-EF88-AB3DCC7B59EF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EE25BE62-B6D9-04FD-DAE1-0E2892C9F9C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9E54CB3A-7049-6A65-FB45-CC501EB3B1FE}"/>
              </a:ext>
            </a:extLst>
          </p:cNvPr>
          <p:cNvGrpSpPr/>
          <p:nvPr/>
        </p:nvGrpSpPr>
        <p:grpSpPr>
          <a:xfrm>
            <a:off x="6184306" y="3276070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B59C1FC6-ACAE-E06F-CDF8-7FE9A5FA0C33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9D344FC2-5413-9C4A-094F-7B76D34A4394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30818A1D-D7F8-D3DC-E4F3-DB61ECC59F2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6752312-381E-1265-927F-B9C8645153E6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16892681-3E83-5BC2-A7D2-70B8744E0E23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DF247A63-C7A2-EA49-DF23-8F20E70B8F2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63F2FFD1-BDD1-1CC4-2BA0-4E0D1E13710F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74461E32-D07E-D8CB-8572-F28BC5CE35E4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8B6B8FA-AD3E-36D4-665F-804F3106D264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13D01B7F-B745-A8E2-6256-44FDF05A4516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41362344-CBB4-6608-1458-C2076362C3B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F1F85F9-1F46-9DFB-9F49-7E552C59593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CAE94D89-85A5-5795-746F-A03E73FD7CD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E619B2F7-C5AF-96C2-A6F5-99C182D26FF2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8B0ED3BE-D3A2-8D4B-8C6F-1D252FBB9E32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36EEDDD4-2DD2-B9F2-E5B9-44CC129CFF9B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697E442E-9650-E826-1EAF-0AEC602FD0C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CD891EBD-6F18-DDA2-0677-548D2612FE7E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BBF9ABCB-FB39-7582-628F-FF2675545471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087BC8B3-45FC-E5C3-F542-749A390C0C2F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1C3DF8A5-C6D6-CB5C-4202-5BDE080027E3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01383E87-550B-E1A4-0C76-38F0A77CA100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A1A12714-EEF6-A821-22A4-9C81DC4A5EE9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BF7D29A-3339-BCC2-5610-61A53C8EB4B5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F70A3F61-F343-6220-B930-0DB0532781E0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C84BFF19-F50A-79B4-A353-22B03D0FD807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3BE766AF-84E7-E75C-6493-D5AB18DD6C38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BFC676BC-A2F8-C3B2-9880-DC27E966CCD9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E72E79E7-85DA-5C72-1DC3-855635F9B398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D57D40DB-D77D-66B4-8A03-989009CFCFD8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2C8E0B08-BA30-55D2-0E77-8D7DE0BB6BEC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D4B0321C-CAF7-2712-901D-82CEB73345DE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5DF080D9-DF3B-BCB8-C9A3-761BC9EDF36F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286FA765-BA90-292E-E2C2-4F869B786EBF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8427820B-A798-8588-01D3-06078CC73881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52FD3197-E6FA-D904-1D20-35C4E770AC7E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28EAAA1C-4EF5-7128-18E4-E51619DC6C56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23B2D2C8-DF53-1B9A-572D-E403F841C2B7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333F867B-6109-243C-790A-3659DB07B02A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BF26DE70-C43E-4936-5646-D0A58CAB000A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4175AA89-C894-CC3A-0B49-577E1023CAE9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ED259E14-E12D-1250-278E-A91FD2C25CB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43F875C3-A704-3FF7-E213-681D301A0CB9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078DAC7B-60BD-0EFE-C670-D45E4FA5E5D9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2398C4E5-D80A-9D6F-B0CC-2581D8B1EFE9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85E5AF4-CB59-EF32-E912-C4C7B8FA0A41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3361B41-7F4B-8E3C-9F54-CFECF376E99C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92B2E61C-0A4F-8BB3-01A7-4335E6F3C574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A7AC95E5-04B0-0CAF-5FF2-9F21D67DF6D2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ED84DDD3-AFF2-1EA4-AFAE-A3C7F5E8F4B7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39E06F63-2CE7-73F4-663D-3B82CEF88CEA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0830CA70-004E-830A-CF51-4A80BF53949A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60FC7889-A51C-0B19-B67D-46531BD6623B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D7B64AC-1E74-F111-9000-26604A2B1719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553FC627-DACE-0FF9-4FB1-3DD0F3956C81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E1864C67-E381-DE84-12A0-DEBD2723DC89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46E1FF21-1299-59D0-4AB2-020F00239AEB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60F1D485-44BC-567F-3B29-CC1E6BA6993B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08759DB4-EE82-60C9-3A3D-84EC7C62663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9C67464F-E508-56D0-3BD8-6D0A7F63FDAF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849ABDC3-E11E-CF66-322B-9E5E57B053B4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7FF2DA26-809D-6F93-381B-44A814259AE9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5B2F3329-E006-C26E-B112-F927730EB550}"/>
              </a:ext>
            </a:extLst>
          </p:cNvPr>
          <p:cNvGrpSpPr/>
          <p:nvPr/>
        </p:nvGrpSpPr>
        <p:grpSpPr>
          <a:xfrm>
            <a:off x="6184306" y="4609702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C8FC85F7-AB8C-E465-40A3-82D1FA26AE59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BDEF5556-1340-5306-3BB8-11C2D07A04E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E1473FF3-9854-18A3-CE29-290692BF2EFC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A30A28B1-3D72-9184-27C9-F88834BF8899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36E443D4-83EC-443E-74C8-7C8E3E53D89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73D4458F-B62D-E43F-3E93-416601E9CB3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58BA35A9-17B5-F84A-B97E-B467A23E6143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D5F0034A-A9F3-3A96-394A-1B2F7B4D2E2D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330A9353-CDAC-73F1-AA72-022F462EBCAB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A08ACE0E-816A-D0EE-3D3C-C4AF0062C12B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744DCA75-F5ED-0DB7-FCFB-3ACAB4BCE8F0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DB3B09F9-6CCD-D98B-7A0F-1F51EFA4DEBB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F4AD2701-4B91-E704-659D-413298254306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3227E749-EE6D-6896-28FE-0C625335B50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AEC1CDB-0797-3433-A40B-C1F195D6040D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116" name="Éclair 115">
            <a:extLst>
              <a:ext uri="{FF2B5EF4-FFF2-40B4-BE49-F238E27FC236}">
                <a16:creationId xmlns:a16="http://schemas.microsoft.com/office/drawing/2014/main" id="{6100EBE7-FD19-F8CA-8428-9993BEEEDBA4}"/>
              </a:ext>
            </a:extLst>
          </p:cNvPr>
          <p:cNvSpPr/>
          <p:nvPr/>
        </p:nvSpPr>
        <p:spPr>
          <a:xfrm rot="643800">
            <a:off x="8305510" y="2131544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17" name="Ellipse 116">
            <a:extLst>
              <a:ext uri="{FF2B5EF4-FFF2-40B4-BE49-F238E27FC236}">
                <a16:creationId xmlns:a16="http://schemas.microsoft.com/office/drawing/2014/main" id="{6AFBB909-E8E4-A44E-A381-778250AE7342}"/>
              </a:ext>
            </a:extLst>
          </p:cNvPr>
          <p:cNvSpPr/>
          <p:nvPr/>
        </p:nvSpPr>
        <p:spPr>
          <a:xfrm>
            <a:off x="853229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B050"/>
                </a:solidFill>
              </a:rPr>
              <a:t>1</a:t>
            </a:r>
          </a:p>
        </p:txBody>
      </p:sp>
      <p:sp>
        <p:nvSpPr>
          <p:cNvPr id="118" name="Ellipse 117">
            <a:extLst>
              <a:ext uri="{FF2B5EF4-FFF2-40B4-BE49-F238E27FC236}">
                <a16:creationId xmlns:a16="http://schemas.microsoft.com/office/drawing/2014/main" id="{6F3CACFA-E0E0-B002-AB33-50F998BB9EA4}"/>
              </a:ext>
            </a:extLst>
          </p:cNvPr>
          <p:cNvSpPr/>
          <p:nvPr/>
        </p:nvSpPr>
        <p:spPr>
          <a:xfrm>
            <a:off x="9319032" y="217539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0070C0"/>
                </a:solidFill>
              </a:rPr>
              <a:t>2</a:t>
            </a:r>
          </a:p>
        </p:txBody>
      </p:sp>
      <p:sp>
        <p:nvSpPr>
          <p:cNvPr id="119" name="Ellipse 118">
            <a:extLst>
              <a:ext uri="{FF2B5EF4-FFF2-40B4-BE49-F238E27FC236}">
                <a16:creationId xmlns:a16="http://schemas.microsoft.com/office/drawing/2014/main" id="{31932129-FEC4-1DB9-C53B-67256AB1AE6B}"/>
              </a:ext>
            </a:extLst>
          </p:cNvPr>
          <p:cNvSpPr/>
          <p:nvPr/>
        </p:nvSpPr>
        <p:spPr>
          <a:xfrm>
            <a:off x="10098183" y="2777975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FFC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FFC000"/>
                </a:solidFill>
              </a:rPr>
              <a:t>3</a:t>
            </a:r>
          </a:p>
        </p:txBody>
      </p:sp>
      <p:sp>
        <p:nvSpPr>
          <p:cNvPr id="120" name="Ellipse 119">
            <a:extLst>
              <a:ext uri="{FF2B5EF4-FFF2-40B4-BE49-F238E27FC236}">
                <a16:creationId xmlns:a16="http://schemas.microsoft.com/office/drawing/2014/main" id="{DCE1BCEC-20C4-83D3-B0CA-90130A12E7AE}"/>
              </a:ext>
            </a:extLst>
          </p:cNvPr>
          <p:cNvSpPr/>
          <p:nvPr/>
        </p:nvSpPr>
        <p:spPr>
          <a:xfrm>
            <a:off x="9810151" y="3671418"/>
            <a:ext cx="288032" cy="288032"/>
          </a:xfrm>
          <a:prstGeom prst="ellipse">
            <a:avLst/>
          </a:prstGeom>
          <a:solidFill>
            <a:schemeClr val="bg1"/>
          </a:solidFill>
          <a:ln w="28575"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1400" dirty="0">
                <a:solidFill>
                  <a:srgbClr val="7030A0"/>
                </a:solidFill>
              </a:rPr>
              <a:t>4</a:t>
            </a:r>
          </a:p>
        </p:txBody>
      </p:sp>
      <p:grpSp>
        <p:nvGrpSpPr>
          <p:cNvPr id="121" name="Groupe 120">
            <a:extLst>
              <a:ext uri="{FF2B5EF4-FFF2-40B4-BE49-F238E27FC236}">
                <a16:creationId xmlns:a16="http://schemas.microsoft.com/office/drawing/2014/main" id="{9AE7BD09-5476-2A53-1C48-26F37B8573B7}"/>
              </a:ext>
            </a:extLst>
          </p:cNvPr>
          <p:cNvGrpSpPr/>
          <p:nvPr/>
        </p:nvGrpSpPr>
        <p:grpSpPr>
          <a:xfrm>
            <a:off x="8710695" y="3686485"/>
            <a:ext cx="398433" cy="398419"/>
            <a:chOff x="1048248" y="4581128"/>
            <a:chExt cx="398433" cy="398419"/>
          </a:xfrm>
        </p:grpSpPr>
        <p:sp>
          <p:nvSpPr>
            <p:cNvPr id="122" name="Forme libre 9">
              <a:extLst>
                <a:ext uri="{FF2B5EF4-FFF2-40B4-BE49-F238E27FC236}">
                  <a16:creationId xmlns:a16="http://schemas.microsoft.com/office/drawing/2014/main" id="{065580E5-3D79-D76B-934B-60BCFAAB493C}"/>
                </a:ext>
              </a:extLst>
            </p:cNvPr>
            <p:cNvSpPr/>
            <p:nvPr/>
          </p:nvSpPr>
          <p:spPr>
            <a:xfrm>
              <a:off x="1048248" y="4663401"/>
              <a:ext cx="398433" cy="316146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  <a:gd name="connsiteX0" fmla="*/ 0 w 1104901"/>
                <a:gd name="connsiteY0" fmla="*/ 0 h 368029"/>
                <a:gd name="connsiteX1" fmla="*/ 327661 w 1104901"/>
                <a:gd name="connsiteY1" fmla="*/ 353090 h 368029"/>
                <a:gd name="connsiteX2" fmla="*/ 563881 w 1104901"/>
                <a:gd name="connsiteY2" fmla="*/ 307370 h 368029"/>
                <a:gd name="connsiteX3" fmla="*/ 914401 w 1104901"/>
                <a:gd name="connsiteY3" fmla="*/ 353090 h 368029"/>
                <a:gd name="connsiteX4" fmla="*/ 1104901 w 1104901"/>
                <a:gd name="connsiteY4" fmla="*/ 208310 h 368029"/>
                <a:gd name="connsiteX0" fmla="*/ 0 w 1104901"/>
                <a:gd name="connsiteY0" fmla="*/ 0 h 355877"/>
                <a:gd name="connsiteX1" fmla="*/ 563881 w 1104901"/>
                <a:gd name="connsiteY1" fmla="*/ 307370 h 355877"/>
                <a:gd name="connsiteX2" fmla="*/ 914401 w 1104901"/>
                <a:gd name="connsiteY2" fmla="*/ 353090 h 355877"/>
                <a:gd name="connsiteX3" fmla="*/ 1104901 w 1104901"/>
                <a:gd name="connsiteY3" fmla="*/ 208310 h 355877"/>
                <a:gd name="connsiteX0" fmla="*/ 0 w 1104901"/>
                <a:gd name="connsiteY0" fmla="*/ 0 h 371223"/>
                <a:gd name="connsiteX1" fmla="*/ 121919 w 1104901"/>
                <a:gd name="connsiteY1" fmla="*/ 369064 h 371223"/>
                <a:gd name="connsiteX2" fmla="*/ 914401 w 1104901"/>
                <a:gd name="connsiteY2" fmla="*/ 353090 h 371223"/>
                <a:gd name="connsiteX3" fmla="*/ 1104901 w 1104901"/>
                <a:gd name="connsiteY3" fmla="*/ 208310 h 371223"/>
                <a:gd name="connsiteX0" fmla="*/ 313732 w 991910"/>
                <a:gd name="connsiteY0" fmla="*/ 0 h 297687"/>
                <a:gd name="connsiteX1" fmla="*/ 8928 w 991910"/>
                <a:gd name="connsiteY1" fmla="*/ 276523 h 297687"/>
                <a:gd name="connsiteX2" fmla="*/ 801410 w 991910"/>
                <a:gd name="connsiteY2" fmla="*/ 260549 h 297687"/>
                <a:gd name="connsiteX3" fmla="*/ 991910 w 991910"/>
                <a:gd name="connsiteY3" fmla="*/ 115769 h 297687"/>
                <a:gd name="connsiteX0" fmla="*/ 313732 w 841603"/>
                <a:gd name="connsiteY0" fmla="*/ 53889 h 359753"/>
                <a:gd name="connsiteX1" fmla="*/ 8928 w 841603"/>
                <a:gd name="connsiteY1" fmla="*/ 330412 h 359753"/>
                <a:gd name="connsiteX2" fmla="*/ 801410 w 841603"/>
                <a:gd name="connsiteY2" fmla="*/ 314438 h 359753"/>
                <a:gd name="connsiteX3" fmla="*/ 763309 w 841603"/>
                <a:gd name="connsiteY3" fmla="*/ 0 h 359753"/>
                <a:gd name="connsiteX0" fmla="*/ 312538 w 762115"/>
                <a:gd name="connsiteY0" fmla="*/ 53889 h 330677"/>
                <a:gd name="connsiteX1" fmla="*/ 7734 w 762115"/>
                <a:gd name="connsiteY1" fmla="*/ 330412 h 330677"/>
                <a:gd name="connsiteX2" fmla="*/ 762115 w 762115"/>
                <a:gd name="connsiteY2" fmla="*/ 0 h 330677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576 w 462001"/>
                <a:gd name="connsiteY0" fmla="*/ 53889 h 417438"/>
                <a:gd name="connsiteX1" fmla="*/ 244416 w 462001"/>
                <a:gd name="connsiteY1" fmla="*/ 415241 h 417438"/>
                <a:gd name="connsiteX2" fmla="*/ 450153 w 462001"/>
                <a:gd name="connsiteY2" fmla="*/ 0 h 417438"/>
                <a:gd name="connsiteX0" fmla="*/ 0 w 449577"/>
                <a:gd name="connsiteY0" fmla="*/ 53889 h 433229"/>
                <a:gd name="connsiteX1" fmla="*/ 243840 w 449577"/>
                <a:gd name="connsiteY1" fmla="*/ 415241 h 433229"/>
                <a:gd name="connsiteX2" fmla="*/ 277712 w 449577"/>
                <a:gd name="connsiteY2" fmla="*/ 339356 h 433229"/>
                <a:gd name="connsiteX3" fmla="*/ 449577 w 449577"/>
                <a:gd name="connsiteY3" fmla="*/ 0 h 433229"/>
                <a:gd name="connsiteX0" fmla="*/ 0 w 517979"/>
                <a:gd name="connsiteY0" fmla="*/ 53889 h 433229"/>
                <a:gd name="connsiteX1" fmla="*/ 243840 w 517979"/>
                <a:gd name="connsiteY1" fmla="*/ 415241 h 433229"/>
                <a:gd name="connsiteX2" fmla="*/ 277712 w 517979"/>
                <a:gd name="connsiteY2" fmla="*/ 339356 h 433229"/>
                <a:gd name="connsiteX3" fmla="*/ 449577 w 517979"/>
                <a:gd name="connsiteY3" fmla="*/ 0 h 433229"/>
                <a:gd name="connsiteX0" fmla="*/ 0 w 449577"/>
                <a:gd name="connsiteY0" fmla="*/ 53889 h 415434"/>
                <a:gd name="connsiteX1" fmla="*/ 243840 w 449577"/>
                <a:gd name="connsiteY1" fmla="*/ 415241 h 415434"/>
                <a:gd name="connsiteX2" fmla="*/ 449577 w 449577"/>
                <a:gd name="connsiteY2" fmla="*/ 0 h 415434"/>
                <a:gd name="connsiteX0" fmla="*/ 25754 w 547758"/>
                <a:gd name="connsiteY0" fmla="*/ 53889 h 415434"/>
                <a:gd name="connsiteX1" fmla="*/ 269594 w 547758"/>
                <a:gd name="connsiteY1" fmla="*/ 415241 h 415434"/>
                <a:gd name="connsiteX2" fmla="*/ 475331 w 547758"/>
                <a:gd name="connsiteY2" fmla="*/ 0 h 415434"/>
                <a:gd name="connsiteX0" fmla="*/ 44670 w 549184"/>
                <a:gd name="connsiteY0" fmla="*/ 53889 h 315272"/>
                <a:gd name="connsiteX1" fmla="*/ 258030 w 549184"/>
                <a:gd name="connsiteY1" fmla="*/ 314988 h 315272"/>
                <a:gd name="connsiteX2" fmla="*/ 494247 w 549184"/>
                <a:gd name="connsiteY2" fmla="*/ 0 h 315272"/>
                <a:gd name="connsiteX0" fmla="*/ 170875 w 796872"/>
                <a:gd name="connsiteY0" fmla="*/ 53889 h 319952"/>
                <a:gd name="connsiteX1" fmla="*/ 384235 w 796872"/>
                <a:gd name="connsiteY1" fmla="*/ 314988 h 319952"/>
                <a:gd name="connsiteX2" fmla="*/ 620452 w 796872"/>
                <a:gd name="connsiteY2" fmla="*/ 0 h 319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96872" h="319952">
                  <a:moveTo>
                    <a:pt x="170875" y="53889"/>
                  </a:moveTo>
                  <a:cubicBezTo>
                    <a:pt x="288350" y="117924"/>
                    <a:pt x="-406979" y="269987"/>
                    <a:pt x="384235" y="314988"/>
                  </a:cubicBezTo>
                  <a:cubicBezTo>
                    <a:pt x="1175449" y="359989"/>
                    <a:pt x="577590" y="86509"/>
                    <a:pt x="620452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3" name="Ellipse 122">
              <a:extLst>
                <a:ext uri="{FF2B5EF4-FFF2-40B4-BE49-F238E27FC236}">
                  <a16:creationId xmlns:a16="http://schemas.microsoft.com/office/drawing/2014/main" id="{33901DB5-57A8-8210-4114-FAC4867D076E}"/>
                </a:ext>
              </a:extLst>
            </p:cNvPr>
            <p:cNvSpPr/>
            <p:nvPr/>
          </p:nvSpPr>
          <p:spPr>
            <a:xfrm>
              <a:off x="1103448" y="45811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</p:grpSp>
      <p:cxnSp>
        <p:nvCxnSpPr>
          <p:cNvPr id="124" name="Connecteur droit 123">
            <a:extLst>
              <a:ext uri="{FF2B5EF4-FFF2-40B4-BE49-F238E27FC236}">
                <a16:creationId xmlns:a16="http://schemas.microsoft.com/office/drawing/2014/main" id="{B8A65046-F68A-3240-0F54-242A72F6958B}"/>
              </a:ext>
            </a:extLst>
          </p:cNvPr>
          <p:cNvCxnSpPr>
            <a:stCxn id="123" idx="0"/>
            <a:endCxn id="117" idx="4"/>
          </p:cNvCxnSpPr>
          <p:nvPr/>
        </p:nvCxnSpPr>
        <p:spPr>
          <a:xfrm flipH="1" flipV="1">
            <a:off x="8676309" y="3066007"/>
            <a:ext cx="233602" cy="620478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eur droit 124">
            <a:extLst>
              <a:ext uri="{FF2B5EF4-FFF2-40B4-BE49-F238E27FC236}">
                <a16:creationId xmlns:a16="http://schemas.microsoft.com/office/drawing/2014/main" id="{8F51B521-1D07-3D84-A0E0-2BEA409EDE7A}"/>
              </a:ext>
            </a:extLst>
          </p:cNvPr>
          <p:cNvCxnSpPr>
            <a:stCxn id="118" idx="3"/>
            <a:endCxn id="117" idx="7"/>
          </p:cNvCxnSpPr>
          <p:nvPr/>
        </p:nvCxnSpPr>
        <p:spPr>
          <a:xfrm flipH="1">
            <a:off x="8778144" y="2421249"/>
            <a:ext cx="583069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Connecteur droit 125">
            <a:extLst>
              <a:ext uri="{FF2B5EF4-FFF2-40B4-BE49-F238E27FC236}">
                <a16:creationId xmlns:a16="http://schemas.microsoft.com/office/drawing/2014/main" id="{B3928EB3-F05C-B5E6-F525-EF1CFA90E926}"/>
              </a:ext>
            </a:extLst>
          </p:cNvPr>
          <p:cNvCxnSpPr>
            <a:stCxn id="119" idx="1"/>
            <a:endCxn id="118" idx="5"/>
          </p:cNvCxnSpPr>
          <p:nvPr/>
        </p:nvCxnSpPr>
        <p:spPr>
          <a:xfrm flipH="1" flipV="1">
            <a:off x="9564883" y="2421249"/>
            <a:ext cx="575481" cy="39890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eur droit 126">
            <a:extLst>
              <a:ext uri="{FF2B5EF4-FFF2-40B4-BE49-F238E27FC236}">
                <a16:creationId xmlns:a16="http://schemas.microsoft.com/office/drawing/2014/main" id="{B68EF18C-C8F5-AC61-E888-4C313A4CFD24}"/>
              </a:ext>
            </a:extLst>
          </p:cNvPr>
          <p:cNvCxnSpPr>
            <a:stCxn id="123" idx="6"/>
            <a:endCxn id="120" idx="2"/>
          </p:cNvCxnSpPr>
          <p:nvPr/>
        </p:nvCxnSpPr>
        <p:spPr>
          <a:xfrm flipV="1">
            <a:off x="9053927" y="3815434"/>
            <a:ext cx="756224" cy="15067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Connecteur droit 127">
            <a:extLst>
              <a:ext uri="{FF2B5EF4-FFF2-40B4-BE49-F238E27FC236}">
                <a16:creationId xmlns:a16="http://schemas.microsoft.com/office/drawing/2014/main" id="{785AD09D-9CB4-E2AE-45D1-5B049F0D8F5A}"/>
              </a:ext>
            </a:extLst>
          </p:cNvPr>
          <p:cNvCxnSpPr>
            <a:stCxn id="120" idx="7"/>
            <a:endCxn id="119" idx="4"/>
          </p:cNvCxnSpPr>
          <p:nvPr/>
        </p:nvCxnSpPr>
        <p:spPr>
          <a:xfrm flipV="1">
            <a:off x="10056002" y="3066007"/>
            <a:ext cx="186197" cy="647592"/>
          </a:xfrm>
          <a:prstGeom prst="line">
            <a:avLst/>
          </a:prstGeom>
          <a:ln w="28575"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/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29" name="ZoneTexte 128">
                <a:extLst>
                  <a:ext uri="{FF2B5EF4-FFF2-40B4-BE49-F238E27FC236}">
                    <a16:creationId xmlns:a16="http://schemas.microsoft.com/office/drawing/2014/main" id="{E45C96BD-4853-1734-2568-313A5A901F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2449" y="3269698"/>
                <a:ext cx="1080120" cy="288031"/>
              </a:xfrm>
              <a:prstGeom prst="rect">
                <a:avLst/>
              </a:prstGeom>
              <a:blipFill>
                <a:blip r:embed="rId52"/>
                <a:stretch>
                  <a:fillRect t="-2083" b="-104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/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0" name="ZoneTexte 129">
                <a:extLst>
                  <a:ext uri="{FF2B5EF4-FFF2-40B4-BE49-F238E27FC236}">
                    <a16:creationId xmlns:a16="http://schemas.microsoft.com/office/drawing/2014/main" id="{9F114DCB-0577-6C7B-B945-41CD450F25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88961" y="2608053"/>
                <a:ext cx="1080120" cy="276999"/>
              </a:xfrm>
              <a:prstGeom prst="rect">
                <a:avLst/>
              </a:prstGeom>
              <a:blipFill>
                <a:blip r:embed="rId53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/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Glissière hélicoïdale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1" name="ZoneTexte 130">
                <a:extLst>
                  <a:ext uri="{FF2B5EF4-FFF2-40B4-BE49-F238E27FC236}">
                    <a16:creationId xmlns:a16="http://schemas.microsoft.com/office/drawing/2014/main" id="{889076A9-1212-B845-16A8-4042AE2FBC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02139" y="2017869"/>
                <a:ext cx="1080120" cy="646331"/>
              </a:xfrm>
              <a:prstGeom prst="rect">
                <a:avLst/>
              </a:prstGeom>
              <a:blipFill>
                <a:blip r:embed="rId5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/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2" name="ZoneTexte 131">
                <a:extLst>
                  <a:ext uri="{FF2B5EF4-FFF2-40B4-BE49-F238E27FC236}">
                    <a16:creationId xmlns:a16="http://schemas.microsoft.com/office/drawing/2014/main" id="{BB728A79-3237-5449-3336-2FDA8A0B7AF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4792" y="3278082"/>
                <a:ext cx="1080120" cy="288031"/>
              </a:xfrm>
              <a:prstGeom prst="rect">
                <a:avLst/>
              </a:prstGeom>
              <a:blipFill>
                <a:blip r:embed="rId55"/>
                <a:stretch>
                  <a:fillRect t="-2128" r="-562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/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dirty="0"/>
                  <a:t>Pivot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  <m:r>
                          <a:rPr lang="fr-FR" sz="1200" b="0" i="1" smtClean="0">
                            <a:latin typeface="Cambria Math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𝑧</m:t>
                            </m:r>
                          </m:e>
                        </m:acc>
                      </m:e>
                    </m:d>
                  </m:oMath>
                </a14:m>
                <a:endParaRPr lang="fr-FR" sz="1200" dirty="0"/>
              </a:p>
            </p:txBody>
          </p:sp>
        </mc:Choice>
        <mc:Fallback xmlns="">
          <p:sp>
            <p:nvSpPr>
              <p:cNvPr id="133" name="ZoneTexte 132">
                <a:extLst>
                  <a:ext uri="{FF2B5EF4-FFF2-40B4-BE49-F238E27FC236}">
                    <a16:creationId xmlns:a16="http://schemas.microsoft.com/office/drawing/2014/main" id="{BCF21973-0772-834C-0C9D-2C75C8F059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73895" y="3926831"/>
                <a:ext cx="1080120" cy="288031"/>
              </a:xfrm>
              <a:prstGeom prst="rect">
                <a:avLst/>
              </a:prstGeom>
              <a:blipFill>
                <a:blip r:embed="rId56"/>
                <a:stretch>
                  <a:fillRect t="-2128" r="-1695" b="-1276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4" name="Éclair 133">
            <a:extLst>
              <a:ext uri="{FF2B5EF4-FFF2-40B4-BE49-F238E27FC236}">
                <a16:creationId xmlns:a16="http://schemas.microsoft.com/office/drawing/2014/main" id="{23BD6B85-7008-3192-5DA5-335833456D9C}"/>
              </a:ext>
            </a:extLst>
          </p:cNvPr>
          <p:cNvSpPr/>
          <p:nvPr/>
        </p:nvSpPr>
        <p:spPr>
          <a:xfrm rot="19305786">
            <a:off x="8810122" y="1873956"/>
            <a:ext cx="322911" cy="548372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5" name="Éclair 134">
            <a:extLst>
              <a:ext uri="{FF2B5EF4-FFF2-40B4-BE49-F238E27FC236}">
                <a16:creationId xmlns:a16="http://schemas.microsoft.com/office/drawing/2014/main" id="{326421F0-E2B1-2225-8872-7D8D084749EC}"/>
              </a:ext>
            </a:extLst>
          </p:cNvPr>
          <p:cNvSpPr/>
          <p:nvPr/>
        </p:nvSpPr>
        <p:spPr>
          <a:xfrm rot="4881763" flipH="1">
            <a:off x="10295794" y="3702994"/>
            <a:ext cx="323460" cy="543046"/>
          </a:xfrm>
          <a:prstGeom prst="lightningBolt">
            <a:avLst/>
          </a:prstGeom>
          <a:solidFill>
            <a:srgbClr val="FFC000"/>
          </a:solidFill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6" name="ZoneTexte 135">
            <a:extLst>
              <a:ext uri="{FF2B5EF4-FFF2-40B4-BE49-F238E27FC236}">
                <a16:creationId xmlns:a16="http://schemas.microsoft.com/office/drawing/2014/main" id="{1FD64334-3B80-ADCD-2B68-41F03E11ECBC}"/>
              </a:ext>
            </a:extLst>
          </p:cNvPr>
          <p:cNvSpPr txBox="1"/>
          <p:nvPr/>
        </p:nvSpPr>
        <p:spPr>
          <a:xfrm>
            <a:off x="7893775" y="1713733"/>
            <a:ext cx="1080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Couple moteur</a:t>
            </a:r>
          </a:p>
        </p:txBody>
      </p:sp>
      <p:sp>
        <p:nvSpPr>
          <p:cNvPr id="137" name="ZoneTexte 136">
            <a:extLst>
              <a:ext uri="{FF2B5EF4-FFF2-40B4-BE49-F238E27FC236}">
                <a16:creationId xmlns:a16="http://schemas.microsoft.com/office/drawing/2014/main" id="{24370952-BD6F-1638-A55A-5309F3013774}"/>
              </a:ext>
            </a:extLst>
          </p:cNvPr>
          <p:cNvSpPr txBox="1"/>
          <p:nvPr/>
        </p:nvSpPr>
        <p:spPr>
          <a:xfrm>
            <a:off x="10564235" y="3937863"/>
            <a:ext cx="10801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Pesanteur</a:t>
            </a:r>
          </a:p>
        </p:txBody>
      </p:sp>
    </p:spTree>
    <p:extLst>
      <p:ext uri="{BB962C8B-B14F-4D97-AF65-F5344CB8AC3E}">
        <p14:creationId xmlns:p14="http://schemas.microsoft.com/office/powerpoint/2010/main" val="18279878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Ensemble stator</a:t>
            </a:r>
          </a:p>
          <a:p>
            <a:pPr lvl="1"/>
            <a:r>
              <a:rPr lang="fr-FR" dirty="0"/>
              <a:t>Ensemble rotor</a:t>
            </a:r>
          </a:p>
          <a:p>
            <a:pPr lvl="1"/>
            <a:r>
              <a:rPr lang="fr-FR" dirty="0"/>
              <a:t>Ecrou</a:t>
            </a:r>
          </a:p>
          <a:p>
            <a:pPr lvl="1"/>
            <a:r>
              <a:rPr lang="fr-FR" dirty="0"/>
              <a:t>Ensemble bras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de la pesanteur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02868" y="2090057"/>
            <a:ext cx="5978206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/>
          </a:bodyPr>
          <a:lstStyle/>
          <a:p>
            <a:r>
              <a:rPr lang="fr-FR" sz="2400" dirty="0"/>
              <a:t> Energie cinétique</a:t>
            </a:r>
          </a:p>
          <a:p>
            <a:pPr lvl="1"/>
            <a:r>
              <a:rPr lang="fr-FR" sz="2000" dirty="0"/>
              <a:t>Relation cinématique</a:t>
            </a:r>
          </a:p>
          <a:p>
            <a:pPr lvl="2"/>
            <a:r>
              <a:rPr lang="fr-FR" sz="1600" dirty="0"/>
              <a:t>Expérimentalement</a:t>
            </a:r>
          </a:p>
          <a:p>
            <a:pPr lvl="2"/>
            <a:r>
              <a:rPr lang="fr-FR" sz="1600" dirty="0"/>
              <a:t>Avec la documentation</a:t>
            </a:r>
          </a:p>
          <a:p>
            <a:pPr lvl="1"/>
            <a:r>
              <a:rPr lang="fr-FR" sz="2000" dirty="0"/>
              <a:t>Energie cinétique ensemble stator</a:t>
            </a:r>
          </a:p>
          <a:p>
            <a:pPr lvl="2"/>
            <a:r>
              <a:rPr lang="fr-FR" sz="1600" dirty="0"/>
              <a:t>Inertie stator : peser stator + SW</a:t>
            </a:r>
          </a:p>
          <a:p>
            <a:pPr lvl="1"/>
            <a:r>
              <a:rPr lang="fr-FR" sz="2000" dirty="0"/>
              <a:t>Energie cinétique ensemble rotor</a:t>
            </a:r>
          </a:p>
          <a:p>
            <a:pPr lvl="1"/>
            <a:r>
              <a:rPr lang="fr-FR" sz="2000" dirty="0"/>
              <a:t>Energie cinétique écrou</a:t>
            </a:r>
          </a:p>
          <a:p>
            <a:pPr lvl="1"/>
            <a:r>
              <a:rPr lang="fr-FR" sz="2000" dirty="0"/>
              <a:t>Energie cinétique ensemble bras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lnSpcReduction="1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b="0" dirty="0">
                    <a:ea typeface="Cambria Math" panose="02040503050406030204" pitchFamily="18" charset="0"/>
                  </a:rPr>
                  <a:t> Ensemble stator</a:t>
                </a:r>
                <a:endParaRPr lang="fr-FR" sz="2200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𝑆</m:t>
                        </m:r>
                      </m:sub>
                    </m:sSub>
                    <m:sSup>
                      <m:sSup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p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2200" b="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Ensemble rotor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𝑅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acc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d>
                      <m:dPr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𝛾</m:t>
                        </m:r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func>
                        <m:acc>
                          <m:accPr>
                            <m:chr m:val="⃗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e>
                    </m:d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ac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sin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  <m:acc>
                                    <m:accPr>
                                      <m:chr m:val="̇"/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</m:acc>
                                  <m:func>
                                    <m:func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fr-FR" sz="120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cos</m:t>
                                      </m:r>
                                    </m:fName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𝛾</m:t>
                                      </m:r>
                                    </m:e>
                                  </m:func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sub>
                    </m:sSub>
                  </m:oMath>
                </a14:m>
                <a:r>
                  <a:rPr lang="fr-FR" sz="1200" dirty="0"/>
                  <a:t>(Le rotor est un solide de révolution, on peut faire le calcul dans la base 1).</a:t>
                </a:r>
              </a:p>
              <a:p>
                <a:pPr lvl="2"/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  <m:sSup>
                      <m:s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𝛾</m:t>
                            </m:r>
                          </m:e>
                        </m:acc>
                      </m:e>
                      <m:sup>
                        <m: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sz="120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A</m:t>
                                </m:r>
                                <m:r>
                                  <m:rPr>
                                    <m:sty m:val="p"/>
                                  </m:rPr>
                                  <a:rPr lang="fr-FR" sz="1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G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𝛽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</m:t>
                        </m:r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acc>
                              <m:accPr>
                                <m:chr m:val="̇"/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8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𝐵</m:t>
                        </m:r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</m:sSub>
                    <m:sSubSup>
                      <m:sSubSup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</m:sub>
                      <m:sup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/>
                  <a:t>Finalement, pour l’ensemble rotor :</a:t>
                </a:r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𝑅</m:t>
                        </m:r>
                        <m:r>
                          <m:rPr>
                            <m:lit/>
                          </m:r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acc>
                              <m:accPr>
                                <m:chr m:val="̇"/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</m:acc>
                          </m:e>
                          <m:sup>
                            <m:r>
                              <a:rPr lang="fr-FR" sz="12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𝐽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𝑉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𝐸</m:t>
                                </m:r>
                              </m:sub>
                            </m:sSub>
                          </m:e>
                        </m:d>
                        <m:acc>
                          <m:accPr>
                            <m:chr m:val="̇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</m:sSub>
                        <m:sSubSup>
                          <m:sSub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</m:sub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𝛽</m:t>
                            </m:r>
                          </m:e>
                          <m:sup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:endParaRPr lang="fr-FR" sz="1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6" y="981887"/>
                <a:ext cx="7532913" cy="5253339"/>
              </a:xfrm>
              <a:prstGeom prst="rect">
                <a:avLst/>
              </a:prstGeom>
              <a:blipFill>
                <a:blip r:embed="rId2"/>
                <a:stretch>
                  <a:fillRect l="-1699" t="-197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Image 4">
            <a:extLst>
              <a:ext uri="{FF2B5EF4-FFF2-40B4-BE49-F238E27FC236}">
                <a16:creationId xmlns:a16="http://schemas.microsoft.com/office/drawing/2014/main" id="{4EEAA727-7B1C-B8C6-9B1B-D7D041518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9085" y="162267"/>
            <a:ext cx="2405120" cy="188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C7AA1B3-B619-A026-C886-675B75D5F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00C2A37C-9472-0536-CF9E-87103B8DF0A9}"/>
              </a:ext>
            </a:extLst>
          </p:cNvPr>
          <p:cNvGraphicFramePr>
            <a:graphicFrameLocks noGrp="1" noChangeAspect="1"/>
          </p:cNvGraphicFramePr>
          <p:nvPr>
            <p:ph idx="1"/>
            <p:extLst>
              <p:ext uri="{D42A27DB-BD31-4B8C-83A1-F6EECF244321}">
                <p14:modId xmlns:p14="http://schemas.microsoft.com/office/powerpoint/2010/main" val="404591913"/>
              </p:ext>
            </p:extLst>
          </p:nvPr>
        </p:nvGraphicFramePr>
        <p:xfrm>
          <a:off x="1201738" y="1933575"/>
          <a:ext cx="9786937" cy="33496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Worksheet" r:id="rId2" imgW="7549965" imgH="2584362" progId="Excel.Sheet.12">
                  <p:embed/>
                </p:oleObj>
              </mc:Choice>
              <mc:Fallback>
                <p:oleObj name="Worksheet" r:id="rId2" imgW="7549965" imgH="2584362" progId="Excel.Sheet.12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1201738" y="1933575"/>
                        <a:ext cx="9786937" cy="33496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Image 2">
            <a:extLst>
              <a:ext uri="{FF2B5EF4-FFF2-40B4-BE49-F238E27FC236}">
                <a16:creationId xmlns:a16="http://schemas.microsoft.com/office/drawing/2014/main" id="{EDA591C3-78E7-7BDE-7777-AB7DFF3C3D53}"/>
              </a:ext>
            </a:extLst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599279" y="306095"/>
            <a:ext cx="778792" cy="1102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2309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4541291" cy="5253339"/>
          </a:xfrm>
        </p:spPr>
        <p:txBody>
          <a:bodyPr>
            <a:normAutofit fontScale="85000" lnSpcReduction="20000"/>
          </a:bodyPr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Energie cinétique ensemble stator</a:t>
            </a:r>
          </a:p>
          <a:p>
            <a:pPr lvl="2"/>
            <a:r>
              <a:rPr lang="fr-FR" dirty="0"/>
              <a:t>Inertie stator : peser stator + SW</a:t>
            </a:r>
          </a:p>
          <a:p>
            <a:pPr lvl="1"/>
            <a:r>
              <a:rPr lang="fr-FR" dirty="0"/>
              <a:t>Energie cinétique ensemble rotor</a:t>
            </a:r>
          </a:p>
          <a:p>
            <a:pPr lvl="1"/>
            <a:r>
              <a:rPr lang="fr-FR" dirty="0"/>
              <a:t>Energie cinétique écrou</a:t>
            </a:r>
          </a:p>
          <a:p>
            <a:pPr lvl="1"/>
            <a:r>
              <a:rPr lang="fr-FR" dirty="0"/>
              <a:t>Energie cinétique ensemble bras</a:t>
            </a:r>
          </a:p>
          <a:p>
            <a:pPr lvl="1"/>
            <a:endParaRPr lang="fr-FR" dirty="0"/>
          </a:p>
          <a:p>
            <a:pPr lvl="1"/>
            <a:endParaRPr lang="fr-FR" dirty="0"/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sz="2200" dirty="0">
                    <a:ea typeface="Cambria Math" panose="02040503050406030204" pitchFamily="18" charset="0"/>
                  </a:rPr>
                  <a:t>Ensemble écrou (E=3)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begChr m:val="{"/>
                        <m:endChr m:val="}"/>
                        <m:ctrlPr>
                          <a:rPr lang="fr-FR" sz="2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sz="2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sz="2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sz="2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</m:e>
                              <m:sub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22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sz="2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sz="2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𝜎</m:t>
                                </m:r>
                                <m:d>
                                  <m:dPr>
                                    <m:ctrl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𝐺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sz="2200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𝐸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sz="22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</m:oMath>
                </a14:m>
                <a:endParaRPr lang="fr-FR" sz="2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e>
                    </m:acc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3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m:rPr>
                                      <m:brk m:alnAt="7"/>
                                    </m:rP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e/>
                                <m:e/>
                              </m:mr>
                              <m:mr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e/>
                              </m:mr>
                              <m:mr>
                                <m:e/>
                                <m:e/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["/>
                            <m:endChr m:val="]"/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1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mr>
                              <m:m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𝜔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30</m:t>
                                      </m:r>
                                    </m:sub>
                                  </m:sSub>
                                </m:e>
                              </m:mr>
                            </m:m>
                          </m:e>
                        </m:d>
                      </m:e>
                      <m:sub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sub>
                    </m:sSub>
                  </m:oMath>
                </a14:m>
                <a:endParaRPr lang="fr-FR" sz="1200" dirty="0"/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⋅</m:t>
                    </m:r>
                    <m:acc>
                      <m:accPr>
                        <m:chr m:val="⃗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Ω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𝑅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sSubSup>
                      <m:sSubSupPr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30</m:t>
                        </m:r>
                      </m:sub>
                      <m:sup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2"/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200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V</m:t>
                        </m:r>
                        <m:d>
                          <m:dPr>
                            <m:ctrl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𝐺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𝐸</m:t>
                            </m:r>
                            <m:r>
                              <m:rPr>
                                <m:lit/>
                              </m:rP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/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e>
                        </m:d>
                      </m:e>
                    </m:acc>
                    <m:r>
                      <a:rPr lang="fr-FR" sz="1200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f>
                          <m:f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acc>
                              <m:accPr>
                                <m:chr m:val="⃗"/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sz="12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DC</m:t>
                                </m:r>
                              </m:e>
                            </m:acc>
                          </m:num>
                          <m:den>
                            <m:r>
                              <m:rPr>
                                <m:sty m:val="p"/>
                              </m:rPr>
                              <a:rPr lang="fr-FR" sz="12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d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den>
                        </m:f>
                      </m:e>
                    </m:d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𝑏</m:t>
                    </m:r>
                    <m:acc>
                      <m:accPr>
                        <m:chr m:val="̇"/>
                        <m:ctrlP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2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fr-FR" sz="12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- Hypothèse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fr-FR" sz="1200" dirty="0">
                    <a:ea typeface="Cambria Math" panose="02040503050406030204" pitchFamily="18" charset="0"/>
                  </a:rPr>
                  <a:t> écrou est en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</m:oMath>
                </a14:m>
                <a:endParaRPr lang="fr-FR" sz="1200" dirty="0">
                  <a:ea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  <m:sSubSup>
                          <m:sSub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30</m:t>
                            </m:r>
                          </m:sub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acc>
                          <m:accPr>
                            <m:chr m:val="̇"/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sSup>
                              <m:sSupPr>
                                <m:ctrlP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fr-FR" sz="18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  <m:sup>
                                <m:r>
                                  <a:rPr lang="fr-FR" sz="18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</m:e>
                        </m:acc>
                      </m:e>
                    </m:d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  <a:p>
                <a:r>
                  <a:rPr lang="fr-FR" sz="2200" dirty="0">
                    <a:ea typeface="Cambria Math" panose="02040503050406030204" pitchFamily="18" charset="0"/>
                  </a:rPr>
                  <a:t>Bras : rotation autour d’un axe fixe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Inertie du bras en </a:t>
                </a:r>
                <a14:m>
                  <m:oMath xmlns:m="http://schemas.openxmlformats.org/officeDocument/2006/math"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sur l’axe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 lang="fr-FR" sz="1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𝑧</m:t>
                            </m:r>
                          </m:e>
                        </m:acc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800" dirty="0">
                    <a:ea typeface="Cambria Math" panose="02040503050406030204" pitchFamily="18" charset="0"/>
                  </a:rPr>
                  <a:t>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endParaRPr lang="fr-FR" sz="1800" b="0" dirty="0">
                  <a:ea typeface="Cambria Math" panose="02040503050406030204" pitchFamily="18" charset="0"/>
                </a:endParaRP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Masses ponctuelles </a:t>
                </a:r>
              </a:p>
              <a:p>
                <a:pPr lvl="1"/>
                <a:r>
                  <a:rPr lang="fr-FR" sz="1800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  <m:r>
                          <m:rPr>
                            <m:lit/>
                          </m:r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  <m:r>
                          <a:rPr lang="fr-FR" sz="180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fr-FR" sz="1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acc>
                      <m:accPr>
                        <m:chr m:val="̇"/>
                        <m:ctrlPr>
                          <a:rPr lang="fr-FR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sSup>
                          <m:sSupPr>
                            <m:ctrlP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acc>
                  </m:oMath>
                </a14:m>
                <a:endParaRPr lang="fr-FR" sz="1800" dirty="0"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7" y="981887"/>
                <a:ext cx="7184570" cy="5253339"/>
              </a:xfrm>
              <a:prstGeom prst="rect">
                <a:avLst/>
              </a:prstGeom>
              <a:blipFill>
                <a:blip r:embed="rId2"/>
                <a:stretch>
                  <a:fillRect l="-1781" t="-15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874223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726409C-663F-3CCA-AD2B-00D7EBE11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Hypothèses – cinématique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AEEF773-FB9F-681C-9BFA-69EF1BD78DE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≃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300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2,5</m:t>
                        </m:r>
                      </m:den>
                    </m:f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120 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𝜆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≃−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200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1000×2,5</m:t>
                        </m:r>
                      </m:den>
                    </m:f>
                    <m:acc>
                      <m:accPr>
                        <m:chr m:val="̇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=0,08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</m:acc>
                    <m:r>
                      <a:rPr lang="fr-FR" i="1">
                        <a:latin typeface="Cambria Math" panose="02040503050406030204" pitchFamily="18" charset="0"/>
                      </a:rPr>
                      <m:t>≃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2,5</m:t>
                        </m:r>
                      </m:den>
                    </m:f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≃0,4</m:t>
                    </m:r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i="1" dirty="0">
                  <a:latin typeface="Cambria Math" panose="02040503050406030204" pitchFamily="18" charset="0"/>
                </a:endParaRPr>
              </a:p>
              <a:p>
                <a:endParaRPr lang="fr-FR" b="0" i="1" dirty="0">
                  <a:latin typeface="Cambria Math" panose="02040503050406030204" pitchFamily="18" charset="0"/>
                </a:endParaRPr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EAEEF773-FB9F-681C-9BFA-69EF1BD78DE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Espace réservé du contenu 3">
            <a:extLst>
              <a:ext uri="{FF2B5EF4-FFF2-40B4-BE49-F238E27FC236}">
                <a16:creationId xmlns:a16="http://schemas.microsoft.com/office/drawing/2014/main" id="{BB894528-9978-F6ED-7249-C4F488375D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1168" y="982189"/>
            <a:ext cx="5253037" cy="5253037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1866649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AE1D6-F4E2-D014-DE92-23274B59BE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8820450-38F1-7C5F-9C24-48731BD94F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Puissance de la pesanteur</a:t>
            </a:r>
          </a:p>
        </p:txBody>
      </p:sp>
      <p:sp>
        <p:nvSpPr>
          <p:cNvPr id="56" name="Arc 55">
            <a:extLst>
              <a:ext uri="{FF2B5EF4-FFF2-40B4-BE49-F238E27FC236}">
                <a16:creationId xmlns:a16="http://schemas.microsoft.com/office/drawing/2014/main" id="{0E9D9BAF-602E-A7B2-4F87-823E0902E16F}"/>
              </a:ext>
            </a:extLst>
          </p:cNvPr>
          <p:cNvSpPr/>
          <p:nvPr/>
        </p:nvSpPr>
        <p:spPr>
          <a:xfrm>
            <a:off x="-926947" y="2166427"/>
            <a:ext cx="2498058" cy="2498058"/>
          </a:xfrm>
          <a:prstGeom prst="arc">
            <a:avLst>
              <a:gd name="adj1" fmla="val 987784"/>
              <a:gd name="adj2" fmla="val 2517803"/>
            </a:avLst>
          </a:prstGeom>
          <a:ln w="19050">
            <a:headEnd type="stealth" w="med" len="lg"/>
            <a:tailEnd type="non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58" name="Groupe 57">
            <a:extLst>
              <a:ext uri="{FF2B5EF4-FFF2-40B4-BE49-F238E27FC236}">
                <a16:creationId xmlns:a16="http://schemas.microsoft.com/office/drawing/2014/main" id="{D82AEA51-EA2D-03B1-9F00-0BF8F162F788}"/>
              </a:ext>
            </a:extLst>
          </p:cNvPr>
          <p:cNvGrpSpPr/>
          <p:nvPr/>
        </p:nvGrpSpPr>
        <p:grpSpPr>
          <a:xfrm>
            <a:off x="4707797" y="1817772"/>
            <a:ext cx="1745369" cy="1666470"/>
            <a:chOff x="5262233" y="3152282"/>
            <a:chExt cx="1745369" cy="1666470"/>
          </a:xfrm>
        </p:grpSpPr>
        <p:grpSp>
          <p:nvGrpSpPr>
            <p:cNvPr id="59" name="Groupe 58">
              <a:extLst>
                <a:ext uri="{FF2B5EF4-FFF2-40B4-BE49-F238E27FC236}">
                  <a16:creationId xmlns:a16="http://schemas.microsoft.com/office/drawing/2014/main" id="{9B0F7B19-7F5A-16B6-070E-4B408A83C7CE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72" name="Connecteur droit avec flèche 71">
                <a:extLst>
                  <a:ext uri="{FF2B5EF4-FFF2-40B4-BE49-F238E27FC236}">
                    <a16:creationId xmlns:a16="http://schemas.microsoft.com/office/drawing/2014/main" id="{37F9CBEE-36F8-F7FE-E460-FF294CF254EB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Connecteur droit avec flèche 72">
                <a:extLst>
                  <a:ext uri="{FF2B5EF4-FFF2-40B4-BE49-F238E27FC236}">
                    <a16:creationId xmlns:a16="http://schemas.microsoft.com/office/drawing/2014/main" id="{E47F7CFF-FD0E-6733-ED74-52507880F5A0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60" name="Groupe 59">
              <a:extLst>
                <a:ext uri="{FF2B5EF4-FFF2-40B4-BE49-F238E27FC236}">
                  <a16:creationId xmlns:a16="http://schemas.microsoft.com/office/drawing/2014/main" id="{D5B40AFC-6F39-B9CF-5354-A10BDEC61534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70" name="Connecteur droit avec flèche 69">
                <a:extLst>
                  <a:ext uri="{FF2B5EF4-FFF2-40B4-BE49-F238E27FC236}">
                    <a16:creationId xmlns:a16="http://schemas.microsoft.com/office/drawing/2014/main" id="{BEDB217B-10EF-0516-179D-005B07F2D2B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Connecteur droit avec flèche 70">
                <a:extLst>
                  <a:ext uri="{FF2B5EF4-FFF2-40B4-BE49-F238E27FC236}">
                    <a16:creationId xmlns:a16="http://schemas.microsoft.com/office/drawing/2014/main" id="{FDC7E77D-8698-B6B5-6C05-980F66D9B5A7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61" name="Arc 60">
              <a:extLst>
                <a:ext uri="{FF2B5EF4-FFF2-40B4-BE49-F238E27FC236}">
                  <a16:creationId xmlns:a16="http://schemas.microsoft.com/office/drawing/2014/main" id="{D678537C-DE8D-6352-CC5A-B73EC91F865B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ZoneTexte 61">
                  <a:extLst>
                    <a:ext uri="{FF2B5EF4-FFF2-40B4-BE49-F238E27FC236}">
                      <a16:creationId xmlns:a16="http://schemas.microsoft.com/office/drawing/2014/main" id="{8290612B-20F1-B3B6-394C-82B6A71166D9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8" name="ZoneTexte 12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1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ZoneTexte 62">
                  <a:extLst>
                    <a:ext uri="{FF2B5EF4-FFF2-40B4-BE49-F238E27FC236}">
                      <a16:creationId xmlns:a16="http://schemas.microsoft.com/office/drawing/2014/main" id="{D610CC1D-3120-3AE0-E2DF-818BBA400C85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29" name="ZoneTexte 128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7DF9D2B1-C0BC-D7C4-7387-0DA6A3D7CDAF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0" name="ZoneTexte 129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68754" cy="276999"/>
                </a:xfrm>
                <a:prstGeom prst="rect">
                  <a:avLst/>
                </a:prstGeom>
                <a:blipFill rotWithShape="1">
                  <a:blip r:embed="rId1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5" name="ZoneTexte 64">
                  <a:extLst>
                    <a:ext uri="{FF2B5EF4-FFF2-40B4-BE49-F238E27FC236}">
                      <a16:creationId xmlns:a16="http://schemas.microsoft.com/office/drawing/2014/main" id="{00A96ED7-FA7A-FBB4-357A-306F00DF5EE4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1" name="ZoneTexte 13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70358" cy="276999"/>
                </a:xfrm>
                <a:prstGeom prst="rect">
                  <a:avLst/>
                </a:prstGeom>
                <a:blipFill rotWithShape="1">
                  <a:blip r:embed="rId1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ZoneTexte 65">
                  <a:extLst>
                    <a:ext uri="{FF2B5EF4-FFF2-40B4-BE49-F238E27FC236}">
                      <a16:creationId xmlns:a16="http://schemas.microsoft.com/office/drawing/2014/main" id="{B5756996-52D1-4F5C-513D-EB4585294D3A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2" name="ZoneTexte 13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17587" cy="276999"/>
                </a:xfrm>
                <a:prstGeom prst="rect">
                  <a:avLst/>
                </a:prstGeom>
                <a:blipFill rotWithShape="1">
                  <a:blip r:embed="rId14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ZoneTexte 66">
                  <a:extLst>
                    <a:ext uri="{FF2B5EF4-FFF2-40B4-BE49-F238E27FC236}">
                      <a16:creationId xmlns:a16="http://schemas.microsoft.com/office/drawing/2014/main" id="{5888A864-F829-78F2-6316-A9F5CAE7F9E8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33" name="ZoneTexte 13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1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8" name="Ellipse 67">
              <a:extLst>
                <a:ext uri="{FF2B5EF4-FFF2-40B4-BE49-F238E27FC236}">
                  <a16:creationId xmlns:a16="http://schemas.microsoft.com/office/drawing/2014/main" id="{A606DE65-1CF5-1AB2-E527-C51B94980D5D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880A71D6-9CF7-F15C-8F20-C2F01D15ED5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74" name="Groupe 73">
            <a:extLst>
              <a:ext uri="{FF2B5EF4-FFF2-40B4-BE49-F238E27FC236}">
                <a16:creationId xmlns:a16="http://schemas.microsoft.com/office/drawing/2014/main" id="{E299FF81-C7D5-84BF-2634-BA35DD4D6FA2}"/>
              </a:ext>
            </a:extLst>
          </p:cNvPr>
          <p:cNvGrpSpPr/>
          <p:nvPr/>
        </p:nvGrpSpPr>
        <p:grpSpPr>
          <a:xfrm>
            <a:off x="4720843" y="3369331"/>
            <a:ext cx="1745369" cy="1666470"/>
            <a:chOff x="5262233" y="3152282"/>
            <a:chExt cx="1745369" cy="1666470"/>
          </a:xfrm>
        </p:grpSpPr>
        <p:grpSp>
          <p:nvGrpSpPr>
            <p:cNvPr id="75" name="Groupe 74">
              <a:extLst>
                <a:ext uri="{FF2B5EF4-FFF2-40B4-BE49-F238E27FC236}">
                  <a16:creationId xmlns:a16="http://schemas.microsoft.com/office/drawing/2014/main" id="{3172EB0C-538B-1D06-295E-C31D8EC32C6F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88" name="Connecteur droit avec flèche 87">
                <a:extLst>
                  <a:ext uri="{FF2B5EF4-FFF2-40B4-BE49-F238E27FC236}">
                    <a16:creationId xmlns:a16="http://schemas.microsoft.com/office/drawing/2014/main" id="{EDBB5B8B-5B9F-0EDC-80C9-889CEBA5291A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Connecteur droit avec flèche 88">
                <a:extLst>
                  <a:ext uri="{FF2B5EF4-FFF2-40B4-BE49-F238E27FC236}">
                    <a16:creationId xmlns:a16="http://schemas.microsoft.com/office/drawing/2014/main" id="{979B216F-2403-B5C8-61E1-53EBB55F4462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6" name="Groupe 75">
              <a:extLst>
                <a:ext uri="{FF2B5EF4-FFF2-40B4-BE49-F238E27FC236}">
                  <a16:creationId xmlns:a16="http://schemas.microsoft.com/office/drawing/2014/main" id="{F06270A8-3697-0E48-5054-7D8D5F0A222C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86" name="Connecteur droit avec flèche 85">
                <a:extLst>
                  <a:ext uri="{FF2B5EF4-FFF2-40B4-BE49-F238E27FC236}">
                    <a16:creationId xmlns:a16="http://schemas.microsoft.com/office/drawing/2014/main" id="{B5A98948-8066-B660-82C3-BC29FCD1D72C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Connecteur droit avec flèche 86">
                <a:extLst>
                  <a:ext uri="{FF2B5EF4-FFF2-40B4-BE49-F238E27FC236}">
                    <a16:creationId xmlns:a16="http://schemas.microsoft.com/office/drawing/2014/main" id="{6C86933F-BE4A-BC1C-3B85-407270322E94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7030A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Arc 76">
              <a:extLst>
                <a:ext uri="{FF2B5EF4-FFF2-40B4-BE49-F238E27FC236}">
                  <a16:creationId xmlns:a16="http://schemas.microsoft.com/office/drawing/2014/main" id="{EA0869A1-DDE8-BA0F-2CF2-BA03C014B366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4A4B356-4DF8-88D3-F99A-9054DB403EEC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1" name="ZoneTexte 140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412421" cy="276999"/>
                </a:xfrm>
                <a:prstGeom prst="rect">
                  <a:avLst/>
                </a:prstGeom>
                <a:blipFill rotWithShape="1"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9" name="ZoneTexte 78">
                  <a:extLst>
                    <a:ext uri="{FF2B5EF4-FFF2-40B4-BE49-F238E27FC236}">
                      <a16:creationId xmlns:a16="http://schemas.microsoft.com/office/drawing/2014/main" id="{3F3BCBEB-5C12-BC72-0CED-80C63D6DB4F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2" name="ZoneTexte 14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414023" cy="276999"/>
                </a:xfrm>
                <a:prstGeom prst="rect">
                  <a:avLst/>
                </a:prstGeom>
                <a:blipFill rotWithShape="1"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0" name="ZoneTexte 79">
                  <a:extLst>
                    <a:ext uri="{FF2B5EF4-FFF2-40B4-BE49-F238E27FC236}">
                      <a16:creationId xmlns:a16="http://schemas.microsoft.com/office/drawing/2014/main" id="{CD9B81F7-25A9-558D-3F5F-5DD92EF98718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3" name="ZoneTexte 14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2345" cy="276999"/>
                </a:xfrm>
                <a:prstGeom prst="rect">
                  <a:avLst/>
                </a:prstGeom>
                <a:blipFill rotWithShape="1"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1" name="ZoneTexte 80">
                  <a:extLst>
                    <a:ext uri="{FF2B5EF4-FFF2-40B4-BE49-F238E27FC236}">
                      <a16:creationId xmlns:a16="http://schemas.microsoft.com/office/drawing/2014/main" id="{A0DA5AC5-F333-77D7-102D-CAD27572109C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4" name="ZoneTexte 143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7344" cy="276999"/>
                </a:xfrm>
                <a:prstGeom prst="rect">
                  <a:avLst/>
                </a:prstGeom>
                <a:blipFill rotWithShape="1"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ZoneTexte 81">
                  <a:extLst>
                    <a:ext uri="{FF2B5EF4-FFF2-40B4-BE49-F238E27FC236}">
                      <a16:creationId xmlns:a16="http://schemas.microsoft.com/office/drawing/2014/main" id="{C46581E2-0087-598A-CDC6-8145666DE306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5" name="ZoneTexte 14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46570" cy="276999"/>
                </a:xfrm>
                <a:prstGeom prst="rect">
                  <a:avLst/>
                </a:prstGeom>
                <a:blipFill rotWithShape="1">
                  <a:blip r:embed="rId2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ZoneTexte 82">
                  <a:extLst>
                    <a:ext uri="{FF2B5EF4-FFF2-40B4-BE49-F238E27FC236}">
                      <a16:creationId xmlns:a16="http://schemas.microsoft.com/office/drawing/2014/main" id="{D79FDD74-13B0-B0FA-1206-631293E152E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6" name="ZoneTexte 14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402098" cy="276999"/>
                </a:xfrm>
                <a:prstGeom prst="rect">
                  <a:avLst/>
                </a:prstGeom>
                <a:blipFill rotWithShape="1">
                  <a:blip r:embed="rId2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4" name="Ellipse 83">
              <a:extLst>
                <a:ext uri="{FF2B5EF4-FFF2-40B4-BE49-F238E27FC236}">
                  <a16:creationId xmlns:a16="http://schemas.microsoft.com/office/drawing/2014/main" id="{2166D6D7-9735-4A19-5EFA-FCFBF8417D01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5" name="Ellipse 84">
              <a:extLst>
                <a:ext uri="{FF2B5EF4-FFF2-40B4-BE49-F238E27FC236}">
                  <a16:creationId xmlns:a16="http://schemas.microsoft.com/office/drawing/2014/main" id="{67011553-0D15-628D-F41A-F694874E2DB3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38" name="Groupe 137">
            <a:extLst>
              <a:ext uri="{FF2B5EF4-FFF2-40B4-BE49-F238E27FC236}">
                <a16:creationId xmlns:a16="http://schemas.microsoft.com/office/drawing/2014/main" id="{4732884E-12F2-735C-2F9A-E05707DD4DB2}"/>
              </a:ext>
            </a:extLst>
          </p:cNvPr>
          <p:cNvGrpSpPr/>
          <p:nvPr/>
        </p:nvGrpSpPr>
        <p:grpSpPr>
          <a:xfrm>
            <a:off x="-165908" y="1447512"/>
            <a:ext cx="5527681" cy="5122785"/>
            <a:chOff x="-165908" y="1447512"/>
            <a:chExt cx="5527681" cy="5122785"/>
          </a:xfrm>
        </p:grpSpPr>
        <p:sp>
          <p:nvSpPr>
            <p:cNvPr id="4" name="Forme libre 17">
              <a:extLst>
                <a:ext uri="{FF2B5EF4-FFF2-40B4-BE49-F238E27FC236}">
                  <a16:creationId xmlns:a16="http://schemas.microsoft.com/office/drawing/2014/main" id="{7B4B5531-9797-BCA6-1548-C5B31CFBB8F9}"/>
                </a:ext>
              </a:extLst>
            </p:cNvPr>
            <p:cNvSpPr/>
            <p:nvPr/>
          </p:nvSpPr>
          <p:spPr>
            <a:xfrm>
              <a:off x="558800" y="5618480"/>
              <a:ext cx="998220" cy="147567"/>
            </a:xfrm>
            <a:custGeom>
              <a:avLst/>
              <a:gdLst>
                <a:gd name="connsiteX0" fmla="*/ 0 w 998220"/>
                <a:gd name="connsiteY0" fmla="*/ 7620 h 147567"/>
                <a:gd name="connsiteX1" fmla="*/ 220980 w 998220"/>
                <a:gd name="connsiteY1" fmla="*/ 144780 h 147567"/>
                <a:gd name="connsiteX2" fmla="*/ 457200 w 998220"/>
                <a:gd name="connsiteY2" fmla="*/ 99060 h 147567"/>
                <a:gd name="connsiteX3" fmla="*/ 807720 w 998220"/>
                <a:gd name="connsiteY3" fmla="*/ 144780 h 147567"/>
                <a:gd name="connsiteX4" fmla="*/ 998220 w 998220"/>
                <a:gd name="connsiteY4" fmla="*/ 0 h 147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98220" h="147567">
                  <a:moveTo>
                    <a:pt x="0" y="7620"/>
                  </a:moveTo>
                  <a:cubicBezTo>
                    <a:pt x="72390" y="68580"/>
                    <a:pt x="144780" y="129540"/>
                    <a:pt x="220980" y="144780"/>
                  </a:cubicBezTo>
                  <a:cubicBezTo>
                    <a:pt x="297180" y="160020"/>
                    <a:pt x="359410" y="99060"/>
                    <a:pt x="457200" y="99060"/>
                  </a:cubicBezTo>
                  <a:cubicBezTo>
                    <a:pt x="554990" y="99060"/>
                    <a:pt x="717550" y="161290"/>
                    <a:pt x="807720" y="144780"/>
                  </a:cubicBezTo>
                  <a:cubicBezTo>
                    <a:pt x="897890" y="128270"/>
                    <a:pt x="948055" y="64135"/>
                    <a:pt x="998220" y="0"/>
                  </a:cubicBezTo>
                </a:path>
              </a:pathLst>
            </a:custGeom>
            <a:solidFill>
              <a:schemeClr val="bg1">
                <a:lumMod val="75000"/>
              </a:schemeClr>
            </a:solidFill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" name="Arc 4">
              <a:extLst>
                <a:ext uri="{FF2B5EF4-FFF2-40B4-BE49-F238E27FC236}">
                  <a16:creationId xmlns:a16="http://schemas.microsoft.com/office/drawing/2014/main" id="{D4F11B45-237A-6656-AF14-85D5E26D887F}"/>
                </a:ext>
              </a:extLst>
            </p:cNvPr>
            <p:cNvSpPr/>
            <p:nvPr/>
          </p:nvSpPr>
          <p:spPr>
            <a:xfrm>
              <a:off x="75980" y="3370477"/>
              <a:ext cx="3199820" cy="3199820"/>
            </a:xfrm>
            <a:prstGeom prst="arc">
              <a:avLst>
                <a:gd name="adj1" fmla="val 15985282"/>
                <a:gd name="adj2" fmla="val 20640091"/>
              </a:avLst>
            </a:prstGeom>
            <a:ln w="9525">
              <a:solidFill>
                <a:srgbClr val="7030A0"/>
              </a:solidFill>
              <a:prstDash val="lgDashDot"/>
              <a:headEnd type="none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cxnSp>
          <p:nvCxnSpPr>
            <p:cNvPr id="6" name="Connecteur droit avec flèche 5">
              <a:extLst>
                <a:ext uri="{FF2B5EF4-FFF2-40B4-BE49-F238E27FC236}">
                  <a16:creationId xmlns:a16="http://schemas.microsoft.com/office/drawing/2014/main" id="{AB669280-5138-5CFC-8717-494896030678}"/>
                </a:ext>
              </a:extLst>
            </p:cNvPr>
            <p:cNvCxnSpPr/>
            <p:nvPr/>
          </p:nvCxnSpPr>
          <p:spPr>
            <a:xfrm flipV="1">
              <a:off x="340956" y="2649220"/>
              <a:ext cx="872735" cy="72933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Connecteur droit avec flèche 6">
              <a:extLst>
                <a:ext uri="{FF2B5EF4-FFF2-40B4-BE49-F238E27FC236}">
                  <a16:creationId xmlns:a16="http://schemas.microsoft.com/office/drawing/2014/main" id="{B5886C24-5CDE-D61D-9248-BB2574A0F7AB}"/>
                </a:ext>
              </a:extLst>
            </p:cNvPr>
            <p:cNvCxnSpPr/>
            <p:nvPr/>
          </p:nvCxnSpPr>
          <p:spPr>
            <a:xfrm>
              <a:off x="340956" y="3369331"/>
              <a:ext cx="1759207" cy="210511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Connecteur droit avec flèche 7">
              <a:extLst>
                <a:ext uri="{FF2B5EF4-FFF2-40B4-BE49-F238E27FC236}">
                  <a16:creationId xmlns:a16="http://schemas.microsoft.com/office/drawing/2014/main" id="{25F15DF3-E872-7F8E-E70A-0525C9E97858}"/>
                </a:ext>
              </a:extLst>
            </p:cNvPr>
            <p:cNvCxnSpPr>
              <a:stCxn id="12" idx="7"/>
            </p:cNvCxnSpPr>
            <p:nvPr/>
          </p:nvCxnSpPr>
          <p:spPr>
            <a:xfrm flipV="1">
              <a:off x="1778895" y="1586012"/>
              <a:ext cx="3210533" cy="3282541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Connecteur droit avec flèche 8">
              <a:extLst>
                <a:ext uri="{FF2B5EF4-FFF2-40B4-BE49-F238E27FC236}">
                  <a16:creationId xmlns:a16="http://schemas.microsoft.com/office/drawing/2014/main" id="{96A184B2-35C0-5720-2187-6ED1E2A411D5}"/>
                </a:ext>
              </a:extLst>
            </p:cNvPr>
            <p:cNvCxnSpPr/>
            <p:nvPr/>
          </p:nvCxnSpPr>
          <p:spPr>
            <a:xfrm>
              <a:off x="340956" y="3386216"/>
              <a:ext cx="3208312" cy="607959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Connecteur droit 9">
              <a:extLst>
                <a:ext uri="{FF2B5EF4-FFF2-40B4-BE49-F238E27FC236}">
                  <a16:creationId xmlns:a16="http://schemas.microsoft.com/office/drawing/2014/main" id="{64F0D37A-0B9D-18EF-4EFF-2B1C8D8C8792}"/>
                </a:ext>
              </a:extLst>
            </p:cNvPr>
            <p:cNvCxnSpPr/>
            <p:nvPr/>
          </p:nvCxnSpPr>
          <p:spPr>
            <a:xfrm flipH="1">
              <a:off x="2820033" y="35386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Connecteur droit 10">
              <a:extLst>
                <a:ext uri="{FF2B5EF4-FFF2-40B4-BE49-F238E27FC236}">
                  <a16:creationId xmlns:a16="http://schemas.microsoft.com/office/drawing/2014/main" id="{6C9D9B50-1617-455A-0D32-C1D142756C0C}"/>
                </a:ext>
              </a:extLst>
            </p:cNvPr>
            <p:cNvCxnSpPr/>
            <p:nvPr/>
          </p:nvCxnSpPr>
          <p:spPr>
            <a:xfrm flipH="1">
              <a:off x="1994989" y="3386216"/>
              <a:ext cx="32219" cy="171575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64F9577C-6201-6A49-C58F-786D848491F4}"/>
                </a:ext>
              </a:extLst>
            </p:cNvPr>
            <p:cNvSpPr/>
            <p:nvPr/>
          </p:nvSpPr>
          <p:spPr>
            <a:xfrm>
              <a:off x="1533044" y="4826372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3" name="Connecteur droit 12">
              <a:extLst>
                <a:ext uri="{FF2B5EF4-FFF2-40B4-BE49-F238E27FC236}">
                  <a16:creationId xmlns:a16="http://schemas.microsoft.com/office/drawing/2014/main" id="{ED56209C-D97F-8BCB-9D20-738AD913A7B8}"/>
                </a:ext>
              </a:extLst>
            </p:cNvPr>
            <p:cNvCxnSpPr>
              <a:stCxn id="25" idx="4"/>
            </p:cNvCxnSpPr>
            <p:nvPr/>
          </p:nvCxnSpPr>
          <p:spPr>
            <a:xfrm>
              <a:off x="340956" y="3530228"/>
              <a:ext cx="0" cy="2088232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Connecteur droit 13">
              <a:extLst>
                <a:ext uri="{FF2B5EF4-FFF2-40B4-BE49-F238E27FC236}">
                  <a16:creationId xmlns:a16="http://schemas.microsoft.com/office/drawing/2014/main" id="{0CE38E41-F489-8C06-E658-B0C2EA74E0E2}"/>
                </a:ext>
              </a:extLst>
            </p:cNvPr>
            <p:cNvCxnSpPr>
              <a:endCxn id="12" idx="4"/>
            </p:cNvCxnSpPr>
            <p:nvPr/>
          </p:nvCxnSpPr>
          <p:spPr>
            <a:xfrm flipV="1">
              <a:off x="1677060" y="5114404"/>
              <a:ext cx="0" cy="504056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Connecteur droit 14">
              <a:extLst>
                <a:ext uri="{FF2B5EF4-FFF2-40B4-BE49-F238E27FC236}">
                  <a16:creationId xmlns:a16="http://schemas.microsoft.com/office/drawing/2014/main" id="{EB360549-3691-EA10-97F1-BE2C78EAAFEB}"/>
                </a:ext>
              </a:extLst>
            </p:cNvPr>
            <p:cNvCxnSpPr/>
            <p:nvPr/>
          </p:nvCxnSpPr>
          <p:spPr>
            <a:xfrm flipH="1">
              <a:off x="340956" y="5618460"/>
              <a:ext cx="1336104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Connecteur droit 15">
              <a:extLst>
                <a:ext uri="{FF2B5EF4-FFF2-40B4-BE49-F238E27FC236}">
                  <a16:creationId xmlns:a16="http://schemas.microsoft.com/office/drawing/2014/main" id="{273F8275-B4A9-7B5C-81DE-097791CD4293}"/>
                </a:ext>
              </a:extLst>
            </p:cNvPr>
            <p:cNvCxnSpPr/>
            <p:nvPr/>
          </p:nvCxnSpPr>
          <p:spPr>
            <a:xfrm>
              <a:off x="537671" y="3422098"/>
              <a:ext cx="1152128" cy="216435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Connecteur droit 16">
              <a:extLst>
                <a:ext uri="{FF2B5EF4-FFF2-40B4-BE49-F238E27FC236}">
                  <a16:creationId xmlns:a16="http://schemas.microsoft.com/office/drawing/2014/main" id="{6A381556-09EF-FEBE-E177-D2B3CBE2975D}"/>
                </a:ext>
              </a:extLst>
            </p:cNvPr>
            <p:cNvCxnSpPr>
              <a:stCxn id="34" idx="2"/>
              <a:endCxn id="12" idx="7"/>
            </p:cNvCxnSpPr>
            <p:nvPr/>
          </p:nvCxnSpPr>
          <p:spPr>
            <a:xfrm flipH="1">
              <a:off x="1778895" y="2445572"/>
              <a:ext cx="2388598" cy="2422981"/>
            </a:xfrm>
            <a:prstGeom prst="line">
              <a:avLst/>
            </a:prstGeom>
            <a:ln w="28575">
              <a:solidFill>
                <a:srgbClr val="7030A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Ellipse 17">
              <a:extLst>
                <a:ext uri="{FF2B5EF4-FFF2-40B4-BE49-F238E27FC236}">
                  <a16:creationId xmlns:a16="http://schemas.microsoft.com/office/drawing/2014/main" id="{3AFBC5C5-597A-421D-95D3-E57261D90BE6}"/>
                </a:ext>
              </a:extLst>
            </p:cNvPr>
            <p:cNvSpPr/>
            <p:nvPr/>
          </p:nvSpPr>
          <p:spPr>
            <a:xfrm>
              <a:off x="2641942" y="3706143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F6328BD1-238A-22AB-A99C-D645748DB668}"/>
                </a:ext>
              </a:extLst>
            </p:cNvPr>
            <p:cNvSpPr/>
            <p:nvPr/>
          </p:nvSpPr>
          <p:spPr>
            <a:xfrm rot="647236">
              <a:off x="719766" y="3366786"/>
              <a:ext cx="576000" cy="288000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0" name="Connecteur droit 19">
              <a:extLst>
                <a:ext uri="{FF2B5EF4-FFF2-40B4-BE49-F238E27FC236}">
                  <a16:creationId xmlns:a16="http://schemas.microsoft.com/office/drawing/2014/main" id="{B4A54694-A6F3-32FB-6D94-ABB1C4A0D830}"/>
                </a:ext>
              </a:extLst>
            </p:cNvPr>
            <p:cNvCxnSpPr/>
            <p:nvPr/>
          </p:nvCxnSpPr>
          <p:spPr>
            <a:xfrm>
              <a:off x="409264" y="3088948"/>
              <a:ext cx="669043" cy="12568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cteur droit 20">
              <a:extLst>
                <a:ext uri="{FF2B5EF4-FFF2-40B4-BE49-F238E27FC236}">
                  <a16:creationId xmlns:a16="http://schemas.microsoft.com/office/drawing/2014/main" id="{635FFAAA-F8D8-AF09-0098-372B7D51EB05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34717" y="3197756"/>
              <a:ext cx="32219" cy="171575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cteur droit 21">
              <a:extLst>
                <a:ext uri="{FF2B5EF4-FFF2-40B4-BE49-F238E27FC236}">
                  <a16:creationId xmlns:a16="http://schemas.microsoft.com/office/drawing/2014/main" id="{6FE5B111-9011-82CE-F01D-679CCBBC8AD8}"/>
                </a:ext>
              </a:extLst>
            </p:cNvPr>
            <p:cNvCxnSpPr/>
            <p:nvPr/>
          </p:nvCxnSpPr>
          <p:spPr>
            <a:xfrm flipH="1">
              <a:off x="650091" y="3315427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eur droit 22">
              <a:extLst>
                <a:ext uri="{FF2B5EF4-FFF2-40B4-BE49-F238E27FC236}">
                  <a16:creationId xmlns:a16="http://schemas.microsoft.com/office/drawing/2014/main" id="{C48F8B1A-A6E1-66CF-82B0-D23F1707BF56}"/>
                </a:ext>
              </a:extLst>
            </p:cNvPr>
            <p:cNvCxnSpPr/>
            <p:nvPr/>
          </p:nvCxnSpPr>
          <p:spPr>
            <a:xfrm flipH="1">
              <a:off x="1311649" y="3447103"/>
              <a:ext cx="50687" cy="269928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eur droit 23">
              <a:extLst>
                <a:ext uri="{FF2B5EF4-FFF2-40B4-BE49-F238E27FC236}">
                  <a16:creationId xmlns:a16="http://schemas.microsoft.com/office/drawing/2014/main" id="{8D019764-D156-F089-7C30-F48D4150280B}"/>
                </a:ext>
              </a:extLst>
            </p:cNvPr>
            <p:cNvCxnSpPr/>
            <p:nvPr/>
          </p:nvCxnSpPr>
          <p:spPr>
            <a:xfrm flipH="1">
              <a:off x="378032" y="3075872"/>
              <a:ext cx="31232" cy="166324"/>
            </a:xfrm>
            <a:prstGeom prst="line">
              <a:avLst/>
            </a:prstGeom>
            <a:ln w="28575">
              <a:solidFill>
                <a:srgbClr val="00B05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Ellipse 24">
              <a:extLst>
                <a:ext uri="{FF2B5EF4-FFF2-40B4-BE49-F238E27FC236}">
                  <a16:creationId xmlns:a16="http://schemas.microsoft.com/office/drawing/2014/main" id="{487F4830-1B38-BC0B-8316-E2BADC7BA4FA}"/>
                </a:ext>
              </a:extLst>
            </p:cNvPr>
            <p:cNvSpPr/>
            <p:nvPr/>
          </p:nvSpPr>
          <p:spPr>
            <a:xfrm>
              <a:off x="196940" y="3242196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26" name="Connecteur droit 25">
              <a:extLst>
                <a:ext uri="{FF2B5EF4-FFF2-40B4-BE49-F238E27FC236}">
                  <a16:creationId xmlns:a16="http://schemas.microsoft.com/office/drawing/2014/main" id="{2FD8CA8E-9505-ED08-EC68-6ED41C869DDB}"/>
                </a:ext>
              </a:extLst>
            </p:cNvPr>
            <p:cNvCxnSpPr/>
            <p:nvPr/>
          </p:nvCxnSpPr>
          <p:spPr>
            <a:xfrm>
              <a:off x="2027208" y="3383990"/>
              <a:ext cx="825044" cy="154990"/>
            </a:xfrm>
            <a:prstGeom prst="line">
              <a:avLst/>
            </a:prstGeom>
            <a:ln w="28575">
              <a:solidFill>
                <a:srgbClr val="FFC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EE2FCB79-B9DE-5AFF-3F39-B8E61AB8E4AB}"/>
                </a:ext>
              </a:extLst>
            </p:cNvPr>
            <p:cNvGrpSpPr/>
            <p:nvPr/>
          </p:nvGrpSpPr>
          <p:grpSpPr>
            <a:xfrm rot="604479">
              <a:off x="1682979" y="3565422"/>
              <a:ext cx="576000" cy="288000"/>
              <a:chOff x="2811353" y="2007187"/>
              <a:chExt cx="576000" cy="288000"/>
            </a:xfrm>
          </p:grpSpPr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56D372AF-BEB6-5386-06A1-AA20E4CDFA30}"/>
                  </a:ext>
                </a:extLst>
              </p:cNvPr>
              <p:cNvSpPr/>
              <p:nvPr/>
            </p:nvSpPr>
            <p:spPr>
              <a:xfrm>
                <a:off x="2811353" y="2007187"/>
                <a:ext cx="576000" cy="2880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FFC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76BB78C0-3EE1-59BF-08E3-2967511EF4F9}"/>
                  </a:ext>
                </a:extLst>
              </p:cNvPr>
              <p:cNvSpPr/>
              <p:nvPr/>
            </p:nvSpPr>
            <p:spPr>
              <a:xfrm>
                <a:off x="2811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0" name="Arc 29">
                <a:extLst>
                  <a:ext uri="{FF2B5EF4-FFF2-40B4-BE49-F238E27FC236}">
                    <a16:creationId xmlns:a16="http://schemas.microsoft.com/office/drawing/2014/main" id="{EB65ED79-1F81-3D00-30F4-59A28B7E6D2C}"/>
                  </a:ext>
                </a:extLst>
              </p:cNvPr>
              <p:cNvSpPr/>
              <p:nvPr/>
            </p:nvSpPr>
            <p:spPr>
              <a:xfrm rot="10800000">
                <a:off x="2955353" y="2079187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1" name="Arc 30">
                <a:extLst>
                  <a:ext uri="{FF2B5EF4-FFF2-40B4-BE49-F238E27FC236}">
                    <a16:creationId xmlns:a16="http://schemas.microsoft.com/office/drawing/2014/main" id="{12147B5A-3EF0-6E41-B357-01C091596F26}"/>
                  </a:ext>
                </a:extLst>
              </p:cNvPr>
              <p:cNvSpPr/>
              <p:nvPr/>
            </p:nvSpPr>
            <p:spPr>
              <a:xfrm>
                <a:off x="3099353" y="2079188"/>
                <a:ext cx="144000" cy="144000"/>
              </a:xfrm>
              <a:prstGeom prst="arc">
                <a:avLst>
                  <a:gd name="adj1" fmla="val 10087325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  <p:sp>
            <p:nvSpPr>
              <p:cNvPr id="32" name="Arc 31">
                <a:extLst>
                  <a:ext uri="{FF2B5EF4-FFF2-40B4-BE49-F238E27FC236}">
                    <a16:creationId xmlns:a16="http://schemas.microsoft.com/office/drawing/2014/main" id="{730BDC26-4BD9-938A-C2F9-4935372D2318}"/>
                  </a:ext>
                </a:extLst>
              </p:cNvPr>
              <p:cNvSpPr/>
              <p:nvPr/>
            </p:nvSpPr>
            <p:spPr>
              <a:xfrm rot="10800000">
                <a:off x="3243353" y="2079188"/>
                <a:ext cx="144000" cy="144000"/>
              </a:xfrm>
              <a:prstGeom prst="arc">
                <a:avLst>
                  <a:gd name="adj1" fmla="val 10925641"/>
                  <a:gd name="adj2" fmla="val 0"/>
                </a:avLst>
              </a:prstGeom>
              <a:ln w="28575">
                <a:solidFill>
                  <a:srgbClr val="0070C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>
                  <a:ln w="28575">
                    <a:solidFill>
                      <a:schemeClr val="tx1"/>
                    </a:solidFill>
                  </a:ln>
                </a:endParaRPr>
              </a:p>
            </p:txBody>
          </p:sp>
        </p:grpSp>
        <p:cxnSp>
          <p:nvCxnSpPr>
            <p:cNvPr id="33" name="Connecteur droit 32">
              <a:extLst>
                <a:ext uri="{FF2B5EF4-FFF2-40B4-BE49-F238E27FC236}">
                  <a16:creationId xmlns:a16="http://schemas.microsoft.com/office/drawing/2014/main" id="{6A974C89-4AB5-AE9C-2ADB-61FF7041F9E8}"/>
                </a:ext>
              </a:extLst>
            </p:cNvPr>
            <p:cNvCxnSpPr/>
            <p:nvPr/>
          </p:nvCxnSpPr>
          <p:spPr>
            <a:xfrm>
              <a:off x="2267133" y="3754969"/>
              <a:ext cx="134963" cy="25343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CD0930C3-1F27-A8FF-2B21-2AACC2D26056}"/>
                </a:ext>
              </a:extLst>
            </p:cNvPr>
            <p:cNvSpPr/>
            <p:nvPr/>
          </p:nvSpPr>
          <p:spPr>
            <a:xfrm rot="2700000">
              <a:off x="3981316" y="2199749"/>
              <a:ext cx="576000" cy="28800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0C86C158-BE97-B29C-F159-AD01E81F21DD}"/>
                    </a:ext>
                  </a:extLst>
                </p:cNvPr>
                <p:cNvSpPr txBox="1"/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𝐴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5" name="ZoneTexte 34">
                  <a:extLst>
                    <a:ext uri="{FF2B5EF4-FFF2-40B4-BE49-F238E27FC236}">
                      <a16:creationId xmlns:a16="http://schemas.microsoft.com/office/drawing/2014/main" id="{36E2DB71-7CBB-1AE9-4304-487192E1092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56619" y="3247716"/>
                  <a:ext cx="319190" cy="276999"/>
                </a:xfrm>
                <a:prstGeom prst="rect">
                  <a:avLst/>
                </a:prstGeom>
                <a:blipFill>
                  <a:blip r:embed="rId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DB9D1D72-A12B-63AE-6F27-D0D2D20B5C08}"/>
                    </a:ext>
                  </a:extLst>
                </p:cNvPr>
                <p:cNvSpPr txBox="1"/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𝐵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ZoneTexte 35">
                  <a:extLst>
                    <a:ext uri="{FF2B5EF4-FFF2-40B4-BE49-F238E27FC236}">
                      <a16:creationId xmlns:a16="http://schemas.microsoft.com/office/drawing/2014/main" id="{A5324070-F84C-FB18-8508-E19B88D3BF7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94545" y="3663723"/>
                  <a:ext cx="325024" cy="276999"/>
                </a:xfrm>
                <a:prstGeom prst="rect">
                  <a:avLst/>
                </a:prstGeom>
                <a:blipFill>
                  <a:blip r:embed="rId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DA24E14F-9ED5-00B6-691E-036487087FDE}"/>
                    </a:ext>
                  </a:extLst>
                </p:cNvPr>
                <p:cNvSpPr txBox="1"/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𝐶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7" name="ZoneTexte 36">
                  <a:extLst>
                    <a:ext uri="{FF2B5EF4-FFF2-40B4-BE49-F238E27FC236}">
                      <a16:creationId xmlns:a16="http://schemas.microsoft.com/office/drawing/2014/main" id="{37734F40-727D-70E0-3BB4-73A5F80562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57764" y="3685146"/>
                  <a:ext cx="318036" cy="276999"/>
                </a:xfrm>
                <a:prstGeom prst="rect">
                  <a:avLst/>
                </a:prstGeom>
                <a:blipFill>
                  <a:blip r:embed="rId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760195DB-90FD-C1E0-CA8D-7FF549714F3B}"/>
                    </a:ext>
                  </a:extLst>
                </p:cNvPr>
                <p:cNvSpPr txBox="1"/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𝐷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8" name="ZoneTexte 37">
                  <a:extLst>
                    <a:ext uri="{FF2B5EF4-FFF2-40B4-BE49-F238E27FC236}">
                      <a16:creationId xmlns:a16="http://schemas.microsoft.com/office/drawing/2014/main" id="{D7F4F202-82F0-1120-329F-68E1DFFC328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97119" y="4548217"/>
                  <a:ext cx="330219" cy="276999"/>
                </a:xfrm>
                <a:prstGeom prst="rect">
                  <a:avLst/>
                </a:prstGeom>
                <a:blipFill>
                  <a:blip r:embed="rId2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Ellipse 38">
              <a:extLst>
                <a:ext uri="{FF2B5EF4-FFF2-40B4-BE49-F238E27FC236}">
                  <a16:creationId xmlns:a16="http://schemas.microsoft.com/office/drawing/2014/main" id="{634B4DBE-F9BA-428F-AC28-C3AF5E1452A7}"/>
                </a:ext>
              </a:extLst>
            </p:cNvPr>
            <p:cNvSpPr/>
            <p:nvPr/>
          </p:nvSpPr>
          <p:spPr>
            <a:xfrm>
              <a:off x="-833" y="5330428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0" name="Ellipse 39">
              <a:extLst>
                <a:ext uri="{FF2B5EF4-FFF2-40B4-BE49-F238E27FC236}">
                  <a16:creationId xmlns:a16="http://schemas.microsoft.com/office/drawing/2014/main" id="{6F2CECAF-C4E9-5E2F-3D8F-1239D3ED5BA4}"/>
                </a:ext>
              </a:extLst>
            </p:cNvPr>
            <p:cNvSpPr/>
            <p:nvPr/>
          </p:nvSpPr>
          <p:spPr>
            <a:xfrm>
              <a:off x="234016" y="2747659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B050"/>
                  </a:solidFill>
                </a:rPr>
                <a:t>1</a:t>
              </a:r>
            </a:p>
          </p:txBody>
        </p:sp>
        <p:sp>
          <p:nvSpPr>
            <p:cNvPr id="41" name="Ellipse 40">
              <a:extLst>
                <a:ext uri="{FF2B5EF4-FFF2-40B4-BE49-F238E27FC236}">
                  <a16:creationId xmlns:a16="http://schemas.microsoft.com/office/drawing/2014/main" id="{B1F84492-3154-0CC4-F9F7-AAA64964A283}"/>
                </a:ext>
              </a:extLst>
            </p:cNvPr>
            <p:cNvSpPr/>
            <p:nvPr/>
          </p:nvSpPr>
          <p:spPr>
            <a:xfrm>
              <a:off x="1379341" y="3212000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0070C0"/>
                  </a:solidFill>
                </a:rPr>
                <a:t>2</a:t>
              </a:r>
            </a:p>
          </p:txBody>
        </p:sp>
        <p:sp>
          <p:nvSpPr>
            <p:cNvPr id="42" name="Ellipse 41">
              <a:extLst>
                <a:ext uri="{FF2B5EF4-FFF2-40B4-BE49-F238E27FC236}">
                  <a16:creationId xmlns:a16="http://schemas.microsoft.com/office/drawing/2014/main" id="{E2F8AEF0-6051-A5AC-6A44-359326A833BE}"/>
                </a:ext>
              </a:extLst>
            </p:cNvPr>
            <p:cNvSpPr/>
            <p:nvPr/>
          </p:nvSpPr>
          <p:spPr>
            <a:xfrm>
              <a:off x="2333628" y="312742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FFC000"/>
                  </a:solidFill>
                </a:rPr>
                <a:t>3</a:t>
              </a:r>
            </a:p>
          </p:txBody>
        </p:sp>
        <p:sp>
          <p:nvSpPr>
            <p:cNvPr id="43" name="Ellipse 42">
              <a:extLst>
                <a:ext uri="{FF2B5EF4-FFF2-40B4-BE49-F238E27FC236}">
                  <a16:creationId xmlns:a16="http://schemas.microsoft.com/office/drawing/2014/main" id="{94B3207E-A42A-5C7A-5FBB-13B9FFEA71CB}"/>
                </a:ext>
              </a:extLst>
            </p:cNvPr>
            <p:cNvSpPr/>
            <p:nvPr/>
          </p:nvSpPr>
          <p:spPr>
            <a:xfrm>
              <a:off x="3629990" y="3007774"/>
              <a:ext cx="288032" cy="288032"/>
            </a:xfrm>
            <a:prstGeom prst="ellipse">
              <a:avLst/>
            </a:prstGeom>
            <a:solidFill>
              <a:schemeClr val="bg1"/>
            </a:solidFill>
            <a:ln w="28575"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tIns="0" rIns="0" bIns="0" rtlCol="0" anchor="ctr"/>
            <a:lstStyle/>
            <a:p>
              <a:pPr algn="ctr"/>
              <a:r>
                <a:rPr lang="fr-FR" sz="1400" dirty="0">
                  <a:solidFill>
                    <a:srgbClr val="7030A0"/>
                  </a:solidFill>
                </a:rPr>
                <a:t>4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76E1F364-AFFB-DB74-4099-5EF44DD2100A}"/>
                    </a:ext>
                  </a:extLst>
                </p:cNvPr>
                <p:cNvSpPr txBox="1"/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4" name="ZoneTexte 43">
                  <a:extLst>
                    <a:ext uri="{FF2B5EF4-FFF2-40B4-BE49-F238E27FC236}">
                      <a16:creationId xmlns:a16="http://schemas.microsoft.com/office/drawing/2014/main" id="{627C1760-300F-5770-36F0-093D6E9CAC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49268" y="3832306"/>
                  <a:ext cx="368754" cy="276999"/>
                </a:xfrm>
                <a:prstGeom prst="rect">
                  <a:avLst/>
                </a:prstGeom>
                <a:blipFill>
                  <a:blip r:embed="rId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1ED16B10-4144-6BA9-0612-A0230BD459D5}"/>
                    </a:ext>
                  </a:extLst>
                </p:cNvPr>
                <p:cNvSpPr txBox="1"/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4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5" name="ZoneTexte 44">
                  <a:extLst>
                    <a:ext uri="{FF2B5EF4-FFF2-40B4-BE49-F238E27FC236}">
                      <a16:creationId xmlns:a16="http://schemas.microsoft.com/office/drawing/2014/main" id="{EBAEE511-7DCF-A511-3FB0-7DCC502B5A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89428" y="1447512"/>
                  <a:ext cx="372345" cy="276999"/>
                </a:xfrm>
                <a:prstGeom prst="rect">
                  <a:avLst/>
                </a:prstGeom>
                <a:blipFill>
                  <a:blip r:embed="rId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0F6C2A80-6C2E-8E63-FF42-46F249FDC4ED}"/>
                    </a:ext>
                  </a:extLst>
                </p:cNvPr>
                <p:cNvSpPr txBox="1"/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6" name="ZoneTexte 45">
                  <a:extLst>
                    <a:ext uri="{FF2B5EF4-FFF2-40B4-BE49-F238E27FC236}">
                      <a16:creationId xmlns:a16="http://schemas.microsoft.com/office/drawing/2014/main" id="{B2B15586-CFC4-BB40-49BD-D27FAF6CD0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8311" y="5479960"/>
                  <a:ext cx="412421" cy="276999"/>
                </a:xfrm>
                <a:prstGeom prst="rect">
                  <a:avLst/>
                </a:prstGeom>
                <a:blipFill>
                  <a:blip r:embed="rId3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51A36117-A8B9-D4D9-2A5F-47759DD980B3}"/>
                    </a:ext>
                  </a:extLst>
                </p:cNvPr>
                <p:cNvSpPr txBox="1"/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  <m:r>
                          <a:rPr lang="fr-FR" sz="1200" b="0" i="1" smtClean="0">
                            <a:latin typeface="Cambria Math"/>
                          </a:rPr>
                          <m:t>′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7" name="ZoneTexte 46">
                  <a:extLst>
                    <a:ext uri="{FF2B5EF4-FFF2-40B4-BE49-F238E27FC236}">
                      <a16:creationId xmlns:a16="http://schemas.microsoft.com/office/drawing/2014/main" id="{DF7BB805-7D74-8B34-8ED0-BF314625F91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29170" y="2510720"/>
                  <a:ext cx="414023" cy="276999"/>
                </a:xfrm>
                <a:prstGeom prst="rect">
                  <a:avLst/>
                </a:prstGeom>
                <a:blipFill>
                  <a:blip r:embed="rId3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8" name="Connecteur droit avec flèche 47">
              <a:extLst>
                <a:ext uri="{FF2B5EF4-FFF2-40B4-BE49-F238E27FC236}">
                  <a16:creationId xmlns:a16="http://schemas.microsoft.com/office/drawing/2014/main" id="{59198552-9E34-1746-1647-27F71013D0EA}"/>
                </a:ext>
              </a:extLst>
            </p:cNvPr>
            <p:cNvCxnSpPr>
              <a:stCxn id="12" idx="6"/>
            </p:cNvCxnSpPr>
            <p:nvPr/>
          </p:nvCxnSpPr>
          <p:spPr>
            <a:xfrm>
              <a:off x="1821076" y="4970388"/>
              <a:ext cx="633214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91F8490D-6128-8521-BB20-E1056982B76C}"/>
                    </a:ext>
                  </a:extLst>
                </p:cNvPr>
                <p:cNvSpPr txBox="1"/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49" name="ZoneTexte 48">
                  <a:extLst>
                    <a:ext uri="{FF2B5EF4-FFF2-40B4-BE49-F238E27FC236}">
                      <a16:creationId xmlns:a16="http://schemas.microsoft.com/office/drawing/2014/main" id="{AE41D50F-D79B-2669-6910-27FC2B505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77644" y="4826372"/>
                  <a:ext cx="372345" cy="276999"/>
                </a:xfrm>
                <a:prstGeom prst="rect">
                  <a:avLst/>
                </a:prstGeom>
                <a:blipFill>
                  <a:blip r:embed="rId3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0" name="Arc 49">
              <a:extLst>
                <a:ext uri="{FF2B5EF4-FFF2-40B4-BE49-F238E27FC236}">
                  <a16:creationId xmlns:a16="http://schemas.microsoft.com/office/drawing/2014/main" id="{531696A8-0278-DD44-E255-9C1741600298}"/>
                </a:ext>
              </a:extLst>
            </p:cNvPr>
            <p:cNvSpPr/>
            <p:nvPr/>
          </p:nvSpPr>
          <p:spPr>
            <a:xfrm>
              <a:off x="899830" y="4187641"/>
              <a:ext cx="1742112" cy="1742112"/>
            </a:xfrm>
            <a:prstGeom prst="arc">
              <a:avLst>
                <a:gd name="adj1" fmla="val 390941"/>
                <a:gd name="adj2" fmla="val 2517803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1" name="Arc 50">
              <a:extLst>
                <a:ext uri="{FF2B5EF4-FFF2-40B4-BE49-F238E27FC236}">
                  <a16:creationId xmlns:a16="http://schemas.microsoft.com/office/drawing/2014/main" id="{7DF2413F-3FE7-C7B3-4DFB-6701AA98F4CA}"/>
                </a:ext>
              </a:extLst>
            </p:cNvPr>
            <p:cNvSpPr/>
            <p:nvPr/>
          </p:nvSpPr>
          <p:spPr>
            <a:xfrm>
              <a:off x="1118872" y="4421887"/>
              <a:ext cx="1097002" cy="1097002"/>
            </a:xfrm>
            <a:prstGeom prst="arc">
              <a:avLst>
                <a:gd name="adj1" fmla="val 19296342"/>
                <a:gd name="adj2" fmla="val 2408069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999A45EC-8F33-0778-1FAE-0646BB6649E1}"/>
                    </a:ext>
                  </a:extLst>
                </p:cNvPr>
                <p:cNvSpPr txBox="1"/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𝜃</m:t>
                        </m:r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2" name="ZoneTexte 51">
                  <a:extLst>
                    <a:ext uri="{FF2B5EF4-FFF2-40B4-BE49-F238E27FC236}">
                      <a16:creationId xmlns:a16="http://schemas.microsoft.com/office/drawing/2014/main" id="{5A265D91-2CCA-73CE-860B-1DAFE6B4EA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39121" y="4525986"/>
                  <a:ext cx="503921" cy="276999"/>
                </a:xfrm>
                <a:prstGeom prst="rect">
                  <a:avLst/>
                </a:prstGeom>
                <a:blipFill>
                  <a:blip r:embed="rId3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88141E40-BB1C-4144-BD7A-65DA4D2C2179}"/>
                    </a:ext>
                  </a:extLst>
                </p:cNvPr>
                <p:cNvSpPr txBox="1"/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sz="1200" b="0" i="1" smtClean="0">
                                <a:latin typeface="Cambria Math"/>
                              </a:rPr>
                              <m:t>𝜃</m:t>
                            </m:r>
                          </m:e>
                          <m:sup>
                            <m:r>
                              <a:rPr lang="fr-FR" sz="1200" b="0" i="1" smtClean="0">
                                <a:latin typeface="Cambria Math"/>
                              </a:rPr>
                              <m:t>′</m:t>
                            </m:r>
                          </m:sup>
                        </m:sSup>
                        <m:r>
                          <a:rPr lang="fr-FR" sz="1200" b="0" i="1" smtClean="0">
                            <a:latin typeface="Cambria Math"/>
                          </a:rPr>
                          <m:t>(</m:t>
                        </m:r>
                        <m:r>
                          <a:rPr lang="fr-FR" sz="1200" b="0" i="1" smtClean="0">
                            <a:latin typeface="Cambria Math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/>
                          </a:rPr>
                          <m:t>)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3" name="ZoneTexte 52">
                  <a:extLst>
                    <a:ext uri="{FF2B5EF4-FFF2-40B4-BE49-F238E27FC236}">
                      <a16:creationId xmlns:a16="http://schemas.microsoft.com/office/drawing/2014/main" id="{E3320050-FAC7-A806-7C23-CB5D370B4C3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76238" y="5089433"/>
                  <a:ext cx="553421" cy="276999"/>
                </a:xfrm>
                <a:prstGeom prst="rect">
                  <a:avLst/>
                </a:prstGeom>
                <a:blipFill>
                  <a:blip r:embed="rId36"/>
                  <a:stretch>
                    <a:fillRect b="-88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4" name="Arc 53">
              <a:extLst>
                <a:ext uri="{FF2B5EF4-FFF2-40B4-BE49-F238E27FC236}">
                  <a16:creationId xmlns:a16="http://schemas.microsoft.com/office/drawing/2014/main" id="{FDA7754E-B76A-6A6E-0420-32A59004A00A}"/>
                </a:ext>
              </a:extLst>
            </p:cNvPr>
            <p:cNvSpPr/>
            <p:nvPr/>
          </p:nvSpPr>
          <p:spPr>
            <a:xfrm>
              <a:off x="1029799" y="4322316"/>
              <a:ext cx="1296144" cy="1296144"/>
            </a:xfrm>
            <a:prstGeom prst="arc">
              <a:avLst>
                <a:gd name="adj1" fmla="val 19296342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3F948F40-D796-BBF5-3C2B-AF3F99650F7C}"/>
                    </a:ext>
                  </a:extLst>
                </p:cNvPr>
                <p:cNvSpPr txBox="1"/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𝛼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5" name="ZoneTexte 54">
                  <a:extLst>
                    <a:ext uri="{FF2B5EF4-FFF2-40B4-BE49-F238E27FC236}">
                      <a16:creationId xmlns:a16="http://schemas.microsoft.com/office/drawing/2014/main" id="{7C29E426-24EF-A921-F865-0DB867555C6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37598" y="5254345"/>
                  <a:ext cx="317587" cy="276999"/>
                </a:xfrm>
                <a:prstGeom prst="rect">
                  <a:avLst/>
                </a:prstGeom>
                <a:blipFill>
                  <a:blip r:embed="rId3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9BB4B860-6645-D56F-8227-273C72E147B4}"/>
                    </a:ext>
                  </a:extLst>
                </p:cNvPr>
                <p:cNvSpPr txBox="1"/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𝛽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57" name="ZoneTexte 56">
                  <a:extLst>
                    <a:ext uri="{FF2B5EF4-FFF2-40B4-BE49-F238E27FC236}">
                      <a16:creationId xmlns:a16="http://schemas.microsoft.com/office/drawing/2014/main" id="{4A687163-2BB1-F2C8-9534-102A4F95D73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25606" y="3980500"/>
                  <a:ext cx="317587" cy="276999"/>
                </a:xfrm>
                <a:prstGeom prst="rect">
                  <a:avLst/>
                </a:prstGeom>
                <a:blipFill>
                  <a:blip r:embed="rId38"/>
                  <a:stretch>
                    <a:fillRect b="-4444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0" name="Groupe 89">
              <a:extLst>
                <a:ext uri="{FF2B5EF4-FFF2-40B4-BE49-F238E27FC236}">
                  <a16:creationId xmlns:a16="http://schemas.microsoft.com/office/drawing/2014/main" id="{7B931E8D-CC9E-4A37-07A7-632A9DC6F4D7}"/>
                </a:ext>
              </a:extLst>
            </p:cNvPr>
            <p:cNvGrpSpPr/>
            <p:nvPr/>
          </p:nvGrpSpPr>
          <p:grpSpPr>
            <a:xfrm>
              <a:off x="3045212" y="4789848"/>
              <a:ext cx="1889428" cy="913183"/>
              <a:chOff x="6385074" y="4040548"/>
              <a:chExt cx="1889428" cy="913183"/>
            </a:xfrm>
            <a:noFill/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1" name="ZoneTexte 90">
                    <a:extLst>
                      <a:ext uri="{FF2B5EF4-FFF2-40B4-BE49-F238E27FC236}">
                        <a16:creationId xmlns:a16="http://schemas.microsoft.com/office/drawing/2014/main" id="{DDF08133-E66C-DC6C-3218-1631D7E4F64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𝐴𝐷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𝑎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sSup>
                            <m:sSup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⃗"/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acc>
                            </m:e>
                            <m:sup>
                              <m:r>
                                <a:rPr lang="fr-FR" sz="1200" b="0" i="1" smtClean="0">
                                  <a:latin typeface="Cambria Math"/>
                                </a:rPr>
                                <m:t>′</m:t>
                              </m:r>
                            </m:sup>
                          </m:sSup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𝑐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acc>
                            <m:accPr>
                              <m:chr m:val="⃗"/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3" name="ZoneTexte 152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040548"/>
                    <a:ext cx="1889428" cy="300595"/>
                  </a:xfrm>
                  <a:prstGeom prst="rect">
                    <a:avLst/>
                  </a:prstGeom>
                  <a:blipFill>
                    <a:blip r:embed="rId3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2" name="ZoneTexte 91">
                    <a:extLst>
                      <a:ext uri="{FF2B5EF4-FFF2-40B4-BE49-F238E27FC236}">
                        <a16:creationId xmlns:a16="http://schemas.microsoft.com/office/drawing/2014/main" id="{F3D1BE13-5FF4-A723-A7BA-40FED6AF0BBA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𝐷𝐶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𝑏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4" name="ZoneTexte 153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346842"/>
                    <a:ext cx="975587" cy="300595"/>
                  </a:xfrm>
                  <a:prstGeom prst="rect">
                    <a:avLst/>
                  </a:prstGeom>
                  <a:blipFill>
                    <a:blip r:embed="rId40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93" name="ZoneTexte 92">
                    <a:extLst>
                      <a:ext uri="{FF2B5EF4-FFF2-40B4-BE49-F238E27FC236}">
                        <a16:creationId xmlns:a16="http://schemas.microsoft.com/office/drawing/2014/main" id="{530D884E-F7E7-F8C6-41B1-5A219B55FADC}"/>
                      </a:ext>
                    </a:extLst>
                  </p:cNvPr>
                  <p:cNvSpPr txBox="1"/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grp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sz="1200" b="0" i="1" smtClean="0">
                                  <a:latin typeface="Cambria Math"/>
                                </a:rPr>
                                <m:t>𝐴𝐶</m:t>
                              </m:r>
                            </m:e>
                          </m:acc>
                          <m:r>
                            <a:rPr lang="fr-FR" sz="1200" b="0" i="1" smtClean="0">
                              <a:latin typeface="Cambria Math"/>
                            </a:rPr>
                            <m:t>=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𝜆</m:t>
                          </m:r>
                          <m:r>
                            <a:rPr lang="fr-FR" sz="1200" b="0" i="1" smtClean="0">
                              <a:latin typeface="Cambria Math"/>
                            </a:rPr>
                            <m:t>⋅</m:t>
                          </m:r>
                          <m:acc>
                            <m:accPr>
                              <m:chr m:val="⃗"/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acc>
                        </m:oMath>
                      </m:oMathPara>
                    </a14:m>
                    <a:endParaRPr lang="fr-FR" sz="1200" dirty="0"/>
                  </a:p>
                </p:txBody>
              </p:sp>
            </mc:Choice>
            <mc:Fallback xmlns="">
              <p:sp>
                <p:nvSpPr>
                  <p:cNvPr id="155" name="ZoneTexte 154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85074" y="4653136"/>
                    <a:ext cx="960006" cy="300595"/>
                  </a:xfrm>
                  <a:prstGeom prst="rect">
                    <a:avLst/>
                  </a:prstGeom>
                  <a:blipFill>
                    <a:blip r:embed="rId4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E10A7393-1DDF-7640-411B-2C38A9B51601}"/>
                    </a:ext>
                  </a:extLst>
                </p:cNvPr>
                <p:cNvSpPr txBox="1"/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latin typeface="Cambria Math"/>
                          </a:rPr>
                          <m:t>𝒃</m:t>
                        </m:r>
                      </m:oMath>
                    </m:oMathPara>
                  </a14:m>
                  <a:endParaRPr lang="fr-FR" sz="1200" b="1" dirty="0"/>
                </a:p>
              </p:txBody>
            </p:sp>
          </mc:Choice>
          <mc:Fallback xmlns="">
            <p:sp>
              <p:nvSpPr>
                <p:cNvPr id="94" name="ZoneTexte 93">
                  <a:extLst>
                    <a:ext uri="{FF2B5EF4-FFF2-40B4-BE49-F238E27FC236}">
                      <a16:creationId xmlns:a16="http://schemas.microsoft.com/office/drawing/2014/main" id="{B034BA02-4E75-6A46-DA26-592ABE4680C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20041" y="4139947"/>
                  <a:ext cx="312906" cy="276999"/>
                </a:xfrm>
                <a:prstGeom prst="rect">
                  <a:avLst/>
                </a:prstGeom>
                <a:blipFill>
                  <a:blip r:embed="rId4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5" name="Connecteur droit avec flèche 94">
              <a:extLst>
                <a:ext uri="{FF2B5EF4-FFF2-40B4-BE49-F238E27FC236}">
                  <a16:creationId xmlns:a16="http://schemas.microsoft.com/office/drawing/2014/main" id="{4B54002A-3DB5-DD9C-D125-0AB7FA5B98D5}"/>
                </a:ext>
              </a:extLst>
            </p:cNvPr>
            <p:cNvCxnSpPr/>
            <p:nvPr/>
          </p:nvCxnSpPr>
          <p:spPr>
            <a:xfrm>
              <a:off x="322082" y="5330428"/>
              <a:ext cx="1352743" cy="0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54BCCCE-0A3C-ABF6-F4E6-893AB759E210}"/>
                    </a:ext>
                  </a:extLst>
                </p:cNvPr>
                <p:cNvSpPr txBox="1"/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𝑐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6" name="ZoneTexte 95">
                  <a:extLst>
                    <a:ext uri="{FF2B5EF4-FFF2-40B4-BE49-F238E27FC236}">
                      <a16:creationId xmlns:a16="http://schemas.microsoft.com/office/drawing/2014/main" id="{F12861BA-37DD-F4B6-47CE-874E191129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0479" y="5053429"/>
                  <a:ext cx="295337" cy="276999"/>
                </a:xfrm>
                <a:prstGeom prst="rect">
                  <a:avLst/>
                </a:prstGeom>
                <a:blipFill>
                  <a:blip r:embed="rId4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8046809E-5E49-8991-BBE7-3940F35A2CD5}"/>
                    </a:ext>
                  </a:extLst>
                </p:cNvPr>
                <p:cNvSpPr txBox="1"/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𝑑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7" name="ZoneTexte 96">
                  <a:extLst>
                    <a:ext uri="{FF2B5EF4-FFF2-40B4-BE49-F238E27FC236}">
                      <a16:creationId xmlns:a16="http://schemas.microsoft.com/office/drawing/2014/main" id="{947C38B5-913E-744E-54D4-D46A8EB22D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165908" y="4348463"/>
                  <a:ext cx="314573" cy="276999"/>
                </a:xfrm>
                <a:prstGeom prst="rect">
                  <a:avLst/>
                </a:prstGeom>
                <a:blipFill>
                  <a:blip r:embed="rId4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98" name="Connecteur droit avec flèche 97">
              <a:extLst>
                <a:ext uri="{FF2B5EF4-FFF2-40B4-BE49-F238E27FC236}">
                  <a16:creationId xmlns:a16="http://schemas.microsoft.com/office/drawing/2014/main" id="{E48429AC-9088-0DB9-2F24-DCCCD4FDF8E5}"/>
                </a:ext>
              </a:extLst>
            </p:cNvPr>
            <p:cNvCxnSpPr/>
            <p:nvPr/>
          </p:nvCxnSpPr>
          <p:spPr>
            <a:xfrm>
              <a:off x="132937" y="3371577"/>
              <a:ext cx="0" cy="1681852"/>
            </a:xfrm>
            <a:prstGeom prst="straightConnector1">
              <a:avLst/>
            </a:prstGeom>
            <a:ln>
              <a:solidFill>
                <a:schemeClr val="tx1"/>
              </a:solidFill>
              <a:headEnd type="stealth" w="med" len="lg"/>
              <a:tailEnd type="stealth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925E5135-4E3B-2F19-3294-15B46886DFAA}"/>
                    </a:ext>
                  </a:extLst>
                </p:cNvPr>
                <p:cNvSpPr txBox="1"/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/>
                          </a:rPr>
                          <m:t>𝑎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99" name="ZoneTexte 98">
                  <a:extLst>
                    <a:ext uri="{FF2B5EF4-FFF2-40B4-BE49-F238E27FC236}">
                      <a16:creationId xmlns:a16="http://schemas.microsoft.com/office/drawing/2014/main" id="{A2376BEC-E342-9344-772A-7CFD61D09EA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4379" y="4294468"/>
                  <a:ext cx="308674" cy="276999"/>
                </a:xfrm>
                <a:prstGeom prst="rect">
                  <a:avLst/>
                </a:prstGeom>
                <a:blipFill>
                  <a:blip r:embed="rId4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00" name="Groupe 99">
            <a:extLst>
              <a:ext uri="{FF2B5EF4-FFF2-40B4-BE49-F238E27FC236}">
                <a16:creationId xmlns:a16="http://schemas.microsoft.com/office/drawing/2014/main" id="{886FDF65-FA0A-0862-2971-422FFEA74050}"/>
              </a:ext>
            </a:extLst>
          </p:cNvPr>
          <p:cNvGrpSpPr/>
          <p:nvPr/>
        </p:nvGrpSpPr>
        <p:grpSpPr>
          <a:xfrm>
            <a:off x="4720843" y="4702963"/>
            <a:ext cx="1703306" cy="1666470"/>
            <a:chOff x="5262233" y="3152282"/>
            <a:chExt cx="1703306" cy="1666470"/>
          </a:xfrm>
        </p:grpSpPr>
        <p:grpSp>
          <p:nvGrpSpPr>
            <p:cNvPr id="101" name="Groupe 100">
              <a:extLst>
                <a:ext uri="{FF2B5EF4-FFF2-40B4-BE49-F238E27FC236}">
                  <a16:creationId xmlns:a16="http://schemas.microsoft.com/office/drawing/2014/main" id="{155BD71F-0764-4474-FE26-7D991ADBCC52}"/>
                </a:ext>
              </a:extLst>
            </p:cNvPr>
            <p:cNvGrpSpPr/>
            <p:nvPr/>
          </p:nvGrpSpPr>
          <p:grpSpPr>
            <a:xfrm>
              <a:off x="5940152" y="3401722"/>
              <a:ext cx="749927" cy="749927"/>
              <a:chOff x="5294563" y="3372196"/>
              <a:chExt cx="749927" cy="749927"/>
            </a:xfrm>
          </p:grpSpPr>
          <p:cxnSp>
            <p:nvCxnSpPr>
              <p:cNvPr id="114" name="Connecteur droit avec flèche 113">
                <a:extLst>
                  <a:ext uri="{FF2B5EF4-FFF2-40B4-BE49-F238E27FC236}">
                    <a16:creationId xmlns:a16="http://schemas.microsoft.com/office/drawing/2014/main" id="{FC818CA9-6760-7F70-FC4D-E443D020AA21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Connecteur droit avec flèche 114">
                <a:extLst>
                  <a:ext uri="{FF2B5EF4-FFF2-40B4-BE49-F238E27FC236}">
                    <a16:creationId xmlns:a16="http://schemas.microsoft.com/office/drawing/2014/main" id="{6650242B-817B-A775-9F6C-CC308A38219A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B05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02" name="Groupe 101">
              <a:extLst>
                <a:ext uri="{FF2B5EF4-FFF2-40B4-BE49-F238E27FC236}">
                  <a16:creationId xmlns:a16="http://schemas.microsoft.com/office/drawing/2014/main" id="{29756F41-F30A-F3CC-06B0-5F23C9267D03}"/>
                </a:ext>
              </a:extLst>
            </p:cNvPr>
            <p:cNvGrpSpPr/>
            <p:nvPr/>
          </p:nvGrpSpPr>
          <p:grpSpPr>
            <a:xfrm rot="19800000">
              <a:off x="5709204" y="3270482"/>
              <a:ext cx="749927" cy="749927"/>
              <a:chOff x="5294563" y="3372196"/>
              <a:chExt cx="749927" cy="749927"/>
            </a:xfrm>
          </p:grpSpPr>
          <p:cxnSp>
            <p:nvCxnSpPr>
              <p:cNvPr id="112" name="Connecteur droit avec flèche 111">
                <a:extLst>
                  <a:ext uri="{FF2B5EF4-FFF2-40B4-BE49-F238E27FC236}">
                    <a16:creationId xmlns:a16="http://schemas.microsoft.com/office/drawing/2014/main" id="{94152629-8271-C8A5-F99A-C3115A681F3D}"/>
                  </a:ext>
                </a:extLst>
              </p:cNvPr>
              <p:cNvCxnSpPr/>
              <p:nvPr/>
            </p:nvCxnSpPr>
            <p:spPr>
              <a:xfrm>
                <a:off x="5294563" y="411973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3" name="Connecteur droit avec flèche 112">
                <a:extLst>
                  <a:ext uri="{FF2B5EF4-FFF2-40B4-BE49-F238E27FC236}">
                    <a16:creationId xmlns:a16="http://schemas.microsoft.com/office/drawing/2014/main" id="{B76F3B09-36B8-94C4-923E-A4D72BB8C4C8}"/>
                  </a:ext>
                </a:extLst>
              </p:cNvPr>
              <p:cNvCxnSpPr/>
              <p:nvPr/>
            </p:nvCxnSpPr>
            <p:spPr>
              <a:xfrm rot="16200000">
                <a:off x="4919600" y="3747160"/>
                <a:ext cx="749927" cy="0"/>
              </a:xfrm>
              <a:prstGeom prst="straightConnector1">
                <a:avLst/>
              </a:prstGeom>
              <a:ln w="19050">
                <a:solidFill>
                  <a:srgbClr val="0070C0"/>
                </a:solidFill>
                <a:tailEnd type="stealth" w="med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3" name="Arc 102">
              <a:extLst>
                <a:ext uri="{FF2B5EF4-FFF2-40B4-BE49-F238E27FC236}">
                  <a16:creationId xmlns:a16="http://schemas.microsoft.com/office/drawing/2014/main" id="{E8CCF5E8-19E9-8910-FF24-66233DBDEE1A}"/>
                </a:ext>
              </a:extLst>
            </p:cNvPr>
            <p:cNvSpPr/>
            <p:nvPr/>
          </p:nvSpPr>
          <p:spPr>
            <a:xfrm>
              <a:off x="5292080" y="3522608"/>
              <a:ext cx="1296144" cy="1296144"/>
            </a:xfrm>
            <a:prstGeom prst="arc">
              <a:avLst>
                <a:gd name="adj1" fmla="val 20018351"/>
                <a:gd name="adj2" fmla="val 21169866"/>
              </a:avLst>
            </a:prstGeom>
            <a:ln w="19050">
              <a:headEnd type="stealth" w="med" len="lg"/>
              <a:tailEnd type="non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4" name="ZoneTexte 103">
                  <a:extLst>
                    <a:ext uri="{FF2B5EF4-FFF2-40B4-BE49-F238E27FC236}">
                      <a16:creationId xmlns:a16="http://schemas.microsoft.com/office/drawing/2014/main" id="{AC7C7F39-6D5C-AC1C-D500-E2767960C4AA}"/>
                    </a:ext>
                  </a:extLst>
                </p:cNvPr>
                <p:cNvSpPr txBox="1"/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ZoneTexte 13">
                  <a:extLst>
                    <a:ext uri="{FF2B5EF4-FFF2-40B4-BE49-F238E27FC236}">
                      <a16:creationId xmlns:a16="http://schemas.microsoft.com/office/drawing/2014/main" id="{B14415B5-2458-9378-29FB-C9245F150D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95181" y="4010755"/>
                  <a:ext cx="370358" cy="276999"/>
                </a:xfrm>
                <a:prstGeom prst="rect">
                  <a:avLst/>
                </a:prstGeom>
                <a:blipFill>
                  <a:blip r:embed="rId4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5" name="ZoneTexte 104">
                  <a:extLst>
                    <a:ext uri="{FF2B5EF4-FFF2-40B4-BE49-F238E27FC236}">
                      <a16:creationId xmlns:a16="http://schemas.microsoft.com/office/drawing/2014/main" id="{99A185F9-A614-CEEE-2F24-A4FCAB3DE8E9}"/>
                    </a:ext>
                  </a:extLst>
                </p:cNvPr>
                <p:cNvSpPr txBox="1"/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6" name="ZoneTexte 15">
                  <a:extLst>
                    <a:ext uri="{FF2B5EF4-FFF2-40B4-BE49-F238E27FC236}">
                      <a16:creationId xmlns:a16="http://schemas.microsoft.com/office/drawing/2014/main" id="{E58A37D5-C0E8-13B9-581B-43351546DBE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33941" y="3152282"/>
                  <a:ext cx="358431" cy="276999"/>
                </a:xfrm>
                <a:prstGeom prst="rect">
                  <a:avLst/>
                </a:prstGeom>
                <a:blipFill>
                  <a:blip r:embed="rId4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" name="ZoneTexte 105">
                  <a:extLst>
                    <a:ext uri="{FF2B5EF4-FFF2-40B4-BE49-F238E27FC236}">
                      <a16:creationId xmlns:a16="http://schemas.microsoft.com/office/drawing/2014/main" id="{4132C1A0-8FEE-CBD8-5314-BD5D9D2AE8C4}"/>
                    </a:ext>
                  </a:extLst>
                </p:cNvPr>
                <p:cNvSpPr txBox="1"/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7" name="ZoneTexte 16">
                  <a:extLst>
                    <a:ext uri="{FF2B5EF4-FFF2-40B4-BE49-F238E27FC236}">
                      <a16:creationId xmlns:a16="http://schemas.microsoft.com/office/drawing/2014/main" id="{6B278FC2-3EF8-12BD-1AF3-1217D7AEBEF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35685" y="3548045"/>
                  <a:ext cx="373949" cy="276999"/>
                </a:xfrm>
                <a:prstGeom prst="rect">
                  <a:avLst/>
                </a:prstGeom>
                <a:blipFill>
                  <a:blip r:embed="rId4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7" name="ZoneTexte 106">
                  <a:extLst>
                    <a:ext uri="{FF2B5EF4-FFF2-40B4-BE49-F238E27FC236}">
                      <a16:creationId xmlns:a16="http://schemas.microsoft.com/office/drawing/2014/main" id="{BFE04F17-0A0D-EDAC-1744-B98570A33F3A}"/>
                    </a:ext>
                  </a:extLst>
                </p:cNvPr>
                <p:cNvSpPr txBox="1"/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9" name="ZoneTexte 18">
                  <a:extLst>
                    <a:ext uri="{FF2B5EF4-FFF2-40B4-BE49-F238E27FC236}">
                      <a16:creationId xmlns:a16="http://schemas.microsoft.com/office/drawing/2014/main" id="{32649DB7-9C1E-492F-C7DF-9E9E635038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62233" y="3356339"/>
                  <a:ext cx="362022" cy="276999"/>
                </a:xfrm>
                <a:prstGeom prst="rect">
                  <a:avLst/>
                </a:prstGeom>
                <a:blipFill>
                  <a:blip r:embed="rId4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8" name="ZoneTexte 107">
                  <a:extLst>
                    <a:ext uri="{FF2B5EF4-FFF2-40B4-BE49-F238E27FC236}">
                      <a16:creationId xmlns:a16="http://schemas.microsoft.com/office/drawing/2014/main" id="{51C72DB5-D8DD-1BC5-1717-529F23C69222}"/>
                    </a:ext>
                  </a:extLst>
                </p:cNvPr>
                <p:cNvSpPr txBox="1"/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0" name="ZoneTexte 19">
                  <a:extLst>
                    <a:ext uri="{FF2B5EF4-FFF2-40B4-BE49-F238E27FC236}">
                      <a16:creationId xmlns:a16="http://schemas.microsoft.com/office/drawing/2014/main" id="{9D6DB790-EBC8-1493-E81D-1435CDEB93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31285" y="3829601"/>
                  <a:ext cx="304186" cy="276999"/>
                </a:xfrm>
                <a:prstGeom prst="rect">
                  <a:avLst/>
                </a:prstGeom>
                <a:blipFill>
                  <a:blip r:embed="rId5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9" name="ZoneTexte 108">
                  <a:extLst>
                    <a:ext uri="{FF2B5EF4-FFF2-40B4-BE49-F238E27FC236}">
                      <a16:creationId xmlns:a16="http://schemas.microsoft.com/office/drawing/2014/main" id="{6DB4AB63-C685-EEED-B58F-F94F5774A00F}"/>
                    </a:ext>
                  </a:extLst>
                </p:cNvPr>
                <p:cNvSpPr txBox="1"/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1" name="ZoneTexte 20">
                  <a:extLst>
                    <a:ext uri="{FF2B5EF4-FFF2-40B4-BE49-F238E27FC236}">
                      <a16:creationId xmlns:a16="http://schemas.microsoft.com/office/drawing/2014/main" id="{D0591B87-F4E2-906E-B7E0-6D1408D3F0C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59440" y="4256870"/>
                  <a:ext cx="368755" cy="276999"/>
                </a:xfrm>
                <a:prstGeom prst="rect">
                  <a:avLst/>
                </a:prstGeom>
                <a:blipFill>
                  <a:blip r:embed="rId5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0" name="Ellipse 109">
              <a:extLst>
                <a:ext uri="{FF2B5EF4-FFF2-40B4-BE49-F238E27FC236}">
                  <a16:creationId xmlns:a16="http://schemas.microsoft.com/office/drawing/2014/main" id="{EA1B6426-196E-91E2-66F2-F55D48C44A15}"/>
                </a:ext>
              </a:extLst>
            </p:cNvPr>
            <p:cNvSpPr/>
            <p:nvPr/>
          </p:nvSpPr>
          <p:spPr>
            <a:xfrm>
              <a:off x="5853398" y="4069873"/>
              <a:ext cx="158762" cy="158762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1" name="Ellipse 110">
              <a:extLst>
                <a:ext uri="{FF2B5EF4-FFF2-40B4-BE49-F238E27FC236}">
                  <a16:creationId xmlns:a16="http://schemas.microsoft.com/office/drawing/2014/main" id="{36561AC8-0C8F-E213-38EA-FB386BDB3BF6}"/>
                </a:ext>
              </a:extLst>
            </p:cNvPr>
            <p:cNvSpPr/>
            <p:nvPr/>
          </p:nvSpPr>
          <p:spPr>
            <a:xfrm flipV="1">
              <a:off x="5905779" y="4122254"/>
              <a:ext cx="54000" cy="5400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141" name="Image 140">
            <a:extLst>
              <a:ext uri="{FF2B5EF4-FFF2-40B4-BE49-F238E27FC236}">
                <a16:creationId xmlns:a16="http://schemas.microsoft.com/office/drawing/2014/main" id="{1A75DA21-8734-E940-1019-1D4D533FAA7B}"/>
              </a:ext>
            </a:extLst>
          </p:cNvPr>
          <p:cNvPicPr>
            <a:picLocks noChangeAspect="1"/>
          </p:cNvPicPr>
          <p:nvPr/>
        </p:nvPicPr>
        <p:blipFill>
          <a:blip r:embed="rId52"/>
          <a:stretch>
            <a:fillRect/>
          </a:stretch>
        </p:blipFill>
        <p:spPr>
          <a:xfrm>
            <a:off x="0" y="1023255"/>
            <a:ext cx="2101805" cy="137704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</p:spPr>
            <p:txBody>
              <a:bodyPr/>
              <a:lstStyle/>
              <a:p>
                <a:r>
                  <a:rPr lang="fr-FR" dirty="0"/>
                  <a:t>Hypothèse</a:t>
                </a:r>
              </a:p>
              <a:p>
                <a:pPr lvl="1"/>
                <a:r>
                  <a:rPr lang="fr-FR" dirty="0"/>
                  <a:t>Masse ponctuelle 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</m:oMath>
                </a14:m>
                <a:r>
                  <a:rPr lang="fr-FR" b="0" dirty="0"/>
                  <a:t> et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𝐺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⃗"/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e>
                    </m:acc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→4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Ω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V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  <m:r>
                                      <m:rPr>
                                        <m:lit/>
                                      </m:r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/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fr-FR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R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  <m:d>
                                  <m:d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𝐺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4</m:t>
                                        </m:r>
                                      </m:sub>
                                    </m:s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,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𝑝𝑒𝑠</m:t>
                                    </m:r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→4</m:t>
                                    </m:r>
                                  </m:e>
                                </m:d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acc>
                              <m:accPr>
                                <m:chr m:val="̇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𝑧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𝐿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acc>
                              <m:accPr>
                                <m:chr m:val="̇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𝜃</m:t>
                                </m:r>
                              </m:e>
                            </m:acc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acc>
                          </m:e>
                        </m:eqAr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⊗</m:t>
                    </m:r>
                    <m:d>
                      <m:dPr>
                        <m:begChr m:val="{"/>
                        <m:endChr m:val="}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fr-F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𝑀</m:t>
                                </m:r>
                              </m:e>
                              <m: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𝑔</m:t>
                            </m:r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sSub>
                                  <m:sSubPr>
                                    <m:ctrlP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fr-F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acc>
                          </m:e>
                          <m:e>
                            <m:acc>
                              <m:accPr>
                                <m:chr m:val="⃗"/>
                                <m:ctrlPr>
                                  <a:rPr lang="fr-F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acc>
                          </m:e>
                        </m:eqAr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4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func>
                      <m:func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endParaRPr lang="fr-FR" dirty="0"/>
              </a:p>
              <a:p>
                <a:pPr lvl="1"/>
                <a:endParaRPr lang="fr-FR" b="0" dirty="0"/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166" name="Espace réservé du contenu 2">
                <a:extLst>
                  <a:ext uri="{FF2B5EF4-FFF2-40B4-BE49-F238E27FC236}">
                    <a16:creationId xmlns:a16="http://schemas.microsoft.com/office/drawing/2014/main" id="{A6E8A5B7-FDD0-A611-F00F-E144F3585FA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892289" y="981887"/>
                <a:ext cx="5181915" cy="5253339"/>
              </a:xfrm>
              <a:blipFill>
                <a:blip r:embed="rId53"/>
                <a:stretch>
                  <a:fillRect l="-3176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2292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18FDE20-93E3-0D25-74B8-84694B246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MaxPID horizontal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158689C8-B04E-768F-DC86-88F37C99A6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82445317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1146</Words>
  <Application>Microsoft Office PowerPoint</Application>
  <PresentationFormat>Grand écran</PresentationFormat>
  <Paragraphs>288</Paragraphs>
  <Slides>22</Slides>
  <Notes>0</Notes>
  <HiddenSlides>0</HiddenSlides>
  <MMClips>0</MMClips>
  <ScaleCrop>false</ScaleCrop>
  <HeadingPairs>
    <vt:vector size="8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Serveurs OLE incorporés</vt:lpstr>
      </vt:variant>
      <vt:variant>
        <vt:i4>1</vt:i4>
      </vt:variant>
      <vt:variant>
        <vt:lpstr>Titres des diapositives</vt:lpstr>
      </vt:variant>
      <vt:variant>
        <vt:i4>22</vt:i4>
      </vt:variant>
    </vt:vector>
  </HeadingPairs>
  <TitlesOfParts>
    <vt:vector size="29" baseType="lpstr">
      <vt:lpstr>Arial Nova</vt:lpstr>
      <vt:lpstr>Calibri</vt:lpstr>
      <vt:lpstr>Calibri Light</vt:lpstr>
      <vt:lpstr>Cambria Math</vt:lpstr>
      <vt:lpstr>Wingdings</vt:lpstr>
      <vt:lpstr>Rétrospective</vt:lpstr>
      <vt:lpstr>Worksheet</vt:lpstr>
      <vt:lpstr>MaxPID</vt:lpstr>
      <vt:lpstr>Présentation PowerPoint</vt:lpstr>
      <vt:lpstr>02 Chaîne fonctionnelle</vt:lpstr>
      <vt:lpstr>Chaine fonctionnelle du MaxPID</vt:lpstr>
      <vt:lpstr>Chaine fonctionnelle du MaxPID</vt:lpstr>
      <vt:lpstr>04 Résolution géométrique et cinématique</vt:lpstr>
      <vt:lpstr>Loi indirecte – γ=f(θ)</vt:lpstr>
      <vt:lpstr>Loi directe – θ=f(γ)</vt:lpstr>
      <vt:lpstr>Tracer les courbes</vt:lpstr>
      <vt:lpstr>07 Modélisation composants ou phénomènes</vt:lpstr>
      <vt:lpstr>09 Dimensionnement d’un actionneur en dynamique</vt:lpstr>
      <vt:lpstr>Présentation PowerPoint</vt:lpstr>
      <vt:lpstr>Présentation PowerPoint</vt:lpstr>
      <vt:lpstr>Stratégie – TEC</vt:lpstr>
      <vt:lpstr>Stratégie TEC Energie cinétique</vt:lpstr>
      <vt:lpstr>Présentation PowerPoint</vt:lpstr>
      <vt:lpstr>Stratégie TEC Energie cinétique</vt:lpstr>
      <vt:lpstr>Hypothèses – cinématique </vt:lpstr>
      <vt:lpstr>Stratégie TEC Puissances</vt:lpstr>
      <vt:lpstr>Stratégie TEC Evaluation de la puissance dissipée par frottement</vt:lpstr>
      <vt:lpstr>Puissance de la pesanteur</vt:lpstr>
      <vt:lpstr>MaxPID horizontal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91</cp:revision>
  <dcterms:created xsi:type="dcterms:W3CDTF">2023-03-22T10:05:05Z</dcterms:created>
  <dcterms:modified xsi:type="dcterms:W3CDTF">2026-03-13T15:52:34Z</dcterms:modified>
</cp:coreProperties>
</file>