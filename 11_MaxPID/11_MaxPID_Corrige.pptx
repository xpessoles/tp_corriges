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5" r:id="rId3"/>
    <p:sldId id="266" r:id="rId4"/>
    <p:sldId id="267" r:id="rId5"/>
    <p:sldId id="279" r:id="rId6"/>
    <p:sldId id="269" r:id="rId7"/>
    <p:sldId id="272" r:id="rId8"/>
    <p:sldId id="271" r:id="rId9"/>
    <p:sldId id="280" r:id="rId10"/>
    <p:sldId id="274" r:id="rId11"/>
    <p:sldId id="275" r:id="rId12"/>
    <p:sldId id="281" r:id="rId13"/>
    <p:sldId id="278" r:id="rId14"/>
    <p:sldId id="276" r:id="rId15"/>
    <p:sldId id="277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47F"/>
    <a:srgbClr val="DFE3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75" d="100"/>
          <a:sy n="75" d="100"/>
        </p:scale>
        <p:origin x="228" y="-388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12/01/2026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84131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fr-FR" dirty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71463" indent="-269875">
              <a:defRPr/>
            </a:lvl1pPr>
            <a:lvl2pPr marL="449263" indent="-249238">
              <a:buClr>
                <a:schemeClr val="accent1"/>
              </a:buClr>
              <a:buSzPct val="80000"/>
              <a:defRPr/>
            </a:lvl2pPr>
            <a:lvl3pPr>
              <a:buClr>
                <a:schemeClr val="accent2"/>
              </a:buClr>
              <a:buSzPct val="80000"/>
              <a:defRPr/>
            </a:lvl3pPr>
            <a:lvl4pPr>
              <a:buClr>
                <a:schemeClr val="accent3"/>
              </a:buClr>
              <a:buSzPct val="80000"/>
              <a:defRPr/>
            </a:lvl4pPr>
            <a:lvl5pPr>
              <a:buClr>
                <a:schemeClr val="accent4"/>
              </a:buClr>
              <a:buSzPct val="80000"/>
              <a:defRPr/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12/01/2026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073859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Titre de 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12/01/2026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3236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12/01/2026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5828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12/01/2026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57187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12/01/2026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623871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12/01/2026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4261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D7F135F6-2A09-4FDD-9ECA-096E230CA0FA}" type="datetimeFigureOut">
              <a:rPr lang="fr-FR" smtClean="0"/>
              <a:t>12/01/2026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19469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12/01/2026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95341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12/01/2026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30107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12/01/2026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01129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2"/>
            <a:ext cx="12192000" cy="88279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795" y="981887"/>
            <a:ext cx="11956410" cy="525333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845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7F135F6-2A09-4FDD-9ECA-096E230CA0FA}" type="datetimeFigureOut">
              <a:rPr lang="fr-FR" smtClean="0"/>
              <a:t>12/01/2026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84474" y="6459785"/>
            <a:ext cx="662622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60429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B7A6A38F-5C8E-497F-8761-3C4E0EEEA33A}" type="slidenum">
              <a:rPr lang="fr-FR" smtClean="0"/>
              <a:t>‹N°›</a:t>
            </a:fld>
            <a:endParaRPr lang="fr-FR" dirty="0"/>
          </a:p>
        </p:txBody>
      </p:sp>
      <p:cxnSp>
        <p:nvCxnSpPr>
          <p:cNvPr id="10" name="Straight Connector 9"/>
          <p:cNvCxnSpPr>
            <a:cxnSpLocks/>
          </p:cNvCxnSpPr>
          <p:nvPr/>
        </p:nvCxnSpPr>
        <p:spPr>
          <a:xfrm>
            <a:off x="117795" y="891152"/>
            <a:ext cx="1195641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51999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271463" indent="-271463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2"/>
        </a:buClr>
        <a:buSzPct val="80000"/>
        <a:buFont typeface="Wingdings" panose="05000000000000000000" pitchFamily="2" charset="2"/>
        <a:buChar char="q"/>
        <a:defRPr lang="fr-FR" sz="2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49263" indent="-249238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Wingdings" panose="05000000000000000000" pitchFamily="2" charset="2"/>
        <a:buChar char="q"/>
        <a:defRPr lang="fr-FR" sz="24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27063" indent="-242888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SzPct val="80000"/>
        <a:buFont typeface="Wingdings" panose="05000000000000000000" pitchFamily="2" charset="2"/>
        <a:buChar char="q"/>
        <a:defRPr lang="fr-FR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04863" indent="-238125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SzPct val="80000"/>
        <a:buFont typeface="Wingdings" panose="05000000000000000000" pitchFamily="2" charset="2"/>
        <a:buChar char="q"/>
        <a:defRPr lang="fr-FR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82663" indent="-233363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4"/>
        </a:buClr>
        <a:buSzPct val="80000"/>
        <a:buFont typeface="Wingdings" panose="05000000000000000000" pitchFamily="2" charset="2"/>
        <a:buChar char="q"/>
        <a:defRPr lang="en-US" sz="1800" kern="1200" dirty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" Type="http://schemas.openxmlformats.org/officeDocument/2006/relationships/image" Target="../media/image3.png"/><Relationship Id="rId21" Type="http://schemas.openxmlformats.org/officeDocument/2006/relationships/image" Target="../media/image17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image" Target="../media/image2.png"/><Relationship Id="rId20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23" Type="http://schemas.openxmlformats.org/officeDocument/2006/relationships/image" Target="../media/image20.png"/><Relationship Id="rId10" Type="http://schemas.openxmlformats.org/officeDocument/2006/relationships/image" Target="../media/image10.png"/><Relationship Id="rId19" Type="http://schemas.openxmlformats.org/officeDocument/2006/relationships/image" Target="../media/image15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Relationship Id="rId22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6.png"/><Relationship Id="rId7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11" Type="http://schemas.openxmlformats.org/officeDocument/2006/relationships/image" Target="../media/image29.png"/><Relationship Id="rId5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18" Type="http://schemas.openxmlformats.org/officeDocument/2006/relationships/image" Target="../media/image170.png"/><Relationship Id="rId26" Type="http://schemas.openxmlformats.org/officeDocument/2006/relationships/image" Target="../media/image25.png"/><Relationship Id="rId39" Type="http://schemas.openxmlformats.org/officeDocument/2006/relationships/image" Target="../media/image250.png"/><Relationship Id="rId21" Type="http://schemas.openxmlformats.org/officeDocument/2006/relationships/image" Target="../media/image200.png"/><Relationship Id="rId34" Type="http://schemas.openxmlformats.org/officeDocument/2006/relationships/image" Target="../media/image36.png"/><Relationship Id="rId42" Type="http://schemas.openxmlformats.org/officeDocument/2006/relationships/image" Target="../media/image41.png"/><Relationship Id="rId47" Type="http://schemas.openxmlformats.org/officeDocument/2006/relationships/image" Target="../media/image330.png"/><Relationship Id="rId50" Type="http://schemas.openxmlformats.org/officeDocument/2006/relationships/image" Target="../media/image360.png"/><Relationship Id="rId55" Type="http://schemas.openxmlformats.org/officeDocument/2006/relationships/image" Target="../media/image48.png"/><Relationship Id="rId16" Type="http://schemas.openxmlformats.org/officeDocument/2006/relationships/image" Target="../media/image150.png"/><Relationship Id="rId20" Type="http://schemas.openxmlformats.org/officeDocument/2006/relationships/image" Target="../media/image190.png"/><Relationship Id="rId29" Type="http://schemas.openxmlformats.org/officeDocument/2006/relationships/image" Target="../media/image31.png"/><Relationship Id="rId41" Type="http://schemas.openxmlformats.org/officeDocument/2006/relationships/image" Target="../media/image270.png"/><Relationship Id="rId54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24" Type="http://schemas.openxmlformats.org/officeDocument/2006/relationships/image" Target="../media/image23.png"/><Relationship Id="rId32" Type="http://schemas.openxmlformats.org/officeDocument/2006/relationships/image" Target="../media/image34.png"/><Relationship Id="rId37" Type="http://schemas.openxmlformats.org/officeDocument/2006/relationships/image" Target="../media/image39.png"/><Relationship Id="rId40" Type="http://schemas.openxmlformats.org/officeDocument/2006/relationships/image" Target="../media/image260.png"/><Relationship Id="rId45" Type="http://schemas.openxmlformats.org/officeDocument/2006/relationships/image" Target="../media/image44.png"/><Relationship Id="rId53" Type="http://schemas.openxmlformats.org/officeDocument/2006/relationships/image" Target="../media/image46.png"/><Relationship Id="rId15" Type="http://schemas.openxmlformats.org/officeDocument/2006/relationships/image" Target="../media/image140.png"/><Relationship Id="rId23" Type="http://schemas.openxmlformats.org/officeDocument/2006/relationships/image" Target="../media/image220.png"/><Relationship Id="rId28" Type="http://schemas.openxmlformats.org/officeDocument/2006/relationships/image" Target="../media/image30.png"/><Relationship Id="rId36" Type="http://schemas.openxmlformats.org/officeDocument/2006/relationships/image" Target="../media/image38.png"/><Relationship Id="rId49" Type="http://schemas.openxmlformats.org/officeDocument/2006/relationships/image" Target="../media/image350.png"/><Relationship Id="rId19" Type="http://schemas.openxmlformats.org/officeDocument/2006/relationships/image" Target="../media/image180.png"/><Relationship Id="rId31" Type="http://schemas.openxmlformats.org/officeDocument/2006/relationships/image" Target="../media/image33.png"/><Relationship Id="rId44" Type="http://schemas.openxmlformats.org/officeDocument/2006/relationships/image" Target="../media/image43.png"/><Relationship Id="rId52" Type="http://schemas.openxmlformats.org/officeDocument/2006/relationships/image" Target="../media/image45.png"/><Relationship Id="rId14" Type="http://schemas.openxmlformats.org/officeDocument/2006/relationships/image" Target="../media/image130.png"/><Relationship Id="rId22" Type="http://schemas.openxmlformats.org/officeDocument/2006/relationships/image" Target="../media/image210.png"/><Relationship Id="rId27" Type="http://schemas.openxmlformats.org/officeDocument/2006/relationships/image" Target="../media/image28.png"/><Relationship Id="rId30" Type="http://schemas.openxmlformats.org/officeDocument/2006/relationships/image" Target="../media/image32.png"/><Relationship Id="rId35" Type="http://schemas.openxmlformats.org/officeDocument/2006/relationships/image" Target="../media/image37.png"/><Relationship Id="rId43" Type="http://schemas.openxmlformats.org/officeDocument/2006/relationships/image" Target="../media/image42.png"/><Relationship Id="rId48" Type="http://schemas.openxmlformats.org/officeDocument/2006/relationships/image" Target="../media/image340.png"/><Relationship Id="rId56" Type="http://schemas.openxmlformats.org/officeDocument/2006/relationships/image" Target="../media/image49.png"/><Relationship Id="rId51" Type="http://schemas.openxmlformats.org/officeDocument/2006/relationships/image" Target="../media/image370.png"/><Relationship Id="rId17" Type="http://schemas.openxmlformats.org/officeDocument/2006/relationships/image" Target="../media/image160.png"/><Relationship Id="rId25" Type="http://schemas.openxmlformats.org/officeDocument/2006/relationships/image" Target="../media/image24.png"/><Relationship Id="rId33" Type="http://schemas.openxmlformats.org/officeDocument/2006/relationships/image" Target="../media/image35.png"/><Relationship Id="rId38" Type="http://schemas.openxmlformats.org/officeDocument/2006/relationships/image" Target="../media/image40.png"/><Relationship Id="rId46" Type="http://schemas.openxmlformats.org/officeDocument/2006/relationships/image" Target="../media/image32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A169B8C-C613-5194-0894-54831B3305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MaxPID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2914DB3-05EE-DC10-8133-D85DE6A654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Éléments de corrigés des </a:t>
            </a:r>
            <a:r>
              <a:rPr lang="fr-FR" dirty="0" err="1"/>
              <a:t>tp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89843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B23CFB6-C96F-2738-656C-799A569A5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3A0F49C-2000-CFFA-4CC2-9D86BC1329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966845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02</a:t>
            </a:r>
            <a:br>
              <a:rPr lang="fr-FR" dirty="0"/>
            </a:br>
            <a:r>
              <a:rPr lang="fr-FR" dirty="0"/>
              <a:t>Chaîne fonctionnelle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84944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ctangle : coins arrondis 90">
            <a:extLst>
              <a:ext uri="{FF2B5EF4-FFF2-40B4-BE49-F238E27FC236}">
                <a16:creationId xmlns:a16="http://schemas.microsoft.com/office/drawing/2014/main" id="{6015CC9C-F06A-6145-07AB-90D570197E3C}"/>
              </a:ext>
            </a:extLst>
          </p:cNvPr>
          <p:cNvSpPr/>
          <p:nvPr/>
        </p:nvSpPr>
        <p:spPr>
          <a:xfrm>
            <a:off x="9648386" y="4190096"/>
            <a:ext cx="1365662" cy="652851"/>
          </a:xfrm>
          <a:prstGeom prst="roundRect">
            <a:avLst>
              <a:gd name="adj" fmla="val 11914"/>
            </a:avLst>
          </a:prstGeom>
          <a:solidFill>
            <a:srgbClr val="F7B8B3"/>
          </a:solidFill>
          <a:ln w="19050">
            <a:solidFill>
              <a:srgbClr val="F7B8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Mécanisme </a:t>
            </a:r>
          </a:p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Stator + Rotor – Vis + Ecrou + Bras</a:t>
            </a: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E5C1CAA4-BEC8-E034-06F5-82D8ED3BF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Chaine fonctionnelle du </a:t>
            </a:r>
            <a:r>
              <a:rPr lang="fr-FR" dirty="0" err="1"/>
              <a:t>MaxPID</a:t>
            </a:r>
            <a:endParaRPr lang="fr-FR" dirty="0"/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F7822C3A-6752-03D9-8DF8-C9BF49763BD8}"/>
              </a:ext>
            </a:extLst>
          </p:cNvPr>
          <p:cNvSpPr/>
          <p:nvPr/>
        </p:nvSpPr>
        <p:spPr>
          <a:xfrm>
            <a:off x="1056905" y="1549834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04F77"/>
                </a:solidFill>
                <a:latin typeface="Arial Nova" panose="020B0504020202020204" pitchFamily="34" charset="0"/>
              </a:rPr>
              <a:t>Acquérir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FEC70D79-FF53-E1E6-8F5D-7DB4552BDEB8}"/>
              </a:ext>
            </a:extLst>
          </p:cNvPr>
          <p:cNvSpPr/>
          <p:nvPr/>
        </p:nvSpPr>
        <p:spPr>
          <a:xfrm>
            <a:off x="1056905" y="2324979"/>
            <a:ext cx="1440000" cy="946211"/>
          </a:xfrm>
          <a:prstGeom prst="roundRect">
            <a:avLst>
              <a:gd name="adj" fmla="val 11914"/>
            </a:avLst>
          </a:prstGeom>
          <a:solidFill>
            <a:srgbClr val="DFE3EB"/>
          </a:solidFill>
          <a:ln w="19050">
            <a:solidFill>
              <a:srgbClr val="DFE3E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Capteur de courant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Génératrice tachymétrique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Potentiomètre rotatif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(Codeur sur le </a:t>
            </a:r>
            <a:r>
              <a:rPr lang="fr-FR" sz="800" dirty="0" err="1">
                <a:solidFill>
                  <a:srgbClr val="004F77"/>
                </a:solidFill>
                <a:latin typeface="Arial Nova" panose="020B0504020202020204" pitchFamily="34" charset="0"/>
              </a:rPr>
              <a:t>Maxpid</a:t>
            </a:r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-E)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492C39D7-C7C7-3458-7E55-FC4FCBD955B0}"/>
              </a:ext>
            </a:extLst>
          </p:cNvPr>
          <p:cNvSpPr/>
          <p:nvPr/>
        </p:nvSpPr>
        <p:spPr>
          <a:xfrm>
            <a:off x="3229319" y="154829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C7391"/>
                </a:solidFill>
                <a:latin typeface="Arial Nova" panose="020B0504020202020204" pitchFamily="34" charset="0"/>
              </a:rPr>
              <a:t>Traiter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5E73C37F-4A2D-AB41-B3A3-7332F9A357A2}"/>
              </a:ext>
            </a:extLst>
          </p:cNvPr>
          <p:cNvSpPr/>
          <p:nvPr/>
        </p:nvSpPr>
        <p:spPr>
          <a:xfrm>
            <a:off x="3218894" y="2341159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E4EBF0"/>
          </a:solidFill>
          <a:ln w="19050">
            <a:solidFill>
              <a:srgbClr val="E4EB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dirty="0">
                <a:solidFill>
                  <a:srgbClr val="0C7391"/>
                </a:solidFill>
                <a:latin typeface="Arial Nova" panose="020B0504020202020204" pitchFamily="34" charset="0"/>
              </a:rPr>
              <a:t>Carte de traitement</a:t>
            </a:r>
          </a:p>
          <a:p>
            <a:pPr algn="ctr"/>
            <a:r>
              <a:rPr lang="fr-FR" sz="1000" dirty="0">
                <a:solidFill>
                  <a:srgbClr val="0C7391"/>
                </a:solidFill>
                <a:latin typeface="Arial Nova" panose="020B0504020202020204" pitchFamily="34" charset="0"/>
              </a:rPr>
              <a:t>Carte EPOS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8BE8DB55-CD2C-9609-869B-BFB5FBA5A6D3}"/>
              </a:ext>
            </a:extLst>
          </p:cNvPr>
          <p:cNvSpPr/>
          <p:nvPr/>
        </p:nvSpPr>
        <p:spPr>
          <a:xfrm>
            <a:off x="5389319" y="1525957"/>
            <a:ext cx="1440000" cy="576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8A55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8A559"/>
                </a:solidFill>
                <a:latin typeface="Arial Nova" panose="020B0504020202020204" pitchFamily="34" charset="0"/>
              </a:rPr>
              <a:t>Communiquer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E7C50B13-9945-267C-9C0F-3901C1922B55}"/>
              </a:ext>
            </a:extLst>
          </p:cNvPr>
          <p:cNvSpPr/>
          <p:nvPr/>
        </p:nvSpPr>
        <p:spPr>
          <a:xfrm>
            <a:off x="5389319" y="2319926"/>
            <a:ext cx="1406281" cy="534390"/>
          </a:xfrm>
          <a:prstGeom prst="roundRect">
            <a:avLst>
              <a:gd name="adj" fmla="val 11914"/>
            </a:avLst>
          </a:prstGeom>
          <a:solidFill>
            <a:srgbClr val="E8F3E8"/>
          </a:solidFill>
          <a:ln w="19050">
            <a:solidFill>
              <a:srgbClr val="E8F3E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08A559"/>
                </a:solidFill>
                <a:latin typeface="Arial Nova" panose="020B0504020202020204" pitchFamily="34" charset="0"/>
              </a:rPr>
              <a:t>Carte de </a:t>
            </a:r>
            <a:r>
              <a:rPr lang="fr-FR" sz="1100" dirty="0" err="1">
                <a:solidFill>
                  <a:srgbClr val="08A559"/>
                </a:solidFill>
                <a:latin typeface="Arial Nova" panose="020B0504020202020204" pitchFamily="34" charset="0"/>
              </a:rPr>
              <a:t>comm</a:t>
            </a:r>
            <a:endParaRPr lang="fr-FR" sz="1100" dirty="0">
              <a:solidFill>
                <a:srgbClr val="08A559"/>
              </a:solidFill>
              <a:latin typeface="Arial Nova" panose="020B0504020202020204" pitchFamily="34" charset="0"/>
            </a:endParaRPr>
          </a:p>
          <a:p>
            <a:pPr algn="ctr"/>
            <a:r>
              <a:rPr lang="fr-FR" sz="1100" dirty="0">
                <a:solidFill>
                  <a:srgbClr val="08A559"/>
                </a:solidFill>
                <a:latin typeface="Arial Nova" panose="020B0504020202020204" pitchFamily="34" charset="0"/>
              </a:rPr>
              <a:t>Carte EPOS</a:t>
            </a:r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8CFBB7BE-C306-859A-CF41-F04DD9BC455C}"/>
              </a:ext>
            </a:extLst>
          </p:cNvPr>
          <p:cNvSpPr/>
          <p:nvPr/>
        </p:nvSpPr>
        <p:spPr>
          <a:xfrm>
            <a:off x="1056905" y="354268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FDAD5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FDAD57"/>
                </a:solidFill>
                <a:latin typeface="Arial Nova" panose="020B0504020202020204" pitchFamily="34" charset="0"/>
              </a:rPr>
              <a:t>Alimenter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D364B3FD-91A8-1B5F-5FD3-55E164E3B9AE}"/>
              </a:ext>
            </a:extLst>
          </p:cNvPr>
          <p:cNvSpPr/>
          <p:nvPr/>
        </p:nvSpPr>
        <p:spPr>
          <a:xfrm>
            <a:off x="1056905" y="4237443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FEE6CC"/>
          </a:solidFill>
          <a:ln w="19050">
            <a:solidFill>
              <a:srgbClr val="FEE6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FDAD57"/>
                </a:solidFill>
                <a:latin typeface="Arial Nova" panose="020B0504020202020204" pitchFamily="34" charset="0"/>
              </a:rPr>
              <a:t>Alimentation</a:t>
            </a:r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96A2B729-7EE6-8CA6-72B2-5A16AA5A785A}"/>
              </a:ext>
            </a:extLst>
          </p:cNvPr>
          <p:cNvSpPr/>
          <p:nvPr/>
        </p:nvSpPr>
        <p:spPr>
          <a:xfrm>
            <a:off x="3218894" y="3537925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C739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C7391"/>
                </a:solidFill>
                <a:latin typeface="Arial Nova" panose="020B0504020202020204" pitchFamily="34" charset="0"/>
              </a:rPr>
              <a:t>Distribuer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3841B1B6-C546-170C-78BF-906D65F5DAA8}"/>
              </a:ext>
            </a:extLst>
          </p:cNvPr>
          <p:cNvSpPr/>
          <p:nvPr/>
        </p:nvSpPr>
        <p:spPr>
          <a:xfrm>
            <a:off x="3199256" y="4222480"/>
            <a:ext cx="1440000" cy="572255"/>
          </a:xfrm>
          <a:prstGeom prst="roundRect">
            <a:avLst>
              <a:gd name="adj" fmla="val 11914"/>
            </a:avLst>
          </a:prstGeom>
          <a:solidFill>
            <a:srgbClr val="9EC7D3"/>
          </a:solidFill>
          <a:ln w="19050">
            <a:solidFill>
              <a:srgbClr val="9EC7D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0C7391"/>
                </a:solidFill>
                <a:latin typeface="Arial Nova" panose="020B0504020202020204" pitchFamily="34" charset="0"/>
              </a:rPr>
              <a:t>Hacheur</a:t>
            </a:r>
            <a:endParaRPr lang="fr-FR" dirty="0">
              <a:solidFill>
                <a:srgbClr val="0C7391"/>
              </a:solidFill>
              <a:latin typeface="Arial Nova" panose="020B0504020202020204" pitchFamily="34" charset="0"/>
            </a:endParaRPr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B8181AD4-9AB8-CA7B-EFBF-8B9CD4369264}"/>
              </a:ext>
            </a:extLst>
          </p:cNvPr>
          <p:cNvSpPr/>
          <p:nvPr/>
        </p:nvSpPr>
        <p:spPr>
          <a:xfrm>
            <a:off x="5380883" y="354268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6834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68348B"/>
                </a:solidFill>
                <a:latin typeface="Arial Nova" panose="020B0504020202020204" pitchFamily="34" charset="0"/>
              </a:rPr>
              <a:t>Convertir</a:t>
            </a:r>
          </a:p>
        </p:txBody>
      </p: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7E462E27-42D7-734B-5E6F-B78EF40987B6}"/>
              </a:ext>
            </a:extLst>
          </p:cNvPr>
          <p:cNvSpPr/>
          <p:nvPr/>
        </p:nvSpPr>
        <p:spPr>
          <a:xfrm>
            <a:off x="5389319" y="4223146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C3AED1"/>
          </a:solidFill>
          <a:ln w="19050">
            <a:solidFill>
              <a:srgbClr val="C3AE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68348B"/>
                </a:solidFill>
                <a:latin typeface="Arial Nova" panose="020B0504020202020204" pitchFamily="34" charset="0"/>
              </a:rPr>
              <a:t>Moteur à courant continu</a:t>
            </a:r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AA76E29F-1BCE-DD76-499C-CE8F3E850A8E}"/>
              </a:ext>
            </a:extLst>
          </p:cNvPr>
          <p:cNvSpPr/>
          <p:nvPr/>
        </p:nvSpPr>
        <p:spPr>
          <a:xfrm>
            <a:off x="7542872" y="3545795"/>
            <a:ext cx="1365662" cy="53439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EE685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EE685D"/>
                </a:solidFill>
                <a:latin typeface="Arial Nova" panose="020B0504020202020204" pitchFamily="34" charset="0"/>
              </a:rPr>
              <a:t>Transmettre</a:t>
            </a:r>
          </a:p>
        </p:txBody>
      </p: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A66FC087-C9BC-9FD1-6C13-AD7571852AD4}"/>
              </a:ext>
            </a:extLst>
          </p:cNvPr>
          <p:cNvSpPr/>
          <p:nvPr/>
        </p:nvSpPr>
        <p:spPr>
          <a:xfrm>
            <a:off x="7549319" y="4202642"/>
            <a:ext cx="1365662" cy="652851"/>
          </a:xfrm>
          <a:prstGeom prst="roundRect">
            <a:avLst>
              <a:gd name="adj" fmla="val 11914"/>
            </a:avLst>
          </a:prstGeom>
          <a:solidFill>
            <a:srgbClr val="F7B8B3"/>
          </a:solidFill>
          <a:ln w="19050">
            <a:solidFill>
              <a:srgbClr val="F7B8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Vis – écrou à billes</a:t>
            </a:r>
          </a:p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Pas : 4 mm</a:t>
            </a: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7282EFC0-8E54-A4E0-6953-44E98A7B8B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826" y="1603805"/>
            <a:ext cx="434918" cy="152010"/>
          </a:xfrm>
          <a:prstGeom prst="rect">
            <a:avLst/>
          </a:prstGeom>
        </p:spPr>
      </p:pic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BE599621-6A35-D218-9184-0073520A41FC}"/>
              </a:ext>
            </a:extLst>
          </p:cNvPr>
          <p:cNvCxnSpPr>
            <a:cxnSpLocks/>
          </p:cNvCxnSpPr>
          <p:nvPr/>
        </p:nvCxnSpPr>
        <p:spPr>
          <a:xfrm flipV="1">
            <a:off x="2496905" y="1827907"/>
            <a:ext cx="720000" cy="1536"/>
          </a:xfrm>
          <a:prstGeom prst="straightConnector1">
            <a:avLst/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25CB3708-D27C-9C0F-920D-E2174EF1D3C1}"/>
              </a:ext>
            </a:extLst>
          </p:cNvPr>
          <p:cNvCxnSpPr/>
          <p:nvPr/>
        </p:nvCxnSpPr>
        <p:spPr>
          <a:xfrm flipV="1">
            <a:off x="4669319" y="1813957"/>
            <a:ext cx="720000" cy="1536"/>
          </a:xfrm>
          <a:prstGeom prst="straightConnector1">
            <a:avLst/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Image 22">
            <a:extLst>
              <a:ext uri="{FF2B5EF4-FFF2-40B4-BE49-F238E27FC236}">
                <a16:creationId xmlns:a16="http://schemas.microsoft.com/office/drawing/2014/main" id="{6B85577F-75F2-AC91-9B29-7674830D4F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8894" y="1418598"/>
            <a:ext cx="360000" cy="360000"/>
          </a:xfrm>
          <a:prstGeom prst="rect">
            <a:avLst/>
          </a:prstGeom>
        </p:spPr>
      </p:pic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4D3E9C84-1558-D9D2-B9AE-51FFDFD2ACAC}"/>
              </a:ext>
            </a:extLst>
          </p:cNvPr>
          <p:cNvCxnSpPr>
            <a:cxnSpLocks/>
          </p:cNvCxnSpPr>
          <p:nvPr/>
        </p:nvCxnSpPr>
        <p:spPr>
          <a:xfrm flipV="1">
            <a:off x="2509319" y="3811152"/>
            <a:ext cx="720000" cy="1536"/>
          </a:xfrm>
          <a:prstGeom prst="straightConnector1">
            <a:avLst/>
          </a:prstGeom>
          <a:ln w="25400" cap="rnd">
            <a:solidFill>
              <a:srgbClr val="FDAD5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e 24">
            <a:extLst>
              <a:ext uri="{FF2B5EF4-FFF2-40B4-BE49-F238E27FC236}">
                <a16:creationId xmlns:a16="http://schemas.microsoft.com/office/drawing/2014/main" id="{F7A18018-C728-6B01-3037-0421AF781FBB}"/>
              </a:ext>
            </a:extLst>
          </p:cNvPr>
          <p:cNvGrpSpPr/>
          <p:nvPr/>
        </p:nvGrpSpPr>
        <p:grpSpPr>
          <a:xfrm>
            <a:off x="1596905" y="3980066"/>
            <a:ext cx="360000" cy="360000"/>
            <a:chOff x="4197400" y="3547713"/>
            <a:chExt cx="1800000" cy="1800000"/>
          </a:xfrm>
        </p:grpSpPr>
        <p:sp>
          <p:nvSpPr>
            <p:cNvPr id="26" name="Ellipse 25">
              <a:extLst>
                <a:ext uri="{FF2B5EF4-FFF2-40B4-BE49-F238E27FC236}">
                  <a16:creationId xmlns:a16="http://schemas.microsoft.com/office/drawing/2014/main" id="{AF615AC5-8CF6-FF34-1EF7-5C5D2FE5B9E8}"/>
                </a:ext>
              </a:extLst>
            </p:cNvPr>
            <p:cNvSpPr/>
            <p:nvPr/>
          </p:nvSpPr>
          <p:spPr>
            <a:xfrm>
              <a:off x="4197400" y="3547713"/>
              <a:ext cx="1800000" cy="1800000"/>
            </a:xfrm>
            <a:prstGeom prst="ellipse">
              <a:avLst/>
            </a:prstGeom>
            <a:solidFill>
              <a:srgbClr val="FFB25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7" name="Image 26">
              <a:extLst>
                <a:ext uri="{FF2B5EF4-FFF2-40B4-BE49-F238E27FC236}">
                  <a16:creationId xmlns:a16="http://schemas.microsoft.com/office/drawing/2014/main" id="{D99F6707-A222-D5E1-C4A9-E878E9F04E6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526157" y="3876470"/>
              <a:ext cx="1142486" cy="1142486"/>
            </a:xfrm>
            <a:prstGeom prst="rect">
              <a:avLst/>
            </a:prstGeom>
          </p:spPr>
        </p:pic>
      </p:grpSp>
      <p:pic>
        <p:nvPicPr>
          <p:cNvPr id="28" name="Image 27">
            <a:extLst>
              <a:ext uri="{FF2B5EF4-FFF2-40B4-BE49-F238E27FC236}">
                <a16:creationId xmlns:a16="http://schemas.microsoft.com/office/drawing/2014/main" id="{35145E60-25D8-7A86-65AE-7F3729EC78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044" y="3666221"/>
            <a:ext cx="360000" cy="360000"/>
          </a:xfrm>
          <a:prstGeom prst="rect">
            <a:avLst/>
          </a:prstGeom>
        </p:spPr>
      </p:pic>
      <p:pic>
        <p:nvPicPr>
          <p:cNvPr id="29" name="Image 28">
            <a:extLst>
              <a:ext uri="{FF2B5EF4-FFF2-40B4-BE49-F238E27FC236}">
                <a16:creationId xmlns:a16="http://schemas.microsoft.com/office/drawing/2014/main" id="{3C7DD139-EB5F-1D13-171E-251FB77C6B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6905" y="3393409"/>
            <a:ext cx="360000" cy="360000"/>
          </a:xfrm>
          <a:prstGeom prst="rect">
            <a:avLst/>
          </a:prstGeom>
        </p:spPr>
      </p:pic>
      <p:cxnSp>
        <p:nvCxnSpPr>
          <p:cNvPr id="34" name="Connecteur droit avec flèche 33">
            <a:extLst>
              <a:ext uri="{FF2B5EF4-FFF2-40B4-BE49-F238E27FC236}">
                <a16:creationId xmlns:a16="http://schemas.microsoft.com/office/drawing/2014/main" id="{6E52C4D0-B55B-30AA-F92B-6E09F0A4D9C9}"/>
              </a:ext>
            </a:extLst>
          </p:cNvPr>
          <p:cNvCxnSpPr>
            <a:cxnSpLocks/>
          </p:cNvCxnSpPr>
          <p:nvPr/>
        </p:nvCxnSpPr>
        <p:spPr>
          <a:xfrm flipV="1">
            <a:off x="4669319" y="3798320"/>
            <a:ext cx="720000" cy="1536"/>
          </a:xfrm>
          <a:prstGeom prst="straightConnector1">
            <a:avLst/>
          </a:prstGeom>
          <a:ln w="25400" cap="rnd">
            <a:solidFill>
              <a:srgbClr val="0C739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Image 34">
            <a:extLst>
              <a:ext uri="{FF2B5EF4-FFF2-40B4-BE49-F238E27FC236}">
                <a16:creationId xmlns:a16="http://schemas.microsoft.com/office/drawing/2014/main" id="{F31071D2-3D9A-9512-E018-EA9EA1D5A0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8894" y="3393409"/>
            <a:ext cx="360000" cy="360000"/>
          </a:xfrm>
          <a:prstGeom prst="rect">
            <a:avLst/>
          </a:prstGeom>
        </p:spPr>
      </p:pic>
      <p:cxnSp>
        <p:nvCxnSpPr>
          <p:cNvPr id="39" name="Connecteur droit avec flèche 38">
            <a:extLst>
              <a:ext uri="{FF2B5EF4-FFF2-40B4-BE49-F238E27FC236}">
                <a16:creationId xmlns:a16="http://schemas.microsoft.com/office/drawing/2014/main" id="{75B4C387-2DFC-8DD6-0817-E4B93F7F3F85}"/>
              </a:ext>
            </a:extLst>
          </p:cNvPr>
          <p:cNvCxnSpPr>
            <a:cxnSpLocks/>
          </p:cNvCxnSpPr>
          <p:nvPr/>
        </p:nvCxnSpPr>
        <p:spPr>
          <a:xfrm flipV="1">
            <a:off x="6829319" y="3807925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3" name="Image 42">
            <a:extLst>
              <a:ext uri="{FF2B5EF4-FFF2-40B4-BE49-F238E27FC236}">
                <a16:creationId xmlns:a16="http://schemas.microsoft.com/office/drawing/2014/main" id="{F1B5964F-3473-92A5-6A3A-F03DA766A9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3108" y="3418676"/>
            <a:ext cx="360000" cy="360000"/>
          </a:xfrm>
          <a:prstGeom prst="rect">
            <a:avLst/>
          </a:prstGeom>
        </p:spPr>
      </p:pic>
      <p:cxnSp>
        <p:nvCxnSpPr>
          <p:cNvPr id="44" name="Connecteur : en angle 43">
            <a:extLst>
              <a:ext uri="{FF2B5EF4-FFF2-40B4-BE49-F238E27FC236}">
                <a16:creationId xmlns:a16="http://schemas.microsoft.com/office/drawing/2014/main" id="{2C5943AA-979A-103D-FC4E-264A925A4FF0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4669319" y="1818298"/>
            <a:ext cx="169575" cy="1062861"/>
          </a:xfrm>
          <a:prstGeom prst="bentConnector2">
            <a:avLst/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 : coins arrondis 44">
            <a:extLst>
              <a:ext uri="{FF2B5EF4-FFF2-40B4-BE49-F238E27FC236}">
                <a16:creationId xmlns:a16="http://schemas.microsoft.com/office/drawing/2014/main" id="{4EDA86AC-B60C-0765-FBC6-4E7119B8D620}"/>
              </a:ext>
            </a:extLst>
          </p:cNvPr>
          <p:cNvSpPr/>
          <p:nvPr/>
        </p:nvSpPr>
        <p:spPr>
          <a:xfrm>
            <a:off x="4029149" y="2994774"/>
            <a:ext cx="1406281" cy="331358"/>
          </a:xfrm>
          <a:prstGeom prst="roundRect">
            <a:avLst>
              <a:gd name="adj" fmla="val 11914"/>
            </a:avLst>
          </a:prstGeom>
          <a:solidFill>
            <a:srgbClr val="08A55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bg1"/>
                </a:solidFill>
                <a:latin typeface="Arial Nova" panose="020B0504020202020204" pitchFamily="34" charset="0"/>
              </a:rPr>
              <a:t>Ordres (PWM)</a:t>
            </a:r>
          </a:p>
        </p:txBody>
      </p:sp>
      <p:cxnSp>
        <p:nvCxnSpPr>
          <p:cNvPr id="46" name="Connecteur : en angle 45">
            <a:extLst>
              <a:ext uri="{FF2B5EF4-FFF2-40B4-BE49-F238E27FC236}">
                <a16:creationId xmlns:a16="http://schemas.microsoft.com/office/drawing/2014/main" id="{C9DF5005-6531-4D0B-0B32-A0A73479B4F0}"/>
              </a:ext>
            </a:extLst>
          </p:cNvPr>
          <p:cNvCxnSpPr>
            <a:cxnSpLocks/>
            <a:stCxn id="45" idx="1"/>
            <a:endCxn id="14" idx="0"/>
          </p:cNvCxnSpPr>
          <p:nvPr/>
        </p:nvCxnSpPr>
        <p:spPr>
          <a:xfrm rot="10800000" flipV="1">
            <a:off x="3938895" y="3160453"/>
            <a:ext cx="90255" cy="377472"/>
          </a:xfrm>
          <a:prstGeom prst="bentConnector2">
            <a:avLst/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7" name="Image 46">
            <a:extLst>
              <a:ext uri="{FF2B5EF4-FFF2-40B4-BE49-F238E27FC236}">
                <a16:creationId xmlns:a16="http://schemas.microsoft.com/office/drawing/2014/main" id="{5684C887-250C-3EE4-51A9-97E49BAEEC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108" y="2942920"/>
            <a:ext cx="180000" cy="180000"/>
          </a:xfrm>
          <a:prstGeom prst="rect">
            <a:avLst/>
          </a:prstGeom>
        </p:spPr>
      </p:pic>
      <p:pic>
        <p:nvPicPr>
          <p:cNvPr id="48" name="Image 47">
            <a:extLst>
              <a:ext uri="{FF2B5EF4-FFF2-40B4-BE49-F238E27FC236}">
                <a16:creationId xmlns:a16="http://schemas.microsoft.com/office/drawing/2014/main" id="{A2DBB512-E0D6-1DCF-AD42-945E61453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5152" y="3218549"/>
            <a:ext cx="180000" cy="180000"/>
          </a:xfrm>
          <a:prstGeom prst="rect">
            <a:avLst/>
          </a:prstGeom>
        </p:spPr>
      </p:pic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41C8C10B-28B1-AAD9-17B3-48F680D32BCC}"/>
              </a:ext>
            </a:extLst>
          </p:cNvPr>
          <p:cNvSpPr/>
          <p:nvPr/>
        </p:nvSpPr>
        <p:spPr>
          <a:xfrm>
            <a:off x="11719813" y="3534156"/>
            <a:ext cx="1365662" cy="1194790"/>
          </a:xfrm>
          <a:prstGeom prst="roundRect">
            <a:avLst>
              <a:gd name="adj" fmla="val 11914"/>
            </a:avLst>
          </a:prstGeom>
          <a:solidFill>
            <a:srgbClr val="B2CAD6"/>
          </a:solidFill>
          <a:ln w="19050">
            <a:solidFill>
              <a:srgbClr val="B2CAD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0D587E"/>
                </a:solidFill>
                <a:latin typeface="Arial Nova" panose="020B0504020202020204" pitchFamily="34" charset="0"/>
              </a:rPr>
              <a:t>Bras</a:t>
            </a:r>
          </a:p>
        </p:txBody>
      </p:sp>
      <p:cxnSp>
        <p:nvCxnSpPr>
          <p:cNvPr id="50" name="Connecteur droit avec flèche 49">
            <a:extLst>
              <a:ext uri="{FF2B5EF4-FFF2-40B4-BE49-F238E27FC236}">
                <a16:creationId xmlns:a16="http://schemas.microsoft.com/office/drawing/2014/main" id="{505D6021-1B16-1674-733B-C648AC112904}"/>
              </a:ext>
            </a:extLst>
          </p:cNvPr>
          <p:cNvCxnSpPr>
            <a:cxnSpLocks/>
          </p:cNvCxnSpPr>
          <p:nvPr/>
        </p:nvCxnSpPr>
        <p:spPr>
          <a:xfrm flipV="1">
            <a:off x="10996452" y="3807925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2" name="Groupe 51">
            <a:extLst>
              <a:ext uri="{FF2B5EF4-FFF2-40B4-BE49-F238E27FC236}">
                <a16:creationId xmlns:a16="http://schemas.microsoft.com/office/drawing/2014/main" id="{C3681FD9-BFE4-7350-1964-9C093DDF1B5E}"/>
              </a:ext>
            </a:extLst>
          </p:cNvPr>
          <p:cNvGrpSpPr/>
          <p:nvPr/>
        </p:nvGrpSpPr>
        <p:grpSpPr>
          <a:xfrm>
            <a:off x="3770117" y="2030387"/>
            <a:ext cx="360000" cy="360000"/>
            <a:chOff x="6138169" y="4069439"/>
            <a:chExt cx="1800000" cy="1800000"/>
          </a:xfrm>
        </p:grpSpPr>
        <p:sp>
          <p:nvSpPr>
            <p:cNvPr id="53" name="Ellipse 52">
              <a:extLst>
                <a:ext uri="{FF2B5EF4-FFF2-40B4-BE49-F238E27FC236}">
                  <a16:creationId xmlns:a16="http://schemas.microsoft.com/office/drawing/2014/main" id="{599396A5-DEE6-FF8C-4576-A72DC9E6130D}"/>
                </a:ext>
              </a:extLst>
            </p:cNvPr>
            <p:cNvSpPr/>
            <p:nvPr/>
          </p:nvSpPr>
          <p:spPr>
            <a:xfrm>
              <a:off x="6138169" y="406943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54" name="Image 53">
              <a:extLst>
                <a:ext uri="{FF2B5EF4-FFF2-40B4-BE49-F238E27FC236}">
                  <a16:creationId xmlns:a16="http://schemas.microsoft.com/office/drawing/2014/main" id="{F05DEF27-F929-BD20-2E07-1628A11DB34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243433" y="4174703"/>
              <a:ext cx="1589472" cy="1589472"/>
            </a:xfrm>
            <a:prstGeom prst="rect">
              <a:avLst/>
            </a:prstGeom>
          </p:spPr>
        </p:pic>
      </p:grpSp>
      <p:cxnSp>
        <p:nvCxnSpPr>
          <p:cNvPr id="55" name="Connecteur droit avec flèche 54">
            <a:extLst>
              <a:ext uri="{FF2B5EF4-FFF2-40B4-BE49-F238E27FC236}">
                <a16:creationId xmlns:a16="http://schemas.microsoft.com/office/drawing/2014/main" id="{CEC25A5B-4B64-B67F-296D-04E6B189266D}"/>
              </a:ext>
            </a:extLst>
          </p:cNvPr>
          <p:cNvCxnSpPr/>
          <p:nvPr/>
        </p:nvCxnSpPr>
        <p:spPr>
          <a:xfrm flipV="1">
            <a:off x="6829319" y="1735886"/>
            <a:ext cx="720000" cy="1536"/>
          </a:xfrm>
          <a:prstGeom prst="straightConnector1">
            <a:avLst/>
          </a:prstGeom>
          <a:ln w="25400">
            <a:solidFill>
              <a:srgbClr val="08A559"/>
            </a:solidFill>
            <a:headEnd type="stealth" w="med" len="lg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7F3E2C-9FA7-42D8-DEF0-9439478A5709}"/>
              </a:ext>
            </a:extLst>
          </p:cNvPr>
          <p:cNvGrpSpPr/>
          <p:nvPr/>
        </p:nvGrpSpPr>
        <p:grpSpPr>
          <a:xfrm rot="5400000" flipV="1">
            <a:off x="12248508" y="4154169"/>
            <a:ext cx="835963" cy="1617775"/>
            <a:chOff x="9150640" y="2423323"/>
            <a:chExt cx="835963" cy="2135794"/>
          </a:xfrm>
        </p:grpSpPr>
        <p:sp>
          <p:nvSpPr>
            <p:cNvPr id="58" name="Flèche : virage 57">
              <a:extLst>
                <a:ext uri="{FF2B5EF4-FFF2-40B4-BE49-F238E27FC236}">
                  <a16:creationId xmlns:a16="http://schemas.microsoft.com/office/drawing/2014/main" id="{A404FB7A-E23C-BD6A-6263-4B2DE2013DB7}"/>
                </a:ext>
              </a:extLst>
            </p:cNvPr>
            <p:cNvSpPr/>
            <p:nvPr/>
          </p:nvSpPr>
          <p:spPr>
            <a:xfrm rot="5400000">
              <a:off x="8500725" y="3073238"/>
              <a:ext cx="2135794" cy="835963"/>
            </a:xfrm>
            <a:prstGeom prst="bentArrow">
              <a:avLst>
                <a:gd name="adj1" fmla="val 31434"/>
                <a:gd name="adj2" fmla="val 25000"/>
                <a:gd name="adj3" fmla="val 17852"/>
                <a:gd name="adj4" fmla="val 20160"/>
              </a:avLst>
            </a:prstGeom>
            <a:solidFill>
              <a:srgbClr val="B2CAD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59" name="ZoneTexte 58">
              <a:extLst>
                <a:ext uri="{FF2B5EF4-FFF2-40B4-BE49-F238E27FC236}">
                  <a16:creationId xmlns:a16="http://schemas.microsoft.com/office/drawing/2014/main" id="{D9969D2B-BFBA-54A7-C4C5-06DFD5138BC1}"/>
                </a:ext>
              </a:extLst>
            </p:cNvPr>
            <p:cNvSpPr txBox="1"/>
            <p:nvPr/>
          </p:nvSpPr>
          <p:spPr>
            <a:xfrm rot="16200000">
              <a:off x="8815678" y="3317013"/>
              <a:ext cx="1918043" cy="2308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fr-FR" sz="900" dirty="0">
                  <a:solidFill>
                    <a:schemeClr val="bg1"/>
                  </a:solidFill>
                  <a:latin typeface="Arial Nova" panose="020B0504020202020204" pitchFamily="34" charset="0"/>
                </a:rPr>
                <a:t>Bras en position finale</a:t>
              </a:r>
            </a:p>
          </p:txBody>
        </p:sp>
      </p:grpSp>
      <p:grpSp>
        <p:nvGrpSpPr>
          <p:cNvPr id="60" name="Groupe 59">
            <a:extLst>
              <a:ext uri="{FF2B5EF4-FFF2-40B4-BE49-F238E27FC236}">
                <a16:creationId xmlns:a16="http://schemas.microsoft.com/office/drawing/2014/main" id="{32A82909-C4F5-9AA0-D150-C388F421C774}"/>
              </a:ext>
            </a:extLst>
          </p:cNvPr>
          <p:cNvGrpSpPr/>
          <p:nvPr/>
        </p:nvGrpSpPr>
        <p:grpSpPr>
          <a:xfrm>
            <a:off x="10661488" y="2941725"/>
            <a:ext cx="1566153" cy="577809"/>
            <a:chOff x="9058474" y="2836569"/>
            <a:chExt cx="1566153" cy="577809"/>
          </a:xfrm>
        </p:grpSpPr>
        <p:sp>
          <p:nvSpPr>
            <p:cNvPr id="61" name="Flèche : virage 60">
              <a:extLst>
                <a:ext uri="{FF2B5EF4-FFF2-40B4-BE49-F238E27FC236}">
                  <a16:creationId xmlns:a16="http://schemas.microsoft.com/office/drawing/2014/main" id="{FED08932-ADD7-D2A1-8E5A-D62CEEB1B93F}"/>
                </a:ext>
              </a:extLst>
            </p:cNvPr>
            <p:cNvSpPr/>
            <p:nvPr/>
          </p:nvSpPr>
          <p:spPr>
            <a:xfrm rot="5400000">
              <a:off x="9563593" y="2353345"/>
              <a:ext cx="572849" cy="1549218"/>
            </a:xfrm>
            <a:prstGeom prst="bentArrow">
              <a:avLst>
                <a:gd name="adj1" fmla="val 38639"/>
                <a:gd name="adj2" fmla="val 38302"/>
                <a:gd name="adj3" fmla="val 16744"/>
                <a:gd name="adj4" fmla="val 20160"/>
              </a:avLst>
            </a:prstGeom>
            <a:solidFill>
              <a:srgbClr val="B2CAD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62" name="ZoneTexte 61">
              <a:extLst>
                <a:ext uri="{FF2B5EF4-FFF2-40B4-BE49-F238E27FC236}">
                  <a16:creationId xmlns:a16="http://schemas.microsoft.com/office/drawing/2014/main" id="{2C25BFE2-5262-D3BC-BDD8-923C0B8002AD}"/>
                </a:ext>
              </a:extLst>
            </p:cNvPr>
            <p:cNvSpPr txBox="1"/>
            <p:nvPr/>
          </p:nvSpPr>
          <p:spPr>
            <a:xfrm>
              <a:off x="9058474" y="2836569"/>
              <a:ext cx="1473718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fr-FR" sz="800" dirty="0">
                  <a:solidFill>
                    <a:schemeClr val="bg1"/>
                  </a:solidFill>
                  <a:latin typeface="Arial Nova" panose="020B0504020202020204" pitchFamily="34" charset="0"/>
                </a:rPr>
                <a:t>Bras en position initiale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ZoneTexte 63">
                <a:extLst>
                  <a:ext uri="{FF2B5EF4-FFF2-40B4-BE49-F238E27FC236}">
                    <a16:creationId xmlns:a16="http://schemas.microsoft.com/office/drawing/2014/main" id="{A29D106A-C634-EC49-818B-7FFD6B86043E}"/>
                  </a:ext>
                </a:extLst>
              </p:cNvPr>
              <p:cNvSpPr txBox="1"/>
              <p:nvPr/>
            </p:nvSpPr>
            <p:spPr>
              <a:xfrm>
                <a:off x="170158" y="4004272"/>
                <a:ext cx="116196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230 V </a:t>
                </a:r>
                <a14:m>
                  <m:oMath xmlns:m="http://schemas.openxmlformats.org/officeDocument/2006/math">
                    <m:r>
                      <a:rPr lang="fr-FR" sz="1200" b="1" i="1" smtClean="0">
                        <a:solidFill>
                          <a:srgbClr val="FFB25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~</m:t>
                    </m:r>
                  </m:oMath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64" name="ZoneTexte 63">
                <a:extLst>
                  <a:ext uri="{FF2B5EF4-FFF2-40B4-BE49-F238E27FC236}">
                    <a16:creationId xmlns:a16="http://schemas.microsoft.com/office/drawing/2014/main" id="{A29D106A-C634-EC49-818B-7FFD6B8604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158" y="4004272"/>
                <a:ext cx="1161960" cy="276999"/>
              </a:xfrm>
              <a:prstGeom prst="rect">
                <a:avLst/>
              </a:prstGeom>
              <a:blipFill>
                <a:blip r:embed="rId8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5" name="ZoneTexte 64">
                <a:extLst>
                  <a:ext uri="{FF2B5EF4-FFF2-40B4-BE49-F238E27FC236}">
                    <a16:creationId xmlns:a16="http://schemas.microsoft.com/office/drawing/2014/main" id="{98529472-463C-B655-7D36-3F43A14EC5EF}"/>
                  </a:ext>
                </a:extLst>
              </p:cNvPr>
              <p:cNvSpPr txBox="1"/>
              <p:nvPr/>
            </p:nvSpPr>
            <p:spPr>
              <a:xfrm>
                <a:off x="2282648" y="3831108"/>
                <a:ext cx="116196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 24 V</a:t>
                </a:r>
              </a:p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Continu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𝑼𝑰</m:t>
                      </m:r>
                    </m:oMath>
                  </m:oMathPara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>
          <p:sp>
            <p:nvSpPr>
              <p:cNvPr id="65" name="ZoneTexte 64">
                <a:extLst>
                  <a:ext uri="{FF2B5EF4-FFF2-40B4-BE49-F238E27FC236}">
                    <a16:creationId xmlns:a16="http://schemas.microsoft.com/office/drawing/2014/main" id="{98529472-463C-B655-7D36-3F43A14EC5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2648" y="3831108"/>
                <a:ext cx="1161960" cy="64633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Rectangle 71">
            <a:extLst>
              <a:ext uri="{FF2B5EF4-FFF2-40B4-BE49-F238E27FC236}">
                <a16:creationId xmlns:a16="http://schemas.microsoft.com/office/drawing/2014/main" id="{22DFAA51-C6D3-9FCC-9035-87E9C9207526}"/>
              </a:ext>
            </a:extLst>
          </p:cNvPr>
          <p:cNvSpPr/>
          <p:nvPr/>
        </p:nvSpPr>
        <p:spPr>
          <a:xfrm>
            <a:off x="498044" y="5363610"/>
            <a:ext cx="8528438" cy="652851"/>
          </a:xfrm>
          <a:prstGeom prst="rect">
            <a:avLst/>
          </a:prstGeom>
          <a:solidFill>
            <a:srgbClr val="DFE3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9263" algn="just"/>
            <a:r>
              <a:rPr lang="fr-FR" sz="1400" dirty="0">
                <a:solidFill>
                  <a:srgbClr val="00547F"/>
                </a:solidFill>
              </a:rPr>
              <a:t>Tous </a:t>
            </a:r>
            <a:r>
              <a:rPr lang="fr-FR" sz="1400">
                <a:solidFill>
                  <a:srgbClr val="00547F"/>
                </a:solidFill>
              </a:rPr>
              <a:t>les capteurs </a:t>
            </a:r>
            <a:r>
              <a:rPr lang="fr-FR" sz="1400" dirty="0">
                <a:solidFill>
                  <a:srgbClr val="00547F"/>
                </a:solidFill>
              </a:rPr>
              <a:t>sont nécessaires au bon fonctionnement du système.</a:t>
            </a:r>
          </a:p>
        </p:txBody>
      </p:sp>
      <p:grpSp>
        <p:nvGrpSpPr>
          <p:cNvPr id="103" name="Groupe 102">
            <a:extLst>
              <a:ext uri="{FF2B5EF4-FFF2-40B4-BE49-F238E27FC236}">
                <a16:creationId xmlns:a16="http://schemas.microsoft.com/office/drawing/2014/main" id="{58AD15BE-FF0B-AB8F-1B32-BB8FEEBA2DEA}"/>
              </a:ext>
            </a:extLst>
          </p:cNvPr>
          <p:cNvGrpSpPr/>
          <p:nvPr/>
        </p:nvGrpSpPr>
        <p:grpSpPr>
          <a:xfrm>
            <a:off x="3747478" y="3931144"/>
            <a:ext cx="360000" cy="360000"/>
            <a:chOff x="4235640" y="2696679"/>
            <a:chExt cx="1800000" cy="1800000"/>
          </a:xfrm>
        </p:grpSpPr>
        <p:sp>
          <p:nvSpPr>
            <p:cNvPr id="104" name="Ellipse 103">
              <a:extLst>
                <a:ext uri="{FF2B5EF4-FFF2-40B4-BE49-F238E27FC236}">
                  <a16:creationId xmlns:a16="http://schemas.microsoft.com/office/drawing/2014/main" id="{617E9B91-42CB-D7A6-CB9D-2F41FFC4BB96}"/>
                </a:ext>
              </a:extLst>
            </p:cNvPr>
            <p:cNvSpPr/>
            <p:nvPr/>
          </p:nvSpPr>
          <p:spPr>
            <a:xfrm>
              <a:off x="4235640" y="2696679"/>
              <a:ext cx="1800000" cy="1800000"/>
            </a:xfrm>
            <a:prstGeom prst="ellipse">
              <a:avLst/>
            </a:prstGeom>
            <a:solidFill>
              <a:srgbClr val="0C739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05" name="Image 104">
              <a:extLst>
                <a:ext uri="{FF2B5EF4-FFF2-40B4-BE49-F238E27FC236}">
                  <a16:creationId xmlns:a16="http://schemas.microsoft.com/office/drawing/2014/main" id="{99E60331-B84D-5566-9183-29714B6CECF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451640" y="3100228"/>
              <a:ext cx="1368000" cy="992903"/>
            </a:xfrm>
            <a:prstGeom prst="rect">
              <a:avLst/>
            </a:prstGeom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B39CA18C-C050-2248-E6F6-D99BB87303C8}"/>
                  </a:ext>
                </a:extLst>
              </p:cNvPr>
              <p:cNvSpPr txBox="1"/>
              <p:nvPr/>
            </p:nvSpPr>
            <p:spPr>
              <a:xfrm>
                <a:off x="4452429" y="3859412"/>
                <a:ext cx="116196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 24 V </a:t>
                </a:r>
              </a:p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Modulé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𝑼𝑰</m:t>
                      </m:r>
                    </m:oMath>
                  </m:oMathPara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B39CA18C-C050-2248-E6F6-D99BB87303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2429" y="3859412"/>
                <a:ext cx="1161960" cy="64633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Groupe 30">
            <a:extLst>
              <a:ext uri="{FF2B5EF4-FFF2-40B4-BE49-F238E27FC236}">
                <a16:creationId xmlns:a16="http://schemas.microsoft.com/office/drawing/2014/main" id="{89225F91-8C4A-4D28-806F-C285AA8AEAEF}"/>
              </a:ext>
            </a:extLst>
          </p:cNvPr>
          <p:cNvGrpSpPr/>
          <p:nvPr/>
        </p:nvGrpSpPr>
        <p:grpSpPr>
          <a:xfrm>
            <a:off x="694382" y="2059338"/>
            <a:ext cx="360000" cy="360000"/>
            <a:chOff x="6054233" y="4960569"/>
            <a:chExt cx="1800000" cy="1800000"/>
          </a:xfrm>
        </p:grpSpPr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002BBCC8-7149-2E70-FA08-89D364A2E7EE}"/>
                </a:ext>
              </a:extLst>
            </p:cNvPr>
            <p:cNvSpPr/>
            <p:nvPr/>
          </p:nvSpPr>
          <p:spPr>
            <a:xfrm>
              <a:off x="6054233" y="496056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p:pic>
          <p:nvPicPr>
            <p:cNvPr id="33" name="Image 32">
              <a:extLst>
                <a:ext uri="{FF2B5EF4-FFF2-40B4-BE49-F238E27FC236}">
                  <a16:creationId xmlns:a16="http://schemas.microsoft.com/office/drawing/2014/main" id="{6C676998-302E-BC6E-6F7D-BB576DC3168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298697" y="5322283"/>
              <a:ext cx="1311072" cy="1076572"/>
            </a:xfrm>
            <a:prstGeom prst="rect">
              <a:avLst/>
            </a:prstGeom>
          </p:spPr>
        </p:pic>
      </p:grpSp>
      <p:grpSp>
        <p:nvGrpSpPr>
          <p:cNvPr id="76" name="Groupe 75">
            <a:extLst>
              <a:ext uri="{FF2B5EF4-FFF2-40B4-BE49-F238E27FC236}">
                <a16:creationId xmlns:a16="http://schemas.microsoft.com/office/drawing/2014/main" id="{19663B7E-D161-9EFA-9C0C-DD72CA7CD5F3}"/>
              </a:ext>
            </a:extLst>
          </p:cNvPr>
          <p:cNvGrpSpPr/>
          <p:nvPr/>
        </p:nvGrpSpPr>
        <p:grpSpPr>
          <a:xfrm>
            <a:off x="3739256" y="4678863"/>
            <a:ext cx="288000" cy="288000"/>
            <a:chOff x="6054233" y="4960569"/>
            <a:chExt cx="1800000" cy="1800000"/>
          </a:xfrm>
        </p:grpSpPr>
        <p:sp>
          <p:nvSpPr>
            <p:cNvPr id="83" name="Ellipse 82">
              <a:extLst>
                <a:ext uri="{FF2B5EF4-FFF2-40B4-BE49-F238E27FC236}">
                  <a16:creationId xmlns:a16="http://schemas.microsoft.com/office/drawing/2014/main" id="{16D5DB05-5A42-D1F5-377B-CDBD0872CC09}"/>
                </a:ext>
              </a:extLst>
            </p:cNvPr>
            <p:cNvSpPr/>
            <p:nvPr/>
          </p:nvSpPr>
          <p:spPr>
            <a:xfrm>
              <a:off x="6054233" y="496056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p:pic>
          <p:nvPicPr>
            <p:cNvPr id="84" name="Image 83">
              <a:extLst>
                <a:ext uri="{FF2B5EF4-FFF2-40B4-BE49-F238E27FC236}">
                  <a16:creationId xmlns:a16="http://schemas.microsoft.com/office/drawing/2014/main" id="{7369074B-A1C6-2F25-51BF-F9B097312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298697" y="5322283"/>
              <a:ext cx="1311072" cy="1076572"/>
            </a:xfrm>
            <a:prstGeom prst="rect">
              <a:avLst/>
            </a:prstGeom>
          </p:spPr>
        </p:pic>
      </p:grpSp>
      <p:grpSp>
        <p:nvGrpSpPr>
          <p:cNvPr id="56" name="Groupe 55">
            <a:extLst>
              <a:ext uri="{FF2B5EF4-FFF2-40B4-BE49-F238E27FC236}">
                <a16:creationId xmlns:a16="http://schemas.microsoft.com/office/drawing/2014/main" id="{DF68A625-AE5C-1A7C-F5F9-AC430D107D83}"/>
              </a:ext>
            </a:extLst>
          </p:cNvPr>
          <p:cNvGrpSpPr/>
          <p:nvPr/>
        </p:nvGrpSpPr>
        <p:grpSpPr>
          <a:xfrm rot="5400000">
            <a:off x="7583512" y="1418598"/>
            <a:ext cx="720000" cy="720000"/>
            <a:chOff x="8494276" y="748802"/>
            <a:chExt cx="1800000" cy="1800000"/>
          </a:xfrm>
        </p:grpSpPr>
        <p:sp>
          <p:nvSpPr>
            <p:cNvPr id="75" name="Ellipse 74">
              <a:extLst>
                <a:ext uri="{FF2B5EF4-FFF2-40B4-BE49-F238E27FC236}">
                  <a16:creationId xmlns:a16="http://schemas.microsoft.com/office/drawing/2014/main" id="{9B8556EE-C14C-E3F8-ECFF-C9B72247AFEB}"/>
                </a:ext>
              </a:extLst>
            </p:cNvPr>
            <p:cNvSpPr/>
            <p:nvPr/>
          </p:nvSpPr>
          <p:spPr>
            <a:xfrm>
              <a:off x="8494276" y="748802"/>
              <a:ext cx="1800000" cy="1800000"/>
            </a:xfrm>
            <a:prstGeom prst="ellipse">
              <a:avLst/>
            </a:prstGeom>
            <a:solidFill>
              <a:srgbClr val="08AF5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77" name="Image 76">
              <a:extLst>
                <a:ext uri="{FF2B5EF4-FFF2-40B4-BE49-F238E27FC236}">
                  <a16:creationId xmlns:a16="http://schemas.microsoft.com/office/drawing/2014/main" id="{34E96531-7B16-AC52-C1E6-052E6F7852E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8943232" y="938192"/>
              <a:ext cx="902088" cy="1440000"/>
            </a:xfrm>
            <a:prstGeom prst="rect">
              <a:avLst/>
            </a:prstGeom>
          </p:spPr>
        </p:pic>
      </p:grpSp>
      <p:grpSp>
        <p:nvGrpSpPr>
          <p:cNvPr id="78" name="Groupe 77">
            <a:extLst>
              <a:ext uri="{FF2B5EF4-FFF2-40B4-BE49-F238E27FC236}">
                <a16:creationId xmlns:a16="http://schemas.microsoft.com/office/drawing/2014/main" id="{62B9229E-5DD5-9728-B982-E481189F9BEC}"/>
              </a:ext>
            </a:extLst>
          </p:cNvPr>
          <p:cNvGrpSpPr/>
          <p:nvPr/>
        </p:nvGrpSpPr>
        <p:grpSpPr>
          <a:xfrm>
            <a:off x="5929319" y="3962771"/>
            <a:ext cx="360000" cy="360000"/>
            <a:chOff x="5775745" y="3144183"/>
            <a:chExt cx="1800000" cy="1800000"/>
          </a:xfrm>
        </p:grpSpPr>
        <p:sp>
          <p:nvSpPr>
            <p:cNvPr id="79" name="Ellipse 78">
              <a:extLst>
                <a:ext uri="{FF2B5EF4-FFF2-40B4-BE49-F238E27FC236}">
                  <a16:creationId xmlns:a16="http://schemas.microsoft.com/office/drawing/2014/main" id="{45D1B4DF-7033-EB1C-DEC9-639AE2145414}"/>
                </a:ext>
              </a:extLst>
            </p:cNvPr>
            <p:cNvSpPr/>
            <p:nvPr/>
          </p:nvSpPr>
          <p:spPr>
            <a:xfrm>
              <a:off x="5775745" y="3144183"/>
              <a:ext cx="1800000" cy="1800000"/>
            </a:xfrm>
            <a:prstGeom prst="ellipse">
              <a:avLst/>
            </a:prstGeom>
            <a:solidFill>
              <a:srgbClr val="68348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80" name="Image 79">
              <a:extLst>
                <a:ext uri="{FF2B5EF4-FFF2-40B4-BE49-F238E27FC236}">
                  <a16:creationId xmlns:a16="http://schemas.microsoft.com/office/drawing/2014/main" id="{E313AA97-25C8-7CFE-4F0E-0B1EFC00D5A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5903821" y="3513485"/>
              <a:ext cx="1543848" cy="1061396"/>
            </a:xfrm>
            <a:prstGeom prst="rect">
              <a:avLst/>
            </a:prstGeom>
          </p:spPr>
        </p:pic>
      </p:grpSp>
      <p:cxnSp>
        <p:nvCxnSpPr>
          <p:cNvPr id="36" name="Connecteur : en angle 35">
            <a:extLst>
              <a:ext uri="{FF2B5EF4-FFF2-40B4-BE49-F238E27FC236}">
                <a16:creationId xmlns:a16="http://schemas.microsoft.com/office/drawing/2014/main" id="{C2AEE372-FD76-ECD7-B5E0-FBDBBD520A65}"/>
              </a:ext>
            </a:extLst>
          </p:cNvPr>
          <p:cNvCxnSpPr>
            <a:cxnSpLocks/>
          </p:cNvCxnSpPr>
          <p:nvPr/>
        </p:nvCxnSpPr>
        <p:spPr>
          <a:xfrm rot="5400000" flipH="1">
            <a:off x="1854634" y="696188"/>
            <a:ext cx="3107098" cy="5372209"/>
          </a:xfrm>
          <a:prstGeom prst="bentConnector4">
            <a:avLst>
              <a:gd name="adj1" fmla="val -7357"/>
              <a:gd name="adj2" fmla="val 109671"/>
            </a:avLst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 : en angle 41">
            <a:extLst>
              <a:ext uri="{FF2B5EF4-FFF2-40B4-BE49-F238E27FC236}">
                <a16:creationId xmlns:a16="http://schemas.microsoft.com/office/drawing/2014/main" id="{2AE03594-D3AE-333C-8170-CA27A08C2D8C}"/>
              </a:ext>
            </a:extLst>
          </p:cNvPr>
          <p:cNvCxnSpPr>
            <a:cxnSpLocks/>
            <a:stCxn id="83" idx="4"/>
            <a:endCxn id="33" idx="1"/>
          </p:cNvCxnSpPr>
          <p:nvPr/>
        </p:nvCxnSpPr>
        <p:spPr>
          <a:xfrm rot="5400000" flipH="1">
            <a:off x="949503" y="2033111"/>
            <a:ext cx="2727525" cy="3139981"/>
          </a:xfrm>
          <a:prstGeom prst="bentConnector4">
            <a:avLst>
              <a:gd name="adj1" fmla="val -3414"/>
              <a:gd name="adj2" fmla="val 112813"/>
            </a:avLst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eur : en angle 88">
            <a:extLst>
              <a:ext uri="{FF2B5EF4-FFF2-40B4-BE49-F238E27FC236}">
                <a16:creationId xmlns:a16="http://schemas.microsoft.com/office/drawing/2014/main" id="{B5CD6745-802D-4E58-D331-F439AC7E3358}"/>
              </a:ext>
            </a:extLst>
          </p:cNvPr>
          <p:cNvCxnSpPr>
            <a:cxnSpLocks/>
          </p:cNvCxnSpPr>
          <p:nvPr/>
        </p:nvCxnSpPr>
        <p:spPr>
          <a:xfrm rot="16200000" flipV="1">
            <a:off x="5574322" y="-3433195"/>
            <a:ext cx="2286493" cy="11686371"/>
          </a:xfrm>
          <a:prstGeom prst="bentConnector3">
            <a:avLst>
              <a:gd name="adj1" fmla="val 109998"/>
            </a:avLst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ZoneTexte 110">
                <a:extLst>
                  <a:ext uri="{FF2B5EF4-FFF2-40B4-BE49-F238E27FC236}">
                    <a16:creationId xmlns:a16="http://schemas.microsoft.com/office/drawing/2014/main" id="{4BE6685B-714A-2936-1BA2-2CA1122FD234}"/>
                  </a:ext>
                </a:extLst>
              </p:cNvPr>
              <p:cNvSpPr txBox="1"/>
              <p:nvPr/>
            </p:nvSpPr>
            <p:spPr>
              <a:xfrm>
                <a:off x="6496530" y="3899673"/>
                <a:ext cx="1431825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fr-FR" sz="1100" b="1" dirty="0">
                  <a:solidFill>
                    <a:srgbClr val="7030A0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111" name="ZoneTexte 110">
                <a:extLst>
                  <a:ext uri="{FF2B5EF4-FFF2-40B4-BE49-F238E27FC236}">
                    <a16:creationId xmlns:a16="http://schemas.microsoft.com/office/drawing/2014/main" id="{4BE6685B-714A-2936-1BA2-2CA1122FD2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6530" y="3899673"/>
                <a:ext cx="1431825" cy="26161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Rectangle : coins arrondis 65">
            <a:extLst>
              <a:ext uri="{FF2B5EF4-FFF2-40B4-BE49-F238E27FC236}">
                <a16:creationId xmlns:a16="http://schemas.microsoft.com/office/drawing/2014/main" id="{DEFEC9DC-D44C-BD4C-C7C7-8E5A976EE82E}"/>
              </a:ext>
            </a:extLst>
          </p:cNvPr>
          <p:cNvSpPr/>
          <p:nvPr/>
        </p:nvSpPr>
        <p:spPr>
          <a:xfrm>
            <a:off x="9625448" y="3534654"/>
            <a:ext cx="1365662" cy="53439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EE685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EE685D"/>
                </a:solidFill>
                <a:latin typeface="Arial Nova" panose="020B0504020202020204" pitchFamily="34" charset="0"/>
              </a:rPr>
              <a:t>Transmettre</a:t>
            </a:r>
          </a:p>
        </p:txBody>
      </p:sp>
      <p:cxnSp>
        <p:nvCxnSpPr>
          <p:cNvPr id="67" name="Connecteur droit avec flèche 66">
            <a:extLst>
              <a:ext uri="{FF2B5EF4-FFF2-40B4-BE49-F238E27FC236}">
                <a16:creationId xmlns:a16="http://schemas.microsoft.com/office/drawing/2014/main" id="{FA030DA2-3C3A-C8FA-45E8-D976D05C940D}"/>
              </a:ext>
            </a:extLst>
          </p:cNvPr>
          <p:cNvCxnSpPr>
            <a:cxnSpLocks/>
          </p:cNvCxnSpPr>
          <p:nvPr/>
        </p:nvCxnSpPr>
        <p:spPr>
          <a:xfrm flipV="1">
            <a:off x="8911895" y="3796784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 4">
            <a:extLst>
              <a:ext uri="{FF2B5EF4-FFF2-40B4-BE49-F238E27FC236}">
                <a16:creationId xmlns:a16="http://schemas.microsoft.com/office/drawing/2014/main" id="{9D7A6D98-7B9F-A9B5-23AC-FDD7BBE7B7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56590" y="3407535"/>
            <a:ext cx="360000" cy="3600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0" name="ZoneTexte 29">
                <a:extLst>
                  <a:ext uri="{FF2B5EF4-FFF2-40B4-BE49-F238E27FC236}">
                    <a16:creationId xmlns:a16="http://schemas.microsoft.com/office/drawing/2014/main" id="{A910A58C-1179-CA7F-E823-40BDA4D5C934}"/>
                  </a:ext>
                </a:extLst>
              </p:cNvPr>
              <p:cNvSpPr txBox="1"/>
              <p:nvPr/>
            </p:nvSpPr>
            <p:spPr>
              <a:xfrm>
                <a:off x="10669986" y="3939627"/>
                <a:ext cx="1431825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𝒃</m:t>
                          </m:r>
                        </m:sub>
                      </m:sSub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𝒃</m:t>
                          </m:r>
                        </m:sub>
                      </m:sSub>
                    </m:oMath>
                  </m:oMathPara>
                </a14:m>
                <a:endParaRPr lang="fr-FR" sz="1100" b="1" dirty="0">
                  <a:solidFill>
                    <a:srgbClr val="7030A0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>
          <p:sp>
            <p:nvSpPr>
              <p:cNvPr id="30" name="ZoneTexte 29">
                <a:extLst>
                  <a:ext uri="{FF2B5EF4-FFF2-40B4-BE49-F238E27FC236}">
                    <a16:creationId xmlns:a16="http://schemas.microsoft.com/office/drawing/2014/main" id="{A910A58C-1179-CA7F-E823-40BDA4D5C9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9986" y="3939627"/>
                <a:ext cx="1431825" cy="26161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7" name="Groupe 36">
            <a:extLst>
              <a:ext uri="{FF2B5EF4-FFF2-40B4-BE49-F238E27FC236}">
                <a16:creationId xmlns:a16="http://schemas.microsoft.com/office/drawing/2014/main" id="{9BD378B3-7B53-A753-62A4-0FE230E15643}"/>
              </a:ext>
            </a:extLst>
          </p:cNvPr>
          <p:cNvGrpSpPr/>
          <p:nvPr/>
        </p:nvGrpSpPr>
        <p:grpSpPr>
          <a:xfrm>
            <a:off x="12387220" y="3543372"/>
            <a:ext cx="360000" cy="360000"/>
            <a:chOff x="1856523" y="133118"/>
            <a:chExt cx="720000" cy="720000"/>
          </a:xfrm>
        </p:grpSpPr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3BB21AE3-2ACD-729F-E350-AFA1D4B8F162}"/>
                </a:ext>
              </a:extLst>
            </p:cNvPr>
            <p:cNvSpPr/>
            <p:nvPr/>
          </p:nvSpPr>
          <p:spPr>
            <a:xfrm>
              <a:off x="1856523" y="133118"/>
              <a:ext cx="720000" cy="720000"/>
            </a:xfrm>
            <a:prstGeom prst="ellipse">
              <a:avLst/>
            </a:prstGeom>
            <a:solidFill>
              <a:srgbClr val="0051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40" name="Image 39">
              <a:extLst>
                <a:ext uri="{FF2B5EF4-FFF2-40B4-BE49-F238E27FC236}">
                  <a16:creationId xmlns:a16="http://schemas.microsoft.com/office/drawing/2014/main" id="{560049D0-4921-DFB2-54FC-73843936F173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1955338" y="231933"/>
              <a:ext cx="522371" cy="522371"/>
            </a:xfrm>
            <a:prstGeom prst="rect">
              <a:avLst/>
            </a:prstGeom>
          </p:spPr>
        </p:pic>
      </p:grpSp>
      <p:grpSp>
        <p:nvGrpSpPr>
          <p:cNvPr id="41" name="Groupe 40">
            <a:extLst>
              <a:ext uri="{FF2B5EF4-FFF2-40B4-BE49-F238E27FC236}">
                <a16:creationId xmlns:a16="http://schemas.microsoft.com/office/drawing/2014/main" id="{B01E63F3-4BF5-704E-6471-BF9A4C55D36A}"/>
              </a:ext>
            </a:extLst>
          </p:cNvPr>
          <p:cNvGrpSpPr/>
          <p:nvPr/>
        </p:nvGrpSpPr>
        <p:grpSpPr>
          <a:xfrm>
            <a:off x="688576" y="1260713"/>
            <a:ext cx="360000" cy="360000"/>
            <a:chOff x="1856523" y="133118"/>
            <a:chExt cx="720000" cy="720000"/>
          </a:xfrm>
        </p:grpSpPr>
        <p:sp>
          <p:nvSpPr>
            <p:cNvPr id="51" name="Ellipse 50">
              <a:extLst>
                <a:ext uri="{FF2B5EF4-FFF2-40B4-BE49-F238E27FC236}">
                  <a16:creationId xmlns:a16="http://schemas.microsoft.com/office/drawing/2014/main" id="{3BEB3D33-3C61-0F37-D35D-EEEC73101051}"/>
                </a:ext>
              </a:extLst>
            </p:cNvPr>
            <p:cNvSpPr/>
            <p:nvPr/>
          </p:nvSpPr>
          <p:spPr>
            <a:xfrm>
              <a:off x="1856523" y="133118"/>
              <a:ext cx="720000" cy="720000"/>
            </a:xfrm>
            <a:prstGeom prst="ellipse">
              <a:avLst/>
            </a:prstGeom>
            <a:solidFill>
              <a:srgbClr val="0051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63" name="Image 62">
              <a:extLst>
                <a:ext uri="{FF2B5EF4-FFF2-40B4-BE49-F238E27FC236}">
                  <a16:creationId xmlns:a16="http://schemas.microsoft.com/office/drawing/2014/main" id="{2B956809-6B27-95FF-8FBA-38B4BA637017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1955338" y="231933"/>
              <a:ext cx="522371" cy="522371"/>
            </a:xfrm>
            <a:prstGeom prst="rect">
              <a:avLst/>
            </a:prstGeom>
          </p:spPr>
        </p:pic>
      </p:grpSp>
      <p:grpSp>
        <p:nvGrpSpPr>
          <p:cNvPr id="73" name="Groupe 72">
            <a:extLst>
              <a:ext uri="{FF2B5EF4-FFF2-40B4-BE49-F238E27FC236}">
                <a16:creationId xmlns:a16="http://schemas.microsoft.com/office/drawing/2014/main" id="{E5D4ED94-FD8A-E9D5-5B49-962CE5C6E25B}"/>
              </a:ext>
            </a:extLst>
          </p:cNvPr>
          <p:cNvGrpSpPr/>
          <p:nvPr/>
        </p:nvGrpSpPr>
        <p:grpSpPr>
          <a:xfrm>
            <a:off x="704165" y="1638298"/>
            <a:ext cx="360000" cy="360000"/>
            <a:chOff x="3056845" y="1528414"/>
            <a:chExt cx="3454284" cy="3454284"/>
          </a:xfrm>
        </p:grpSpPr>
        <p:sp>
          <p:nvSpPr>
            <p:cNvPr id="74" name="Ellipse 73">
              <a:extLst>
                <a:ext uri="{FF2B5EF4-FFF2-40B4-BE49-F238E27FC236}">
                  <a16:creationId xmlns:a16="http://schemas.microsoft.com/office/drawing/2014/main" id="{1A4AFC09-9CB7-634D-3093-CE44DBB23C51}"/>
                </a:ext>
              </a:extLst>
            </p:cNvPr>
            <p:cNvSpPr/>
            <p:nvPr/>
          </p:nvSpPr>
          <p:spPr>
            <a:xfrm>
              <a:off x="3056845" y="1528414"/>
              <a:ext cx="3454284" cy="3454284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81" name="Image 80">
              <a:extLst>
                <a:ext uri="{FF2B5EF4-FFF2-40B4-BE49-F238E27FC236}">
                  <a16:creationId xmlns:a16="http://schemas.microsoft.com/office/drawing/2014/main" id="{E100991F-29E3-91C0-E698-B6F9D6794432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3327958" y="2056096"/>
              <a:ext cx="2912058" cy="2398920"/>
            </a:xfrm>
            <a:prstGeom prst="rect">
              <a:avLst/>
            </a:prstGeom>
          </p:spPr>
        </p:pic>
      </p:grpSp>
      <p:grpSp>
        <p:nvGrpSpPr>
          <p:cNvPr id="82" name="Groupe 81">
            <a:extLst>
              <a:ext uri="{FF2B5EF4-FFF2-40B4-BE49-F238E27FC236}">
                <a16:creationId xmlns:a16="http://schemas.microsoft.com/office/drawing/2014/main" id="{D490A147-67BA-D5AA-020E-1414E8A0E832}"/>
              </a:ext>
            </a:extLst>
          </p:cNvPr>
          <p:cNvGrpSpPr/>
          <p:nvPr/>
        </p:nvGrpSpPr>
        <p:grpSpPr>
          <a:xfrm>
            <a:off x="5912459" y="4736737"/>
            <a:ext cx="360000" cy="360000"/>
            <a:chOff x="3056845" y="1528414"/>
            <a:chExt cx="3454284" cy="3454284"/>
          </a:xfrm>
        </p:grpSpPr>
        <p:sp>
          <p:nvSpPr>
            <p:cNvPr id="85" name="Ellipse 84">
              <a:extLst>
                <a:ext uri="{FF2B5EF4-FFF2-40B4-BE49-F238E27FC236}">
                  <a16:creationId xmlns:a16="http://schemas.microsoft.com/office/drawing/2014/main" id="{F455E967-89A5-926B-9569-B0C18BCEFCEB}"/>
                </a:ext>
              </a:extLst>
            </p:cNvPr>
            <p:cNvSpPr/>
            <p:nvPr/>
          </p:nvSpPr>
          <p:spPr>
            <a:xfrm>
              <a:off x="3056845" y="1528414"/>
              <a:ext cx="3454284" cy="3454284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90" name="Image 89">
              <a:extLst>
                <a:ext uri="{FF2B5EF4-FFF2-40B4-BE49-F238E27FC236}">
                  <a16:creationId xmlns:a16="http://schemas.microsoft.com/office/drawing/2014/main" id="{E22E4030-22B7-70AB-F9A2-07A81EEE8B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3327958" y="2056096"/>
              <a:ext cx="2912058" cy="2398920"/>
            </a:xfrm>
            <a:prstGeom prst="rect">
              <a:avLst/>
            </a:prstGeom>
          </p:spPr>
        </p:pic>
      </p:grpSp>
      <p:grpSp>
        <p:nvGrpSpPr>
          <p:cNvPr id="102" name="Groupe 101">
            <a:extLst>
              <a:ext uri="{FF2B5EF4-FFF2-40B4-BE49-F238E27FC236}">
                <a16:creationId xmlns:a16="http://schemas.microsoft.com/office/drawing/2014/main" id="{52B43403-7B09-8054-59ED-49F7D05C1B54}"/>
              </a:ext>
            </a:extLst>
          </p:cNvPr>
          <p:cNvGrpSpPr/>
          <p:nvPr/>
        </p:nvGrpSpPr>
        <p:grpSpPr>
          <a:xfrm>
            <a:off x="8000684" y="3973702"/>
            <a:ext cx="463240" cy="360000"/>
            <a:chOff x="4476612" y="5880432"/>
            <a:chExt cx="1010860" cy="720000"/>
          </a:xfrm>
        </p:grpSpPr>
        <p:sp>
          <p:nvSpPr>
            <p:cNvPr id="106" name="Ellipse 105">
              <a:extLst>
                <a:ext uri="{FF2B5EF4-FFF2-40B4-BE49-F238E27FC236}">
                  <a16:creationId xmlns:a16="http://schemas.microsoft.com/office/drawing/2014/main" id="{C7749C57-CAA2-3363-F666-0D5749584068}"/>
                </a:ext>
              </a:extLst>
            </p:cNvPr>
            <p:cNvSpPr/>
            <p:nvPr/>
          </p:nvSpPr>
          <p:spPr>
            <a:xfrm>
              <a:off x="4678466" y="5880432"/>
              <a:ext cx="720000" cy="720000"/>
            </a:xfrm>
            <a:prstGeom prst="ellipse">
              <a:avLst/>
            </a:prstGeom>
            <a:solidFill>
              <a:srgbClr val="EF72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13" name="Image 112">
              <a:extLst>
                <a:ext uri="{FF2B5EF4-FFF2-40B4-BE49-F238E27FC236}">
                  <a16:creationId xmlns:a16="http://schemas.microsoft.com/office/drawing/2014/main" id="{FF5703C6-7107-BB41-D6A5-8F693C9E2DE2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4476612" y="6060432"/>
              <a:ext cx="1010860" cy="360000"/>
            </a:xfrm>
            <a:prstGeom prst="rect">
              <a:avLst/>
            </a:prstGeom>
          </p:spPr>
        </p:pic>
      </p:grp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DBB3458D-4CEE-E727-4796-FBB9AD6D4CE5}"/>
              </a:ext>
            </a:extLst>
          </p:cNvPr>
          <p:cNvGrpSpPr/>
          <p:nvPr/>
        </p:nvGrpSpPr>
        <p:grpSpPr>
          <a:xfrm>
            <a:off x="10144506" y="3914795"/>
            <a:ext cx="360000" cy="360000"/>
            <a:chOff x="3533664" y="4396133"/>
            <a:chExt cx="1800000" cy="1800000"/>
          </a:xfrm>
        </p:grpSpPr>
        <p:sp>
          <p:nvSpPr>
            <p:cNvPr id="115" name="Ellipse 114">
              <a:extLst>
                <a:ext uri="{FF2B5EF4-FFF2-40B4-BE49-F238E27FC236}">
                  <a16:creationId xmlns:a16="http://schemas.microsoft.com/office/drawing/2014/main" id="{97E301B2-3F02-4877-1A72-C48716EC20AC}"/>
                </a:ext>
              </a:extLst>
            </p:cNvPr>
            <p:cNvSpPr/>
            <p:nvPr/>
          </p:nvSpPr>
          <p:spPr>
            <a:xfrm>
              <a:off x="3533664" y="4396133"/>
              <a:ext cx="1800000" cy="1800000"/>
            </a:xfrm>
            <a:prstGeom prst="ellipse">
              <a:avLst/>
            </a:prstGeom>
            <a:solidFill>
              <a:srgbClr val="EF72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16" name="Image 115">
              <a:extLst>
                <a:ext uri="{FF2B5EF4-FFF2-40B4-BE49-F238E27FC236}">
                  <a16:creationId xmlns:a16="http://schemas.microsoft.com/office/drawing/2014/main" id="{DAAD1D66-50CD-ECAA-883C-2A36C76F0979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3681584" y="4594762"/>
              <a:ext cx="1427962" cy="147156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840608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E5C1CAA4-BEC8-E034-06F5-82D8ED3BF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Chaine fonctionnelle du </a:t>
            </a:r>
            <a:r>
              <a:rPr lang="fr-FR" dirty="0" err="1"/>
              <a:t>MaxPID</a:t>
            </a:r>
            <a:endParaRPr lang="fr-FR" dirty="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22DFAA51-C6D3-9FCC-9035-87E9C9207526}"/>
              </a:ext>
            </a:extLst>
          </p:cNvPr>
          <p:cNvSpPr/>
          <p:nvPr/>
        </p:nvSpPr>
        <p:spPr>
          <a:xfrm>
            <a:off x="498044" y="5363610"/>
            <a:ext cx="8528438" cy="652851"/>
          </a:xfrm>
          <a:prstGeom prst="rect">
            <a:avLst/>
          </a:prstGeom>
          <a:solidFill>
            <a:srgbClr val="DFE3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9263" algn="just"/>
            <a:r>
              <a:rPr lang="fr-FR" sz="1400" dirty="0">
                <a:solidFill>
                  <a:srgbClr val="00547F"/>
                </a:solidFill>
              </a:rPr>
              <a:t>Tous </a:t>
            </a:r>
            <a:r>
              <a:rPr lang="fr-FR" sz="1400">
                <a:solidFill>
                  <a:srgbClr val="00547F"/>
                </a:solidFill>
              </a:rPr>
              <a:t>les capteurs </a:t>
            </a:r>
            <a:r>
              <a:rPr lang="fr-FR" sz="1400" dirty="0">
                <a:solidFill>
                  <a:srgbClr val="00547F"/>
                </a:solidFill>
              </a:rPr>
              <a:t>sont nécessaires au bon fonctionnement du système.</a:t>
            </a: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86" y="1564459"/>
            <a:ext cx="11455228" cy="3751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78430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07</a:t>
            </a:r>
            <a:br>
              <a:rPr lang="fr-FR" dirty="0"/>
            </a:br>
            <a:r>
              <a:rPr lang="fr-FR" dirty="0"/>
              <a:t>Modélisation composants ou phénomènes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52277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09</a:t>
            </a:r>
            <a:br>
              <a:rPr lang="fr-FR" dirty="0"/>
            </a:br>
            <a:r>
              <a:rPr lang="fr-FR" dirty="0"/>
              <a:t>Dimensionnement d’un actionneur en dynamique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858229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FR" dirty="0"/>
              <a:t>Objectif :</a:t>
            </a:r>
          </a:p>
          <a:p>
            <a:pPr lvl="1"/>
            <a:r>
              <a:rPr lang="fr-FR" dirty="0"/>
              <a:t> On souhaite déterminer le couple maximal et la vitesse maximale d’un moteur pour pouvoir déplacer une charge de XXX kg en moins de XXXX s. </a:t>
            </a:r>
          </a:p>
          <a:p>
            <a:pPr lvl="1"/>
            <a:endParaRPr lang="fr-FR" dirty="0"/>
          </a:p>
          <a:p>
            <a:r>
              <a:rPr lang="fr-FR" dirty="0"/>
              <a:t>Modèle 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Expérimentation : première approche pour avoir une estimation de la puissance</a:t>
            </a:r>
          </a:p>
          <a:p>
            <a:pPr lvl="1"/>
            <a:r>
              <a:rPr lang="fr-FR" dirty="0"/>
              <a:t>Protocole Expérimental</a:t>
            </a:r>
          </a:p>
          <a:p>
            <a:pPr lvl="2"/>
            <a:r>
              <a:rPr lang="fr-FR" dirty="0"/>
              <a:t>Montée, avec un chargement maximal, et un échelon de position</a:t>
            </a:r>
          </a:p>
          <a:p>
            <a:pPr lvl="2"/>
            <a:r>
              <a:rPr lang="fr-FR" dirty="0"/>
              <a:t>Mesure de la vitesse grâce à la génératrice tachymétrique ou au codeur/potentiomètre</a:t>
            </a:r>
          </a:p>
          <a:p>
            <a:pPr lvl="2"/>
            <a:r>
              <a:rPr lang="fr-FR" dirty="0"/>
              <a:t>Meure du couple moteur grâce au courant…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grpSp>
        <p:nvGrpSpPr>
          <p:cNvPr id="86" name="Groupe 85"/>
          <p:cNvGrpSpPr/>
          <p:nvPr/>
        </p:nvGrpSpPr>
        <p:grpSpPr>
          <a:xfrm>
            <a:off x="3241822" y="2261019"/>
            <a:ext cx="5568476" cy="1462084"/>
            <a:chOff x="4452429" y="3393409"/>
            <a:chExt cx="5568476" cy="1462084"/>
          </a:xfrm>
        </p:grpSpPr>
        <p:sp>
          <p:nvSpPr>
            <p:cNvPr id="48" name="Rectangle : coins arrondis 15">
              <a:extLst>
                <a:ext uri="{FF2B5EF4-FFF2-40B4-BE49-F238E27FC236}">
                  <a16:creationId xmlns:a16="http://schemas.microsoft.com/office/drawing/2014/main" id="{B8181AD4-9AB8-CA7B-EFBF-8B9CD4369264}"/>
                </a:ext>
              </a:extLst>
            </p:cNvPr>
            <p:cNvSpPr/>
            <p:nvPr/>
          </p:nvSpPr>
          <p:spPr>
            <a:xfrm>
              <a:off x="5380883" y="3542688"/>
              <a:ext cx="1440000" cy="54000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68348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68348B"/>
                  </a:solidFill>
                  <a:latin typeface="Arial Nova" panose="020B0504020202020204" pitchFamily="34" charset="0"/>
                </a:rPr>
                <a:t>Convertir</a:t>
              </a:r>
            </a:p>
          </p:txBody>
        </p:sp>
        <p:sp>
          <p:nvSpPr>
            <p:cNvPr id="49" name="Rectangle : coins arrondis 16">
              <a:extLst>
                <a:ext uri="{FF2B5EF4-FFF2-40B4-BE49-F238E27FC236}">
                  <a16:creationId xmlns:a16="http://schemas.microsoft.com/office/drawing/2014/main" id="{7E462E27-42D7-734B-5E6F-B78EF40987B6}"/>
                </a:ext>
              </a:extLst>
            </p:cNvPr>
            <p:cNvSpPr/>
            <p:nvPr/>
          </p:nvSpPr>
          <p:spPr>
            <a:xfrm>
              <a:off x="5389319" y="4223146"/>
              <a:ext cx="1440000" cy="540000"/>
            </a:xfrm>
            <a:prstGeom prst="roundRect">
              <a:avLst>
                <a:gd name="adj" fmla="val 11914"/>
              </a:avLst>
            </a:prstGeom>
            <a:solidFill>
              <a:srgbClr val="C3AED1"/>
            </a:solidFill>
            <a:ln w="19050">
              <a:solidFill>
                <a:srgbClr val="C3AED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100" dirty="0">
                  <a:solidFill>
                    <a:srgbClr val="68348B"/>
                  </a:solidFill>
                  <a:latin typeface="Arial Nova" panose="020B0504020202020204" pitchFamily="34" charset="0"/>
                </a:rPr>
                <a:t>Moteur à courant continu</a:t>
              </a:r>
            </a:p>
          </p:txBody>
        </p:sp>
        <p:sp>
          <p:nvSpPr>
            <p:cNvPr id="50" name="Rectangle : coins arrondis 17">
              <a:extLst>
                <a:ext uri="{FF2B5EF4-FFF2-40B4-BE49-F238E27FC236}">
                  <a16:creationId xmlns:a16="http://schemas.microsoft.com/office/drawing/2014/main" id="{AA76E29F-1BCE-DD76-499C-CE8F3E850A8E}"/>
                </a:ext>
              </a:extLst>
            </p:cNvPr>
            <p:cNvSpPr/>
            <p:nvPr/>
          </p:nvSpPr>
          <p:spPr>
            <a:xfrm>
              <a:off x="7542872" y="3545795"/>
              <a:ext cx="1365662" cy="53439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EE68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Transmettre</a:t>
              </a:r>
            </a:p>
          </p:txBody>
        </p:sp>
        <p:sp>
          <p:nvSpPr>
            <p:cNvPr id="51" name="Rectangle : coins arrondis 18">
              <a:extLst>
                <a:ext uri="{FF2B5EF4-FFF2-40B4-BE49-F238E27FC236}">
                  <a16:creationId xmlns:a16="http://schemas.microsoft.com/office/drawing/2014/main" id="{A66FC087-C9BC-9FD1-6C13-AD7571852AD4}"/>
                </a:ext>
              </a:extLst>
            </p:cNvPr>
            <p:cNvSpPr/>
            <p:nvPr/>
          </p:nvSpPr>
          <p:spPr>
            <a:xfrm>
              <a:off x="7549319" y="4202642"/>
              <a:ext cx="1365662" cy="652851"/>
            </a:xfrm>
            <a:prstGeom prst="roundRect">
              <a:avLst>
                <a:gd name="adj" fmla="val 11914"/>
              </a:avLst>
            </a:prstGeom>
            <a:solidFill>
              <a:srgbClr val="F7B8B3"/>
            </a:solidFill>
            <a:ln w="19050">
              <a:solidFill>
                <a:srgbClr val="F7B8B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Mécanisme</a:t>
              </a:r>
            </a:p>
          </p:txBody>
        </p:sp>
        <p:cxnSp>
          <p:nvCxnSpPr>
            <p:cNvPr id="54" name="Connecteur droit avec flèche 53">
              <a:extLst>
                <a:ext uri="{FF2B5EF4-FFF2-40B4-BE49-F238E27FC236}">
                  <a16:creationId xmlns:a16="http://schemas.microsoft.com/office/drawing/2014/main" id="{6E52C4D0-B55B-30AA-F92B-6E09F0A4D9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9319" y="3798320"/>
              <a:ext cx="720000" cy="1536"/>
            </a:xfrm>
            <a:prstGeom prst="straightConnector1">
              <a:avLst/>
            </a:prstGeom>
            <a:ln w="25400" cap="rnd">
              <a:solidFill>
                <a:srgbClr val="0C739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5" name="Image 54">
              <a:extLst>
                <a:ext uri="{FF2B5EF4-FFF2-40B4-BE49-F238E27FC236}">
                  <a16:creationId xmlns:a16="http://schemas.microsoft.com/office/drawing/2014/main" id="{F31071D2-3D9A-9512-E018-EA9EA1D5A0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838894" y="3393409"/>
              <a:ext cx="360000" cy="360000"/>
            </a:xfrm>
            <a:prstGeom prst="rect">
              <a:avLst/>
            </a:prstGeom>
          </p:spPr>
        </p:pic>
        <p:cxnSp>
          <p:nvCxnSpPr>
            <p:cNvPr id="56" name="Connecteur droit avec flèche 55">
              <a:extLst>
                <a:ext uri="{FF2B5EF4-FFF2-40B4-BE49-F238E27FC236}">
                  <a16:creationId xmlns:a16="http://schemas.microsoft.com/office/drawing/2014/main" id="{75B4C387-2DFC-8DD6-0817-E4B93F7F3F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29319" y="3807925"/>
              <a:ext cx="720000" cy="1536"/>
            </a:xfrm>
            <a:prstGeom prst="straightConnector1">
              <a:avLst/>
            </a:prstGeom>
            <a:ln w="25400" cap="rnd">
              <a:solidFill>
                <a:srgbClr val="68348B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7" name="Image 56">
              <a:extLst>
                <a:ext uri="{FF2B5EF4-FFF2-40B4-BE49-F238E27FC236}">
                  <a16:creationId xmlns:a16="http://schemas.microsoft.com/office/drawing/2014/main" id="{F1B5964F-3473-92A5-6A3A-F03DA766A9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993108" y="3418676"/>
              <a:ext cx="360000" cy="3600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B39CA18C-C050-2248-E6F6-D99BB87303C8}"/>
                    </a:ext>
                  </a:extLst>
                </p:cNvPr>
                <p:cNvSpPr txBox="1"/>
                <p:nvPr/>
              </p:nvSpPr>
              <p:spPr>
                <a:xfrm>
                  <a:off x="4452429" y="3859412"/>
                  <a:ext cx="116196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fr-FR" sz="1200" b="1" dirty="0">
                      <a:solidFill>
                        <a:srgbClr val="FFB25A"/>
                      </a:solidFill>
                      <a:latin typeface="Arial Nova" panose="020B0504020202020204" pitchFamily="34" charset="0"/>
                    </a:rPr>
                    <a:t> xx V </a:t>
                  </a:r>
                  <a14:m>
                    <m:oMath xmlns:m="http://schemas.openxmlformats.org/officeDocument/2006/math">
                      <m:r>
                        <a:rPr lang="fr-FR" sz="1200" b="1" i="0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</m:t>
                      </m:r>
                    </m:oMath>
                  </a14:m>
                  <a:endPara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1" i="1" smtClean="0">
                            <a:solidFill>
                              <a:srgbClr val="FFB25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𝓟</m:t>
                        </m:r>
                        <m:r>
                          <a:rPr lang="fr-FR" sz="1200" b="1" i="1" smtClean="0">
                            <a:solidFill>
                              <a:srgbClr val="FFB25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fr-FR" sz="1200" b="1" i="1" smtClean="0">
                            <a:solidFill>
                              <a:srgbClr val="FFB25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𝑼𝑰</m:t>
                        </m:r>
                      </m:oMath>
                    </m:oMathPara>
                  </a14:m>
                  <a:endPara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B39CA18C-C050-2248-E6F6-D99BB87303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52429" y="3859412"/>
                  <a:ext cx="1161960" cy="46166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1" name="Groupe 70">
              <a:extLst>
                <a:ext uri="{FF2B5EF4-FFF2-40B4-BE49-F238E27FC236}">
                  <a16:creationId xmlns:a16="http://schemas.microsoft.com/office/drawing/2014/main" id="{3A416195-885D-B412-950E-1F349C5CC6AB}"/>
                </a:ext>
              </a:extLst>
            </p:cNvPr>
            <p:cNvGrpSpPr/>
            <p:nvPr/>
          </p:nvGrpSpPr>
          <p:grpSpPr>
            <a:xfrm>
              <a:off x="8079091" y="3940734"/>
              <a:ext cx="360000" cy="360000"/>
              <a:chOff x="5447928" y="2816932"/>
              <a:chExt cx="1800000" cy="1800000"/>
            </a:xfrm>
          </p:grpSpPr>
          <p:sp>
            <p:nvSpPr>
              <p:cNvPr id="72" name="Ellipse 71">
                <a:extLst>
                  <a:ext uri="{FF2B5EF4-FFF2-40B4-BE49-F238E27FC236}">
                    <a16:creationId xmlns:a16="http://schemas.microsoft.com/office/drawing/2014/main" id="{689719FF-319E-F4C6-E150-B6C708728D00}"/>
                  </a:ext>
                </a:extLst>
              </p:cNvPr>
              <p:cNvSpPr/>
              <p:nvPr/>
            </p:nvSpPr>
            <p:spPr>
              <a:xfrm>
                <a:off x="5447928" y="2816932"/>
                <a:ext cx="1800000" cy="1800000"/>
              </a:xfrm>
              <a:prstGeom prst="ellipse">
                <a:avLst/>
              </a:prstGeom>
              <a:solidFill>
                <a:srgbClr val="EF726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pic>
            <p:nvPicPr>
              <p:cNvPr id="73" name="Image 72">
                <a:extLst>
                  <a:ext uri="{FF2B5EF4-FFF2-40B4-BE49-F238E27FC236}">
                    <a16:creationId xmlns:a16="http://schemas.microsoft.com/office/drawing/2014/main" id="{1AC2262C-D76B-934A-5E65-99DB0E926C9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flipH="1">
                <a:off x="5627848" y="2996852"/>
                <a:ext cx="1440160" cy="1440160"/>
              </a:xfrm>
              <a:prstGeom prst="rect">
                <a:avLst/>
              </a:prstGeom>
            </p:spPr>
          </p:pic>
        </p:grpSp>
        <p:grpSp>
          <p:nvGrpSpPr>
            <p:cNvPr id="74" name="Groupe 73">
              <a:extLst>
                <a:ext uri="{FF2B5EF4-FFF2-40B4-BE49-F238E27FC236}">
                  <a16:creationId xmlns:a16="http://schemas.microsoft.com/office/drawing/2014/main" id="{62B9229E-5DD5-9728-B982-E481189F9BEC}"/>
                </a:ext>
              </a:extLst>
            </p:cNvPr>
            <p:cNvGrpSpPr/>
            <p:nvPr/>
          </p:nvGrpSpPr>
          <p:grpSpPr>
            <a:xfrm>
              <a:off x="5929319" y="3962771"/>
              <a:ext cx="360000" cy="360000"/>
              <a:chOff x="5775745" y="3144183"/>
              <a:chExt cx="1800000" cy="1800000"/>
            </a:xfrm>
          </p:grpSpPr>
          <p:sp>
            <p:nvSpPr>
              <p:cNvPr id="75" name="Ellipse 74">
                <a:extLst>
                  <a:ext uri="{FF2B5EF4-FFF2-40B4-BE49-F238E27FC236}">
                    <a16:creationId xmlns:a16="http://schemas.microsoft.com/office/drawing/2014/main" id="{45D1B4DF-7033-EB1C-DEC9-639AE2145414}"/>
                  </a:ext>
                </a:extLst>
              </p:cNvPr>
              <p:cNvSpPr/>
              <p:nvPr/>
            </p:nvSpPr>
            <p:spPr>
              <a:xfrm>
                <a:off x="5775745" y="3144183"/>
                <a:ext cx="1800000" cy="1800000"/>
              </a:xfrm>
              <a:prstGeom prst="ellipse">
                <a:avLst/>
              </a:prstGeom>
              <a:solidFill>
                <a:srgbClr val="68348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6" name="Image 75">
                <a:extLst>
                  <a:ext uri="{FF2B5EF4-FFF2-40B4-BE49-F238E27FC236}">
                    <a16:creationId xmlns:a16="http://schemas.microsoft.com/office/drawing/2014/main" id="{E313AA97-25C8-7CFE-4F0E-0B1EFC00D5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903821" y="3513485"/>
                <a:ext cx="1543848" cy="1061396"/>
              </a:xfrm>
              <a:prstGeom prst="rect">
                <a:avLst/>
              </a:prstGeom>
            </p:spPr>
          </p:pic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ZoneTexte 76">
                  <a:extLst>
                    <a:ext uri="{FF2B5EF4-FFF2-40B4-BE49-F238E27FC236}">
                      <a16:creationId xmlns:a16="http://schemas.microsoft.com/office/drawing/2014/main" id="{4BE6685B-714A-2936-1BA2-2CA1122FD234}"/>
                    </a:ext>
                  </a:extLst>
                </p:cNvPr>
                <p:cNvSpPr txBox="1"/>
                <p:nvPr/>
              </p:nvSpPr>
              <p:spPr>
                <a:xfrm>
                  <a:off x="6496530" y="3899673"/>
                  <a:ext cx="1431825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𝓟</m:t>
                        </m:r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𝑪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𝝎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</m:oMath>
                    </m:oMathPara>
                  </a14:m>
                  <a:endParaRPr lang="fr-FR" sz="1100" b="1" dirty="0">
                    <a:solidFill>
                      <a:srgbClr val="7030A0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77" name="ZoneTexte 76">
                  <a:extLst>
                    <a:ext uri="{FF2B5EF4-FFF2-40B4-BE49-F238E27FC236}">
                      <a16:creationId xmlns:a16="http://schemas.microsoft.com/office/drawing/2014/main" id="{4BE6685B-714A-2936-1BA2-2CA1122FD2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6530" y="3899673"/>
                  <a:ext cx="1431825" cy="26161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0" name="Connecteur droit avec flèche 79">
              <a:extLst>
                <a:ext uri="{FF2B5EF4-FFF2-40B4-BE49-F238E27FC236}">
                  <a16:creationId xmlns:a16="http://schemas.microsoft.com/office/drawing/2014/main" id="{FA030DA2-3C3A-C8FA-45E8-D976D05C94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11895" y="3796784"/>
              <a:ext cx="720000" cy="1536"/>
            </a:xfrm>
            <a:prstGeom prst="straightConnector1">
              <a:avLst/>
            </a:prstGeom>
            <a:ln w="25400" cap="rnd">
              <a:solidFill>
                <a:srgbClr val="68348B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81" name="Image 80">
              <a:extLst>
                <a:ext uri="{FF2B5EF4-FFF2-40B4-BE49-F238E27FC236}">
                  <a16:creationId xmlns:a16="http://schemas.microsoft.com/office/drawing/2014/main" id="{7CFF18D7-B440-5F98-0242-64155E193C5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075684" y="3407535"/>
              <a:ext cx="360000" cy="3600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5" name="ZoneTexte 84">
                  <a:extLst>
                    <a:ext uri="{FF2B5EF4-FFF2-40B4-BE49-F238E27FC236}">
                      <a16:creationId xmlns:a16="http://schemas.microsoft.com/office/drawing/2014/main" id="{D4448485-1542-9D3B-17C1-604149E67AE1}"/>
                    </a:ext>
                  </a:extLst>
                </p:cNvPr>
                <p:cNvSpPr txBox="1"/>
                <p:nvPr/>
              </p:nvSpPr>
              <p:spPr>
                <a:xfrm>
                  <a:off x="8589080" y="3939627"/>
                  <a:ext cx="1431825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𝓟</m:t>
                        </m:r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𝑪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𝝎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</m:oMath>
                    </m:oMathPara>
                  </a14:m>
                  <a:endParaRPr lang="fr-FR" sz="1100" b="1" dirty="0">
                    <a:solidFill>
                      <a:srgbClr val="7030A0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85" name="ZoneTexte 84">
                  <a:extLst>
                    <a:ext uri="{FF2B5EF4-FFF2-40B4-BE49-F238E27FC236}">
                      <a16:creationId xmlns:a16="http://schemas.microsoft.com/office/drawing/2014/main" id="{D4448485-1542-9D3B-17C1-604149E67A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89080" y="3939627"/>
                  <a:ext cx="1431825" cy="261610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231153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175FEE8-5C6C-2C21-A4AF-999762DAE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6" name="Arc 55">
            <a:extLst>
              <a:ext uri="{FF2B5EF4-FFF2-40B4-BE49-F238E27FC236}">
                <a16:creationId xmlns:a16="http://schemas.microsoft.com/office/drawing/2014/main" id="{B4AC50B9-08F3-4A73-CFB6-ED0F0C24550E}"/>
              </a:ext>
            </a:extLst>
          </p:cNvPr>
          <p:cNvSpPr/>
          <p:nvPr/>
        </p:nvSpPr>
        <p:spPr>
          <a:xfrm>
            <a:off x="-926947" y="2166427"/>
            <a:ext cx="2498058" cy="2498058"/>
          </a:xfrm>
          <a:prstGeom prst="arc">
            <a:avLst>
              <a:gd name="adj1" fmla="val 987784"/>
              <a:gd name="adj2" fmla="val 2517803"/>
            </a:avLst>
          </a:prstGeom>
          <a:ln w="19050">
            <a:headEnd type="stealth" w="med" len="lg"/>
            <a:tailEnd type="non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58" name="Groupe 57">
            <a:extLst>
              <a:ext uri="{FF2B5EF4-FFF2-40B4-BE49-F238E27FC236}">
                <a16:creationId xmlns:a16="http://schemas.microsoft.com/office/drawing/2014/main" id="{A7D91E2F-4FDF-D5B5-C6B1-38E915377D4B}"/>
              </a:ext>
            </a:extLst>
          </p:cNvPr>
          <p:cNvGrpSpPr/>
          <p:nvPr/>
        </p:nvGrpSpPr>
        <p:grpSpPr>
          <a:xfrm>
            <a:off x="6171260" y="1724511"/>
            <a:ext cx="1745369" cy="1666470"/>
            <a:chOff x="5262233" y="3152282"/>
            <a:chExt cx="1745369" cy="1666470"/>
          </a:xfrm>
        </p:grpSpPr>
        <p:grpSp>
          <p:nvGrpSpPr>
            <p:cNvPr id="59" name="Groupe 58">
              <a:extLst>
                <a:ext uri="{FF2B5EF4-FFF2-40B4-BE49-F238E27FC236}">
                  <a16:creationId xmlns:a16="http://schemas.microsoft.com/office/drawing/2014/main" id="{54D97C53-FF44-9771-576F-9A8A92C8D0AB}"/>
                </a:ext>
              </a:extLst>
            </p:cNvPr>
            <p:cNvGrpSpPr/>
            <p:nvPr/>
          </p:nvGrpSpPr>
          <p:grpSpPr>
            <a:xfrm>
              <a:off x="5940152" y="3401722"/>
              <a:ext cx="749927" cy="749927"/>
              <a:chOff x="5294563" y="3372196"/>
              <a:chExt cx="749927" cy="749927"/>
            </a:xfrm>
          </p:grpSpPr>
          <p:cxnSp>
            <p:nvCxnSpPr>
              <p:cNvPr id="72" name="Connecteur droit avec flèche 71">
                <a:extLst>
                  <a:ext uri="{FF2B5EF4-FFF2-40B4-BE49-F238E27FC236}">
                    <a16:creationId xmlns:a16="http://schemas.microsoft.com/office/drawing/2014/main" id="{0320D4EE-A922-CB37-5EA3-E5E586F36B34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Connecteur droit avec flèche 72">
                <a:extLst>
                  <a:ext uri="{FF2B5EF4-FFF2-40B4-BE49-F238E27FC236}">
                    <a16:creationId xmlns:a16="http://schemas.microsoft.com/office/drawing/2014/main" id="{DB310BBF-9F31-00DC-9698-D79FA32471F3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0" name="Groupe 59">
              <a:extLst>
                <a:ext uri="{FF2B5EF4-FFF2-40B4-BE49-F238E27FC236}">
                  <a16:creationId xmlns:a16="http://schemas.microsoft.com/office/drawing/2014/main" id="{AEBC270C-2419-8AA5-276B-ED9A042D4FAE}"/>
                </a:ext>
              </a:extLst>
            </p:cNvPr>
            <p:cNvGrpSpPr/>
            <p:nvPr/>
          </p:nvGrpSpPr>
          <p:grpSpPr>
            <a:xfrm rot="19800000">
              <a:off x="5709204" y="3270482"/>
              <a:ext cx="749927" cy="749927"/>
              <a:chOff x="5294563" y="3372196"/>
              <a:chExt cx="749927" cy="749927"/>
            </a:xfrm>
          </p:grpSpPr>
          <p:cxnSp>
            <p:nvCxnSpPr>
              <p:cNvPr id="70" name="Connecteur droit avec flèche 69">
                <a:extLst>
                  <a:ext uri="{FF2B5EF4-FFF2-40B4-BE49-F238E27FC236}">
                    <a16:creationId xmlns:a16="http://schemas.microsoft.com/office/drawing/2014/main" id="{B4EBD561-4D96-E242-04F7-C8A0FFF7618C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Connecteur droit avec flèche 70">
                <a:extLst>
                  <a:ext uri="{FF2B5EF4-FFF2-40B4-BE49-F238E27FC236}">
                    <a16:creationId xmlns:a16="http://schemas.microsoft.com/office/drawing/2014/main" id="{251D449D-478E-A80A-5B15-D80CD2B5A24A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1" name="Arc 60">
              <a:extLst>
                <a:ext uri="{FF2B5EF4-FFF2-40B4-BE49-F238E27FC236}">
                  <a16:creationId xmlns:a16="http://schemas.microsoft.com/office/drawing/2014/main" id="{F3FB8FF8-FE9D-5112-A055-1B4982177882}"/>
                </a:ext>
              </a:extLst>
            </p:cNvPr>
            <p:cNvSpPr/>
            <p:nvPr/>
          </p:nvSpPr>
          <p:spPr>
            <a:xfrm>
              <a:off x="5292080" y="3522608"/>
              <a:ext cx="1296144" cy="1296144"/>
            </a:xfrm>
            <a:prstGeom prst="arc">
              <a:avLst>
                <a:gd name="adj1" fmla="val 20018351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ZoneTexte 61">
                  <a:extLst>
                    <a:ext uri="{FF2B5EF4-FFF2-40B4-BE49-F238E27FC236}">
                      <a16:creationId xmlns:a16="http://schemas.microsoft.com/office/drawing/2014/main" id="{4F8053E8-8B57-B3D1-7A97-2A5B72C2404C}"/>
                    </a:ext>
                  </a:extLst>
                </p:cNvPr>
                <p:cNvSpPr txBox="1"/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28" name="ZoneTexte 12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blipFill rotWithShape="1"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ZoneTexte 62">
                  <a:extLst>
                    <a:ext uri="{FF2B5EF4-FFF2-40B4-BE49-F238E27FC236}">
                      <a16:creationId xmlns:a16="http://schemas.microsoft.com/office/drawing/2014/main" id="{6C71C0DD-0021-7D7F-B5F1-A607D111AA64}"/>
                    </a:ext>
                  </a:extLst>
                </p:cNvPr>
                <p:cNvSpPr txBox="1"/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29" name="ZoneTexte 12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blipFill rotWithShape="1"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A8ADA475-0C3A-45CC-9B75-7DCF67610335}"/>
                    </a:ext>
                  </a:extLst>
                </p:cNvPr>
                <p:cNvSpPr txBox="1"/>
                <p:nvPr/>
              </p:nvSpPr>
              <p:spPr>
                <a:xfrm>
                  <a:off x="6435685" y="3548045"/>
                  <a:ext cx="36875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0" name="ZoneTexte 12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685" y="3548045"/>
                  <a:ext cx="368754" cy="276999"/>
                </a:xfrm>
                <a:prstGeom prst="rect">
                  <a:avLst/>
                </a:prstGeom>
                <a:blipFill rotWithShape="1"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ZoneTexte 64">
                  <a:extLst>
                    <a:ext uri="{FF2B5EF4-FFF2-40B4-BE49-F238E27FC236}">
                      <a16:creationId xmlns:a16="http://schemas.microsoft.com/office/drawing/2014/main" id="{188BF97F-A207-142A-1AC4-0383E306DE40}"/>
                    </a:ext>
                  </a:extLst>
                </p:cNvPr>
                <p:cNvSpPr txBox="1"/>
                <p:nvPr/>
              </p:nvSpPr>
              <p:spPr>
                <a:xfrm>
                  <a:off x="5262233" y="3356339"/>
                  <a:ext cx="37035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1" name="ZoneTexte 13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2233" y="3356339"/>
                  <a:ext cx="370358" cy="276999"/>
                </a:xfrm>
                <a:prstGeom prst="rect">
                  <a:avLst/>
                </a:prstGeom>
                <a:blipFill rotWithShape="1"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ZoneTexte 65">
                  <a:extLst>
                    <a:ext uri="{FF2B5EF4-FFF2-40B4-BE49-F238E27FC236}">
                      <a16:creationId xmlns:a16="http://schemas.microsoft.com/office/drawing/2014/main" id="{E3AF8B67-016F-E790-F1F7-53E61E575CAB}"/>
                    </a:ext>
                  </a:extLst>
                </p:cNvPr>
                <p:cNvSpPr txBox="1"/>
                <p:nvPr/>
              </p:nvSpPr>
              <p:spPr>
                <a:xfrm>
                  <a:off x="6531285" y="3829601"/>
                  <a:ext cx="31758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𝛽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2" name="ZoneTexte 1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285" y="3829601"/>
                  <a:ext cx="317587" cy="276999"/>
                </a:xfrm>
                <a:prstGeom prst="rect">
                  <a:avLst/>
                </a:prstGeom>
                <a:blipFill rotWithShape="1">
                  <a:blip r:embed="rId14"/>
                  <a:stretch>
                    <a:fillRect b="-2174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ZoneTexte 66">
                  <a:extLst>
                    <a:ext uri="{FF2B5EF4-FFF2-40B4-BE49-F238E27FC236}">
                      <a16:creationId xmlns:a16="http://schemas.microsoft.com/office/drawing/2014/main" id="{E673A9CF-F67C-AF13-C4CF-68AA808FFF97}"/>
                    </a:ext>
                  </a:extLst>
                </p:cNvPr>
                <p:cNvSpPr txBox="1"/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3" name="ZoneTexte 13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blipFill rotWithShape="1"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8" name="Ellipse 67">
              <a:extLst>
                <a:ext uri="{FF2B5EF4-FFF2-40B4-BE49-F238E27FC236}">
                  <a16:creationId xmlns:a16="http://schemas.microsoft.com/office/drawing/2014/main" id="{01B086A6-A41D-BDB8-EF88-AB3DCC7B59EF}"/>
                </a:ext>
              </a:extLst>
            </p:cNvPr>
            <p:cNvSpPr/>
            <p:nvPr/>
          </p:nvSpPr>
          <p:spPr>
            <a:xfrm>
              <a:off x="5853398" y="4069873"/>
              <a:ext cx="158762" cy="158762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9" name="Ellipse 68">
              <a:extLst>
                <a:ext uri="{FF2B5EF4-FFF2-40B4-BE49-F238E27FC236}">
                  <a16:creationId xmlns:a16="http://schemas.microsoft.com/office/drawing/2014/main" id="{EE25BE62-B6D9-04FD-DAE1-0E2892C9F9CD}"/>
                </a:ext>
              </a:extLst>
            </p:cNvPr>
            <p:cNvSpPr/>
            <p:nvPr/>
          </p:nvSpPr>
          <p:spPr>
            <a:xfrm flipV="1">
              <a:off x="5905779" y="4122254"/>
              <a:ext cx="54000" cy="54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74" name="Groupe 73">
            <a:extLst>
              <a:ext uri="{FF2B5EF4-FFF2-40B4-BE49-F238E27FC236}">
                <a16:creationId xmlns:a16="http://schemas.microsoft.com/office/drawing/2014/main" id="{9E54CB3A-7049-6A65-FB45-CC501EB3B1FE}"/>
              </a:ext>
            </a:extLst>
          </p:cNvPr>
          <p:cNvGrpSpPr/>
          <p:nvPr/>
        </p:nvGrpSpPr>
        <p:grpSpPr>
          <a:xfrm>
            <a:off x="6184306" y="3276070"/>
            <a:ext cx="1745369" cy="1666470"/>
            <a:chOff x="5262233" y="3152282"/>
            <a:chExt cx="1745369" cy="1666470"/>
          </a:xfrm>
        </p:grpSpPr>
        <p:grpSp>
          <p:nvGrpSpPr>
            <p:cNvPr id="75" name="Groupe 74">
              <a:extLst>
                <a:ext uri="{FF2B5EF4-FFF2-40B4-BE49-F238E27FC236}">
                  <a16:creationId xmlns:a16="http://schemas.microsoft.com/office/drawing/2014/main" id="{B59C1FC6-ACAE-E06F-CDF8-7FE9A5FA0C33}"/>
                </a:ext>
              </a:extLst>
            </p:cNvPr>
            <p:cNvGrpSpPr/>
            <p:nvPr/>
          </p:nvGrpSpPr>
          <p:grpSpPr>
            <a:xfrm>
              <a:off x="5940152" y="3401722"/>
              <a:ext cx="749927" cy="749927"/>
              <a:chOff x="5294563" y="3372196"/>
              <a:chExt cx="749927" cy="749927"/>
            </a:xfrm>
          </p:grpSpPr>
          <p:cxnSp>
            <p:nvCxnSpPr>
              <p:cNvPr id="88" name="Connecteur droit avec flèche 87">
                <a:extLst>
                  <a:ext uri="{FF2B5EF4-FFF2-40B4-BE49-F238E27FC236}">
                    <a16:creationId xmlns:a16="http://schemas.microsoft.com/office/drawing/2014/main" id="{9D344FC2-5413-9C4A-094F-7B76D34A4394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Connecteur droit avec flèche 88">
                <a:extLst>
                  <a:ext uri="{FF2B5EF4-FFF2-40B4-BE49-F238E27FC236}">
                    <a16:creationId xmlns:a16="http://schemas.microsoft.com/office/drawing/2014/main" id="{30818A1D-D7F8-D3DC-E4F3-DB61ECC59F22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6" name="Groupe 75">
              <a:extLst>
                <a:ext uri="{FF2B5EF4-FFF2-40B4-BE49-F238E27FC236}">
                  <a16:creationId xmlns:a16="http://schemas.microsoft.com/office/drawing/2014/main" id="{F6752312-381E-1265-927F-B9C8645153E6}"/>
                </a:ext>
              </a:extLst>
            </p:cNvPr>
            <p:cNvGrpSpPr/>
            <p:nvPr/>
          </p:nvGrpSpPr>
          <p:grpSpPr>
            <a:xfrm rot="19800000">
              <a:off x="5709204" y="3270482"/>
              <a:ext cx="749927" cy="749927"/>
              <a:chOff x="5294563" y="3372196"/>
              <a:chExt cx="749927" cy="749927"/>
            </a:xfrm>
          </p:grpSpPr>
          <p:cxnSp>
            <p:nvCxnSpPr>
              <p:cNvPr id="86" name="Connecteur droit avec flèche 85">
                <a:extLst>
                  <a:ext uri="{FF2B5EF4-FFF2-40B4-BE49-F238E27FC236}">
                    <a16:creationId xmlns:a16="http://schemas.microsoft.com/office/drawing/2014/main" id="{16892681-3E83-5BC2-A7D2-70B8744E0E23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7030A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Connecteur droit avec flèche 86">
                <a:extLst>
                  <a:ext uri="{FF2B5EF4-FFF2-40B4-BE49-F238E27FC236}">
                    <a16:creationId xmlns:a16="http://schemas.microsoft.com/office/drawing/2014/main" id="{DF247A63-C7A2-EA49-DF23-8F20E70B8F27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7030A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7" name="Arc 76">
              <a:extLst>
                <a:ext uri="{FF2B5EF4-FFF2-40B4-BE49-F238E27FC236}">
                  <a16:creationId xmlns:a16="http://schemas.microsoft.com/office/drawing/2014/main" id="{63F2FFD1-BDD1-1CC4-2BA0-4E0D1E13710F}"/>
                </a:ext>
              </a:extLst>
            </p:cNvPr>
            <p:cNvSpPr/>
            <p:nvPr/>
          </p:nvSpPr>
          <p:spPr>
            <a:xfrm>
              <a:off x="5292080" y="3522608"/>
              <a:ext cx="1296144" cy="1296144"/>
            </a:xfrm>
            <a:prstGeom prst="arc">
              <a:avLst>
                <a:gd name="adj1" fmla="val 20018351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ZoneTexte 77">
                  <a:extLst>
                    <a:ext uri="{FF2B5EF4-FFF2-40B4-BE49-F238E27FC236}">
                      <a16:creationId xmlns:a16="http://schemas.microsoft.com/office/drawing/2014/main" id="{74461E32-D07E-D8CB-8572-F28BC5CE35E4}"/>
                    </a:ext>
                  </a:extLst>
                </p:cNvPr>
                <p:cNvSpPr txBox="1"/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1" name="ZoneTexte 14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blipFill rotWithShape="1"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ZoneTexte 78">
                  <a:extLst>
                    <a:ext uri="{FF2B5EF4-FFF2-40B4-BE49-F238E27FC236}">
                      <a16:creationId xmlns:a16="http://schemas.microsoft.com/office/drawing/2014/main" id="{38B6B8FA-AD3E-36D4-665F-804F3106D264}"/>
                    </a:ext>
                  </a:extLst>
                </p:cNvPr>
                <p:cNvSpPr txBox="1"/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2" name="ZoneTexte 14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blipFill rotWithShape="1"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ZoneTexte 79">
                  <a:extLst>
                    <a:ext uri="{FF2B5EF4-FFF2-40B4-BE49-F238E27FC236}">
                      <a16:creationId xmlns:a16="http://schemas.microsoft.com/office/drawing/2014/main" id="{13D01B7F-B745-A8E2-6256-44FDF05A4516}"/>
                    </a:ext>
                  </a:extLst>
                </p:cNvPr>
                <p:cNvSpPr txBox="1"/>
                <p:nvPr/>
              </p:nvSpPr>
              <p:spPr>
                <a:xfrm>
                  <a:off x="6435685" y="3548045"/>
                  <a:ext cx="3723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4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3" name="ZoneTexte 14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685" y="3548045"/>
                  <a:ext cx="372345" cy="276999"/>
                </a:xfrm>
                <a:prstGeom prst="rect">
                  <a:avLst/>
                </a:prstGeom>
                <a:blipFill rotWithShape="1"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ZoneTexte 80">
                  <a:extLst>
                    <a:ext uri="{FF2B5EF4-FFF2-40B4-BE49-F238E27FC236}">
                      <a16:creationId xmlns:a16="http://schemas.microsoft.com/office/drawing/2014/main" id="{41362344-CBB4-6608-1458-C2076362C3B0}"/>
                    </a:ext>
                  </a:extLst>
                </p:cNvPr>
                <p:cNvSpPr txBox="1"/>
                <p:nvPr/>
              </p:nvSpPr>
              <p:spPr>
                <a:xfrm>
                  <a:off x="5262233" y="3356339"/>
                  <a:ext cx="36734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4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4" name="ZoneTexte 14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2233" y="3356339"/>
                  <a:ext cx="367344" cy="276999"/>
                </a:xfrm>
                <a:prstGeom prst="rect">
                  <a:avLst/>
                </a:prstGeom>
                <a:blipFill rotWithShape="1"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ZoneTexte 81">
                  <a:extLst>
                    <a:ext uri="{FF2B5EF4-FFF2-40B4-BE49-F238E27FC236}">
                      <a16:creationId xmlns:a16="http://schemas.microsoft.com/office/drawing/2014/main" id="{CF1F85F9-1F46-9DFB-9F49-7E552C595936}"/>
                    </a:ext>
                  </a:extLst>
                </p:cNvPr>
                <p:cNvSpPr txBox="1"/>
                <p:nvPr/>
              </p:nvSpPr>
              <p:spPr>
                <a:xfrm>
                  <a:off x="6531285" y="3829601"/>
                  <a:ext cx="34657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𝜃</m:t>
                        </m:r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5" name="ZoneTexte 14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285" y="3829601"/>
                  <a:ext cx="346570" cy="276999"/>
                </a:xfrm>
                <a:prstGeom prst="rect">
                  <a:avLst/>
                </a:prstGeom>
                <a:blipFill rotWithShape="1"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ZoneTexte 82">
                  <a:extLst>
                    <a:ext uri="{FF2B5EF4-FFF2-40B4-BE49-F238E27FC236}">
                      <a16:creationId xmlns:a16="http://schemas.microsoft.com/office/drawing/2014/main" id="{CAE94D89-85A5-5795-746F-A03E73FD7CDF}"/>
                    </a:ext>
                  </a:extLst>
                </p:cNvPr>
                <p:cNvSpPr txBox="1"/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6" name="ZoneTexte 14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blipFill rotWithShape="1"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4" name="Ellipse 83">
              <a:extLst>
                <a:ext uri="{FF2B5EF4-FFF2-40B4-BE49-F238E27FC236}">
                  <a16:creationId xmlns:a16="http://schemas.microsoft.com/office/drawing/2014/main" id="{E619B2F7-C5AF-96C2-A6F5-99C182D26FF2}"/>
                </a:ext>
              </a:extLst>
            </p:cNvPr>
            <p:cNvSpPr/>
            <p:nvPr/>
          </p:nvSpPr>
          <p:spPr>
            <a:xfrm>
              <a:off x="5853398" y="4069873"/>
              <a:ext cx="158762" cy="158762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5" name="Ellipse 84">
              <a:extLst>
                <a:ext uri="{FF2B5EF4-FFF2-40B4-BE49-F238E27FC236}">
                  <a16:creationId xmlns:a16="http://schemas.microsoft.com/office/drawing/2014/main" id="{8B0ED3BE-D3A2-8D4B-8C6F-1D252FBB9E32}"/>
                </a:ext>
              </a:extLst>
            </p:cNvPr>
            <p:cNvSpPr/>
            <p:nvPr/>
          </p:nvSpPr>
          <p:spPr>
            <a:xfrm flipV="1">
              <a:off x="5905779" y="4122254"/>
              <a:ext cx="54000" cy="54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138" name="Groupe 137">
            <a:extLst>
              <a:ext uri="{FF2B5EF4-FFF2-40B4-BE49-F238E27FC236}">
                <a16:creationId xmlns:a16="http://schemas.microsoft.com/office/drawing/2014/main" id="{36EEDDD4-2DD2-B9F2-E5B9-44CC129CFF9B}"/>
              </a:ext>
            </a:extLst>
          </p:cNvPr>
          <p:cNvGrpSpPr/>
          <p:nvPr/>
        </p:nvGrpSpPr>
        <p:grpSpPr>
          <a:xfrm>
            <a:off x="-165908" y="1447512"/>
            <a:ext cx="5527681" cy="5122785"/>
            <a:chOff x="-165908" y="1447512"/>
            <a:chExt cx="5527681" cy="5122785"/>
          </a:xfrm>
        </p:grpSpPr>
        <p:sp>
          <p:nvSpPr>
            <p:cNvPr id="4" name="Forme libre 17">
              <a:extLst>
                <a:ext uri="{FF2B5EF4-FFF2-40B4-BE49-F238E27FC236}">
                  <a16:creationId xmlns:a16="http://schemas.microsoft.com/office/drawing/2014/main" id="{697E442E-9650-E826-1EAF-0AEC602FD0C9}"/>
                </a:ext>
              </a:extLst>
            </p:cNvPr>
            <p:cNvSpPr/>
            <p:nvPr/>
          </p:nvSpPr>
          <p:spPr>
            <a:xfrm>
              <a:off x="558800" y="5618480"/>
              <a:ext cx="998220" cy="147567"/>
            </a:xfrm>
            <a:custGeom>
              <a:avLst/>
              <a:gdLst>
                <a:gd name="connsiteX0" fmla="*/ 0 w 998220"/>
                <a:gd name="connsiteY0" fmla="*/ 7620 h 147567"/>
                <a:gd name="connsiteX1" fmla="*/ 220980 w 998220"/>
                <a:gd name="connsiteY1" fmla="*/ 144780 h 147567"/>
                <a:gd name="connsiteX2" fmla="*/ 457200 w 998220"/>
                <a:gd name="connsiteY2" fmla="*/ 99060 h 147567"/>
                <a:gd name="connsiteX3" fmla="*/ 807720 w 998220"/>
                <a:gd name="connsiteY3" fmla="*/ 144780 h 147567"/>
                <a:gd name="connsiteX4" fmla="*/ 998220 w 998220"/>
                <a:gd name="connsiteY4" fmla="*/ 0 h 147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98220" h="147567">
                  <a:moveTo>
                    <a:pt x="0" y="7620"/>
                  </a:moveTo>
                  <a:cubicBezTo>
                    <a:pt x="72390" y="68580"/>
                    <a:pt x="144780" y="129540"/>
                    <a:pt x="220980" y="144780"/>
                  </a:cubicBezTo>
                  <a:cubicBezTo>
                    <a:pt x="297180" y="160020"/>
                    <a:pt x="359410" y="99060"/>
                    <a:pt x="457200" y="99060"/>
                  </a:cubicBezTo>
                  <a:cubicBezTo>
                    <a:pt x="554990" y="99060"/>
                    <a:pt x="717550" y="161290"/>
                    <a:pt x="807720" y="144780"/>
                  </a:cubicBezTo>
                  <a:cubicBezTo>
                    <a:pt x="897890" y="128270"/>
                    <a:pt x="948055" y="64135"/>
                    <a:pt x="998220" y="0"/>
                  </a:cubicBezTo>
                </a:path>
              </a:pathLst>
            </a:cu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Arc 4">
              <a:extLst>
                <a:ext uri="{FF2B5EF4-FFF2-40B4-BE49-F238E27FC236}">
                  <a16:creationId xmlns:a16="http://schemas.microsoft.com/office/drawing/2014/main" id="{CD891EBD-6F18-DDA2-0677-548D2612FE7E}"/>
                </a:ext>
              </a:extLst>
            </p:cNvPr>
            <p:cNvSpPr/>
            <p:nvPr/>
          </p:nvSpPr>
          <p:spPr>
            <a:xfrm>
              <a:off x="75980" y="3370477"/>
              <a:ext cx="3199820" cy="3199820"/>
            </a:xfrm>
            <a:prstGeom prst="arc">
              <a:avLst>
                <a:gd name="adj1" fmla="val 15985282"/>
                <a:gd name="adj2" fmla="val 20640091"/>
              </a:avLst>
            </a:prstGeom>
            <a:ln w="9525">
              <a:solidFill>
                <a:srgbClr val="7030A0"/>
              </a:solidFill>
              <a:prstDash val="lgDashDot"/>
              <a:headEnd type="none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6" name="Connecteur droit avec flèche 5">
              <a:extLst>
                <a:ext uri="{FF2B5EF4-FFF2-40B4-BE49-F238E27FC236}">
                  <a16:creationId xmlns:a16="http://schemas.microsoft.com/office/drawing/2014/main" id="{BBF9ABCB-FB39-7582-628F-FF2675545471}"/>
                </a:ext>
              </a:extLst>
            </p:cNvPr>
            <p:cNvCxnSpPr/>
            <p:nvPr/>
          </p:nvCxnSpPr>
          <p:spPr>
            <a:xfrm flipV="1">
              <a:off x="340956" y="2649220"/>
              <a:ext cx="872735" cy="72933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eur droit avec flèche 6">
              <a:extLst>
                <a:ext uri="{FF2B5EF4-FFF2-40B4-BE49-F238E27FC236}">
                  <a16:creationId xmlns:a16="http://schemas.microsoft.com/office/drawing/2014/main" id="{087BC8B3-45FC-E5C3-F542-749A390C0C2F}"/>
                </a:ext>
              </a:extLst>
            </p:cNvPr>
            <p:cNvCxnSpPr/>
            <p:nvPr/>
          </p:nvCxnSpPr>
          <p:spPr>
            <a:xfrm>
              <a:off x="340956" y="3369331"/>
              <a:ext cx="1759207" cy="210511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eur droit avec flèche 7">
              <a:extLst>
                <a:ext uri="{FF2B5EF4-FFF2-40B4-BE49-F238E27FC236}">
                  <a16:creationId xmlns:a16="http://schemas.microsoft.com/office/drawing/2014/main" id="{1C3DF8A5-C6D6-CB5C-4202-5BDE080027E3}"/>
                </a:ext>
              </a:extLst>
            </p:cNvPr>
            <p:cNvCxnSpPr>
              <a:stCxn id="12" idx="7"/>
            </p:cNvCxnSpPr>
            <p:nvPr/>
          </p:nvCxnSpPr>
          <p:spPr>
            <a:xfrm flipV="1">
              <a:off x="1778895" y="1586012"/>
              <a:ext cx="3210533" cy="3282541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eur droit avec flèche 8">
              <a:extLst>
                <a:ext uri="{FF2B5EF4-FFF2-40B4-BE49-F238E27FC236}">
                  <a16:creationId xmlns:a16="http://schemas.microsoft.com/office/drawing/2014/main" id="{01383E87-550B-E1A4-0C76-38F0A77CA100}"/>
                </a:ext>
              </a:extLst>
            </p:cNvPr>
            <p:cNvCxnSpPr/>
            <p:nvPr/>
          </p:nvCxnSpPr>
          <p:spPr>
            <a:xfrm>
              <a:off x="340956" y="3386216"/>
              <a:ext cx="3208312" cy="607959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A1A12714-EEF6-A821-22A4-9C81DC4A5EE9}"/>
                </a:ext>
              </a:extLst>
            </p:cNvPr>
            <p:cNvCxnSpPr/>
            <p:nvPr/>
          </p:nvCxnSpPr>
          <p:spPr>
            <a:xfrm flipH="1">
              <a:off x="2820033" y="3538616"/>
              <a:ext cx="32219" cy="171575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6BF7D29A-3339-BCC2-5610-61A53C8EB4B5}"/>
                </a:ext>
              </a:extLst>
            </p:cNvPr>
            <p:cNvCxnSpPr/>
            <p:nvPr/>
          </p:nvCxnSpPr>
          <p:spPr>
            <a:xfrm flipH="1">
              <a:off x="1994989" y="3386216"/>
              <a:ext cx="32219" cy="171575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F70A3F61-F343-6220-B930-0DB0532781E0}"/>
                </a:ext>
              </a:extLst>
            </p:cNvPr>
            <p:cNvSpPr/>
            <p:nvPr/>
          </p:nvSpPr>
          <p:spPr>
            <a:xfrm>
              <a:off x="1533044" y="4826372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3" name="Connecteur droit 12">
              <a:extLst>
                <a:ext uri="{FF2B5EF4-FFF2-40B4-BE49-F238E27FC236}">
                  <a16:creationId xmlns:a16="http://schemas.microsoft.com/office/drawing/2014/main" id="{C84BFF19-F50A-79B4-A353-22B03D0FD807}"/>
                </a:ext>
              </a:extLst>
            </p:cNvPr>
            <p:cNvCxnSpPr>
              <a:stCxn id="25" idx="4"/>
            </p:cNvCxnSpPr>
            <p:nvPr/>
          </p:nvCxnSpPr>
          <p:spPr>
            <a:xfrm>
              <a:off x="340956" y="3530228"/>
              <a:ext cx="0" cy="2088232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eur droit 13">
              <a:extLst>
                <a:ext uri="{FF2B5EF4-FFF2-40B4-BE49-F238E27FC236}">
                  <a16:creationId xmlns:a16="http://schemas.microsoft.com/office/drawing/2014/main" id="{3BE766AF-84E7-E75C-6493-D5AB18DD6C38}"/>
                </a:ext>
              </a:extLst>
            </p:cNvPr>
            <p:cNvCxnSpPr>
              <a:endCxn id="12" idx="4"/>
            </p:cNvCxnSpPr>
            <p:nvPr/>
          </p:nvCxnSpPr>
          <p:spPr>
            <a:xfrm flipV="1">
              <a:off x="1677060" y="5114404"/>
              <a:ext cx="0" cy="50405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eur droit 14">
              <a:extLst>
                <a:ext uri="{FF2B5EF4-FFF2-40B4-BE49-F238E27FC236}">
                  <a16:creationId xmlns:a16="http://schemas.microsoft.com/office/drawing/2014/main" id="{BFC676BC-A2F8-C3B2-9880-DC27E966CCD9}"/>
                </a:ext>
              </a:extLst>
            </p:cNvPr>
            <p:cNvCxnSpPr/>
            <p:nvPr/>
          </p:nvCxnSpPr>
          <p:spPr>
            <a:xfrm flipH="1">
              <a:off x="340956" y="5618460"/>
              <a:ext cx="133610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eur droit 15">
              <a:extLst>
                <a:ext uri="{FF2B5EF4-FFF2-40B4-BE49-F238E27FC236}">
                  <a16:creationId xmlns:a16="http://schemas.microsoft.com/office/drawing/2014/main" id="{E72E79E7-85DA-5C72-1DC3-855635F9B398}"/>
                </a:ext>
              </a:extLst>
            </p:cNvPr>
            <p:cNvCxnSpPr/>
            <p:nvPr/>
          </p:nvCxnSpPr>
          <p:spPr>
            <a:xfrm>
              <a:off x="537671" y="3422098"/>
              <a:ext cx="1152128" cy="216435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eur droit 16">
              <a:extLst>
                <a:ext uri="{FF2B5EF4-FFF2-40B4-BE49-F238E27FC236}">
                  <a16:creationId xmlns:a16="http://schemas.microsoft.com/office/drawing/2014/main" id="{D57D40DB-D77D-66B4-8A03-989009CFCFD8}"/>
                </a:ext>
              </a:extLst>
            </p:cNvPr>
            <p:cNvCxnSpPr>
              <a:stCxn id="34" idx="2"/>
              <a:endCxn id="12" idx="7"/>
            </p:cNvCxnSpPr>
            <p:nvPr/>
          </p:nvCxnSpPr>
          <p:spPr>
            <a:xfrm flipH="1">
              <a:off x="1778895" y="2445572"/>
              <a:ext cx="2388598" cy="2422981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2C8E0B08-BA30-55D2-0E77-8D7DE0BB6BEC}"/>
                </a:ext>
              </a:extLst>
            </p:cNvPr>
            <p:cNvSpPr/>
            <p:nvPr/>
          </p:nvSpPr>
          <p:spPr>
            <a:xfrm>
              <a:off x="2641942" y="3706143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4B0321C-CAF7-2712-901D-82CEB73345DE}"/>
                </a:ext>
              </a:extLst>
            </p:cNvPr>
            <p:cNvSpPr/>
            <p:nvPr/>
          </p:nvSpPr>
          <p:spPr>
            <a:xfrm rot="647236">
              <a:off x="719766" y="3366786"/>
              <a:ext cx="576000" cy="288000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0" name="Connecteur droit 19">
              <a:extLst>
                <a:ext uri="{FF2B5EF4-FFF2-40B4-BE49-F238E27FC236}">
                  <a16:creationId xmlns:a16="http://schemas.microsoft.com/office/drawing/2014/main" id="{5DF080D9-DF3B-BCB8-C9A3-761BC9EDF36F}"/>
                </a:ext>
              </a:extLst>
            </p:cNvPr>
            <p:cNvCxnSpPr/>
            <p:nvPr/>
          </p:nvCxnSpPr>
          <p:spPr>
            <a:xfrm>
              <a:off x="409264" y="3088948"/>
              <a:ext cx="669043" cy="125684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286FA765-BA90-292E-E2C2-4F869B786EBF}"/>
                </a:ext>
              </a:extLst>
            </p:cNvPr>
            <p:cNvCxnSpPr>
              <a:endCxn id="19" idx="0"/>
            </p:cNvCxnSpPr>
            <p:nvPr/>
          </p:nvCxnSpPr>
          <p:spPr>
            <a:xfrm flipH="1">
              <a:off x="1034717" y="3197756"/>
              <a:ext cx="32219" cy="171575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8427820B-A798-8588-01D3-06078CC73881}"/>
                </a:ext>
              </a:extLst>
            </p:cNvPr>
            <p:cNvCxnSpPr/>
            <p:nvPr/>
          </p:nvCxnSpPr>
          <p:spPr>
            <a:xfrm flipH="1">
              <a:off x="650091" y="3315427"/>
              <a:ext cx="50687" cy="269928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52FD3197-E6FA-D904-1D20-35C4E770AC7E}"/>
                </a:ext>
              </a:extLst>
            </p:cNvPr>
            <p:cNvCxnSpPr/>
            <p:nvPr/>
          </p:nvCxnSpPr>
          <p:spPr>
            <a:xfrm flipH="1">
              <a:off x="1311649" y="3447103"/>
              <a:ext cx="50687" cy="269928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28EAAA1C-4EF5-7128-18E4-E51619DC6C56}"/>
                </a:ext>
              </a:extLst>
            </p:cNvPr>
            <p:cNvCxnSpPr/>
            <p:nvPr/>
          </p:nvCxnSpPr>
          <p:spPr>
            <a:xfrm flipH="1">
              <a:off x="378032" y="3075872"/>
              <a:ext cx="31232" cy="166324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23B2D2C8-DF53-1B9A-572D-E403F841C2B7}"/>
                </a:ext>
              </a:extLst>
            </p:cNvPr>
            <p:cNvSpPr/>
            <p:nvPr/>
          </p:nvSpPr>
          <p:spPr>
            <a:xfrm>
              <a:off x="196940" y="3242196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6" name="Connecteur droit 25">
              <a:extLst>
                <a:ext uri="{FF2B5EF4-FFF2-40B4-BE49-F238E27FC236}">
                  <a16:creationId xmlns:a16="http://schemas.microsoft.com/office/drawing/2014/main" id="{333F867B-6109-243C-790A-3659DB07B02A}"/>
                </a:ext>
              </a:extLst>
            </p:cNvPr>
            <p:cNvCxnSpPr/>
            <p:nvPr/>
          </p:nvCxnSpPr>
          <p:spPr>
            <a:xfrm>
              <a:off x="2027208" y="3383990"/>
              <a:ext cx="825044" cy="154990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7" name="Groupe 26">
              <a:extLst>
                <a:ext uri="{FF2B5EF4-FFF2-40B4-BE49-F238E27FC236}">
                  <a16:creationId xmlns:a16="http://schemas.microsoft.com/office/drawing/2014/main" id="{BF26DE70-C43E-4936-5646-D0A58CAB000A}"/>
                </a:ext>
              </a:extLst>
            </p:cNvPr>
            <p:cNvGrpSpPr/>
            <p:nvPr/>
          </p:nvGrpSpPr>
          <p:grpSpPr>
            <a:xfrm rot="604479">
              <a:off x="1682979" y="3565422"/>
              <a:ext cx="576000" cy="288000"/>
              <a:chOff x="2811353" y="2007187"/>
              <a:chExt cx="576000" cy="28800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4175AA89-C894-CC3A-0B49-577E1023CAE9}"/>
                  </a:ext>
                </a:extLst>
              </p:cNvPr>
              <p:cNvSpPr/>
              <p:nvPr/>
            </p:nvSpPr>
            <p:spPr>
              <a:xfrm>
                <a:off x="2811353" y="2007187"/>
                <a:ext cx="576000" cy="288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Arc 28">
                <a:extLst>
                  <a:ext uri="{FF2B5EF4-FFF2-40B4-BE49-F238E27FC236}">
                    <a16:creationId xmlns:a16="http://schemas.microsoft.com/office/drawing/2014/main" id="{ED259E14-E12D-1250-278E-A91FD2C25CB9}"/>
                  </a:ext>
                </a:extLst>
              </p:cNvPr>
              <p:cNvSpPr/>
              <p:nvPr/>
            </p:nvSpPr>
            <p:spPr>
              <a:xfrm>
                <a:off x="2811353" y="2079187"/>
                <a:ext cx="144000" cy="144000"/>
              </a:xfrm>
              <a:prstGeom prst="arc">
                <a:avLst>
                  <a:gd name="adj1" fmla="val 10925641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30" name="Arc 29">
                <a:extLst>
                  <a:ext uri="{FF2B5EF4-FFF2-40B4-BE49-F238E27FC236}">
                    <a16:creationId xmlns:a16="http://schemas.microsoft.com/office/drawing/2014/main" id="{43F875C3-A704-3FF7-E213-681D301A0CB9}"/>
                  </a:ext>
                </a:extLst>
              </p:cNvPr>
              <p:cNvSpPr/>
              <p:nvPr/>
            </p:nvSpPr>
            <p:spPr>
              <a:xfrm rot="10800000">
                <a:off x="2955353" y="2079187"/>
                <a:ext cx="144000" cy="144000"/>
              </a:xfrm>
              <a:prstGeom prst="arc">
                <a:avLst>
                  <a:gd name="adj1" fmla="val 10925641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31" name="Arc 30">
                <a:extLst>
                  <a:ext uri="{FF2B5EF4-FFF2-40B4-BE49-F238E27FC236}">
                    <a16:creationId xmlns:a16="http://schemas.microsoft.com/office/drawing/2014/main" id="{078DAC7B-60BD-0EFE-C670-D45E4FA5E5D9}"/>
                  </a:ext>
                </a:extLst>
              </p:cNvPr>
              <p:cNvSpPr/>
              <p:nvPr/>
            </p:nvSpPr>
            <p:spPr>
              <a:xfrm>
                <a:off x="3099353" y="2079188"/>
                <a:ext cx="144000" cy="144000"/>
              </a:xfrm>
              <a:prstGeom prst="arc">
                <a:avLst>
                  <a:gd name="adj1" fmla="val 10087325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32" name="Arc 31">
                <a:extLst>
                  <a:ext uri="{FF2B5EF4-FFF2-40B4-BE49-F238E27FC236}">
                    <a16:creationId xmlns:a16="http://schemas.microsoft.com/office/drawing/2014/main" id="{2398C4E5-D80A-9D6F-B0CC-2581D8B1EFE9}"/>
                  </a:ext>
                </a:extLst>
              </p:cNvPr>
              <p:cNvSpPr/>
              <p:nvPr/>
            </p:nvSpPr>
            <p:spPr>
              <a:xfrm rot="10800000">
                <a:off x="3243353" y="2079188"/>
                <a:ext cx="144000" cy="144000"/>
              </a:xfrm>
              <a:prstGeom prst="arc">
                <a:avLst>
                  <a:gd name="adj1" fmla="val 10925641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</p:grpSp>
        <p:cxnSp>
          <p:nvCxnSpPr>
            <p:cNvPr id="33" name="Connecteur droit 32">
              <a:extLst>
                <a:ext uri="{FF2B5EF4-FFF2-40B4-BE49-F238E27FC236}">
                  <a16:creationId xmlns:a16="http://schemas.microsoft.com/office/drawing/2014/main" id="{685E5AF4-CB59-EF32-E912-C4C7B8FA0A41}"/>
                </a:ext>
              </a:extLst>
            </p:cNvPr>
            <p:cNvCxnSpPr/>
            <p:nvPr/>
          </p:nvCxnSpPr>
          <p:spPr>
            <a:xfrm>
              <a:off x="2267133" y="3754969"/>
              <a:ext cx="134963" cy="25343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E3361B41-7F4B-8E3C-9F54-CFECF376E99C}"/>
                </a:ext>
              </a:extLst>
            </p:cNvPr>
            <p:cNvSpPr/>
            <p:nvPr/>
          </p:nvSpPr>
          <p:spPr>
            <a:xfrm rot="2700000">
              <a:off x="3981316" y="2199749"/>
              <a:ext cx="576000" cy="28800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5" name="ZoneTexte 34">
                  <a:extLst>
                    <a:ext uri="{FF2B5EF4-FFF2-40B4-BE49-F238E27FC236}">
                      <a16:creationId xmlns:a16="http://schemas.microsoft.com/office/drawing/2014/main" id="{36E2DB71-7CBB-1AE9-4304-487192E10922}"/>
                    </a:ext>
                  </a:extLst>
                </p:cNvPr>
                <p:cNvSpPr txBox="1"/>
                <p:nvPr/>
              </p:nvSpPr>
              <p:spPr>
                <a:xfrm>
                  <a:off x="-156619" y="3247716"/>
                  <a:ext cx="31919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𝐴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>
            <p:sp>
              <p:nvSpPr>
                <p:cNvPr id="35" name="ZoneTexte 34">
                  <a:extLst>
                    <a:ext uri="{FF2B5EF4-FFF2-40B4-BE49-F238E27FC236}">
                      <a16:creationId xmlns:a16="http://schemas.microsoft.com/office/drawing/2014/main" id="{36E2DB71-7CBB-1AE9-4304-487192E109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56619" y="3247716"/>
                  <a:ext cx="319190" cy="276999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ZoneTexte 35">
                  <a:extLst>
                    <a:ext uri="{FF2B5EF4-FFF2-40B4-BE49-F238E27FC236}">
                      <a16:creationId xmlns:a16="http://schemas.microsoft.com/office/drawing/2014/main" id="{A5324070-F84C-FB18-8508-E19B88D3BF73}"/>
                    </a:ext>
                  </a:extLst>
                </p:cNvPr>
                <p:cNvSpPr txBox="1"/>
                <p:nvPr/>
              </p:nvSpPr>
              <p:spPr>
                <a:xfrm>
                  <a:off x="794545" y="3663723"/>
                  <a:ext cx="32502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𝐵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>
            <p:sp>
              <p:nvSpPr>
                <p:cNvPr id="36" name="ZoneTexte 35">
                  <a:extLst>
                    <a:ext uri="{FF2B5EF4-FFF2-40B4-BE49-F238E27FC236}">
                      <a16:creationId xmlns:a16="http://schemas.microsoft.com/office/drawing/2014/main" id="{A5324070-F84C-FB18-8508-E19B88D3BF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4545" y="3663723"/>
                  <a:ext cx="325024" cy="276999"/>
                </a:xfrm>
                <a:prstGeom prst="rect">
                  <a:avLst/>
                </a:prstGeom>
                <a:blipFill>
                  <a:blip r:embed="rId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7" name="ZoneTexte 36">
                  <a:extLst>
                    <a:ext uri="{FF2B5EF4-FFF2-40B4-BE49-F238E27FC236}">
                      <a16:creationId xmlns:a16="http://schemas.microsoft.com/office/drawing/2014/main" id="{37734F40-727D-70E0-3BB4-73A5F8056239}"/>
                    </a:ext>
                  </a:extLst>
                </p:cNvPr>
                <p:cNvSpPr txBox="1"/>
                <p:nvPr/>
              </p:nvSpPr>
              <p:spPr>
                <a:xfrm>
                  <a:off x="2957764" y="3685146"/>
                  <a:ext cx="31803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𝐶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>
            <p:sp>
              <p:nvSpPr>
                <p:cNvPr id="37" name="ZoneTexte 36">
                  <a:extLst>
                    <a:ext uri="{FF2B5EF4-FFF2-40B4-BE49-F238E27FC236}">
                      <a16:creationId xmlns:a16="http://schemas.microsoft.com/office/drawing/2014/main" id="{37734F40-727D-70E0-3BB4-73A5F80562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57764" y="3685146"/>
                  <a:ext cx="318036" cy="276999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" name="ZoneTexte 37">
                  <a:extLst>
                    <a:ext uri="{FF2B5EF4-FFF2-40B4-BE49-F238E27FC236}">
                      <a16:creationId xmlns:a16="http://schemas.microsoft.com/office/drawing/2014/main" id="{D7F4F202-82F0-1120-329F-68E1DFFC3287}"/>
                    </a:ext>
                  </a:extLst>
                </p:cNvPr>
                <p:cNvSpPr txBox="1"/>
                <p:nvPr/>
              </p:nvSpPr>
              <p:spPr>
                <a:xfrm>
                  <a:off x="1497119" y="4548217"/>
                  <a:ext cx="330219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𝐷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>
            <p:sp>
              <p:nvSpPr>
                <p:cNvPr id="38" name="ZoneTexte 37">
                  <a:extLst>
                    <a:ext uri="{FF2B5EF4-FFF2-40B4-BE49-F238E27FC236}">
                      <a16:creationId xmlns:a16="http://schemas.microsoft.com/office/drawing/2014/main" id="{D7F4F202-82F0-1120-329F-68E1DFFC32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7119" y="4548217"/>
                  <a:ext cx="330219" cy="276999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Ellipse 38">
              <a:extLst>
                <a:ext uri="{FF2B5EF4-FFF2-40B4-BE49-F238E27FC236}">
                  <a16:creationId xmlns:a16="http://schemas.microsoft.com/office/drawing/2014/main" id="{92B2E61C-0A4F-8BB3-01A7-4335E6F3C574}"/>
                </a:ext>
              </a:extLst>
            </p:cNvPr>
            <p:cNvSpPr/>
            <p:nvPr/>
          </p:nvSpPr>
          <p:spPr>
            <a:xfrm>
              <a:off x="-833" y="5330428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40" name="Ellipse 39">
              <a:extLst>
                <a:ext uri="{FF2B5EF4-FFF2-40B4-BE49-F238E27FC236}">
                  <a16:creationId xmlns:a16="http://schemas.microsoft.com/office/drawing/2014/main" id="{A7AC95E5-04B0-0CAF-5FF2-9F21D67DF6D2}"/>
                </a:ext>
              </a:extLst>
            </p:cNvPr>
            <p:cNvSpPr/>
            <p:nvPr/>
          </p:nvSpPr>
          <p:spPr>
            <a:xfrm>
              <a:off x="234016" y="2747659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00B050"/>
                  </a:solidFill>
                </a:rPr>
                <a:t>1</a:t>
              </a:r>
            </a:p>
          </p:txBody>
        </p:sp>
        <p:sp>
          <p:nvSpPr>
            <p:cNvPr id="41" name="Ellipse 40">
              <a:extLst>
                <a:ext uri="{FF2B5EF4-FFF2-40B4-BE49-F238E27FC236}">
                  <a16:creationId xmlns:a16="http://schemas.microsoft.com/office/drawing/2014/main" id="{ED84DDD3-AFF2-1EA4-AFAE-A3C7F5E8F4B7}"/>
                </a:ext>
              </a:extLst>
            </p:cNvPr>
            <p:cNvSpPr/>
            <p:nvPr/>
          </p:nvSpPr>
          <p:spPr>
            <a:xfrm>
              <a:off x="1379341" y="3212000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0070C0"/>
                  </a:solidFill>
                </a:rPr>
                <a:t>2</a:t>
              </a:r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39E06F63-2CE7-73F4-663D-3B82CEF88CEA}"/>
                </a:ext>
              </a:extLst>
            </p:cNvPr>
            <p:cNvSpPr/>
            <p:nvPr/>
          </p:nvSpPr>
          <p:spPr>
            <a:xfrm>
              <a:off x="2333628" y="3127424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FFC000"/>
                  </a:solidFill>
                </a:rPr>
                <a:t>3</a:t>
              </a:r>
            </a:p>
          </p:txBody>
        </p:sp>
        <p:sp>
          <p:nvSpPr>
            <p:cNvPr id="43" name="Ellipse 42">
              <a:extLst>
                <a:ext uri="{FF2B5EF4-FFF2-40B4-BE49-F238E27FC236}">
                  <a16:creationId xmlns:a16="http://schemas.microsoft.com/office/drawing/2014/main" id="{0830CA70-004E-830A-CF51-4A80BF53949A}"/>
                </a:ext>
              </a:extLst>
            </p:cNvPr>
            <p:cNvSpPr/>
            <p:nvPr/>
          </p:nvSpPr>
          <p:spPr>
            <a:xfrm>
              <a:off x="3629990" y="3007774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7030A0"/>
                  </a:solidFill>
                </a:rPr>
                <a:t>4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4" name="ZoneTexte 43">
                  <a:extLst>
                    <a:ext uri="{FF2B5EF4-FFF2-40B4-BE49-F238E27FC236}">
                      <a16:creationId xmlns:a16="http://schemas.microsoft.com/office/drawing/2014/main" id="{627C1760-300F-5770-36F0-093D6E9CAC55}"/>
                    </a:ext>
                  </a:extLst>
                </p:cNvPr>
                <p:cNvSpPr txBox="1"/>
                <p:nvPr/>
              </p:nvSpPr>
              <p:spPr>
                <a:xfrm>
                  <a:off x="3549268" y="3832306"/>
                  <a:ext cx="36875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>
            <p:sp>
              <p:nvSpPr>
                <p:cNvPr id="44" name="ZoneTexte 43">
                  <a:extLst>
                    <a:ext uri="{FF2B5EF4-FFF2-40B4-BE49-F238E27FC236}">
                      <a16:creationId xmlns:a16="http://schemas.microsoft.com/office/drawing/2014/main" id="{627C1760-300F-5770-36F0-093D6E9CAC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49268" y="3832306"/>
                  <a:ext cx="368754" cy="276999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5" name="ZoneTexte 44">
                  <a:extLst>
                    <a:ext uri="{FF2B5EF4-FFF2-40B4-BE49-F238E27FC236}">
                      <a16:creationId xmlns:a16="http://schemas.microsoft.com/office/drawing/2014/main" id="{EBAEE511-7DCF-A511-3FB0-7DCC502B5A55}"/>
                    </a:ext>
                  </a:extLst>
                </p:cNvPr>
                <p:cNvSpPr txBox="1"/>
                <p:nvPr/>
              </p:nvSpPr>
              <p:spPr>
                <a:xfrm>
                  <a:off x="4989428" y="1447512"/>
                  <a:ext cx="3723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4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>
            <p:sp>
              <p:nvSpPr>
                <p:cNvPr id="45" name="ZoneTexte 44">
                  <a:extLst>
                    <a:ext uri="{FF2B5EF4-FFF2-40B4-BE49-F238E27FC236}">
                      <a16:creationId xmlns:a16="http://schemas.microsoft.com/office/drawing/2014/main" id="{EBAEE511-7DCF-A511-3FB0-7DCC502B5A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89428" y="1447512"/>
                  <a:ext cx="372345" cy="276999"/>
                </a:xfrm>
                <a:prstGeom prst="rect">
                  <a:avLst/>
                </a:prstGeom>
                <a:blipFill>
                  <a:blip r:embed="rId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B2B15586-CFC4-BB40-49BD-D27FAF6CD071}"/>
                    </a:ext>
                  </a:extLst>
                </p:cNvPr>
                <p:cNvSpPr txBox="1"/>
                <p:nvPr/>
              </p:nvSpPr>
              <p:spPr>
                <a:xfrm>
                  <a:off x="1998311" y="5479960"/>
                  <a:ext cx="412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B2B15586-CFC4-BB40-49BD-D27FAF6CD0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8311" y="5479960"/>
                  <a:ext cx="412421" cy="276999"/>
                </a:xfrm>
                <a:prstGeom prst="rect">
                  <a:avLst/>
                </a:prstGeom>
                <a:blipFill>
                  <a:blip r:embed="rId3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7" name="ZoneTexte 46">
                  <a:extLst>
                    <a:ext uri="{FF2B5EF4-FFF2-40B4-BE49-F238E27FC236}">
                      <a16:creationId xmlns:a16="http://schemas.microsoft.com/office/drawing/2014/main" id="{DF7BB805-7D74-8B34-8ED0-BF314625F911}"/>
                    </a:ext>
                  </a:extLst>
                </p:cNvPr>
                <p:cNvSpPr txBox="1"/>
                <p:nvPr/>
              </p:nvSpPr>
              <p:spPr>
                <a:xfrm>
                  <a:off x="1229170" y="2510720"/>
                  <a:ext cx="414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>
            <p:sp>
              <p:nvSpPr>
                <p:cNvPr id="47" name="ZoneTexte 46">
                  <a:extLst>
                    <a:ext uri="{FF2B5EF4-FFF2-40B4-BE49-F238E27FC236}">
                      <a16:creationId xmlns:a16="http://schemas.microsoft.com/office/drawing/2014/main" id="{DF7BB805-7D74-8B34-8ED0-BF314625F9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29170" y="2510720"/>
                  <a:ext cx="414023" cy="276999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8" name="Connecteur droit avec flèche 47">
              <a:extLst>
                <a:ext uri="{FF2B5EF4-FFF2-40B4-BE49-F238E27FC236}">
                  <a16:creationId xmlns:a16="http://schemas.microsoft.com/office/drawing/2014/main" id="{60FC7889-A51C-0B19-B67D-46531BD6623B}"/>
                </a:ext>
              </a:extLst>
            </p:cNvPr>
            <p:cNvCxnSpPr>
              <a:stCxn id="12" idx="6"/>
            </p:cNvCxnSpPr>
            <p:nvPr/>
          </p:nvCxnSpPr>
          <p:spPr>
            <a:xfrm>
              <a:off x="1821076" y="4970388"/>
              <a:ext cx="633214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AE41D50F-D79B-2669-6910-27FC2B505F82}"/>
                    </a:ext>
                  </a:extLst>
                </p:cNvPr>
                <p:cNvSpPr txBox="1"/>
                <p:nvPr/>
              </p:nvSpPr>
              <p:spPr>
                <a:xfrm>
                  <a:off x="2477644" y="4826372"/>
                  <a:ext cx="3723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AE41D50F-D79B-2669-6910-27FC2B505F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7644" y="4826372"/>
                  <a:ext cx="372345" cy="276999"/>
                </a:xfrm>
                <a:prstGeom prst="rect">
                  <a:avLst/>
                </a:prstGeom>
                <a:blipFill>
                  <a:blip r:embed="rId3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0" name="Arc 49">
              <a:extLst>
                <a:ext uri="{FF2B5EF4-FFF2-40B4-BE49-F238E27FC236}">
                  <a16:creationId xmlns:a16="http://schemas.microsoft.com/office/drawing/2014/main" id="{5D7B64AC-1E74-F111-9000-26604A2B1719}"/>
                </a:ext>
              </a:extLst>
            </p:cNvPr>
            <p:cNvSpPr/>
            <p:nvPr/>
          </p:nvSpPr>
          <p:spPr>
            <a:xfrm>
              <a:off x="899830" y="4187641"/>
              <a:ext cx="1742112" cy="1742112"/>
            </a:xfrm>
            <a:prstGeom prst="arc">
              <a:avLst>
                <a:gd name="adj1" fmla="val 390941"/>
                <a:gd name="adj2" fmla="val 2517803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1" name="Arc 50">
              <a:extLst>
                <a:ext uri="{FF2B5EF4-FFF2-40B4-BE49-F238E27FC236}">
                  <a16:creationId xmlns:a16="http://schemas.microsoft.com/office/drawing/2014/main" id="{553FC627-DACE-0FF9-4FB1-3DD0F3956C81}"/>
                </a:ext>
              </a:extLst>
            </p:cNvPr>
            <p:cNvSpPr/>
            <p:nvPr/>
          </p:nvSpPr>
          <p:spPr>
            <a:xfrm>
              <a:off x="1118872" y="4421887"/>
              <a:ext cx="1097002" cy="1097002"/>
            </a:xfrm>
            <a:prstGeom prst="arc">
              <a:avLst>
                <a:gd name="adj1" fmla="val 19296342"/>
                <a:gd name="adj2" fmla="val 2408069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2" name="ZoneTexte 51">
                  <a:extLst>
                    <a:ext uri="{FF2B5EF4-FFF2-40B4-BE49-F238E27FC236}">
                      <a16:creationId xmlns:a16="http://schemas.microsoft.com/office/drawing/2014/main" id="{5A265D91-2CCA-73CE-860B-1DAFE6B4EA90}"/>
                    </a:ext>
                  </a:extLst>
                </p:cNvPr>
                <p:cNvSpPr txBox="1"/>
                <p:nvPr/>
              </p:nvSpPr>
              <p:spPr>
                <a:xfrm>
                  <a:off x="2239121" y="4525986"/>
                  <a:ext cx="5039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𝜃</m:t>
                        </m:r>
                        <m:r>
                          <a:rPr lang="fr-FR" sz="1200" b="0" i="1" smtClean="0">
                            <a:latin typeface="Cambria Math"/>
                          </a:rPr>
                          <m:t>(</m:t>
                        </m:r>
                        <m:r>
                          <a:rPr lang="fr-FR" sz="1200" b="0" i="1" smtClean="0">
                            <a:latin typeface="Cambria Math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/>
                          </a:rPr>
                          <m:t>)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>
            <p:sp>
              <p:nvSpPr>
                <p:cNvPr id="52" name="ZoneTexte 51">
                  <a:extLst>
                    <a:ext uri="{FF2B5EF4-FFF2-40B4-BE49-F238E27FC236}">
                      <a16:creationId xmlns:a16="http://schemas.microsoft.com/office/drawing/2014/main" id="{5A265D91-2CCA-73CE-860B-1DAFE6B4EA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39121" y="4525986"/>
                  <a:ext cx="503921" cy="276999"/>
                </a:xfrm>
                <a:prstGeom prst="rect">
                  <a:avLst/>
                </a:prstGeom>
                <a:blipFill>
                  <a:blip r:embed="rId35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3" name="ZoneTexte 52">
                  <a:extLst>
                    <a:ext uri="{FF2B5EF4-FFF2-40B4-BE49-F238E27FC236}">
                      <a16:creationId xmlns:a16="http://schemas.microsoft.com/office/drawing/2014/main" id="{E3320050-FAC7-A806-7C23-CB5D370B4C35}"/>
                    </a:ext>
                  </a:extLst>
                </p:cNvPr>
                <p:cNvSpPr txBox="1"/>
                <p:nvPr/>
              </p:nvSpPr>
              <p:spPr>
                <a:xfrm>
                  <a:off x="2076238" y="5089433"/>
                  <a:ext cx="553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b="0" i="1" smtClean="0">
                                <a:latin typeface="Cambria Math"/>
                              </a:rPr>
                              <m:t>𝜃</m:t>
                            </m:r>
                          </m:e>
                          <m:sup>
                            <m:r>
                              <a:rPr lang="fr-FR" sz="1200" b="0" i="1" smtClean="0">
                                <a:latin typeface="Cambria Math"/>
                              </a:rPr>
                              <m:t>′</m:t>
                            </m:r>
                          </m:sup>
                        </m:sSup>
                        <m:r>
                          <a:rPr lang="fr-FR" sz="1200" b="0" i="1" smtClean="0">
                            <a:latin typeface="Cambria Math"/>
                          </a:rPr>
                          <m:t>(</m:t>
                        </m:r>
                        <m:r>
                          <a:rPr lang="fr-FR" sz="1200" b="0" i="1" smtClean="0">
                            <a:latin typeface="Cambria Math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/>
                          </a:rPr>
                          <m:t>)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>
            <p:sp>
              <p:nvSpPr>
                <p:cNvPr id="53" name="ZoneTexte 52">
                  <a:extLst>
                    <a:ext uri="{FF2B5EF4-FFF2-40B4-BE49-F238E27FC236}">
                      <a16:creationId xmlns:a16="http://schemas.microsoft.com/office/drawing/2014/main" id="{E3320050-FAC7-A806-7C23-CB5D370B4C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76238" y="5089433"/>
                  <a:ext cx="553421" cy="276999"/>
                </a:xfrm>
                <a:prstGeom prst="rect">
                  <a:avLst/>
                </a:prstGeom>
                <a:blipFill>
                  <a:blip r:embed="rId36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4" name="Arc 53">
              <a:extLst>
                <a:ext uri="{FF2B5EF4-FFF2-40B4-BE49-F238E27FC236}">
                  <a16:creationId xmlns:a16="http://schemas.microsoft.com/office/drawing/2014/main" id="{E1864C67-E381-DE84-12A0-DEBD2723DC89}"/>
                </a:ext>
              </a:extLst>
            </p:cNvPr>
            <p:cNvSpPr/>
            <p:nvPr/>
          </p:nvSpPr>
          <p:spPr>
            <a:xfrm>
              <a:off x="1029799" y="4322316"/>
              <a:ext cx="1296144" cy="1296144"/>
            </a:xfrm>
            <a:prstGeom prst="arc">
              <a:avLst>
                <a:gd name="adj1" fmla="val 19296342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5" name="ZoneTexte 54">
                  <a:extLst>
                    <a:ext uri="{FF2B5EF4-FFF2-40B4-BE49-F238E27FC236}">
                      <a16:creationId xmlns:a16="http://schemas.microsoft.com/office/drawing/2014/main" id="{7C29E426-24EF-A921-F865-0DB867555C68}"/>
                    </a:ext>
                  </a:extLst>
                </p:cNvPr>
                <p:cNvSpPr txBox="1"/>
                <p:nvPr/>
              </p:nvSpPr>
              <p:spPr>
                <a:xfrm>
                  <a:off x="2537598" y="5254345"/>
                  <a:ext cx="31758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𝛼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>
            <p:sp>
              <p:nvSpPr>
                <p:cNvPr id="55" name="ZoneTexte 54">
                  <a:extLst>
                    <a:ext uri="{FF2B5EF4-FFF2-40B4-BE49-F238E27FC236}">
                      <a16:creationId xmlns:a16="http://schemas.microsoft.com/office/drawing/2014/main" id="{7C29E426-24EF-A921-F865-0DB867555C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37598" y="5254345"/>
                  <a:ext cx="317587" cy="276999"/>
                </a:xfrm>
                <a:prstGeom prst="rect">
                  <a:avLst/>
                </a:prstGeom>
                <a:blipFill>
                  <a:blip r:embed="rId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7" name="ZoneTexte 56">
                  <a:extLst>
                    <a:ext uri="{FF2B5EF4-FFF2-40B4-BE49-F238E27FC236}">
                      <a16:creationId xmlns:a16="http://schemas.microsoft.com/office/drawing/2014/main" id="{4A687163-2BB1-F2C8-9534-102A4F95D73C}"/>
                    </a:ext>
                  </a:extLst>
                </p:cNvPr>
                <p:cNvSpPr txBox="1"/>
                <p:nvPr/>
              </p:nvSpPr>
              <p:spPr>
                <a:xfrm>
                  <a:off x="1325606" y="3980500"/>
                  <a:ext cx="31758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𝛽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>
            <p:sp>
              <p:nvSpPr>
                <p:cNvPr id="57" name="ZoneTexte 56">
                  <a:extLst>
                    <a:ext uri="{FF2B5EF4-FFF2-40B4-BE49-F238E27FC236}">
                      <a16:creationId xmlns:a16="http://schemas.microsoft.com/office/drawing/2014/main" id="{4A687163-2BB1-F2C8-9534-102A4F95D7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25606" y="3980500"/>
                  <a:ext cx="317587" cy="276999"/>
                </a:xfrm>
                <a:prstGeom prst="rect">
                  <a:avLst/>
                </a:prstGeom>
                <a:blipFill>
                  <a:blip r:embed="rId38"/>
                  <a:stretch>
                    <a:fillRect b="-4444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0" name="Groupe 89">
              <a:extLst>
                <a:ext uri="{FF2B5EF4-FFF2-40B4-BE49-F238E27FC236}">
                  <a16:creationId xmlns:a16="http://schemas.microsoft.com/office/drawing/2014/main" id="{46E1FF21-1299-59D0-4AB2-020F00239AEB}"/>
                </a:ext>
              </a:extLst>
            </p:cNvPr>
            <p:cNvGrpSpPr/>
            <p:nvPr/>
          </p:nvGrpSpPr>
          <p:grpSpPr>
            <a:xfrm>
              <a:off x="3045212" y="4789848"/>
              <a:ext cx="1889428" cy="913183"/>
              <a:chOff x="6385074" y="4040548"/>
              <a:chExt cx="1889428" cy="913183"/>
            </a:xfrm>
            <a:noFill/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1" name="ZoneTexte 90">
                    <a:extLst>
                      <a:ext uri="{FF2B5EF4-FFF2-40B4-BE49-F238E27FC236}">
                        <a16:creationId xmlns:a16="http://schemas.microsoft.com/office/drawing/2014/main" id="{60F1D485-44BC-567F-3B29-CC1E6BA6993B}"/>
                      </a:ext>
                    </a:extLst>
                  </p:cNvPr>
                  <p:cNvSpPr txBox="1"/>
                  <p:nvPr/>
                </p:nvSpPr>
                <p:spPr>
                  <a:xfrm>
                    <a:off x="6385074" y="4040548"/>
                    <a:ext cx="1889428" cy="300595"/>
                  </a:xfrm>
                  <a:prstGeom prst="rect">
                    <a:avLst/>
                  </a:prstGeom>
                  <a:grp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𝐴𝐷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𝑎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⋅</m:t>
                          </m:r>
                          <m:sSup>
                            <m:sSup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⃗"/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latin typeface="Cambria Math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  <m:sup>
                              <m:r>
                                <a:rPr lang="fr-FR" sz="1200" b="0" i="1" smtClean="0">
                                  <a:latin typeface="Cambria Math"/>
                                </a:rPr>
                                <m:t>′</m:t>
                              </m:r>
                            </m:sup>
                          </m:sSup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𝑐</m:t>
                          </m:r>
                          <m:acc>
                            <m:accPr>
                              <m:chr m:val="⃗"/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53" name="ZoneTexte 15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85074" y="4040548"/>
                    <a:ext cx="1889428" cy="300595"/>
                  </a:xfrm>
                  <a:prstGeom prst="rect">
                    <a:avLst/>
                  </a:prstGeom>
                  <a:blipFill>
                    <a:blip r:embed="rId3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2" name="ZoneTexte 91">
                    <a:extLst>
                      <a:ext uri="{FF2B5EF4-FFF2-40B4-BE49-F238E27FC236}">
                        <a16:creationId xmlns:a16="http://schemas.microsoft.com/office/drawing/2014/main" id="{08759DB4-EE82-60C9-3A3D-84EC7C62663F}"/>
                      </a:ext>
                    </a:extLst>
                  </p:cNvPr>
                  <p:cNvSpPr txBox="1"/>
                  <p:nvPr/>
                </p:nvSpPr>
                <p:spPr>
                  <a:xfrm>
                    <a:off x="6385074" y="4346842"/>
                    <a:ext cx="975587" cy="300595"/>
                  </a:xfrm>
                  <a:prstGeom prst="rect">
                    <a:avLst/>
                  </a:prstGeom>
                  <a:grp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𝐷𝐶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𝑏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4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54" name="ZoneTexte 15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85074" y="4346842"/>
                    <a:ext cx="975587" cy="300595"/>
                  </a:xfrm>
                  <a:prstGeom prst="rect">
                    <a:avLst/>
                  </a:prstGeom>
                  <a:blipFill>
                    <a:blip r:embed="rId4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3" name="ZoneTexte 92">
                    <a:extLst>
                      <a:ext uri="{FF2B5EF4-FFF2-40B4-BE49-F238E27FC236}">
                        <a16:creationId xmlns:a16="http://schemas.microsoft.com/office/drawing/2014/main" id="{9C67464F-E508-56D0-3BD8-6D0A7F63FDAF}"/>
                      </a:ext>
                    </a:extLst>
                  </p:cNvPr>
                  <p:cNvSpPr txBox="1"/>
                  <p:nvPr/>
                </p:nvSpPr>
                <p:spPr>
                  <a:xfrm>
                    <a:off x="6385074" y="4653136"/>
                    <a:ext cx="960006" cy="300595"/>
                  </a:xfrm>
                  <a:prstGeom prst="rect">
                    <a:avLst/>
                  </a:prstGeom>
                  <a:grp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𝐴𝐶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𝜆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55" name="ZoneTexte 15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85074" y="4653136"/>
                    <a:ext cx="960006" cy="300595"/>
                  </a:xfrm>
                  <a:prstGeom prst="rect">
                    <a:avLst/>
                  </a:prstGeom>
                  <a:blipFill>
                    <a:blip r:embed="rId4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4" name="ZoneTexte 93">
                  <a:extLst>
                    <a:ext uri="{FF2B5EF4-FFF2-40B4-BE49-F238E27FC236}">
                      <a16:creationId xmlns:a16="http://schemas.microsoft.com/office/drawing/2014/main" id="{B034BA02-4E75-6A46-DA26-592ABE4680CE}"/>
                    </a:ext>
                  </a:extLst>
                </p:cNvPr>
                <p:cNvSpPr txBox="1"/>
                <p:nvPr/>
              </p:nvSpPr>
              <p:spPr>
                <a:xfrm>
                  <a:off x="2020041" y="4139947"/>
                  <a:ext cx="31290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1" i="1" smtClean="0">
                            <a:latin typeface="Cambria Math"/>
                          </a:rPr>
                          <m:t>𝒃</m:t>
                        </m:r>
                      </m:oMath>
                    </m:oMathPara>
                  </a14:m>
                  <a:endParaRPr lang="fr-FR" sz="1200" b="1" dirty="0"/>
                </a:p>
              </p:txBody>
            </p:sp>
          </mc:Choice>
          <mc:Fallback>
            <p:sp>
              <p:nvSpPr>
                <p:cNvPr id="94" name="ZoneTexte 93">
                  <a:extLst>
                    <a:ext uri="{FF2B5EF4-FFF2-40B4-BE49-F238E27FC236}">
                      <a16:creationId xmlns:a16="http://schemas.microsoft.com/office/drawing/2014/main" id="{B034BA02-4E75-6A46-DA26-592ABE4680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20041" y="4139947"/>
                  <a:ext cx="312906" cy="276999"/>
                </a:xfrm>
                <a:prstGeom prst="rect">
                  <a:avLst/>
                </a:prstGeom>
                <a:blipFill>
                  <a:blip r:embed="rId4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5" name="Connecteur droit avec flèche 94">
              <a:extLst>
                <a:ext uri="{FF2B5EF4-FFF2-40B4-BE49-F238E27FC236}">
                  <a16:creationId xmlns:a16="http://schemas.microsoft.com/office/drawing/2014/main" id="{849ABDC3-E11E-CF66-322B-9E5E57B053B4}"/>
                </a:ext>
              </a:extLst>
            </p:cNvPr>
            <p:cNvCxnSpPr/>
            <p:nvPr/>
          </p:nvCxnSpPr>
          <p:spPr>
            <a:xfrm>
              <a:off x="322082" y="5330428"/>
              <a:ext cx="1352743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stealth" w="med" len="lg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6" name="ZoneTexte 95">
                  <a:extLst>
                    <a:ext uri="{FF2B5EF4-FFF2-40B4-BE49-F238E27FC236}">
                      <a16:creationId xmlns:a16="http://schemas.microsoft.com/office/drawing/2014/main" id="{F12861BA-37DD-F4B6-47CE-874E19112940}"/>
                    </a:ext>
                  </a:extLst>
                </p:cNvPr>
                <p:cNvSpPr txBox="1"/>
                <p:nvPr/>
              </p:nvSpPr>
              <p:spPr>
                <a:xfrm>
                  <a:off x="850479" y="5053429"/>
                  <a:ext cx="29533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𝑐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>
            <p:sp>
              <p:nvSpPr>
                <p:cNvPr id="96" name="ZoneTexte 95">
                  <a:extLst>
                    <a:ext uri="{FF2B5EF4-FFF2-40B4-BE49-F238E27FC236}">
                      <a16:creationId xmlns:a16="http://schemas.microsoft.com/office/drawing/2014/main" id="{F12861BA-37DD-F4B6-47CE-874E191129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0479" y="5053429"/>
                  <a:ext cx="295337" cy="276999"/>
                </a:xfrm>
                <a:prstGeom prst="rect">
                  <a:avLst/>
                </a:prstGeom>
                <a:blipFill>
                  <a:blip r:embed="rId4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7" name="ZoneTexte 96">
                  <a:extLst>
                    <a:ext uri="{FF2B5EF4-FFF2-40B4-BE49-F238E27FC236}">
                      <a16:creationId xmlns:a16="http://schemas.microsoft.com/office/drawing/2014/main" id="{947C38B5-913E-744E-54D4-D46A8EB22DA4}"/>
                    </a:ext>
                  </a:extLst>
                </p:cNvPr>
                <p:cNvSpPr txBox="1"/>
                <p:nvPr/>
              </p:nvSpPr>
              <p:spPr>
                <a:xfrm>
                  <a:off x="-165908" y="4348463"/>
                  <a:ext cx="31457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𝑑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>
            <p:sp>
              <p:nvSpPr>
                <p:cNvPr id="97" name="ZoneTexte 96">
                  <a:extLst>
                    <a:ext uri="{FF2B5EF4-FFF2-40B4-BE49-F238E27FC236}">
                      <a16:creationId xmlns:a16="http://schemas.microsoft.com/office/drawing/2014/main" id="{947C38B5-913E-744E-54D4-D46A8EB22D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65908" y="4348463"/>
                  <a:ext cx="314573" cy="276999"/>
                </a:xfrm>
                <a:prstGeom prst="rect">
                  <a:avLst/>
                </a:prstGeom>
                <a:blipFill>
                  <a:blip r:embed="rId4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8" name="Connecteur droit avec flèche 97">
              <a:extLst>
                <a:ext uri="{FF2B5EF4-FFF2-40B4-BE49-F238E27FC236}">
                  <a16:creationId xmlns:a16="http://schemas.microsoft.com/office/drawing/2014/main" id="{7FF2DA26-809D-6F93-381B-44A814259AE9}"/>
                </a:ext>
              </a:extLst>
            </p:cNvPr>
            <p:cNvCxnSpPr/>
            <p:nvPr/>
          </p:nvCxnSpPr>
          <p:spPr>
            <a:xfrm>
              <a:off x="132937" y="3371577"/>
              <a:ext cx="0" cy="1681852"/>
            </a:xfrm>
            <a:prstGeom prst="straightConnector1">
              <a:avLst/>
            </a:prstGeom>
            <a:ln>
              <a:solidFill>
                <a:schemeClr val="tx1"/>
              </a:solidFill>
              <a:headEnd type="stealth" w="med" len="lg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9" name="ZoneTexte 98">
                  <a:extLst>
                    <a:ext uri="{FF2B5EF4-FFF2-40B4-BE49-F238E27FC236}">
                      <a16:creationId xmlns:a16="http://schemas.microsoft.com/office/drawing/2014/main" id="{A2376BEC-E342-9344-772A-7CFD61D09EAA}"/>
                    </a:ext>
                  </a:extLst>
                </p:cNvPr>
                <p:cNvSpPr txBox="1"/>
                <p:nvPr/>
              </p:nvSpPr>
              <p:spPr>
                <a:xfrm>
                  <a:off x="854379" y="4294468"/>
                  <a:ext cx="30867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𝑎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>
            <p:sp>
              <p:nvSpPr>
                <p:cNvPr id="99" name="ZoneTexte 98">
                  <a:extLst>
                    <a:ext uri="{FF2B5EF4-FFF2-40B4-BE49-F238E27FC236}">
                      <a16:creationId xmlns:a16="http://schemas.microsoft.com/office/drawing/2014/main" id="{A2376BEC-E342-9344-772A-7CFD61D09E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4379" y="4294468"/>
                  <a:ext cx="308674" cy="276999"/>
                </a:xfrm>
                <a:prstGeom prst="rect">
                  <a:avLst/>
                </a:prstGeom>
                <a:blipFill>
                  <a:blip r:embed="rId4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0" name="Groupe 99">
            <a:extLst>
              <a:ext uri="{FF2B5EF4-FFF2-40B4-BE49-F238E27FC236}">
                <a16:creationId xmlns:a16="http://schemas.microsoft.com/office/drawing/2014/main" id="{5B2F3329-E006-C26E-B112-F927730EB550}"/>
              </a:ext>
            </a:extLst>
          </p:cNvPr>
          <p:cNvGrpSpPr/>
          <p:nvPr/>
        </p:nvGrpSpPr>
        <p:grpSpPr>
          <a:xfrm>
            <a:off x="6184306" y="4609702"/>
            <a:ext cx="1703306" cy="1666470"/>
            <a:chOff x="5262233" y="3152282"/>
            <a:chExt cx="1703306" cy="1666470"/>
          </a:xfrm>
        </p:grpSpPr>
        <p:grpSp>
          <p:nvGrpSpPr>
            <p:cNvPr id="101" name="Groupe 100">
              <a:extLst>
                <a:ext uri="{FF2B5EF4-FFF2-40B4-BE49-F238E27FC236}">
                  <a16:creationId xmlns:a16="http://schemas.microsoft.com/office/drawing/2014/main" id="{C8FC85F7-AB8C-E465-40A3-82D1FA26AE59}"/>
                </a:ext>
              </a:extLst>
            </p:cNvPr>
            <p:cNvGrpSpPr/>
            <p:nvPr/>
          </p:nvGrpSpPr>
          <p:grpSpPr>
            <a:xfrm>
              <a:off x="5940152" y="3401722"/>
              <a:ext cx="749927" cy="749927"/>
              <a:chOff x="5294563" y="3372196"/>
              <a:chExt cx="749927" cy="749927"/>
            </a:xfrm>
          </p:grpSpPr>
          <p:cxnSp>
            <p:nvCxnSpPr>
              <p:cNvPr id="114" name="Connecteur droit avec flèche 113">
                <a:extLst>
                  <a:ext uri="{FF2B5EF4-FFF2-40B4-BE49-F238E27FC236}">
                    <a16:creationId xmlns:a16="http://schemas.microsoft.com/office/drawing/2014/main" id="{BDEF5556-1340-5306-3BB8-11C2D07A04E1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Connecteur droit avec flèche 114">
                <a:extLst>
                  <a:ext uri="{FF2B5EF4-FFF2-40B4-BE49-F238E27FC236}">
                    <a16:creationId xmlns:a16="http://schemas.microsoft.com/office/drawing/2014/main" id="{E1473FF3-9854-18A3-CE29-290692BF2EFC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2" name="Groupe 101">
              <a:extLst>
                <a:ext uri="{FF2B5EF4-FFF2-40B4-BE49-F238E27FC236}">
                  <a16:creationId xmlns:a16="http://schemas.microsoft.com/office/drawing/2014/main" id="{A30A28B1-3D72-9184-27C9-F88834BF8899}"/>
                </a:ext>
              </a:extLst>
            </p:cNvPr>
            <p:cNvGrpSpPr/>
            <p:nvPr/>
          </p:nvGrpSpPr>
          <p:grpSpPr>
            <a:xfrm rot="19800000">
              <a:off x="5709204" y="3270482"/>
              <a:ext cx="749927" cy="749927"/>
              <a:chOff x="5294563" y="3372196"/>
              <a:chExt cx="749927" cy="749927"/>
            </a:xfrm>
          </p:grpSpPr>
          <p:cxnSp>
            <p:nvCxnSpPr>
              <p:cNvPr id="112" name="Connecteur droit avec flèche 111">
                <a:extLst>
                  <a:ext uri="{FF2B5EF4-FFF2-40B4-BE49-F238E27FC236}">
                    <a16:creationId xmlns:a16="http://schemas.microsoft.com/office/drawing/2014/main" id="{36E443D4-83EC-443E-74C8-7C8E3E53D891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0070C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Connecteur droit avec flèche 112">
                <a:extLst>
                  <a:ext uri="{FF2B5EF4-FFF2-40B4-BE49-F238E27FC236}">
                    <a16:creationId xmlns:a16="http://schemas.microsoft.com/office/drawing/2014/main" id="{73D4458F-B62D-E43F-3E93-416601E9CB37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0070C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3" name="Arc 102">
              <a:extLst>
                <a:ext uri="{FF2B5EF4-FFF2-40B4-BE49-F238E27FC236}">
                  <a16:creationId xmlns:a16="http://schemas.microsoft.com/office/drawing/2014/main" id="{58BA35A9-17B5-F84A-B97E-B467A23E6143}"/>
                </a:ext>
              </a:extLst>
            </p:cNvPr>
            <p:cNvSpPr/>
            <p:nvPr/>
          </p:nvSpPr>
          <p:spPr>
            <a:xfrm>
              <a:off x="5292080" y="3522608"/>
              <a:ext cx="1296144" cy="1296144"/>
            </a:xfrm>
            <a:prstGeom prst="arc">
              <a:avLst>
                <a:gd name="adj1" fmla="val 20018351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4" name="ZoneTexte 103">
                  <a:extLst>
                    <a:ext uri="{FF2B5EF4-FFF2-40B4-BE49-F238E27FC236}">
                      <a16:creationId xmlns:a16="http://schemas.microsoft.com/office/drawing/2014/main" id="{D5F0034A-A9F3-3A96-394A-1B2F7B4D2E2D}"/>
                    </a:ext>
                  </a:extLst>
                </p:cNvPr>
                <p:cNvSpPr txBox="1"/>
                <p:nvPr/>
              </p:nvSpPr>
              <p:spPr>
                <a:xfrm>
                  <a:off x="6595181" y="4010755"/>
                  <a:ext cx="37035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" name="ZoneTexte 13">
                  <a:extLst>
                    <a:ext uri="{FF2B5EF4-FFF2-40B4-BE49-F238E27FC236}">
                      <a16:creationId xmlns:a16="http://schemas.microsoft.com/office/drawing/2014/main" id="{B14415B5-2458-9378-29FB-C9245F150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181" y="4010755"/>
                  <a:ext cx="370358" cy="276999"/>
                </a:xfrm>
                <a:prstGeom prst="rect">
                  <a:avLst/>
                </a:prstGeom>
                <a:blipFill>
                  <a:blip r:embed="rId4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5" name="ZoneTexte 104">
                  <a:extLst>
                    <a:ext uri="{FF2B5EF4-FFF2-40B4-BE49-F238E27FC236}">
                      <a16:creationId xmlns:a16="http://schemas.microsoft.com/office/drawing/2014/main" id="{330A9353-CDAC-73F1-AA72-022F462EBCAB}"/>
                    </a:ext>
                  </a:extLst>
                </p:cNvPr>
                <p:cNvSpPr txBox="1"/>
                <p:nvPr/>
              </p:nvSpPr>
              <p:spPr>
                <a:xfrm>
                  <a:off x="5733941" y="3152282"/>
                  <a:ext cx="35843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6" name="ZoneTexte 15">
                  <a:extLst>
                    <a:ext uri="{FF2B5EF4-FFF2-40B4-BE49-F238E27FC236}">
                      <a16:creationId xmlns:a16="http://schemas.microsoft.com/office/drawing/2014/main" id="{E58A37D5-C0E8-13B9-581B-43351546DB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941" y="3152282"/>
                  <a:ext cx="358431" cy="276999"/>
                </a:xfrm>
                <a:prstGeom prst="rect">
                  <a:avLst/>
                </a:prstGeom>
                <a:blipFill>
                  <a:blip r:embed="rId4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" name="ZoneTexte 105">
                  <a:extLst>
                    <a:ext uri="{FF2B5EF4-FFF2-40B4-BE49-F238E27FC236}">
                      <a16:creationId xmlns:a16="http://schemas.microsoft.com/office/drawing/2014/main" id="{A08ACE0E-816A-D0EE-3D3C-C4AF0062C12B}"/>
                    </a:ext>
                  </a:extLst>
                </p:cNvPr>
                <p:cNvSpPr txBox="1"/>
                <p:nvPr/>
              </p:nvSpPr>
              <p:spPr>
                <a:xfrm>
                  <a:off x="6435685" y="3548045"/>
                  <a:ext cx="373949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7" name="ZoneTexte 16">
                  <a:extLst>
                    <a:ext uri="{FF2B5EF4-FFF2-40B4-BE49-F238E27FC236}">
                      <a16:creationId xmlns:a16="http://schemas.microsoft.com/office/drawing/2014/main" id="{6B278FC2-3EF8-12BD-1AF3-1217D7AEBE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685" y="3548045"/>
                  <a:ext cx="373949" cy="276999"/>
                </a:xfrm>
                <a:prstGeom prst="rect">
                  <a:avLst/>
                </a:prstGeom>
                <a:blipFill>
                  <a:blip r:embed="rId4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7" name="ZoneTexte 106">
                  <a:extLst>
                    <a:ext uri="{FF2B5EF4-FFF2-40B4-BE49-F238E27FC236}">
                      <a16:creationId xmlns:a16="http://schemas.microsoft.com/office/drawing/2014/main" id="{744DCA75-F5ED-0DB7-FCFB-3ACAB4BCE8F0}"/>
                    </a:ext>
                  </a:extLst>
                </p:cNvPr>
                <p:cNvSpPr txBox="1"/>
                <p:nvPr/>
              </p:nvSpPr>
              <p:spPr>
                <a:xfrm>
                  <a:off x="5262233" y="3356339"/>
                  <a:ext cx="36202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9" name="ZoneTexte 18">
                  <a:extLst>
                    <a:ext uri="{FF2B5EF4-FFF2-40B4-BE49-F238E27FC236}">
                      <a16:creationId xmlns:a16="http://schemas.microsoft.com/office/drawing/2014/main" id="{32649DB7-9C1E-492F-C7DF-9E9E635038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2233" y="3356339"/>
                  <a:ext cx="362022" cy="276999"/>
                </a:xfrm>
                <a:prstGeom prst="rect">
                  <a:avLst/>
                </a:prstGeom>
                <a:blipFill>
                  <a:blip r:embed="rId4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ZoneTexte 107">
                  <a:extLst>
                    <a:ext uri="{FF2B5EF4-FFF2-40B4-BE49-F238E27FC236}">
                      <a16:creationId xmlns:a16="http://schemas.microsoft.com/office/drawing/2014/main" id="{DB3B09F9-6CCD-D98B-7A0F-1F51EFA4DEBB}"/>
                    </a:ext>
                  </a:extLst>
                </p:cNvPr>
                <p:cNvSpPr txBox="1"/>
                <p:nvPr/>
              </p:nvSpPr>
              <p:spPr>
                <a:xfrm>
                  <a:off x="6531285" y="3829601"/>
                  <a:ext cx="30418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0" name="ZoneTexte 19">
                  <a:extLst>
                    <a:ext uri="{FF2B5EF4-FFF2-40B4-BE49-F238E27FC236}">
                      <a16:creationId xmlns:a16="http://schemas.microsoft.com/office/drawing/2014/main" id="{9D6DB790-EBC8-1493-E81D-1435CDEB93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285" y="3829601"/>
                  <a:ext cx="304186" cy="276999"/>
                </a:xfrm>
                <a:prstGeom prst="rect">
                  <a:avLst/>
                </a:prstGeom>
                <a:blipFill>
                  <a:blip r:embed="rId5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9" name="ZoneTexte 108">
                  <a:extLst>
                    <a:ext uri="{FF2B5EF4-FFF2-40B4-BE49-F238E27FC236}">
                      <a16:creationId xmlns:a16="http://schemas.microsoft.com/office/drawing/2014/main" id="{F4AD2701-4B91-E704-659D-413298254306}"/>
                    </a:ext>
                  </a:extLst>
                </p:cNvPr>
                <p:cNvSpPr txBox="1"/>
                <p:nvPr/>
              </p:nvSpPr>
              <p:spPr>
                <a:xfrm>
                  <a:off x="5759440" y="4256870"/>
                  <a:ext cx="36875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1" name="ZoneTexte 20">
                  <a:extLst>
                    <a:ext uri="{FF2B5EF4-FFF2-40B4-BE49-F238E27FC236}">
                      <a16:creationId xmlns:a16="http://schemas.microsoft.com/office/drawing/2014/main" id="{D0591B87-F4E2-906E-B7E0-6D1408D3F0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9440" y="4256870"/>
                  <a:ext cx="368755" cy="276999"/>
                </a:xfrm>
                <a:prstGeom prst="rect">
                  <a:avLst/>
                </a:prstGeom>
                <a:blipFill>
                  <a:blip r:embed="rId5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0" name="Ellipse 109">
              <a:extLst>
                <a:ext uri="{FF2B5EF4-FFF2-40B4-BE49-F238E27FC236}">
                  <a16:creationId xmlns:a16="http://schemas.microsoft.com/office/drawing/2014/main" id="{3227E749-EE6D-6896-28FE-0C625335B50D}"/>
                </a:ext>
              </a:extLst>
            </p:cNvPr>
            <p:cNvSpPr/>
            <p:nvPr/>
          </p:nvSpPr>
          <p:spPr>
            <a:xfrm>
              <a:off x="5853398" y="4069873"/>
              <a:ext cx="158762" cy="158762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1" name="Ellipse 110">
              <a:extLst>
                <a:ext uri="{FF2B5EF4-FFF2-40B4-BE49-F238E27FC236}">
                  <a16:creationId xmlns:a16="http://schemas.microsoft.com/office/drawing/2014/main" id="{3AEC1CDB-0797-3433-A40B-C1F195D6040D}"/>
                </a:ext>
              </a:extLst>
            </p:cNvPr>
            <p:cNvSpPr/>
            <p:nvPr/>
          </p:nvSpPr>
          <p:spPr>
            <a:xfrm flipV="1">
              <a:off x="5905779" y="4122254"/>
              <a:ext cx="54000" cy="54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16" name="Éclair 115">
            <a:extLst>
              <a:ext uri="{FF2B5EF4-FFF2-40B4-BE49-F238E27FC236}">
                <a16:creationId xmlns:a16="http://schemas.microsoft.com/office/drawing/2014/main" id="{6100EBE7-FD19-F8CA-8428-9993BEEEDBA4}"/>
              </a:ext>
            </a:extLst>
          </p:cNvPr>
          <p:cNvSpPr/>
          <p:nvPr/>
        </p:nvSpPr>
        <p:spPr>
          <a:xfrm rot="643800">
            <a:off x="8305510" y="2131544"/>
            <a:ext cx="322911" cy="548372"/>
          </a:xfrm>
          <a:prstGeom prst="lightningBolt">
            <a:avLst/>
          </a:prstGeom>
          <a:solidFill>
            <a:srgbClr val="FFC000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7" name="Ellipse 116">
            <a:extLst>
              <a:ext uri="{FF2B5EF4-FFF2-40B4-BE49-F238E27FC236}">
                <a16:creationId xmlns:a16="http://schemas.microsoft.com/office/drawing/2014/main" id="{6AFBB909-E8E4-A44E-A381-778250AE7342}"/>
              </a:ext>
            </a:extLst>
          </p:cNvPr>
          <p:cNvSpPr/>
          <p:nvPr/>
        </p:nvSpPr>
        <p:spPr>
          <a:xfrm>
            <a:off x="8532293" y="2777975"/>
            <a:ext cx="288032" cy="288032"/>
          </a:xfrm>
          <a:prstGeom prst="ellipse">
            <a:avLst/>
          </a:prstGeom>
          <a:solidFill>
            <a:schemeClr val="bg1"/>
          </a:solidFill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400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118" name="Ellipse 117">
            <a:extLst>
              <a:ext uri="{FF2B5EF4-FFF2-40B4-BE49-F238E27FC236}">
                <a16:creationId xmlns:a16="http://schemas.microsoft.com/office/drawing/2014/main" id="{6F3CACFA-E0E0-B002-AB33-50F998BB9EA4}"/>
              </a:ext>
            </a:extLst>
          </p:cNvPr>
          <p:cNvSpPr/>
          <p:nvPr/>
        </p:nvSpPr>
        <p:spPr>
          <a:xfrm>
            <a:off x="9319032" y="2175398"/>
            <a:ext cx="288032" cy="288032"/>
          </a:xfrm>
          <a:prstGeom prst="ellipse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400" dirty="0">
                <a:solidFill>
                  <a:srgbClr val="0070C0"/>
                </a:solidFill>
              </a:rPr>
              <a:t>2</a:t>
            </a:r>
          </a:p>
        </p:txBody>
      </p:sp>
      <p:sp>
        <p:nvSpPr>
          <p:cNvPr id="119" name="Ellipse 118">
            <a:extLst>
              <a:ext uri="{FF2B5EF4-FFF2-40B4-BE49-F238E27FC236}">
                <a16:creationId xmlns:a16="http://schemas.microsoft.com/office/drawing/2014/main" id="{31932129-FEC4-1DB9-C53B-67256AB1AE6B}"/>
              </a:ext>
            </a:extLst>
          </p:cNvPr>
          <p:cNvSpPr/>
          <p:nvPr/>
        </p:nvSpPr>
        <p:spPr>
          <a:xfrm>
            <a:off x="10098183" y="2777975"/>
            <a:ext cx="288032" cy="288032"/>
          </a:xfrm>
          <a:prstGeom prst="ellipse">
            <a:avLst/>
          </a:prstGeom>
          <a:solidFill>
            <a:schemeClr val="bg1"/>
          </a:solidFill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400" dirty="0">
                <a:solidFill>
                  <a:srgbClr val="FFC000"/>
                </a:solidFill>
              </a:rPr>
              <a:t>3</a:t>
            </a:r>
          </a:p>
        </p:txBody>
      </p:sp>
      <p:sp>
        <p:nvSpPr>
          <p:cNvPr id="120" name="Ellipse 119">
            <a:extLst>
              <a:ext uri="{FF2B5EF4-FFF2-40B4-BE49-F238E27FC236}">
                <a16:creationId xmlns:a16="http://schemas.microsoft.com/office/drawing/2014/main" id="{DCE1BCEC-20C4-83D3-B0CA-90130A12E7AE}"/>
              </a:ext>
            </a:extLst>
          </p:cNvPr>
          <p:cNvSpPr/>
          <p:nvPr/>
        </p:nvSpPr>
        <p:spPr>
          <a:xfrm>
            <a:off x="9810151" y="3671418"/>
            <a:ext cx="288032" cy="288032"/>
          </a:xfrm>
          <a:prstGeom prst="ellipse">
            <a:avLst/>
          </a:prstGeom>
          <a:solidFill>
            <a:schemeClr val="bg1"/>
          </a:solidFill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400" dirty="0">
                <a:solidFill>
                  <a:srgbClr val="7030A0"/>
                </a:solidFill>
              </a:rPr>
              <a:t>4</a:t>
            </a:r>
          </a:p>
        </p:txBody>
      </p:sp>
      <p:grpSp>
        <p:nvGrpSpPr>
          <p:cNvPr id="121" name="Groupe 120">
            <a:extLst>
              <a:ext uri="{FF2B5EF4-FFF2-40B4-BE49-F238E27FC236}">
                <a16:creationId xmlns:a16="http://schemas.microsoft.com/office/drawing/2014/main" id="{9AE7BD09-5476-2A53-1C48-26F37B8573B7}"/>
              </a:ext>
            </a:extLst>
          </p:cNvPr>
          <p:cNvGrpSpPr/>
          <p:nvPr/>
        </p:nvGrpSpPr>
        <p:grpSpPr>
          <a:xfrm>
            <a:off x="8710695" y="3686485"/>
            <a:ext cx="398433" cy="398419"/>
            <a:chOff x="1048248" y="4581128"/>
            <a:chExt cx="398433" cy="398419"/>
          </a:xfrm>
        </p:grpSpPr>
        <p:sp>
          <p:nvSpPr>
            <p:cNvPr id="122" name="Forme libre 9">
              <a:extLst>
                <a:ext uri="{FF2B5EF4-FFF2-40B4-BE49-F238E27FC236}">
                  <a16:creationId xmlns:a16="http://schemas.microsoft.com/office/drawing/2014/main" id="{065580E5-3D79-D76B-934B-60BCFAAB493C}"/>
                </a:ext>
              </a:extLst>
            </p:cNvPr>
            <p:cNvSpPr/>
            <p:nvPr/>
          </p:nvSpPr>
          <p:spPr>
            <a:xfrm>
              <a:off x="1048248" y="4663401"/>
              <a:ext cx="398433" cy="316146"/>
            </a:xfrm>
            <a:custGeom>
              <a:avLst/>
              <a:gdLst>
                <a:gd name="connsiteX0" fmla="*/ 0 w 998220"/>
                <a:gd name="connsiteY0" fmla="*/ 7620 h 147567"/>
                <a:gd name="connsiteX1" fmla="*/ 220980 w 998220"/>
                <a:gd name="connsiteY1" fmla="*/ 144780 h 147567"/>
                <a:gd name="connsiteX2" fmla="*/ 457200 w 998220"/>
                <a:gd name="connsiteY2" fmla="*/ 99060 h 147567"/>
                <a:gd name="connsiteX3" fmla="*/ 807720 w 998220"/>
                <a:gd name="connsiteY3" fmla="*/ 144780 h 147567"/>
                <a:gd name="connsiteX4" fmla="*/ 998220 w 998220"/>
                <a:gd name="connsiteY4" fmla="*/ 0 h 147567"/>
                <a:gd name="connsiteX0" fmla="*/ 0 w 1104901"/>
                <a:gd name="connsiteY0" fmla="*/ 0 h 368029"/>
                <a:gd name="connsiteX1" fmla="*/ 327661 w 1104901"/>
                <a:gd name="connsiteY1" fmla="*/ 353090 h 368029"/>
                <a:gd name="connsiteX2" fmla="*/ 563881 w 1104901"/>
                <a:gd name="connsiteY2" fmla="*/ 307370 h 368029"/>
                <a:gd name="connsiteX3" fmla="*/ 914401 w 1104901"/>
                <a:gd name="connsiteY3" fmla="*/ 353090 h 368029"/>
                <a:gd name="connsiteX4" fmla="*/ 1104901 w 1104901"/>
                <a:gd name="connsiteY4" fmla="*/ 208310 h 368029"/>
                <a:gd name="connsiteX0" fmla="*/ 0 w 1104901"/>
                <a:gd name="connsiteY0" fmla="*/ 0 h 355877"/>
                <a:gd name="connsiteX1" fmla="*/ 563881 w 1104901"/>
                <a:gd name="connsiteY1" fmla="*/ 307370 h 355877"/>
                <a:gd name="connsiteX2" fmla="*/ 914401 w 1104901"/>
                <a:gd name="connsiteY2" fmla="*/ 353090 h 355877"/>
                <a:gd name="connsiteX3" fmla="*/ 1104901 w 1104901"/>
                <a:gd name="connsiteY3" fmla="*/ 208310 h 355877"/>
                <a:gd name="connsiteX0" fmla="*/ 0 w 1104901"/>
                <a:gd name="connsiteY0" fmla="*/ 0 h 371223"/>
                <a:gd name="connsiteX1" fmla="*/ 121919 w 1104901"/>
                <a:gd name="connsiteY1" fmla="*/ 369064 h 371223"/>
                <a:gd name="connsiteX2" fmla="*/ 914401 w 1104901"/>
                <a:gd name="connsiteY2" fmla="*/ 353090 h 371223"/>
                <a:gd name="connsiteX3" fmla="*/ 1104901 w 1104901"/>
                <a:gd name="connsiteY3" fmla="*/ 208310 h 371223"/>
                <a:gd name="connsiteX0" fmla="*/ 313732 w 991910"/>
                <a:gd name="connsiteY0" fmla="*/ 0 h 297687"/>
                <a:gd name="connsiteX1" fmla="*/ 8928 w 991910"/>
                <a:gd name="connsiteY1" fmla="*/ 276523 h 297687"/>
                <a:gd name="connsiteX2" fmla="*/ 801410 w 991910"/>
                <a:gd name="connsiteY2" fmla="*/ 260549 h 297687"/>
                <a:gd name="connsiteX3" fmla="*/ 991910 w 991910"/>
                <a:gd name="connsiteY3" fmla="*/ 115769 h 297687"/>
                <a:gd name="connsiteX0" fmla="*/ 313732 w 841603"/>
                <a:gd name="connsiteY0" fmla="*/ 53889 h 359753"/>
                <a:gd name="connsiteX1" fmla="*/ 8928 w 841603"/>
                <a:gd name="connsiteY1" fmla="*/ 330412 h 359753"/>
                <a:gd name="connsiteX2" fmla="*/ 801410 w 841603"/>
                <a:gd name="connsiteY2" fmla="*/ 314438 h 359753"/>
                <a:gd name="connsiteX3" fmla="*/ 763309 w 841603"/>
                <a:gd name="connsiteY3" fmla="*/ 0 h 359753"/>
                <a:gd name="connsiteX0" fmla="*/ 312538 w 762115"/>
                <a:gd name="connsiteY0" fmla="*/ 53889 h 330677"/>
                <a:gd name="connsiteX1" fmla="*/ 7734 w 762115"/>
                <a:gd name="connsiteY1" fmla="*/ 330412 h 330677"/>
                <a:gd name="connsiteX2" fmla="*/ 762115 w 762115"/>
                <a:gd name="connsiteY2" fmla="*/ 0 h 330677"/>
                <a:gd name="connsiteX0" fmla="*/ 0 w 449577"/>
                <a:gd name="connsiteY0" fmla="*/ 53889 h 415434"/>
                <a:gd name="connsiteX1" fmla="*/ 243840 w 449577"/>
                <a:gd name="connsiteY1" fmla="*/ 415241 h 415434"/>
                <a:gd name="connsiteX2" fmla="*/ 449577 w 449577"/>
                <a:gd name="connsiteY2" fmla="*/ 0 h 415434"/>
                <a:gd name="connsiteX0" fmla="*/ 576 w 462001"/>
                <a:gd name="connsiteY0" fmla="*/ 53889 h 417438"/>
                <a:gd name="connsiteX1" fmla="*/ 244416 w 462001"/>
                <a:gd name="connsiteY1" fmla="*/ 415241 h 417438"/>
                <a:gd name="connsiteX2" fmla="*/ 450153 w 462001"/>
                <a:gd name="connsiteY2" fmla="*/ 0 h 417438"/>
                <a:gd name="connsiteX0" fmla="*/ 0 w 449577"/>
                <a:gd name="connsiteY0" fmla="*/ 53889 h 433229"/>
                <a:gd name="connsiteX1" fmla="*/ 243840 w 449577"/>
                <a:gd name="connsiteY1" fmla="*/ 415241 h 433229"/>
                <a:gd name="connsiteX2" fmla="*/ 277712 w 449577"/>
                <a:gd name="connsiteY2" fmla="*/ 339356 h 433229"/>
                <a:gd name="connsiteX3" fmla="*/ 449577 w 449577"/>
                <a:gd name="connsiteY3" fmla="*/ 0 h 433229"/>
                <a:gd name="connsiteX0" fmla="*/ 0 w 517979"/>
                <a:gd name="connsiteY0" fmla="*/ 53889 h 433229"/>
                <a:gd name="connsiteX1" fmla="*/ 243840 w 517979"/>
                <a:gd name="connsiteY1" fmla="*/ 415241 h 433229"/>
                <a:gd name="connsiteX2" fmla="*/ 277712 w 517979"/>
                <a:gd name="connsiteY2" fmla="*/ 339356 h 433229"/>
                <a:gd name="connsiteX3" fmla="*/ 449577 w 517979"/>
                <a:gd name="connsiteY3" fmla="*/ 0 h 433229"/>
                <a:gd name="connsiteX0" fmla="*/ 0 w 449577"/>
                <a:gd name="connsiteY0" fmla="*/ 53889 h 415434"/>
                <a:gd name="connsiteX1" fmla="*/ 243840 w 449577"/>
                <a:gd name="connsiteY1" fmla="*/ 415241 h 415434"/>
                <a:gd name="connsiteX2" fmla="*/ 449577 w 449577"/>
                <a:gd name="connsiteY2" fmla="*/ 0 h 415434"/>
                <a:gd name="connsiteX0" fmla="*/ 25754 w 547758"/>
                <a:gd name="connsiteY0" fmla="*/ 53889 h 415434"/>
                <a:gd name="connsiteX1" fmla="*/ 269594 w 547758"/>
                <a:gd name="connsiteY1" fmla="*/ 415241 h 415434"/>
                <a:gd name="connsiteX2" fmla="*/ 475331 w 547758"/>
                <a:gd name="connsiteY2" fmla="*/ 0 h 415434"/>
                <a:gd name="connsiteX0" fmla="*/ 44670 w 549184"/>
                <a:gd name="connsiteY0" fmla="*/ 53889 h 315272"/>
                <a:gd name="connsiteX1" fmla="*/ 258030 w 549184"/>
                <a:gd name="connsiteY1" fmla="*/ 314988 h 315272"/>
                <a:gd name="connsiteX2" fmla="*/ 494247 w 549184"/>
                <a:gd name="connsiteY2" fmla="*/ 0 h 315272"/>
                <a:gd name="connsiteX0" fmla="*/ 170875 w 796872"/>
                <a:gd name="connsiteY0" fmla="*/ 53889 h 319952"/>
                <a:gd name="connsiteX1" fmla="*/ 384235 w 796872"/>
                <a:gd name="connsiteY1" fmla="*/ 314988 h 319952"/>
                <a:gd name="connsiteX2" fmla="*/ 620452 w 796872"/>
                <a:gd name="connsiteY2" fmla="*/ 0 h 319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96872" h="319952">
                  <a:moveTo>
                    <a:pt x="170875" y="53889"/>
                  </a:moveTo>
                  <a:cubicBezTo>
                    <a:pt x="288350" y="117924"/>
                    <a:pt x="-406979" y="269987"/>
                    <a:pt x="384235" y="314988"/>
                  </a:cubicBezTo>
                  <a:cubicBezTo>
                    <a:pt x="1175449" y="359989"/>
                    <a:pt x="577590" y="86509"/>
                    <a:pt x="620452" y="0"/>
                  </a:cubicBezTo>
                </a:path>
              </a:pathLst>
            </a:cu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3" name="Ellipse 122">
              <a:extLst>
                <a:ext uri="{FF2B5EF4-FFF2-40B4-BE49-F238E27FC236}">
                  <a16:creationId xmlns:a16="http://schemas.microsoft.com/office/drawing/2014/main" id="{33901DB5-57A8-8210-4114-FAC4867D076E}"/>
                </a:ext>
              </a:extLst>
            </p:cNvPr>
            <p:cNvSpPr/>
            <p:nvPr/>
          </p:nvSpPr>
          <p:spPr>
            <a:xfrm>
              <a:off x="1103448" y="4581128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chemeClr val="tx1"/>
                  </a:solidFill>
                </a:rPr>
                <a:t>0</a:t>
              </a:r>
            </a:p>
          </p:txBody>
        </p:sp>
      </p:grpSp>
      <p:cxnSp>
        <p:nvCxnSpPr>
          <p:cNvPr id="124" name="Connecteur droit 123">
            <a:extLst>
              <a:ext uri="{FF2B5EF4-FFF2-40B4-BE49-F238E27FC236}">
                <a16:creationId xmlns:a16="http://schemas.microsoft.com/office/drawing/2014/main" id="{B8A65046-F68A-3240-0F54-242A72F6958B}"/>
              </a:ext>
            </a:extLst>
          </p:cNvPr>
          <p:cNvCxnSpPr>
            <a:stCxn id="123" idx="0"/>
            <a:endCxn id="117" idx="4"/>
          </p:cNvCxnSpPr>
          <p:nvPr/>
        </p:nvCxnSpPr>
        <p:spPr>
          <a:xfrm flipH="1" flipV="1">
            <a:off x="8676309" y="3066007"/>
            <a:ext cx="233602" cy="620478"/>
          </a:xfrm>
          <a:prstGeom prst="line">
            <a:avLst/>
          </a:prstGeom>
          <a:ln w="28575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Connecteur droit 124">
            <a:extLst>
              <a:ext uri="{FF2B5EF4-FFF2-40B4-BE49-F238E27FC236}">
                <a16:creationId xmlns:a16="http://schemas.microsoft.com/office/drawing/2014/main" id="{8F51B521-1D07-3D84-A0E0-2BEA409EDE7A}"/>
              </a:ext>
            </a:extLst>
          </p:cNvPr>
          <p:cNvCxnSpPr>
            <a:stCxn id="118" idx="3"/>
            <a:endCxn id="117" idx="7"/>
          </p:cNvCxnSpPr>
          <p:nvPr/>
        </p:nvCxnSpPr>
        <p:spPr>
          <a:xfrm flipH="1">
            <a:off x="8778144" y="2421249"/>
            <a:ext cx="583069" cy="398907"/>
          </a:xfrm>
          <a:prstGeom prst="line">
            <a:avLst/>
          </a:prstGeom>
          <a:ln w="28575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Connecteur droit 125">
            <a:extLst>
              <a:ext uri="{FF2B5EF4-FFF2-40B4-BE49-F238E27FC236}">
                <a16:creationId xmlns:a16="http://schemas.microsoft.com/office/drawing/2014/main" id="{B3928EB3-F05C-B5E6-F525-EF1CFA90E926}"/>
              </a:ext>
            </a:extLst>
          </p:cNvPr>
          <p:cNvCxnSpPr>
            <a:stCxn id="119" idx="1"/>
            <a:endCxn id="118" idx="5"/>
          </p:cNvCxnSpPr>
          <p:nvPr/>
        </p:nvCxnSpPr>
        <p:spPr>
          <a:xfrm flipH="1" flipV="1">
            <a:off x="9564883" y="2421249"/>
            <a:ext cx="575481" cy="398907"/>
          </a:xfrm>
          <a:prstGeom prst="line">
            <a:avLst/>
          </a:prstGeom>
          <a:ln w="28575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Connecteur droit 126">
            <a:extLst>
              <a:ext uri="{FF2B5EF4-FFF2-40B4-BE49-F238E27FC236}">
                <a16:creationId xmlns:a16="http://schemas.microsoft.com/office/drawing/2014/main" id="{B68EF18C-C8F5-AC61-E888-4C313A4CFD24}"/>
              </a:ext>
            </a:extLst>
          </p:cNvPr>
          <p:cNvCxnSpPr>
            <a:stCxn id="123" idx="6"/>
            <a:endCxn id="120" idx="2"/>
          </p:cNvCxnSpPr>
          <p:nvPr/>
        </p:nvCxnSpPr>
        <p:spPr>
          <a:xfrm flipV="1">
            <a:off x="9053927" y="3815434"/>
            <a:ext cx="756224" cy="15067"/>
          </a:xfrm>
          <a:prstGeom prst="line">
            <a:avLst/>
          </a:prstGeom>
          <a:ln w="28575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Connecteur droit 127">
            <a:extLst>
              <a:ext uri="{FF2B5EF4-FFF2-40B4-BE49-F238E27FC236}">
                <a16:creationId xmlns:a16="http://schemas.microsoft.com/office/drawing/2014/main" id="{785AD09D-9CB4-E2AE-45D1-5B049F0D8F5A}"/>
              </a:ext>
            </a:extLst>
          </p:cNvPr>
          <p:cNvCxnSpPr>
            <a:stCxn id="120" idx="7"/>
            <a:endCxn id="119" idx="4"/>
          </p:cNvCxnSpPr>
          <p:nvPr/>
        </p:nvCxnSpPr>
        <p:spPr>
          <a:xfrm flipV="1">
            <a:off x="10056002" y="3066007"/>
            <a:ext cx="186197" cy="647592"/>
          </a:xfrm>
          <a:prstGeom prst="line">
            <a:avLst/>
          </a:prstGeom>
          <a:ln w="28575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9" name="ZoneTexte 128">
                <a:extLst>
                  <a:ext uri="{FF2B5EF4-FFF2-40B4-BE49-F238E27FC236}">
                    <a16:creationId xmlns:a16="http://schemas.microsoft.com/office/drawing/2014/main" id="{E45C96BD-4853-1734-2568-313A5A901F4E}"/>
                  </a:ext>
                </a:extLst>
              </p:cNvPr>
              <p:cNvSpPr txBox="1"/>
              <p:nvPr/>
            </p:nvSpPr>
            <p:spPr>
              <a:xfrm>
                <a:off x="7752449" y="3269698"/>
                <a:ext cx="1080120" cy="288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dirty="0"/>
                  <a:t>Pivot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/>
                          </a:rPr>
                          <m:t>𝐴</m:t>
                        </m:r>
                        <m:r>
                          <a:rPr lang="fr-FR" sz="1200" b="0" i="1" smtClean="0">
                            <a:latin typeface="Cambria Math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/>
                              </a:rPr>
                              <m:t>𝑧</m:t>
                            </m:r>
                          </m:e>
                        </m:acc>
                      </m:e>
                    </m:d>
                  </m:oMath>
                </a14:m>
                <a:endParaRPr lang="fr-FR" sz="1200" dirty="0"/>
              </a:p>
            </p:txBody>
          </p:sp>
        </mc:Choice>
        <mc:Fallback>
          <p:sp>
            <p:nvSpPr>
              <p:cNvPr id="129" name="ZoneTexte 128">
                <a:extLst>
                  <a:ext uri="{FF2B5EF4-FFF2-40B4-BE49-F238E27FC236}">
                    <a16:creationId xmlns:a16="http://schemas.microsoft.com/office/drawing/2014/main" id="{E45C96BD-4853-1734-2568-313A5A901F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2449" y="3269698"/>
                <a:ext cx="1080120" cy="288031"/>
              </a:xfrm>
              <a:prstGeom prst="rect">
                <a:avLst/>
              </a:prstGeom>
              <a:blipFill>
                <a:blip r:embed="rId52"/>
                <a:stretch>
                  <a:fillRect t="-2083" b="-1041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0" name="ZoneTexte 129">
                <a:extLst>
                  <a:ext uri="{FF2B5EF4-FFF2-40B4-BE49-F238E27FC236}">
                    <a16:creationId xmlns:a16="http://schemas.microsoft.com/office/drawing/2014/main" id="{9F114DCB-0577-6C7B-B945-41CD450F2520}"/>
                  </a:ext>
                </a:extLst>
              </p:cNvPr>
              <p:cNvSpPr txBox="1"/>
              <p:nvPr/>
            </p:nvSpPr>
            <p:spPr>
              <a:xfrm>
                <a:off x="8888961" y="2608053"/>
                <a:ext cx="108012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dirty="0"/>
                  <a:t>Pivot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/>
                          </a:rPr>
                          <m:t>𝐵</m:t>
                        </m:r>
                        <m:r>
                          <a:rPr lang="fr-FR" sz="1200" b="0" i="1" smtClean="0">
                            <a:latin typeface="Cambria Math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e>
                    </m:d>
                  </m:oMath>
                </a14:m>
                <a:endParaRPr lang="fr-FR" sz="1200" dirty="0"/>
              </a:p>
            </p:txBody>
          </p:sp>
        </mc:Choice>
        <mc:Fallback>
          <p:sp>
            <p:nvSpPr>
              <p:cNvPr id="130" name="ZoneTexte 129">
                <a:extLst>
                  <a:ext uri="{FF2B5EF4-FFF2-40B4-BE49-F238E27FC236}">
                    <a16:creationId xmlns:a16="http://schemas.microsoft.com/office/drawing/2014/main" id="{9F114DCB-0577-6C7B-B945-41CD450F25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88961" y="2608053"/>
                <a:ext cx="1080120" cy="276999"/>
              </a:xfrm>
              <a:prstGeom prst="rect">
                <a:avLst/>
              </a:prstGeom>
              <a:blipFill>
                <a:blip r:embed="rId53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1" name="ZoneTexte 130">
                <a:extLst>
                  <a:ext uri="{FF2B5EF4-FFF2-40B4-BE49-F238E27FC236}">
                    <a16:creationId xmlns:a16="http://schemas.microsoft.com/office/drawing/2014/main" id="{889076A9-1212-B845-16A8-4042AE2FBCAB}"/>
                  </a:ext>
                </a:extLst>
              </p:cNvPr>
              <p:cNvSpPr txBox="1"/>
              <p:nvPr/>
            </p:nvSpPr>
            <p:spPr>
              <a:xfrm>
                <a:off x="9702139" y="2017869"/>
                <a:ext cx="108012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dirty="0"/>
                  <a:t>Glissière hélicoïdale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/>
                          </a:rPr>
                          <m:t>𝐵</m:t>
                        </m:r>
                        <m:r>
                          <a:rPr lang="fr-FR" sz="1200" b="0" i="1" smtClean="0">
                            <a:latin typeface="Cambria Math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e>
                    </m:d>
                  </m:oMath>
                </a14:m>
                <a:endParaRPr lang="fr-FR" sz="1200" dirty="0"/>
              </a:p>
            </p:txBody>
          </p:sp>
        </mc:Choice>
        <mc:Fallback>
          <p:sp>
            <p:nvSpPr>
              <p:cNvPr id="131" name="ZoneTexte 130">
                <a:extLst>
                  <a:ext uri="{FF2B5EF4-FFF2-40B4-BE49-F238E27FC236}">
                    <a16:creationId xmlns:a16="http://schemas.microsoft.com/office/drawing/2014/main" id="{889076A9-1212-B845-16A8-4042AE2FBC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2139" y="2017869"/>
                <a:ext cx="1080120" cy="646331"/>
              </a:xfrm>
              <a:prstGeom prst="rect">
                <a:avLst/>
              </a:prstGeom>
              <a:blipFill>
                <a:blip r:embed="rId5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2" name="ZoneTexte 131">
                <a:extLst>
                  <a:ext uri="{FF2B5EF4-FFF2-40B4-BE49-F238E27FC236}">
                    <a16:creationId xmlns:a16="http://schemas.microsoft.com/office/drawing/2014/main" id="{BB728A79-3237-5449-3336-2FDA8A0B7AF5}"/>
                  </a:ext>
                </a:extLst>
              </p:cNvPr>
              <p:cNvSpPr txBox="1"/>
              <p:nvPr/>
            </p:nvSpPr>
            <p:spPr>
              <a:xfrm>
                <a:off x="10164792" y="3278082"/>
                <a:ext cx="1080120" cy="288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dirty="0"/>
                  <a:t>Pivot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/>
                          </a:rPr>
                          <m:t>𝐶</m:t>
                        </m:r>
                        <m:r>
                          <a:rPr lang="fr-FR" sz="1200" b="0" i="1" smtClean="0">
                            <a:latin typeface="Cambria Math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/>
                              </a:rPr>
                              <m:t>𝑧</m:t>
                            </m:r>
                          </m:e>
                        </m:acc>
                      </m:e>
                    </m:d>
                  </m:oMath>
                </a14:m>
                <a:endParaRPr lang="fr-FR" sz="1200" dirty="0"/>
              </a:p>
            </p:txBody>
          </p:sp>
        </mc:Choice>
        <mc:Fallback>
          <p:sp>
            <p:nvSpPr>
              <p:cNvPr id="132" name="ZoneTexte 131">
                <a:extLst>
                  <a:ext uri="{FF2B5EF4-FFF2-40B4-BE49-F238E27FC236}">
                    <a16:creationId xmlns:a16="http://schemas.microsoft.com/office/drawing/2014/main" id="{BB728A79-3237-5449-3336-2FDA8A0B7A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4792" y="3278082"/>
                <a:ext cx="1080120" cy="288031"/>
              </a:xfrm>
              <a:prstGeom prst="rect">
                <a:avLst/>
              </a:prstGeom>
              <a:blipFill>
                <a:blip r:embed="rId55"/>
                <a:stretch>
                  <a:fillRect t="-2128" r="-562" b="-1276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3" name="ZoneTexte 132">
                <a:extLst>
                  <a:ext uri="{FF2B5EF4-FFF2-40B4-BE49-F238E27FC236}">
                    <a16:creationId xmlns:a16="http://schemas.microsoft.com/office/drawing/2014/main" id="{BCF21973-0772-834C-0C9D-2C75C8F0597C}"/>
                  </a:ext>
                </a:extLst>
              </p:cNvPr>
              <p:cNvSpPr txBox="1"/>
              <p:nvPr/>
            </p:nvSpPr>
            <p:spPr>
              <a:xfrm>
                <a:off x="8973895" y="3926831"/>
                <a:ext cx="1080120" cy="288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dirty="0"/>
                  <a:t>Pivot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/>
                          </a:rPr>
                          <m:t>𝐷</m:t>
                        </m:r>
                        <m:r>
                          <a:rPr lang="fr-FR" sz="1200" b="0" i="1" smtClean="0">
                            <a:latin typeface="Cambria Math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/>
                              </a:rPr>
                              <m:t>𝑧</m:t>
                            </m:r>
                          </m:e>
                        </m:acc>
                      </m:e>
                    </m:d>
                  </m:oMath>
                </a14:m>
                <a:endParaRPr lang="fr-FR" sz="1200" dirty="0"/>
              </a:p>
            </p:txBody>
          </p:sp>
        </mc:Choice>
        <mc:Fallback>
          <p:sp>
            <p:nvSpPr>
              <p:cNvPr id="133" name="ZoneTexte 132">
                <a:extLst>
                  <a:ext uri="{FF2B5EF4-FFF2-40B4-BE49-F238E27FC236}">
                    <a16:creationId xmlns:a16="http://schemas.microsoft.com/office/drawing/2014/main" id="{BCF21973-0772-834C-0C9D-2C75C8F059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3895" y="3926831"/>
                <a:ext cx="1080120" cy="288031"/>
              </a:xfrm>
              <a:prstGeom prst="rect">
                <a:avLst/>
              </a:prstGeom>
              <a:blipFill>
                <a:blip r:embed="rId56"/>
                <a:stretch>
                  <a:fillRect t="-2128" r="-1695" b="-1276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4" name="Éclair 133">
            <a:extLst>
              <a:ext uri="{FF2B5EF4-FFF2-40B4-BE49-F238E27FC236}">
                <a16:creationId xmlns:a16="http://schemas.microsoft.com/office/drawing/2014/main" id="{23BD6B85-7008-3192-5DA5-335833456D9C}"/>
              </a:ext>
            </a:extLst>
          </p:cNvPr>
          <p:cNvSpPr/>
          <p:nvPr/>
        </p:nvSpPr>
        <p:spPr>
          <a:xfrm rot="19305786">
            <a:off x="8810122" y="1873956"/>
            <a:ext cx="322911" cy="548372"/>
          </a:xfrm>
          <a:prstGeom prst="lightningBolt">
            <a:avLst/>
          </a:prstGeom>
          <a:solidFill>
            <a:srgbClr val="FFC000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5" name="Éclair 134">
            <a:extLst>
              <a:ext uri="{FF2B5EF4-FFF2-40B4-BE49-F238E27FC236}">
                <a16:creationId xmlns:a16="http://schemas.microsoft.com/office/drawing/2014/main" id="{326421F0-E2B1-2225-8872-7D8D084749EC}"/>
              </a:ext>
            </a:extLst>
          </p:cNvPr>
          <p:cNvSpPr/>
          <p:nvPr/>
        </p:nvSpPr>
        <p:spPr>
          <a:xfrm rot="4881763" flipH="1">
            <a:off x="10295794" y="3702994"/>
            <a:ext cx="323460" cy="543046"/>
          </a:xfrm>
          <a:prstGeom prst="lightningBolt">
            <a:avLst/>
          </a:prstGeom>
          <a:solidFill>
            <a:srgbClr val="FFC000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6" name="ZoneTexte 135">
            <a:extLst>
              <a:ext uri="{FF2B5EF4-FFF2-40B4-BE49-F238E27FC236}">
                <a16:creationId xmlns:a16="http://schemas.microsoft.com/office/drawing/2014/main" id="{1FD64334-3B80-ADCD-2B68-41F03E11ECBC}"/>
              </a:ext>
            </a:extLst>
          </p:cNvPr>
          <p:cNvSpPr txBox="1"/>
          <p:nvPr/>
        </p:nvSpPr>
        <p:spPr>
          <a:xfrm>
            <a:off x="7893775" y="1713733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/>
              <a:t>Couple moteur</a:t>
            </a:r>
          </a:p>
        </p:txBody>
      </p:sp>
      <p:sp>
        <p:nvSpPr>
          <p:cNvPr id="137" name="ZoneTexte 136">
            <a:extLst>
              <a:ext uri="{FF2B5EF4-FFF2-40B4-BE49-F238E27FC236}">
                <a16:creationId xmlns:a16="http://schemas.microsoft.com/office/drawing/2014/main" id="{24370952-BD6F-1638-A55A-5309F3013774}"/>
              </a:ext>
            </a:extLst>
          </p:cNvPr>
          <p:cNvSpPr txBox="1"/>
          <p:nvPr/>
        </p:nvSpPr>
        <p:spPr>
          <a:xfrm>
            <a:off x="10564235" y="3937863"/>
            <a:ext cx="10801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/>
              <a:t>Pesanteur</a:t>
            </a:r>
          </a:p>
        </p:txBody>
      </p:sp>
    </p:spTree>
    <p:extLst>
      <p:ext uri="{BB962C8B-B14F-4D97-AF65-F5344CB8AC3E}">
        <p14:creationId xmlns:p14="http://schemas.microsoft.com/office/powerpoint/2010/main" val="18279878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Stratégie – TEC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7795" y="981887"/>
            <a:ext cx="5978205" cy="5253339"/>
          </a:xfrm>
        </p:spPr>
        <p:txBody>
          <a:bodyPr>
            <a:normAutofit fontScale="92500" lnSpcReduction="20000"/>
          </a:bodyPr>
          <a:lstStyle/>
          <a:p>
            <a:r>
              <a:rPr lang="fr-FR" dirty="0"/>
              <a:t>Energie cinétique</a:t>
            </a:r>
          </a:p>
          <a:p>
            <a:pPr lvl="1"/>
            <a:r>
              <a:rPr lang="fr-FR" dirty="0"/>
              <a:t>Ensemble stator</a:t>
            </a:r>
          </a:p>
          <a:p>
            <a:pPr lvl="1"/>
            <a:r>
              <a:rPr lang="fr-FR" dirty="0"/>
              <a:t>Ensemble rotor</a:t>
            </a:r>
          </a:p>
          <a:p>
            <a:pPr lvl="1"/>
            <a:r>
              <a:rPr lang="fr-FR" dirty="0"/>
              <a:t>Ecrou</a:t>
            </a:r>
          </a:p>
          <a:p>
            <a:pPr lvl="1"/>
            <a:r>
              <a:rPr lang="fr-FR" dirty="0"/>
              <a:t>Ensemble bras</a:t>
            </a:r>
          </a:p>
          <a:p>
            <a:r>
              <a:rPr lang="fr-FR" dirty="0"/>
              <a:t>Puissance intérieure</a:t>
            </a:r>
          </a:p>
          <a:p>
            <a:pPr lvl="1"/>
            <a:r>
              <a:rPr lang="fr-FR" dirty="0"/>
              <a:t>Puissance dans les liaisons</a:t>
            </a:r>
          </a:p>
          <a:p>
            <a:pPr lvl="1"/>
            <a:r>
              <a:rPr lang="fr-FR" dirty="0"/>
              <a:t>Puissance du moteur</a:t>
            </a:r>
          </a:p>
          <a:p>
            <a:pPr lvl="1"/>
            <a:r>
              <a:rPr lang="fr-FR" strike="sngStrike" dirty="0">
                <a:solidFill>
                  <a:srgbClr val="FF0000"/>
                </a:solidFill>
              </a:rPr>
              <a:t>Puissance dissipée par frottements</a:t>
            </a:r>
          </a:p>
          <a:p>
            <a:r>
              <a:rPr lang="fr-FR" dirty="0"/>
              <a:t>Puissance extérieure</a:t>
            </a:r>
          </a:p>
          <a:p>
            <a:pPr lvl="1"/>
            <a:r>
              <a:rPr lang="fr-FR" dirty="0"/>
              <a:t>Puissance de la pesanteur</a:t>
            </a:r>
          </a:p>
          <a:p>
            <a:pPr lvl="1"/>
            <a:r>
              <a:rPr lang="fr-FR" dirty="0"/>
              <a:t>Puissance dans les liaisons</a:t>
            </a:r>
          </a:p>
          <a:p>
            <a:pPr lvl="1"/>
            <a:r>
              <a:rPr lang="fr-FR" strike="sngStrike" dirty="0">
                <a:solidFill>
                  <a:srgbClr val="FF0000"/>
                </a:solidFill>
              </a:rPr>
              <a:t>Puissance dissipée par frottements</a:t>
            </a:r>
          </a:p>
          <a:p>
            <a:r>
              <a:rPr lang="fr-FR" b="1" dirty="0">
                <a:solidFill>
                  <a:srgbClr val="FF0000"/>
                </a:solidFill>
              </a:rPr>
              <a:t>Puissance dissipée par frottements (intérieurs et extérieurs)</a:t>
            </a:r>
          </a:p>
        </p:txBody>
      </p:sp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4602F5FE-C78A-4ABD-DF80-81031D8364CC}"/>
              </a:ext>
            </a:extLst>
          </p:cNvPr>
          <p:cNvSpPr txBox="1">
            <a:spLocks/>
          </p:cNvSpPr>
          <p:nvPr/>
        </p:nvSpPr>
        <p:spPr>
          <a:xfrm>
            <a:off x="6002868" y="2090057"/>
            <a:ext cx="5978206" cy="414516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271463" indent="-269875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q"/>
              <a:defRPr lang="fr-FR"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49263" indent="-249238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q"/>
              <a:defRPr lang="fr-FR"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27063" indent="-242888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SzPct val="80000"/>
              <a:buFont typeface="Wingdings" panose="05000000000000000000" pitchFamily="2" charset="2"/>
              <a:buChar char="q"/>
              <a:defRPr lang="fr-FR"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804863" indent="-238125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3"/>
              </a:buClr>
              <a:buSzPct val="80000"/>
              <a:buFont typeface="Wingdings" panose="05000000000000000000" pitchFamily="2" charset="2"/>
              <a:buChar char="q"/>
              <a:defRPr lang="fr-FR"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82663" indent="-233363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4"/>
              </a:buClr>
              <a:buSzPct val="80000"/>
              <a:buFont typeface="Wingdings" panose="05000000000000000000" pitchFamily="2" charset="2"/>
              <a:buChar char="q"/>
              <a:defRPr lang="en-US"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fr-FR" sz="2400" dirty="0"/>
              <a:t>Il est rarement possible de déterminer les frottements dans chacune des liaisons. On cherche donc souvent un modèle de frottement « ramené » à un des mouvements.</a:t>
            </a:r>
          </a:p>
          <a:p>
            <a:pPr algn="just"/>
            <a:endParaRPr lang="fr-FR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747778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80FE2C-A2DB-EC9F-19A8-C313B7295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2800" dirty="0"/>
              <a:t>Stratégie TEC</a:t>
            </a:r>
            <a:br>
              <a:rPr lang="fr-FR" sz="2800" dirty="0"/>
            </a:br>
            <a:r>
              <a:rPr lang="fr-FR" sz="2800" dirty="0"/>
              <a:t>Energie cinétique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7BAA89F-0FFE-0B50-3319-445849FF9A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795" y="981887"/>
            <a:ext cx="4541291" cy="5253339"/>
          </a:xfrm>
        </p:spPr>
        <p:txBody>
          <a:bodyPr>
            <a:normAutofit fontScale="85000" lnSpcReduction="20000"/>
          </a:bodyPr>
          <a:lstStyle/>
          <a:p>
            <a:r>
              <a:rPr lang="fr-FR" dirty="0"/>
              <a:t> Energie cinétique</a:t>
            </a:r>
          </a:p>
          <a:p>
            <a:pPr lvl="1"/>
            <a:r>
              <a:rPr lang="fr-FR" dirty="0"/>
              <a:t>Relation cinématique</a:t>
            </a:r>
          </a:p>
          <a:p>
            <a:pPr lvl="2"/>
            <a:r>
              <a:rPr lang="fr-FR" dirty="0"/>
              <a:t>Expérimentalement</a:t>
            </a:r>
          </a:p>
          <a:p>
            <a:pPr lvl="2"/>
            <a:r>
              <a:rPr lang="fr-FR" dirty="0"/>
              <a:t>Avec la documentation</a:t>
            </a:r>
          </a:p>
          <a:p>
            <a:pPr lvl="1"/>
            <a:r>
              <a:rPr lang="fr-FR" dirty="0"/>
              <a:t>Energie cinétique ensemble stator</a:t>
            </a:r>
          </a:p>
          <a:p>
            <a:pPr lvl="2"/>
            <a:r>
              <a:rPr lang="fr-FR" dirty="0"/>
              <a:t>Inertie stator : peser stator + SW</a:t>
            </a:r>
          </a:p>
          <a:p>
            <a:pPr lvl="1"/>
            <a:r>
              <a:rPr lang="fr-FR" dirty="0"/>
              <a:t>Energie cinétique ensemble rotor</a:t>
            </a:r>
          </a:p>
          <a:p>
            <a:pPr lvl="1"/>
            <a:r>
              <a:rPr lang="fr-FR" dirty="0"/>
              <a:t>Energie cinétique écrou</a:t>
            </a:r>
          </a:p>
          <a:p>
            <a:pPr lvl="1"/>
            <a:r>
              <a:rPr lang="fr-FR" dirty="0"/>
              <a:t>Energie cinétique ensemble bras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2"/>
            <a:r>
              <a:rPr lang="fr-FR" dirty="0"/>
              <a:t>Documentation</a:t>
            </a:r>
          </a:p>
          <a:p>
            <a:pPr lvl="1"/>
            <a:r>
              <a:rPr lang="fr-FR" dirty="0"/>
              <a:t>Inertie du réducteur</a:t>
            </a:r>
          </a:p>
          <a:p>
            <a:pPr lvl="2"/>
            <a:r>
              <a:rPr lang="fr-FR" dirty="0"/>
              <a:t>Documentation</a:t>
            </a:r>
          </a:p>
          <a:p>
            <a:pPr lvl="1"/>
            <a:r>
              <a:rPr lang="fr-FR" dirty="0"/>
              <a:t>Inertie de la poulie</a:t>
            </a:r>
          </a:p>
          <a:p>
            <a:pPr lvl="1"/>
            <a:r>
              <a:rPr lang="fr-FR" dirty="0"/>
              <a:t>Inertie codeur ?</a:t>
            </a:r>
          </a:p>
          <a:p>
            <a:pPr lvl="1"/>
            <a:r>
              <a:rPr lang="fr-FR" dirty="0"/>
              <a:t>Masse en translation</a:t>
            </a:r>
          </a:p>
          <a:p>
            <a:pPr lvl="2"/>
            <a:r>
              <a:rPr lang="fr-FR" dirty="0"/>
              <a:t>Documentation</a:t>
            </a:r>
          </a:p>
          <a:p>
            <a:pPr lvl="2"/>
            <a:r>
              <a:rPr lang="fr-FR" dirty="0"/>
              <a:t>Expérimentation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E7512A05-D1EA-5493-6918-5F2C2DCF52A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59086" y="981887"/>
                <a:ext cx="7532913" cy="5253339"/>
              </a:xfrm>
              <a:prstGeom prst="rect">
                <a:avLst/>
              </a:prstGeom>
            </p:spPr>
            <p:txBody>
              <a:bodyPr vert="horz" lIns="0" tIns="45720" rIns="0" bIns="45720" rtlCol="0">
                <a:normAutofit lnSpcReduction="10000"/>
              </a:bodyPr>
              <a:lstStyle>
                <a:lvl1pPr marL="271463" indent="-269875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tx2"/>
                  </a:buClr>
                  <a:buSzPct val="80000"/>
                  <a:buFont typeface="Wingdings" panose="05000000000000000000" pitchFamily="2" charset="2"/>
                  <a:buChar char="q"/>
                  <a:defRPr lang="fr-FR" sz="2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49263" indent="-24923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SzPct val="80000"/>
                  <a:buFont typeface="Wingdings" panose="05000000000000000000" pitchFamily="2" charset="2"/>
                  <a:buChar char="q"/>
                  <a:defRPr lang="fr-FR" sz="2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627063" indent="-24288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804863" indent="-238125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3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82663" indent="-233363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4"/>
                  </a:buClr>
                  <a:buSzPct val="80000"/>
                  <a:buFont typeface="Wingdings" panose="05000000000000000000" pitchFamily="2" charset="2"/>
                  <a:buChar char="q"/>
                  <a:defRPr lang="en-US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fr-FR" sz="2200" b="0" dirty="0">
                    <a:ea typeface="Cambria Math" panose="02040503050406030204" pitchFamily="18" charset="0"/>
                  </a:rPr>
                  <a:t> Ensemble stator</a:t>
                </a:r>
                <a:endParaRPr lang="fr-FR" sz="2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  <m:r>
                          <m:rPr>
                            <m:lit/>
                          </m:r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</m:sSub>
                    <m:sSup>
                      <m:sSup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̇"/>
                            <m:ctrlPr>
                              <a:rPr lang="fr-FR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</m:acc>
                      </m:e>
                      <m:sup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fr-FR" sz="2200" b="0" dirty="0">
                  <a:ea typeface="Cambria Math" panose="02040503050406030204" pitchFamily="18" charset="0"/>
                </a:endParaRPr>
              </a:p>
              <a:p>
                <a:r>
                  <a:rPr lang="fr-FR" sz="2200" dirty="0">
                    <a:ea typeface="Cambria Math" panose="02040503050406030204" pitchFamily="18" charset="0"/>
                  </a:rPr>
                  <a:t>Ensemble rotor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  <m:r>
                          <m:rPr>
                            <m:lit/>
                          </m:r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begChr m:val="{"/>
                        <m:endChr m:val="}"/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acc>
                              <m:accPr>
                                <m:chr m:val="⃗"/>
                                <m:ctrlP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Ω</m:t>
                                </m:r>
                                <m:d>
                                  <m:dPr>
                                    <m:ctrlP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𝑅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𝑅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</m:eqArr>
                      </m:e>
                    </m:d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⊗</m:t>
                    </m:r>
                    <m:d>
                      <m:dPr>
                        <m:begChr m:val="{"/>
                        <m:endChr m:val="}"/>
                        <m:ctrlPr>
                          <a:rPr lang="fr-FR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e>
                              <m:sub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𝑅</m:t>
                                </m:r>
                              </m:sub>
                            </m:sSub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𝑅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𝑅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</m:eqArr>
                      </m:e>
                    </m:d>
                  </m:oMath>
                </a14:m>
                <a:endParaRPr lang="fr-FR" sz="2200" dirty="0"/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fr-FR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  <m:r>
                      <a:rPr lang="fr-FR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  <m:acc>
                          <m:accPr>
                            <m:chr m:val="⃗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</m:func>
                        <m:acc>
                          <m:accPr>
                            <m:chr m:val="⃗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e>
                    </m:d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e/>
                                <m:e/>
                              </m:mr>
                              <m:mr>
                                <m:e/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e/>
                              </m:mr>
                              <m:mr>
                                <m:e/>
                                <m:e/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acc>
                                </m:e>
                              </m:mr>
                              <m:m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acc>
                                  <m:func>
                                    <m:func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120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func>
                                </m:e>
                              </m:mr>
                              <m:m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acc>
                                  <m:func>
                                    <m:func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1200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func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acc>
                                </m:e>
                              </m:m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acc>
                                  <m:func>
                                    <m:func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120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func>
                                </m:e>
                              </m:m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acc>
                                  <m:func>
                                    <m:func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120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func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</m:oMath>
                </a14:m>
                <a:r>
                  <a:rPr lang="fr-FR" sz="1200" dirty="0"/>
                  <a:t>(Le stator est un solide de révolution, on peut faire le calcul dans la base 1).</a:t>
                </a:r>
              </a:p>
              <a:p>
                <a:pPr lvl="2"/>
                <a:endParaRPr lang="fr-FR" sz="1200" dirty="0"/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sSup>
                      <m:sSup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̇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</m:acc>
                      </m:e>
                      <m:sup>
                        <m:r>
                          <a:rPr lang="fr-FR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fr-FR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p>
                          <m:s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acc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fr-FR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  <m:acc>
                              <m:accPr>
                                <m:chr m:val="⃗"/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A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2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G</m:t>
                                </m:r>
                              </m:e>
                            </m:acc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den>
                        </m:f>
                      </m:e>
                    </m:d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  <m:r>
                          <m:rPr>
                            <m:lit/>
                          </m:r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  <m:sSup>
                          <m:sSupPr>
                            <m:ctrlP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̇"/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</m:acc>
                          </m:e>
                          <m:sup>
                            <m:r>
                              <a:rPr lang="fr-FR" sz="18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1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fr-F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  <m:acc>
                          <m:accPr>
                            <m:chr m:val="̇"/>
                            <m:ctrlP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sSup>
                              <m:sSup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p>
                                <m: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acc>
                      </m:e>
                    </m:d>
                    <m:r>
                      <a:rPr lang="fr-F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sub>
                    </m:sSub>
                    <m:sSubSup>
                      <m:sSubSup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sub>
                      <m:sup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  <m:acc>
                      <m:accPr>
                        <m:chr m:val="̇"/>
                        <m:ctrlPr>
                          <a:rPr lang="fr-F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p>
                          <m:sSupPr>
                            <m:ctrlP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p>
                            <m: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acc>
                  </m:oMath>
                </a14:m>
                <a:endParaRPr lang="fr-FR" sz="180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fr-FR" sz="1800" dirty="0"/>
                  <a:t>Finalement, pour l’ensemble rotor 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  <m:r>
                          <m:rPr>
                            <m:lit/>
                          </m:r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𝐽</m:t>
                                </m:r>
                              </m:sub>
                            </m:s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sub>
                            </m:s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𝐸</m:t>
                                </m:r>
                              </m:sub>
                            </m:sSub>
                          </m:e>
                        </m:d>
                        <m:sSup>
                          <m:s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acc>
                              <m:accPr>
                                <m:chr m:val="̇"/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</m:acc>
                          </m:e>
                          <m:sup>
                            <m:r>
                              <a:rPr lang="fr-FR" sz="12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𝐽</m:t>
                                </m:r>
                              </m:sub>
                            </m:s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sub>
                            </m:s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𝐸</m:t>
                                </m:r>
                              </m:sub>
                            </m:sSub>
                          </m:e>
                        </m:d>
                        <m:acc>
                          <m:accPr>
                            <m:chr m:val="̇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sSup>
                              <m:sSup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p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acc>
                      </m:e>
                    </m:d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sSubSup>
                          <m:sSub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sub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sub>
                        </m:sSub>
                        <m:sSubSup>
                          <m:sSub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sub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𝑉</m:t>
                            </m:r>
                          </m:sub>
                        </m:sSub>
                        <m:sSubSup>
                          <m:sSub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𝑉</m:t>
                            </m:r>
                          </m:sub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𝐸</m:t>
                            </m:r>
                          </m:sub>
                        </m:sSub>
                        <m:sSubSup>
                          <m:sSub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𝐸</m:t>
                            </m:r>
                          </m:sub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p>
                          <m:s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acc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2"/>
                <a:endParaRPr lang="fr-FR" sz="1200" dirty="0"/>
              </a:p>
            </p:txBody>
          </p:sp>
        </mc:Choice>
        <mc:Fallback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E7512A05-D1EA-5493-6918-5F2C2DCF5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086" y="981887"/>
                <a:ext cx="7532913" cy="5253339"/>
              </a:xfrm>
              <a:prstGeom prst="rect">
                <a:avLst/>
              </a:prstGeom>
              <a:blipFill>
                <a:blip r:embed="rId2"/>
                <a:stretch>
                  <a:fillRect l="-1699" t="-1972" r="-64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 4">
            <a:extLst>
              <a:ext uri="{FF2B5EF4-FFF2-40B4-BE49-F238E27FC236}">
                <a16:creationId xmlns:a16="http://schemas.microsoft.com/office/drawing/2014/main" id="{4EEAA727-7B1C-B8C6-9B1B-D7D0415184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69085" y="162267"/>
            <a:ext cx="2405120" cy="1882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3223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7AA1B3-B619-A026-C886-675B75D5F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graphicFrame>
        <p:nvGraphicFramePr>
          <p:cNvPr id="4" name="Espace réservé du contenu 3">
            <a:extLst>
              <a:ext uri="{FF2B5EF4-FFF2-40B4-BE49-F238E27FC236}">
                <a16:creationId xmlns:a16="http://schemas.microsoft.com/office/drawing/2014/main" id="{00C2A37C-9472-0536-CF9E-87103B8DF0A9}"/>
              </a:ext>
            </a:extLst>
          </p:cNvPr>
          <p:cNvGraphicFramePr>
            <a:graphicFrameLocks noGrp="1" noChangeAspect="1"/>
          </p:cNvGraphicFramePr>
          <p:nvPr>
            <p:ph idx="1"/>
            <p:extLst>
              <p:ext uri="{D42A27DB-BD31-4B8C-83A1-F6EECF244321}">
                <p14:modId xmlns:p14="http://schemas.microsoft.com/office/powerpoint/2010/main" val="805554269"/>
              </p:ext>
            </p:extLst>
          </p:nvPr>
        </p:nvGraphicFramePr>
        <p:xfrm>
          <a:off x="1201738" y="1766888"/>
          <a:ext cx="9786937" cy="3684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6864214" imgH="2584362" progId="Excel.Sheet.12">
                  <p:embed/>
                </p:oleObj>
              </mc:Choice>
              <mc:Fallback>
                <p:oleObj name="Worksheet" r:id="rId2" imgW="6864214" imgH="2584362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201738" y="1766888"/>
                        <a:ext cx="9786937" cy="3684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7932309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80FE2C-A2DB-EC9F-19A8-C313B7295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2800" dirty="0"/>
              <a:t>Stratégie TEC</a:t>
            </a:r>
            <a:br>
              <a:rPr lang="fr-FR" sz="2800" dirty="0"/>
            </a:br>
            <a:r>
              <a:rPr lang="fr-FR" sz="2800" dirty="0"/>
              <a:t>Energie cinétique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7BAA89F-0FFE-0B50-3319-445849FF9A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795" y="981887"/>
            <a:ext cx="4541291" cy="5253339"/>
          </a:xfrm>
        </p:spPr>
        <p:txBody>
          <a:bodyPr>
            <a:normAutofit fontScale="85000" lnSpcReduction="20000"/>
          </a:bodyPr>
          <a:lstStyle/>
          <a:p>
            <a:r>
              <a:rPr lang="fr-FR" dirty="0"/>
              <a:t> Energie cinétique</a:t>
            </a:r>
          </a:p>
          <a:p>
            <a:pPr lvl="1"/>
            <a:r>
              <a:rPr lang="fr-FR" dirty="0"/>
              <a:t>Relation cinématique</a:t>
            </a:r>
          </a:p>
          <a:p>
            <a:pPr lvl="2"/>
            <a:r>
              <a:rPr lang="fr-FR" dirty="0"/>
              <a:t>Expérimentalement</a:t>
            </a:r>
          </a:p>
          <a:p>
            <a:pPr lvl="2"/>
            <a:r>
              <a:rPr lang="fr-FR" dirty="0"/>
              <a:t>Avec la documentation</a:t>
            </a:r>
          </a:p>
          <a:p>
            <a:pPr lvl="1"/>
            <a:r>
              <a:rPr lang="fr-FR" dirty="0"/>
              <a:t>Energie cinétique ensemble stator</a:t>
            </a:r>
          </a:p>
          <a:p>
            <a:pPr lvl="2"/>
            <a:r>
              <a:rPr lang="fr-FR" dirty="0"/>
              <a:t>Inertie stator : peser stator + SW</a:t>
            </a:r>
          </a:p>
          <a:p>
            <a:pPr lvl="1"/>
            <a:r>
              <a:rPr lang="fr-FR" dirty="0"/>
              <a:t>Energie cinétique ensemble rotor</a:t>
            </a:r>
          </a:p>
          <a:p>
            <a:pPr lvl="1"/>
            <a:r>
              <a:rPr lang="fr-FR" dirty="0"/>
              <a:t>Energie cinétique écrou</a:t>
            </a:r>
          </a:p>
          <a:p>
            <a:pPr lvl="1"/>
            <a:r>
              <a:rPr lang="fr-FR" dirty="0"/>
              <a:t>Energie cinétique ensemble bras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2"/>
            <a:r>
              <a:rPr lang="fr-FR" dirty="0"/>
              <a:t>Documentation</a:t>
            </a:r>
          </a:p>
          <a:p>
            <a:pPr lvl="1"/>
            <a:r>
              <a:rPr lang="fr-FR" dirty="0"/>
              <a:t>Inertie du réducteur</a:t>
            </a:r>
          </a:p>
          <a:p>
            <a:pPr lvl="2"/>
            <a:r>
              <a:rPr lang="fr-FR" dirty="0"/>
              <a:t>Documentation</a:t>
            </a:r>
          </a:p>
          <a:p>
            <a:pPr lvl="1"/>
            <a:r>
              <a:rPr lang="fr-FR" dirty="0"/>
              <a:t>Inertie de la poulie</a:t>
            </a:r>
          </a:p>
          <a:p>
            <a:pPr lvl="1"/>
            <a:r>
              <a:rPr lang="fr-FR" dirty="0"/>
              <a:t>Inertie codeur ?</a:t>
            </a:r>
          </a:p>
          <a:p>
            <a:pPr lvl="1"/>
            <a:r>
              <a:rPr lang="fr-FR" dirty="0"/>
              <a:t>Masse en translation</a:t>
            </a:r>
          </a:p>
          <a:p>
            <a:pPr lvl="2"/>
            <a:r>
              <a:rPr lang="fr-FR" dirty="0"/>
              <a:t>Documentation</a:t>
            </a:r>
          </a:p>
          <a:p>
            <a:pPr lvl="2"/>
            <a:r>
              <a:rPr lang="fr-FR" dirty="0"/>
              <a:t>Expérimentation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E7512A05-D1EA-5493-6918-5F2C2DCF52A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59087" y="981887"/>
                <a:ext cx="7184570" cy="5253339"/>
              </a:xfrm>
              <a:prstGeom prst="rect">
                <a:avLst/>
              </a:prstGeom>
            </p:spPr>
            <p:txBody>
              <a:bodyPr vert="horz" lIns="0" tIns="45720" rIns="0" bIns="45720" rtlCol="0">
                <a:normAutofit/>
              </a:bodyPr>
              <a:lstStyle>
                <a:lvl1pPr marL="271463" indent="-269875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tx2"/>
                  </a:buClr>
                  <a:buSzPct val="80000"/>
                  <a:buFont typeface="Wingdings" panose="05000000000000000000" pitchFamily="2" charset="2"/>
                  <a:buChar char="q"/>
                  <a:defRPr lang="fr-FR" sz="2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49263" indent="-24923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SzPct val="80000"/>
                  <a:buFont typeface="Wingdings" panose="05000000000000000000" pitchFamily="2" charset="2"/>
                  <a:buChar char="q"/>
                  <a:defRPr lang="fr-FR" sz="2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627063" indent="-24288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804863" indent="-238125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3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82663" indent="-233363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4"/>
                  </a:buClr>
                  <a:buSzPct val="80000"/>
                  <a:buFont typeface="Wingdings" panose="05000000000000000000" pitchFamily="2" charset="2"/>
                  <a:buChar char="q"/>
                  <a:defRPr lang="en-US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fr-FR" sz="2200" dirty="0">
                    <a:ea typeface="Cambria Math" panose="02040503050406030204" pitchFamily="18" charset="0"/>
                  </a:rPr>
                  <a:t>Ensemble écrou (E=3)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𝐸</m:t>
                        </m:r>
                        <m:r>
                          <m:rPr>
                            <m:lit/>
                          </m:r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begChr m:val="{"/>
                        <m:endChr m:val="}"/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acc>
                              <m:accPr>
                                <m:chr m:val="⃗"/>
                                <m:ctrlP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Ω</m:t>
                                </m:r>
                                <m:d>
                                  <m:dPr>
                                    <m:ctrlP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𝐸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𝐸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</m:eqArr>
                      </m:e>
                    </m:d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⊗</m:t>
                    </m:r>
                    <m:d>
                      <m:dPr>
                        <m:begChr m:val="{"/>
                        <m:endChr m:val="}"/>
                        <m:ctrlPr>
                          <a:rPr lang="fr-FR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e>
                              <m:sub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𝑅</m:t>
                                </m:r>
                              </m:sub>
                            </m:sSub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𝐸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𝐸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</m:eqArr>
                      </m:e>
                    </m:d>
                  </m:oMath>
                </a14:m>
                <a:endParaRPr lang="fr-FR" sz="2200" dirty="0"/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30</m:t>
                        </m:r>
                      </m:sub>
                    </m:sSub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e/>
                                <m:e/>
                              </m:mr>
                              <m:mr>
                                <m:e/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e/>
                              </m:mr>
                              <m:mr>
                                <m:e/>
                                <m:e/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30</m:t>
                                      </m:r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30</m:t>
                                      </m:r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</m:oMath>
                </a14:m>
                <a:endParaRPr lang="fr-FR" sz="1200" dirty="0"/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𝐸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sSubSup>
                      <m:sSubSup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30</m:t>
                        </m:r>
                      </m:sub>
                      <m:sup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𝐸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fr-FR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  <m:acc>
                              <m:accPr>
                                <m:chr m:val="⃗"/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DC</m:t>
                                </m:r>
                              </m:e>
                            </m:acc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den>
                        </m:f>
                      </m:e>
                    </m:d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acc>
                  </m:oMath>
                </a14:m>
                <a:r>
                  <a:rPr lang="fr-FR" sz="1200" dirty="0">
                    <a:ea typeface="Cambria Math" panose="02040503050406030204" pitchFamily="18" charset="0"/>
                  </a:rPr>
                  <a:t> - Hypothèse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fr-FR" sz="1200" dirty="0">
                    <a:ea typeface="Cambria Math" panose="02040503050406030204" pitchFamily="18" charset="0"/>
                  </a:rPr>
                  <a:t> écrou est en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  <m:r>
                          <m:rPr>
                            <m:lit/>
                          </m:r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  <m:sSubSup>
                          <m:sSubSupPr>
                            <m:ctrlP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30</m:t>
                            </m:r>
                          </m:sub>
                          <m:sup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fr-FR" sz="1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sSup>
                          <m:sSupPr>
                            <m:ctrlP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acc>
                          <m:accPr>
                            <m:chr m:val="̇"/>
                            <m:ctrlP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sSup>
                              <m:sSupPr>
                                <m:ctrlPr>
                                  <a:rPr lang="fr-F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p>
                                <m:r>
                                  <a:rPr lang="fr-F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acc>
                      </m:e>
                    </m:d>
                  </m:oMath>
                </a14:m>
                <a:endParaRPr lang="fr-FR" sz="1800" dirty="0">
                  <a:ea typeface="Cambria Math" panose="02040503050406030204" pitchFamily="18" charset="0"/>
                </a:endParaRPr>
              </a:p>
              <a:p>
                <a:r>
                  <a:rPr lang="fr-FR" sz="2200" dirty="0">
                    <a:ea typeface="Cambria Math" panose="02040503050406030204" pitchFamily="18" charset="0"/>
                  </a:rPr>
                  <a:t>Bras : rotation autour d’un axe fixe</a:t>
                </a:r>
              </a:p>
              <a:p>
                <a:pPr lvl="1"/>
                <a:r>
                  <a:rPr lang="fr-FR" sz="1800" dirty="0">
                    <a:ea typeface="Cambria Math" panose="02040503050406030204" pitchFamily="18" charset="0"/>
                  </a:rPr>
                  <a:t>Inertie du bras en </a:t>
                </a:r>
                <a14:m>
                  <m:oMath xmlns:m="http://schemas.openxmlformats.org/officeDocument/2006/math">
                    <m:r>
                      <a:rPr lang="fr-F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fr-FR" sz="1800" dirty="0">
                    <a:ea typeface="Cambria Math" panose="02040503050406030204" pitchFamily="18" charset="0"/>
                  </a:rPr>
                  <a:t> sur l’axe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⃗"/>
                            <m:ctrlPr>
                              <a:rPr lang="fr-FR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e>
                        </m:acc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800" dirty="0">
                    <a:ea typeface="Cambria Math" panose="02040503050406030204" pitchFamily="18" charset="0"/>
                  </a:rPr>
                  <a:t>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endParaRPr lang="fr-FR" sz="1800" b="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fr-FR" sz="1800" dirty="0">
                    <a:ea typeface="Cambria Math" panose="02040503050406030204" pitchFamily="18" charset="0"/>
                  </a:rPr>
                  <a:t>Masses ponctuelles </a:t>
                </a:r>
              </a:p>
              <a:p>
                <a:pPr lvl="1"/>
                <a:r>
                  <a:rPr lang="fr-FR" sz="18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  <m:r>
                          <m:rPr>
                            <m:lit/>
                          </m:r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  <m:r>
                          <a:rPr lang="fr-FR" sz="1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𝐿</m:t>
                            </m:r>
                          </m:e>
                          <m:sup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acc>
                      <m:accPr>
                        <m:chr m:val="̇"/>
                        <m:ctrlPr>
                          <a:rPr lang="fr-F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p>
                          <m:sSupPr>
                            <m:ctrlP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acc>
                  </m:oMath>
                </a14:m>
                <a:endParaRPr lang="fr-FR" sz="180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E7512A05-D1EA-5493-6918-5F2C2DCF5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087" y="981887"/>
                <a:ext cx="7184570" cy="5253339"/>
              </a:xfrm>
              <a:prstGeom prst="rect">
                <a:avLst/>
              </a:prstGeom>
              <a:blipFill>
                <a:blip r:embed="rId2"/>
                <a:stretch>
                  <a:fillRect l="-1781" t="-150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874223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80FE2C-A2DB-EC9F-19A8-C313B7295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2800" dirty="0"/>
              <a:t>Stratégie TEC</a:t>
            </a:r>
            <a:br>
              <a:rPr lang="fr-FR" sz="2800" dirty="0"/>
            </a:br>
            <a:r>
              <a:rPr lang="fr-FR" sz="2800" dirty="0"/>
              <a:t>Puissances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67BAA89F-0FFE-0B50-3319-445849FF9A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Puissances dans les liaisons</a:t>
                </a:r>
              </a:p>
              <a:p>
                <a:pPr lvl="1"/>
                <a:r>
                  <a:rPr lang="fr-FR" dirty="0"/>
                  <a:t>Hypothèses des liaisons parfaites</a:t>
                </a:r>
              </a:p>
              <a:p>
                <a:pPr lvl="1"/>
                <a:r>
                  <a:rPr lang="fr-FR" dirty="0"/>
                  <a:t>Savoir montrer que hypothèse RSG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fr-FR" dirty="0"/>
                  <a:t> puissance nulle</a:t>
                </a:r>
              </a:p>
              <a:p>
                <a:pPr lvl="1"/>
                <a:r>
                  <a:rPr lang="fr-FR" dirty="0"/>
                  <a:t>Hypothèse de courroie non déformable</a:t>
                </a:r>
              </a:p>
              <a:p>
                <a:endParaRPr lang="fr-FR" dirty="0"/>
              </a:p>
              <a:p>
                <a:r>
                  <a:rPr lang="fr-FR" dirty="0"/>
                  <a:t>Puissance du moteur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𝓟</m:t>
                    </m:r>
                    <m:d>
                      <m:dPr>
                        <m:ctrlP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𝒔𝒕𝒂𝒕𝒐𝒓</m:t>
                        </m:r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𝒓𝒐𝒕𝒐𝒓</m:t>
                        </m:r>
                        <m:r>
                          <m:rPr>
                            <m:lit/>
                          </m:rP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𝟎</m:t>
                        </m:r>
                      </m:e>
                    </m:d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𝒎</m:t>
                        </m:r>
                      </m:sub>
                    </m:sSub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𝝎</m:t>
                    </m:r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𝒓</m:t>
                    </m:r>
                    <m:r>
                      <m:rPr>
                        <m:lit/>
                      </m:rP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fr-FR" b="1" dirty="0"/>
              </a:p>
              <a:p>
                <a:pPr lvl="1"/>
                <a:r>
                  <a:rPr lang="fr-FR" dirty="0"/>
                  <a:t>Dans le moteur à courant continu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𝒎</m:t>
                        </m:r>
                      </m:sub>
                    </m:sSub>
                    <m:r>
                      <a:rPr lang="fr-FR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𝑲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fr-F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𝒎</m:t>
                        </m:r>
                      </m:sub>
                    </m:sSub>
                  </m:oMath>
                </a14:m>
                <a:endParaRPr lang="fr-FR" b="1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67BAA89F-0FFE-0B50-3319-445849FF9A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5" t="-1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59869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BB24450-578A-883B-C938-C55292701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3200" dirty="0"/>
              <a:t>Stratégie TEC</a:t>
            </a:r>
            <a:br>
              <a:rPr lang="fr-FR" sz="3200" dirty="0"/>
            </a:br>
            <a:r>
              <a:rPr lang="fr-FR" sz="3200" dirty="0"/>
              <a:t>Evaluation de la puissance dissipée par frottement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7AA68C51-D64F-074E-ADB8-2A4026F4717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 Choix d’un modèle</a:t>
                </a:r>
              </a:p>
              <a:p>
                <a:r>
                  <a:rPr lang="fr-F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𝑓𝑠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fr-FR" b="0" i="1" smtClean="0">
                        <a:latin typeface="Cambria Math" panose="02040503050406030204" pitchFamily="18" charset="0"/>
                      </a:rPr>
                      <m:t>+…</m:t>
                    </m:r>
                  </m:oMath>
                </a14:m>
                <a:endParaRPr lang="fr-FR" b="0" dirty="0"/>
              </a:p>
              <a:p>
                <a:pPr lvl="1"/>
                <a:r>
                  <a:rPr lang="fr-FR" dirty="0"/>
                  <a:t>Vérifier expérimentalement si les frottements dépendent de la vitesse ou non.</a:t>
                </a:r>
              </a:p>
              <a:p>
                <a:pPr lvl="1"/>
                <a:r>
                  <a:rPr lang="fr-FR" dirty="0"/>
                  <a:t>Les évaluer le </a:t>
                </a:r>
                <a:r>
                  <a:rPr lang="fr-FR"/>
                  <a:t>cas échéant… </a:t>
                </a:r>
              </a:p>
              <a:p>
                <a:pPr lvl="1"/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7AA68C51-D64F-074E-ADB8-2A4026F471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5" t="-1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1566786"/>
      </p:ext>
    </p:extLst>
  </p:cSld>
  <p:clrMapOvr>
    <a:masterClrMapping/>
  </p:clrMapOvr>
</p:sld>
</file>

<file path=ppt/theme/theme1.xml><?xml version="1.0" encoding="utf-8"?>
<a:theme xmlns:a="http://schemas.openxmlformats.org/drawingml/2006/main" name="Rétrospective">
  <a:themeElements>
    <a:clrScheme name="Bleu vert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Rétrospectiv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étrospectiv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791</Words>
  <Application>Microsoft Office PowerPoint</Application>
  <PresentationFormat>Grand écran</PresentationFormat>
  <Paragraphs>213</Paragraphs>
  <Slides>15</Slides>
  <Notes>0</Notes>
  <HiddenSlides>0</HiddenSlides>
  <MMClips>0</MMClips>
  <ScaleCrop>false</ScaleCrop>
  <HeadingPairs>
    <vt:vector size="8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Serveurs OLE incorporés</vt:lpstr>
      </vt:variant>
      <vt:variant>
        <vt:i4>1</vt:i4>
      </vt:variant>
      <vt:variant>
        <vt:lpstr>Titres des diapositives</vt:lpstr>
      </vt:variant>
      <vt:variant>
        <vt:i4>15</vt:i4>
      </vt:variant>
    </vt:vector>
  </HeadingPairs>
  <TitlesOfParts>
    <vt:vector size="22" baseType="lpstr">
      <vt:lpstr>Arial Nova</vt:lpstr>
      <vt:lpstr>Calibri</vt:lpstr>
      <vt:lpstr>Calibri Light</vt:lpstr>
      <vt:lpstr>Cambria Math</vt:lpstr>
      <vt:lpstr>Wingdings</vt:lpstr>
      <vt:lpstr>Rétrospective</vt:lpstr>
      <vt:lpstr>Feuille de calcul Microsoft Excel</vt:lpstr>
      <vt:lpstr>MaxPID</vt:lpstr>
      <vt:lpstr>Présentation PowerPoint</vt:lpstr>
      <vt:lpstr>02 Chaîne fonctionnelle</vt:lpstr>
      <vt:lpstr>Chaine fonctionnelle du MaxPID</vt:lpstr>
      <vt:lpstr>Chaine fonctionnelle du MaxPID</vt:lpstr>
      <vt:lpstr>07 Modélisation composants ou phénomènes</vt:lpstr>
      <vt:lpstr>09 Dimensionnement d’un actionneur en dynamique</vt:lpstr>
      <vt:lpstr>Présentation PowerPoint</vt:lpstr>
      <vt:lpstr>Présentation PowerPoint</vt:lpstr>
      <vt:lpstr>Stratégie – TEC</vt:lpstr>
      <vt:lpstr>Stratégie TEC Energie cinétique</vt:lpstr>
      <vt:lpstr>Présentation PowerPoint</vt:lpstr>
      <vt:lpstr>Stratégie TEC Energie cinétique</vt:lpstr>
      <vt:lpstr>Stratégie TEC Puissances</vt:lpstr>
      <vt:lpstr>Stratégie TEC Evaluation de la puissance dissipée par frottement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Xavier Pessoles</dc:creator>
  <cp:lastModifiedBy>Xavier Pessoles</cp:lastModifiedBy>
  <cp:revision>75</cp:revision>
  <dcterms:created xsi:type="dcterms:W3CDTF">2023-03-22T10:05:05Z</dcterms:created>
  <dcterms:modified xsi:type="dcterms:W3CDTF">2026-01-12T10:51:41Z</dcterms:modified>
</cp:coreProperties>
</file>