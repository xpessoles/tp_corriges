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79" r:id="rId6"/>
    <p:sldId id="269" r:id="rId7"/>
    <p:sldId id="286" r:id="rId8"/>
    <p:sldId id="287" r:id="rId9"/>
    <p:sldId id="288" r:id="rId10"/>
    <p:sldId id="284" r:id="rId11"/>
    <p:sldId id="272" r:id="rId12"/>
    <p:sldId id="271" r:id="rId13"/>
    <p:sldId id="280" r:id="rId14"/>
    <p:sldId id="274" r:id="rId15"/>
    <p:sldId id="275" r:id="rId16"/>
    <p:sldId id="281" r:id="rId17"/>
    <p:sldId id="278" r:id="rId18"/>
    <p:sldId id="289" r:id="rId19"/>
    <p:sldId id="276" r:id="rId20"/>
    <p:sldId id="291" r:id="rId21"/>
    <p:sldId id="277" r:id="rId22"/>
    <p:sldId id="290" r:id="rId23"/>
    <p:sldId id="282" r:id="rId24"/>
    <p:sldId id="283" r:id="rId25"/>
    <p:sldId id="292" r:id="rId26"/>
    <p:sldId id="293" r:id="rId27"/>
    <p:sldId id="294" r:id="rId28"/>
    <p:sldId id="295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66" d="100"/>
          <a:sy n="66" d="100"/>
        </p:scale>
        <p:origin x="576" y="-256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GitHub\TP_Corriges\11_MaxPID\FrottementMaxpid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smoothMarker"/>
        <c:varyColors val="0"/>
        <c:ser>
          <c:idx val="0"/>
          <c:order val="0"/>
          <c:tx>
            <c:strRef>
              <c:f>Feuil1!$G$2</c:f>
              <c:strCache>
                <c:ptCount val="1"/>
                <c:pt idx="0">
                  <c:v>Couple Moteur
[Nm]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1"/>
            <c:trendlineLbl>
              <c:layout>
                <c:manualLayout>
                  <c:x val="-0.2496098877942324"/>
                  <c:y val="0.12228575661010872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xVal>
            <c:numRef>
              <c:f>Feuil1!$F$3:$F$7</c:f>
              <c:numCache>
                <c:formatCode>General</c:formatCode>
                <c:ptCount val="5"/>
                <c:pt idx="0">
                  <c:v>41.887902047863911</c:v>
                </c:pt>
                <c:pt idx="1">
                  <c:v>52.359877559829883</c:v>
                </c:pt>
                <c:pt idx="2">
                  <c:v>104.71975511965977</c:v>
                </c:pt>
                <c:pt idx="3">
                  <c:v>157.07963267948966</c:v>
                </c:pt>
                <c:pt idx="4">
                  <c:v>209.43951023931953</c:v>
                </c:pt>
              </c:numCache>
            </c:numRef>
          </c:xVal>
          <c:yVal>
            <c:numRef>
              <c:f>Feuil1!$G$3:$G$7</c:f>
              <c:numCache>
                <c:formatCode>General</c:formatCode>
                <c:ptCount val="5"/>
                <c:pt idx="0">
                  <c:v>5.2499999999999998E-2</c:v>
                </c:pt>
                <c:pt idx="1">
                  <c:v>6.3E-2</c:v>
                </c:pt>
                <c:pt idx="2">
                  <c:v>9.4500000000000001E-2</c:v>
                </c:pt>
                <c:pt idx="3">
                  <c:v>0.12075</c:v>
                </c:pt>
                <c:pt idx="4">
                  <c:v>0.14699999999999999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96BC-4059-9CE2-B4A3B2E624B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23236400"/>
        <c:axId val="1623230640"/>
      </c:scatterChart>
      <c:valAx>
        <c:axId val="162323640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23230640"/>
        <c:crosses val="autoZero"/>
        <c:crossBetween val="midCat"/>
      </c:valAx>
      <c:valAx>
        <c:axId val="16232306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2323640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31/03/2026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17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20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23" Type="http://schemas.openxmlformats.org/officeDocument/2006/relationships/image" Target="../media/image20.png"/><Relationship Id="rId10" Type="http://schemas.openxmlformats.org/officeDocument/2006/relationships/image" Target="../media/image10.png"/><Relationship Id="rId19" Type="http://schemas.openxmlformats.org/officeDocument/2006/relationships/image" Target="../media/image15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1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29.png"/><Relationship Id="rId5" Type="http://schemas.openxmlformats.org/officeDocument/2006/relationships/image" Target="../media/image261.png"/></Relationships>
</file>

<file path=ppt/slides/_rels/slide13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70.png"/><Relationship Id="rId26" Type="http://schemas.openxmlformats.org/officeDocument/2006/relationships/image" Target="../media/image251.png"/><Relationship Id="rId39" Type="http://schemas.openxmlformats.org/officeDocument/2006/relationships/image" Target="../media/image250.png"/><Relationship Id="rId21" Type="http://schemas.openxmlformats.org/officeDocument/2006/relationships/image" Target="../media/image200.png"/><Relationship Id="rId34" Type="http://schemas.openxmlformats.org/officeDocument/2006/relationships/image" Target="../media/image36.png"/><Relationship Id="rId42" Type="http://schemas.openxmlformats.org/officeDocument/2006/relationships/image" Target="../media/image41.png"/><Relationship Id="rId47" Type="http://schemas.openxmlformats.org/officeDocument/2006/relationships/image" Target="../media/image330.png"/><Relationship Id="rId50" Type="http://schemas.openxmlformats.org/officeDocument/2006/relationships/image" Target="../media/image360.png"/><Relationship Id="rId55" Type="http://schemas.openxmlformats.org/officeDocument/2006/relationships/image" Target="../media/image48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29" Type="http://schemas.openxmlformats.org/officeDocument/2006/relationships/image" Target="../media/image31.png"/><Relationship Id="rId41" Type="http://schemas.openxmlformats.org/officeDocument/2006/relationships/image" Target="../media/image270.png"/><Relationship Id="rId54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231.png"/><Relationship Id="rId32" Type="http://schemas.openxmlformats.org/officeDocument/2006/relationships/image" Target="../media/image34.png"/><Relationship Id="rId37" Type="http://schemas.openxmlformats.org/officeDocument/2006/relationships/image" Target="../media/image39.png"/><Relationship Id="rId40" Type="http://schemas.openxmlformats.org/officeDocument/2006/relationships/image" Target="../media/image260.png"/><Relationship Id="rId45" Type="http://schemas.openxmlformats.org/officeDocument/2006/relationships/image" Target="../media/image44.png"/><Relationship Id="rId53" Type="http://schemas.openxmlformats.org/officeDocument/2006/relationships/image" Target="../media/image46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28" Type="http://schemas.openxmlformats.org/officeDocument/2006/relationships/image" Target="../media/image30.png"/><Relationship Id="rId36" Type="http://schemas.openxmlformats.org/officeDocument/2006/relationships/image" Target="../media/image38.png"/><Relationship Id="rId49" Type="http://schemas.openxmlformats.org/officeDocument/2006/relationships/image" Target="../media/image350.png"/><Relationship Id="rId19" Type="http://schemas.openxmlformats.org/officeDocument/2006/relationships/image" Target="../media/image180.png"/><Relationship Id="rId31" Type="http://schemas.openxmlformats.org/officeDocument/2006/relationships/image" Target="../media/image33.png"/><Relationship Id="rId44" Type="http://schemas.openxmlformats.org/officeDocument/2006/relationships/image" Target="../media/image43.png"/><Relationship Id="rId52" Type="http://schemas.openxmlformats.org/officeDocument/2006/relationships/image" Target="../media/image45.png"/><Relationship Id="rId14" Type="http://schemas.openxmlformats.org/officeDocument/2006/relationships/image" Target="../media/image130.png"/><Relationship Id="rId22" Type="http://schemas.openxmlformats.org/officeDocument/2006/relationships/image" Target="../media/image210.png"/><Relationship Id="rId27" Type="http://schemas.openxmlformats.org/officeDocument/2006/relationships/image" Target="../media/image280.png"/><Relationship Id="rId30" Type="http://schemas.openxmlformats.org/officeDocument/2006/relationships/image" Target="../media/image32.png"/><Relationship Id="rId35" Type="http://schemas.openxmlformats.org/officeDocument/2006/relationships/image" Target="../media/image37.png"/><Relationship Id="rId43" Type="http://schemas.openxmlformats.org/officeDocument/2006/relationships/image" Target="../media/image42.png"/><Relationship Id="rId48" Type="http://schemas.openxmlformats.org/officeDocument/2006/relationships/image" Target="../media/image340.png"/><Relationship Id="rId56" Type="http://schemas.openxmlformats.org/officeDocument/2006/relationships/image" Target="../media/image49.png"/><Relationship Id="rId51" Type="http://schemas.openxmlformats.org/officeDocument/2006/relationships/image" Target="../media/image370.png"/><Relationship Id="rId17" Type="http://schemas.openxmlformats.org/officeDocument/2006/relationships/image" Target="../media/image160.png"/><Relationship Id="rId25" Type="http://schemas.openxmlformats.org/officeDocument/2006/relationships/image" Target="../media/image240.png"/><Relationship Id="rId33" Type="http://schemas.openxmlformats.org/officeDocument/2006/relationships/image" Target="../media/image35.png"/><Relationship Id="rId38" Type="http://schemas.openxmlformats.org/officeDocument/2006/relationships/image" Target="../media/image40.png"/><Relationship Id="rId46" Type="http://schemas.openxmlformats.org/officeDocument/2006/relationships/image" Target="../media/image32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tif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70.png"/><Relationship Id="rId26" Type="http://schemas.openxmlformats.org/officeDocument/2006/relationships/image" Target="../media/image251.png"/><Relationship Id="rId39" Type="http://schemas.openxmlformats.org/officeDocument/2006/relationships/image" Target="../media/image250.png"/><Relationship Id="rId21" Type="http://schemas.openxmlformats.org/officeDocument/2006/relationships/image" Target="../media/image200.png"/><Relationship Id="rId34" Type="http://schemas.openxmlformats.org/officeDocument/2006/relationships/image" Target="../media/image36.png"/><Relationship Id="rId42" Type="http://schemas.openxmlformats.org/officeDocument/2006/relationships/image" Target="../media/image41.png"/><Relationship Id="rId47" Type="http://schemas.openxmlformats.org/officeDocument/2006/relationships/image" Target="../media/image330.png"/><Relationship Id="rId50" Type="http://schemas.openxmlformats.org/officeDocument/2006/relationships/image" Target="../media/image360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29" Type="http://schemas.openxmlformats.org/officeDocument/2006/relationships/image" Target="../media/image31.png"/><Relationship Id="rId41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231.png"/><Relationship Id="rId32" Type="http://schemas.openxmlformats.org/officeDocument/2006/relationships/image" Target="../media/image34.png"/><Relationship Id="rId37" Type="http://schemas.openxmlformats.org/officeDocument/2006/relationships/image" Target="../media/image39.png"/><Relationship Id="rId40" Type="http://schemas.openxmlformats.org/officeDocument/2006/relationships/image" Target="../media/image260.png"/><Relationship Id="rId45" Type="http://schemas.openxmlformats.org/officeDocument/2006/relationships/image" Target="../media/image44.png"/><Relationship Id="rId53" Type="http://schemas.openxmlformats.org/officeDocument/2006/relationships/image" Target="../media/image540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28" Type="http://schemas.openxmlformats.org/officeDocument/2006/relationships/image" Target="../media/image30.png"/><Relationship Id="rId36" Type="http://schemas.openxmlformats.org/officeDocument/2006/relationships/image" Target="../media/image38.png"/><Relationship Id="rId49" Type="http://schemas.openxmlformats.org/officeDocument/2006/relationships/image" Target="../media/image350.png"/><Relationship Id="rId19" Type="http://schemas.openxmlformats.org/officeDocument/2006/relationships/image" Target="../media/image180.png"/><Relationship Id="rId31" Type="http://schemas.openxmlformats.org/officeDocument/2006/relationships/image" Target="../media/image33.png"/><Relationship Id="rId44" Type="http://schemas.openxmlformats.org/officeDocument/2006/relationships/image" Target="../media/image43.png"/><Relationship Id="rId52" Type="http://schemas.openxmlformats.org/officeDocument/2006/relationships/image" Target="../media/image54.png"/><Relationship Id="rId14" Type="http://schemas.openxmlformats.org/officeDocument/2006/relationships/image" Target="../media/image130.png"/><Relationship Id="rId22" Type="http://schemas.openxmlformats.org/officeDocument/2006/relationships/image" Target="../media/image210.png"/><Relationship Id="rId27" Type="http://schemas.openxmlformats.org/officeDocument/2006/relationships/image" Target="../media/image280.png"/><Relationship Id="rId30" Type="http://schemas.openxmlformats.org/officeDocument/2006/relationships/image" Target="../media/image32.png"/><Relationship Id="rId35" Type="http://schemas.openxmlformats.org/officeDocument/2006/relationships/image" Target="../media/image37.png"/><Relationship Id="rId43" Type="http://schemas.openxmlformats.org/officeDocument/2006/relationships/image" Target="../media/image42.png"/><Relationship Id="rId48" Type="http://schemas.openxmlformats.org/officeDocument/2006/relationships/image" Target="../media/image340.png"/><Relationship Id="rId51" Type="http://schemas.openxmlformats.org/officeDocument/2006/relationships/image" Target="../media/image370.png"/><Relationship Id="rId17" Type="http://schemas.openxmlformats.org/officeDocument/2006/relationships/image" Target="../media/image160.png"/><Relationship Id="rId25" Type="http://schemas.openxmlformats.org/officeDocument/2006/relationships/image" Target="../media/image240.png"/><Relationship Id="rId33" Type="http://schemas.openxmlformats.org/officeDocument/2006/relationships/image" Target="../media/image35.png"/><Relationship Id="rId38" Type="http://schemas.openxmlformats.org/officeDocument/2006/relationships/image" Target="../media/image40.png"/><Relationship Id="rId46" Type="http://schemas.openxmlformats.org/officeDocument/2006/relationships/image" Target="../media/image320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MaxPID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Éléments de corrigés des </a:t>
            </a:r>
            <a:r>
              <a:rPr lang="fr-FR" dirty="0" err="1"/>
              <a:t>tp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3CFB6-C96F-2738-656C-799A569A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A0F49C-2000-CFFA-4CC2-9D86BC132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668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</a:t>
            </a:r>
            <a:br>
              <a:rPr lang="fr-FR" dirty="0"/>
            </a:br>
            <a:r>
              <a:rPr lang="fr-FR" dirty="0"/>
              <a:t>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6015CC9C-F06A-6145-07AB-90D570197E3C}"/>
              </a:ext>
            </a:extLst>
          </p:cNvPr>
          <p:cNvSpPr/>
          <p:nvPr/>
        </p:nvSpPr>
        <p:spPr>
          <a:xfrm>
            <a:off x="9648386" y="4190096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Mécanisme 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Stator + Rotor – Vis + Ecrou + Bras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MaxPID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F7822C3A-6752-03D9-8DF8-C9BF49763BD8}"/>
              </a:ext>
            </a:extLst>
          </p:cNvPr>
          <p:cNvSpPr/>
          <p:nvPr/>
        </p:nvSpPr>
        <p:spPr>
          <a:xfrm>
            <a:off x="1056905" y="1549834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EC70D79-FF53-E1E6-8F5D-7DB4552BDEB8}"/>
              </a:ext>
            </a:extLst>
          </p:cNvPr>
          <p:cNvSpPr/>
          <p:nvPr/>
        </p:nvSpPr>
        <p:spPr>
          <a:xfrm>
            <a:off x="1056905" y="2324979"/>
            <a:ext cx="1440000" cy="946211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de courant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Génératrice tachymétrique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Potentiomètre rotatif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(Codeur sur le </a:t>
            </a:r>
            <a:r>
              <a:rPr lang="fr-FR" sz="800" dirty="0" err="1">
                <a:solidFill>
                  <a:srgbClr val="004F77"/>
                </a:solidFill>
                <a:latin typeface="Arial Nova" panose="020B0504020202020204" pitchFamily="34" charset="0"/>
              </a:rPr>
              <a:t>Maxpid</a:t>
            </a:r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-E)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92C39D7-C7C7-3458-7E55-FC4FCBD955B0}"/>
              </a:ext>
            </a:extLst>
          </p:cNvPr>
          <p:cNvSpPr/>
          <p:nvPr/>
        </p:nvSpPr>
        <p:spPr>
          <a:xfrm>
            <a:off x="3229319" y="154829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5E73C37F-4A2D-AB41-B3A3-7332F9A357A2}"/>
              </a:ext>
            </a:extLst>
          </p:cNvPr>
          <p:cNvSpPr/>
          <p:nvPr/>
        </p:nvSpPr>
        <p:spPr>
          <a:xfrm>
            <a:off x="3218894" y="2341159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de traitement</a:t>
            </a:r>
          </a:p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BE8DB55-CD2C-9609-869B-BFB5FBA5A6D3}"/>
              </a:ext>
            </a:extLst>
          </p:cNvPr>
          <p:cNvSpPr/>
          <p:nvPr/>
        </p:nvSpPr>
        <p:spPr>
          <a:xfrm>
            <a:off x="5389319" y="1525957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7C50B13-9945-267C-9C0F-3901C1922B55}"/>
              </a:ext>
            </a:extLst>
          </p:cNvPr>
          <p:cNvSpPr/>
          <p:nvPr/>
        </p:nvSpPr>
        <p:spPr>
          <a:xfrm>
            <a:off x="5389319" y="2319926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8A559"/>
                </a:solidFill>
                <a:latin typeface="Arial Nova" panose="020B0504020202020204" pitchFamily="34" charset="0"/>
              </a:rPr>
              <a:t>Carte de </a:t>
            </a:r>
            <a:r>
              <a:rPr lang="fr-FR" sz="1100" dirty="0" err="1">
                <a:solidFill>
                  <a:srgbClr val="08A559"/>
                </a:solidFill>
                <a:latin typeface="Arial Nova" panose="020B0504020202020204" pitchFamily="34" charset="0"/>
              </a:rPr>
              <a:t>comm</a:t>
            </a:r>
            <a:endParaRPr lang="fr-FR" sz="1100" dirty="0">
              <a:solidFill>
                <a:srgbClr val="08A559"/>
              </a:solidFill>
              <a:latin typeface="Arial Nova" panose="020B0504020202020204" pitchFamily="34" charset="0"/>
            </a:endParaRPr>
          </a:p>
          <a:p>
            <a:pPr algn="ctr"/>
            <a:r>
              <a:rPr lang="fr-FR" sz="1100" dirty="0">
                <a:solidFill>
                  <a:srgbClr val="08A559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CFBB7BE-C306-859A-CF41-F04DD9BC455C}"/>
              </a:ext>
            </a:extLst>
          </p:cNvPr>
          <p:cNvSpPr/>
          <p:nvPr/>
        </p:nvSpPr>
        <p:spPr>
          <a:xfrm>
            <a:off x="1056905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364B3FD-91A8-1B5F-5FD3-55E164E3B9AE}"/>
              </a:ext>
            </a:extLst>
          </p:cNvPr>
          <p:cNvSpPr/>
          <p:nvPr/>
        </p:nvSpPr>
        <p:spPr>
          <a:xfrm>
            <a:off x="1056905" y="423744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Alimentation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96A2B729-7EE6-8CA6-72B2-5A16AA5A785A}"/>
              </a:ext>
            </a:extLst>
          </p:cNvPr>
          <p:cNvSpPr/>
          <p:nvPr/>
        </p:nvSpPr>
        <p:spPr>
          <a:xfrm>
            <a:off x="3218894" y="3537925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841B1B6-C546-170C-78BF-906D65F5DAA8}"/>
              </a:ext>
            </a:extLst>
          </p:cNvPr>
          <p:cNvSpPr/>
          <p:nvPr/>
        </p:nvSpPr>
        <p:spPr>
          <a:xfrm>
            <a:off x="3199256" y="4222480"/>
            <a:ext cx="1440000" cy="572255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C7391"/>
                </a:solidFill>
                <a:latin typeface="Arial Nova" panose="020B0504020202020204" pitchFamily="34" charset="0"/>
              </a:rPr>
              <a:t>Hacheur</a:t>
            </a:r>
            <a:endParaRPr lang="fr-FR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8181AD4-9AB8-CA7B-EFBF-8B9CD4369264}"/>
              </a:ext>
            </a:extLst>
          </p:cNvPr>
          <p:cNvSpPr/>
          <p:nvPr/>
        </p:nvSpPr>
        <p:spPr>
          <a:xfrm>
            <a:off x="5380883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7E462E27-42D7-734B-5E6F-B78EF40987B6}"/>
              </a:ext>
            </a:extLst>
          </p:cNvPr>
          <p:cNvSpPr/>
          <p:nvPr/>
        </p:nvSpPr>
        <p:spPr>
          <a:xfrm>
            <a:off x="5389319" y="4223146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à courant continu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AA76E29F-1BCE-DD76-499C-CE8F3E850A8E}"/>
              </a:ext>
            </a:extLst>
          </p:cNvPr>
          <p:cNvSpPr/>
          <p:nvPr/>
        </p:nvSpPr>
        <p:spPr>
          <a:xfrm>
            <a:off x="7542872" y="3545795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66FC087-C9BC-9FD1-6C13-AD7571852AD4}"/>
              </a:ext>
            </a:extLst>
          </p:cNvPr>
          <p:cNvSpPr/>
          <p:nvPr/>
        </p:nvSpPr>
        <p:spPr>
          <a:xfrm>
            <a:off x="7549319" y="4202642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Vis – écrou à billes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Pas : 4 mm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282EFC0-8E54-A4E0-6953-44E98A7B8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826" y="1603805"/>
            <a:ext cx="434918" cy="152010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BE599621-6A35-D218-9184-0073520A41FC}"/>
              </a:ext>
            </a:extLst>
          </p:cNvPr>
          <p:cNvCxnSpPr>
            <a:cxnSpLocks/>
          </p:cNvCxnSpPr>
          <p:nvPr/>
        </p:nvCxnSpPr>
        <p:spPr>
          <a:xfrm flipV="1">
            <a:off x="2496905" y="182790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25CB3708-D27C-9C0F-920D-E2174EF1D3C1}"/>
              </a:ext>
            </a:extLst>
          </p:cNvPr>
          <p:cNvCxnSpPr/>
          <p:nvPr/>
        </p:nvCxnSpPr>
        <p:spPr>
          <a:xfrm flipV="1">
            <a:off x="4669319" y="181395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Image 22">
            <a:extLst>
              <a:ext uri="{FF2B5EF4-FFF2-40B4-BE49-F238E27FC236}">
                <a16:creationId xmlns:a16="http://schemas.microsoft.com/office/drawing/2014/main" id="{6B85577F-75F2-AC91-9B29-7674830D4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894" y="1418598"/>
            <a:ext cx="360000" cy="360000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4D3E9C84-1558-D9D2-B9AE-51FFDFD2ACAC}"/>
              </a:ext>
            </a:extLst>
          </p:cNvPr>
          <p:cNvCxnSpPr>
            <a:cxnSpLocks/>
          </p:cNvCxnSpPr>
          <p:nvPr/>
        </p:nvCxnSpPr>
        <p:spPr>
          <a:xfrm flipV="1">
            <a:off x="2509319" y="3811152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F7A18018-C728-6B01-3037-0421AF781FBB}"/>
              </a:ext>
            </a:extLst>
          </p:cNvPr>
          <p:cNvGrpSpPr/>
          <p:nvPr/>
        </p:nvGrpSpPr>
        <p:grpSpPr>
          <a:xfrm>
            <a:off x="1596905" y="3980066"/>
            <a:ext cx="360000" cy="360000"/>
            <a:chOff x="4197400" y="3547713"/>
            <a:chExt cx="1800000" cy="1800000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AF615AC5-8CF6-FF34-1EF7-5C5D2FE5B9E8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7" name="Image 26">
              <a:extLst>
                <a:ext uri="{FF2B5EF4-FFF2-40B4-BE49-F238E27FC236}">
                  <a16:creationId xmlns:a16="http://schemas.microsoft.com/office/drawing/2014/main" id="{D99F6707-A222-D5E1-C4A9-E878E9F04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28" name="Image 27">
            <a:extLst>
              <a:ext uri="{FF2B5EF4-FFF2-40B4-BE49-F238E27FC236}">
                <a16:creationId xmlns:a16="http://schemas.microsoft.com/office/drawing/2014/main" id="{35145E60-25D8-7A86-65AE-7F3729EC7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68" y="3835914"/>
            <a:ext cx="360000" cy="360000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3C7DD139-EB5F-1D13-171E-251FB77C6B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905" y="3393409"/>
            <a:ext cx="360000" cy="360000"/>
          </a:xfrm>
          <a:prstGeom prst="rect">
            <a:avLst/>
          </a:prstGeom>
        </p:spPr>
      </p:pic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6E52C4D0-B55B-30AA-F92B-6E09F0A4D9C9}"/>
              </a:ext>
            </a:extLst>
          </p:cNvPr>
          <p:cNvCxnSpPr>
            <a:cxnSpLocks/>
          </p:cNvCxnSpPr>
          <p:nvPr/>
        </p:nvCxnSpPr>
        <p:spPr>
          <a:xfrm flipV="1">
            <a:off x="4669319" y="3798320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Image 34">
            <a:extLst>
              <a:ext uri="{FF2B5EF4-FFF2-40B4-BE49-F238E27FC236}">
                <a16:creationId xmlns:a16="http://schemas.microsoft.com/office/drawing/2014/main" id="{F31071D2-3D9A-9512-E018-EA9EA1D5A0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894" y="3393409"/>
            <a:ext cx="360000" cy="360000"/>
          </a:xfrm>
          <a:prstGeom prst="rect">
            <a:avLst/>
          </a:prstGeom>
        </p:spPr>
      </p:pic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75B4C387-2DFC-8DD6-0817-E4B93F7F3F85}"/>
              </a:ext>
            </a:extLst>
          </p:cNvPr>
          <p:cNvCxnSpPr>
            <a:cxnSpLocks/>
          </p:cNvCxnSpPr>
          <p:nvPr/>
        </p:nvCxnSpPr>
        <p:spPr>
          <a:xfrm flipV="1">
            <a:off x="6829319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Image 42">
            <a:extLst>
              <a:ext uri="{FF2B5EF4-FFF2-40B4-BE49-F238E27FC236}">
                <a16:creationId xmlns:a16="http://schemas.microsoft.com/office/drawing/2014/main" id="{F1B5964F-3473-92A5-6A3A-F03DA766A9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3108" y="3418676"/>
            <a:ext cx="360000" cy="360000"/>
          </a:xfrm>
          <a:prstGeom prst="rect">
            <a:avLst/>
          </a:prstGeom>
        </p:spPr>
      </p:pic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2C5943AA-979A-103D-FC4E-264A925A4FF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4669319" y="1818298"/>
            <a:ext cx="169575" cy="1062861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4EDA86AC-B60C-0765-FBC6-4E7119B8D620}"/>
              </a:ext>
            </a:extLst>
          </p:cNvPr>
          <p:cNvSpPr/>
          <p:nvPr/>
        </p:nvSpPr>
        <p:spPr>
          <a:xfrm>
            <a:off x="4029149" y="2994774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46" name="Connecteur : en angle 45">
            <a:extLst>
              <a:ext uri="{FF2B5EF4-FFF2-40B4-BE49-F238E27FC236}">
                <a16:creationId xmlns:a16="http://schemas.microsoft.com/office/drawing/2014/main" id="{C9DF5005-6531-4D0B-0B32-A0A73479B4F0}"/>
              </a:ext>
            </a:extLst>
          </p:cNvPr>
          <p:cNvCxnSpPr>
            <a:cxnSpLocks/>
            <a:stCxn id="45" idx="1"/>
            <a:endCxn id="14" idx="0"/>
          </p:cNvCxnSpPr>
          <p:nvPr/>
        </p:nvCxnSpPr>
        <p:spPr>
          <a:xfrm rot="10800000" flipV="1">
            <a:off x="3938895" y="3160453"/>
            <a:ext cx="9025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Image 46">
            <a:extLst>
              <a:ext uri="{FF2B5EF4-FFF2-40B4-BE49-F238E27FC236}">
                <a16:creationId xmlns:a16="http://schemas.microsoft.com/office/drawing/2014/main" id="{5684C887-250C-3EE4-51A9-97E49BAEE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108" y="2942920"/>
            <a:ext cx="180000" cy="180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A2DBB512-E0D6-1DCF-AD42-945E61453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152" y="3218549"/>
            <a:ext cx="180000" cy="180000"/>
          </a:xfrm>
          <a:prstGeom prst="rect">
            <a:avLst/>
          </a:prstGeom>
        </p:spPr>
      </p:pic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1C8C10B-28B1-AAD9-17B3-48F680D32BCC}"/>
              </a:ext>
            </a:extLst>
          </p:cNvPr>
          <p:cNvSpPr/>
          <p:nvPr/>
        </p:nvSpPr>
        <p:spPr>
          <a:xfrm>
            <a:off x="11719813" y="3534156"/>
            <a:ext cx="1365662" cy="1194790"/>
          </a:xfrm>
          <a:prstGeom prst="roundRect">
            <a:avLst>
              <a:gd name="adj" fmla="val 11914"/>
            </a:avLst>
          </a:prstGeom>
          <a:solidFill>
            <a:srgbClr val="B2CAD6"/>
          </a:solidFill>
          <a:ln w="19050">
            <a:solidFill>
              <a:srgbClr val="B2CA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D587E"/>
                </a:solidFill>
                <a:latin typeface="Arial Nova" panose="020B0504020202020204" pitchFamily="34" charset="0"/>
              </a:rPr>
              <a:t>Bras</a:t>
            </a:r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505D6021-1B16-1674-733B-C648AC112904}"/>
              </a:ext>
            </a:extLst>
          </p:cNvPr>
          <p:cNvCxnSpPr>
            <a:cxnSpLocks/>
          </p:cNvCxnSpPr>
          <p:nvPr/>
        </p:nvCxnSpPr>
        <p:spPr>
          <a:xfrm flipV="1">
            <a:off x="10996452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C3681FD9-BFE4-7350-1964-9C093DDF1B5E}"/>
              </a:ext>
            </a:extLst>
          </p:cNvPr>
          <p:cNvGrpSpPr/>
          <p:nvPr/>
        </p:nvGrpSpPr>
        <p:grpSpPr>
          <a:xfrm>
            <a:off x="3770117" y="2030387"/>
            <a:ext cx="360000" cy="360000"/>
            <a:chOff x="6138169" y="4069439"/>
            <a:chExt cx="1800000" cy="1800000"/>
          </a:xfrm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599396A5-DEE6-FF8C-4576-A72DC9E6130D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F05DEF27-F929-BD20-2E07-1628A11DB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CEC25A5B-4B64-B67F-296D-04E6B189266D}"/>
              </a:ext>
            </a:extLst>
          </p:cNvPr>
          <p:cNvCxnSpPr/>
          <p:nvPr/>
        </p:nvCxnSpPr>
        <p:spPr>
          <a:xfrm flipV="1">
            <a:off x="6829319" y="1735886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7F3E2C-9FA7-42D8-DEF0-9439478A5709}"/>
              </a:ext>
            </a:extLst>
          </p:cNvPr>
          <p:cNvGrpSpPr/>
          <p:nvPr/>
        </p:nvGrpSpPr>
        <p:grpSpPr>
          <a:xfrm rot="5400000" flipV="1">
            <a:off x="12248508" y="4154169"/>
            <a:ext cx="835963" cy="1617775"/>
            <a:chOff x="9150640" y="2423323"/>
            <a:chExt cx="835963" cy="2135794"/>
          </a:xfrm>
        </p:grpSpPr>
        <p:sp>
          <p:nvSpPr>
            <p:cNvPr id="58" name="Flèche : virage 57">
              <a:extLst>
                <a:ext uri="{FF2B5EF4-FFF2-40B4-BE49-F238E27FC236}">
                  <a16:creationId xmlns:a16="http://schemas.microsoft.com/office/drawing/2014/main" id="{A404FB7A-E23C-BD6A-6263-4B2DE2013DB7}"/>
                </a:ext>
              </a:extLst>
            </p:cNvPr>
            <p:cNvSpPr/>
            <p:nvPr/>
          </p:nvSpPr>
          <p:spPr>
            <a:xfrm rot="5400000">
              <a:off x="8500725" y="3073238"/>
              <a:ext cx="2135794" cy="835963"/>
            </a:xfrm>
            <a:prstGeom prst="bentArrow">
              <a:avLst>
                <a:gd name="adj1" fmla="val 31434"/>
                <a:gd name="adj2" fmla="val 25000"/>
                <a:gd name="adj3" fmla="val 17852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D9969D2B-BFBA-54A7-C4C5-06DFD5138BC1}"/>
                </a:ext>
              </a:extLst>
            </p:cNvPr>
            <p:cNvSpPr txBox="1"/>
            <p:nvPr/>
          </p:nvSpPr>
          <p:spPr>
            <a:xfrm rot="16200000">
              <a:off x="8815678" y="3317013"/>
              <a:ext cx="1918043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Bras en position finale</a:t>
              </a:r>
            </a:p>
          </p:txBody>
        </p: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32A82909-C4F5-9AA0-D150-C388F421C774}"/>
              </a:ext>
            </a:extLst>
          </p:cNvPr>
          <p:cNvGrpSpPr/>
          <p:nvPr/>
        </p:nvGrpSpPr>
        <p:grpSpPr>
          <a:xfrm>
            <a:off x="10661488" y="2941725"/>
            <a:ext cx="1566153" cy="577809"/>
            <a:chOff x="9058474" y="2836569"/>
            <a:chExt cx="1566153" cy="577809"/>
          </a:xfrm>
        </p:grpSpPr>
        <p:sp>
          <p:nvSpPr>
            <p:cNvPr id="61" name="Flèche : virage 60">
              <a:extLst>
                <a:ext uri="{FF2B5EF4-FFF2-40B4-BE49-F238E27FC236}">
                  <a16:creationId xmlns:a16="http://schemas.microsoft.com/office/drawing/2014/main" id="{FED08932-ADD7-D2A1-8E5A-D62CEEB1B93F}"/>
                </a:ext>
              </a:extLst>
            </p:cNvPr>
            <p:cNvSpPr/>
            <p:nvPr/>
          </p:nvSpPr>
          <p:spPr>
            <a:xfrm rot="5400000">
              <a:off x="9563593" y="2353345"/>
              <a:ext cx="572849" cy="1549218"/>
            </a:xfrm>
            <a:prstGeom prst="bentArrow">
              <a:avLst>
                <a:gd name="adj1" fmla="val 38639"/>
                <a:gd name="adj2" fmla="val 38302"/>
                <a:gd name="adj3" fmla="val 16744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2C25BFE2-5262-D3BC-BDD8-923C0B8002AD}"/>
                </a:ext>
              </a:extLst>
            </p:cNvPr>
            <p:cNvSpPr txBox="1"/>
            <p:nvPr/>
          </p:nvSpPr>
          <p:spPr>
            <a:xfrm>
              <a:off x="9058474" y="2836569"/>
              <a:ext cx="14737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Bras en position initiale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/>
              <p:nvPr/>
            </p:nvSpPr>
            <p:spPr>
              <a:xfrm>
                <a:off x="194282" y="4173965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230 V </a:t>
                </a:r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~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282" y="4173965"/>
                <a:ext cx="1161960" cy="276999"/>
              </a:xfrm>
              <a:prstGeom prst="rect">
                <a:avLst/>
              </a:prstGeom>
              <a:blipFill>
                <a:blip r:embed="rId8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/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</a:t>
                </a:r>
              </a:p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Continu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les capteurs sauf la génératrice tachymétrique sont nécessaires au bon fonctionnement du système.</a:t>
            </a:r>
          </a:p>
        </p:txBody>
      </p: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8AD15BE-FF0B-AB8F-1B32-BB8FEEBA2DEA}"/>
              </a:ext>
            </a:extLst>
          </p:cNvPr>
          <p:cNvGrpSpPr/>
          <p:nvPr/>
        </p:nvGrpSpPr>
        <p:grpSpPr>
          <a:xfrm>
            <a:off x="3747478" y="3931144"/>
            <a:ext cx="360000" cy="360000"/>
            <a:chOff x="4235640" y="2696679"/>
            <a:chExt cx="1800000" cy="1800000"/>
          </a:xfrm>
        </p:grpSpPr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617E9B91-42CB-D7A6-CB9D-2F41FFC4BB96}"/>
                </a:ext>
              </a:extLst>
            </p:cNvPr>
            <p:cNvSpPr/>
            <p:nvPr/>
          </p:nvSpPr>
          <p:spPr>
            <a:xfrm>
              <a:off x="4235640" y="2696679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5" name="Image 104">
              <a:extLst>
                <a:ext uri="{FF2B5EF4-FFF2-40B4-BE49-F238E27FC236}">
                  <a16:creationId xmlns:a16="http://schemas.microsoft.com/office/drawing/2014/main" id="{99E60331-B84D-5566-9183-29714B6CE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451640" y="3100228"/>
              <a:ext cx="1368000" cy="992903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/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 </a:t>
                </a:r>
              </a:p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Modulé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e 30">
            <a:extLst>
              <a:ext uri="{FF2B5EF4-FFF2-40B4-BE49-F238E27FC236}">
                <a16:creationId xmlns:a16="http://schemas.microsoft.com/office/drawing/2014/main" id="{89225F91-8C4A-4D28-806F-C285AA8AEAEF}"/>
              </a:ext>
            </a:extLst>
          </p:cNvPr>
          <p:cNvGrpSpPr/>
          <p:nvPr/>
        </p:nvGrpSpPr>
        <p:grpSpPr>
          <a:xfrm>
            <a:off x="694382" y="2059338"/>
            <a:ext cx="360000" cy="360000"/>
            <a:chOff x="6054233" y="4960569"/>
            <a:chExt cx="1800000" cy="1800000"/>
          </a:xfrm>
        </p:grpSpPr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002BBCC8-7149-2E70-FA08-89D364A2E7EE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C676998-302E-BC6E-6F7D-BB576DC31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19663B7E-D161-9EFA-9C0C-DD72CA7CD5F3}"/>
              </a:ext>
            </a:extLst>
          </p:cNvPr>
          <p:cNvGrpSpPr/>
          <p:nvPr/>
        </p:nvGrpSpPr>
        <p:grpSpPr>
          <a:xfrm>
            <a:off x="3739256" y="4678863"/>
            <a:ext cx="288000" cy="288000"/>
            <a:chOff x="6054233" y="4960569"/>
            <a:chExt cx="1800000" cy="1800000"/>
          </a:xfrm>
        </p:grpSpPr>
        <p:sp>
          <p:nvSpPr>
            <p:cNvPr id="83" name="Ellipse 82">
              <a:extLst>
                <a:ext uri="{FF2B5EF4-FFF2-40B4-BE49-F238E27FC236}">
                  <a16:creationId xmlns:a16="http://schemas.microsoft.com/office/drawing/2014/main" id="{16D5DB05-5A42-D1F5-377B-CDBD0872CC09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84" name="Image 83">
              <a:extLst>
                <a:ext uri="{FF2B5EF4-FFF2-40B4-BE49-F238E27FC236}">
                  <a16:creationId xmlns:a16="http://schemas.microsoft.com/office/drawing/2014/main" id="{7369074B-A1C6-2F25-51BF-F9B097312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DF68A625-AE5C-1A7C-F5F9-AC430D107D83}"/>
              </a:ext>
            </a:extLst>
          </p:cNvPr>
          <p:cNvGrpSpPr/>
          <p:nvPr/>
        </p:nvGrpSpPr>
        <p:grpSpPr>
          <a:xfrm rot="5400000">
            <a:off x="7583512" y="1418598"/>
            <a:ext cx="720000" cy="720000"/>
            <a:chOff x="8494276" y="748802"/>
            <a:chExt cx="1800000" cy="1800000"/>
          </a:xfrm>
        </p:grpSpPr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9B8556EE-C14C-E3F8-ECFF-C9B72247AFEB}"/>
                </a:ext>
              </a:extLst>
            </p:cNvPr>
            <p:cNvSpPr/>
            <p:nvPr/>
          </p:nvSpPr>
          <p:spPr>
            <a:xfrm>
              <a:off x="8494276" y="748802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77" name="Image 76">
              <a:extLst>
                <a:ext uri="{FF2B5EF4-FFF2-40B4-BE49-F238E27FC236}">
                  <a16:creationId xmlns:a16="http://schemas.microsoft.com/office/drawing/2014/main" id="{34E96531-7B16-AC52-C1E6-052E6F785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943232" y="938192"/>
              <a:ext cx="902088" cy="1440000"/>
            </a:xfrm>
            <a:prstGeom prst="rect">
              <a:avLst/>
            </a:prstGeom>
          </p:spPr>
        </p:pic>
      </p:grp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62B9229E-5DD5-9728-B982-E481189F9BEC}"/>
              </a:ext>
            </a:extLst>
          </p:cNvPr>
          <p:cNvGrpSpPr/>
          <p:nvPr/>
        </p:nvGrpSpPr>
        <p:grpSpPr>
          <a:xfrm>
            <a:off x="5929319" y="3962771"/>
            <a:ext cx="360000" cy="360000"/>
            <a:chOff x="5775745" y="3144183"/>
            <a:chExt cx="1800000" cy="1800000"/>
          </a:xfrm>
        </p:grpSpPr>
        <p:sp>
          <p:nvSpPr>
            <p:cNvPr id="79" name="Ellipse 78">
              <a:extLst>
                <a:ext uri="{FF2B5EF4-FFF2-40B4-BE49-F238E27FC236}">
                  <a16:creationId xmlns:a16="http://schemas.microsoft.com/office/drawing/2014/main" id="{45D1B4DF-7033-EB1C-DEC9-639AE2145414}"/>
                </a:ext>
              </a:extLst>
            </p:cNvPr>
            <p:cNvSpPr/>
            <p:nvPr/>
          </p:nvSpPr>
          <p:spPr>
            <a:xfrm>
              <a:off x="5775745" y="314418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Image 79">
              <a:extLst>
                <a:ext uri="{FF2B5EF4-FFF2-40B4-BE49-F238E27FC236}">
                  <a16:creationId xmlns:a16="http://schemas.microsoft.com/office/drawing/2014/main" id="{E313AA97-25C8-7CFE-4F0E-0B1EFC00D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5903821" y="3513485"/>
              <a:ext cx="1543848" cy="1061396"/>
            </a:xfrm>
            <a:prstGeom prst="rect">
              <a:avLst/>
            </a:prstGeom>
          </p:spPr>
        </p:pic>
      </p:grpSp>
      <p:cxnSp>
        <p:nvCxnSpPr>
          <p:cNvPr id="36" name="Connecteur : en angle 35">
            <a:extLst>
              <a:ext uri="{FF2B5EF4-FFF2-40B4-BE49-F238E27FC236}">
                <a16:creationId xmlns:a16="http://schemas.microsoft.com/office/drawing/2014/main" id="{C2AEE372-FD76-ECD7-B5E0-FBDBBD520A65}"/>
              </a:ext>
            </a:extLst>
          </p:cNvPr>
          <p:cNvCxnSpPr>
            <a:cxnSpLocks/>
          </p:cNvCxnSpPr>
          <p:nvPr/>
        </p:nvCxnSpPr>
        <p:spPr>
          <a:xfrm rot="5400000" flipH="1">
            <a:off x="1854634" y="696188"/>
            <a:ext cx="3107098" cy="5372209"/>
          </a:xfrm>
          <a:prstGeom prst="bentConnector4">
            <a:avLst>
              <a:gd name="adj1" fmla="val -7357"/>
              <a:gd name="adj2" fmla="val 109671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 : en angle 41">
            <a:extLst>
              <a:ext uri="{FF2B5EF4-FFF2-40B4-BE49-F238E27FC236}">
                <a16:creationId xmlns:a16="http://schemas.microsoft.com/office/drawing/2014/main" id="{2AE03594-D3AE-333C-8170-CA27A08C2D8C}"/>
              </a:ext>
            </a:extLst>
          </p:cNvPr>
          <p:cNvCxnSpPr>
            <a:cxnSpLocks/>
            <a:stCxn id="83" idx="4"/>
            <a:endCxn id="33" idx="1"/>
          </p:cNvCxnSpPr>
          <p:nvPr/>
        </p:nvCxnSpPr>
        <p:spPr>
          <a:xfrm rot="5400000" flipH="1">
            <a:off x="949503" y="2033111"/>
            <a:ext cx="2727525" cy="3139981"/>
          </a:xfrm>
          <a:prstGeom prst="bentConnector4">
            <a:avLst>
              <a:gd name="adj1" fmla="val -3414"/>
              <a:gd name="adj2" fmla="val 112813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 : en angle 88">
            <a:extLst>
              <a:ext uri="{FF2B5EF4-FFF2-40B4-BE49-F238E27FC236}">
                <a16:creationId xmlns:a16="http://schemas.microsoft.com/office/drawing/2014/main" id="{B5CD6745-802D-4E58-D331-F439AC7E3358}"/>
              </a:ext>
            </a:extLst>
          </p:cNvPr>
          <p:cNvCxnSpPr>
            <a:cxnSpLocks/>
          </p:cNvCxnSpPr>
          <p:nvPr/>
        </p:nvCxnSpPr>
        <p:spPr>
          <a:xfrm rot="16200000" flipV="1">
            <a:off x="5574322" y="-3433195"/>
            <a:ext cx="2286493" cy="11686371"/>
          </a:xfrm>
          <a:prstGeom prst="bentConnector3">
            <a:avLst>
              <a:gd name="adj1" fmla="val 109998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/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Rectangle : coins arrondis 65">
            <a:extLst>
              <a:ext uri="{FF2B5EF4-FFF2-40B4-BE49-F238E27FC236}">
                <a16:creationId xmlns:a16="http://schemas.microsoft.com/office/drawing/2014/main" id="{DEFEC9DC-D44C-BD4C-C7C7-8E5A976EE82E}"/>
              </a:ext>
            </a:extLst>
          </p:cNvPr>
          <p:cNvSpPr/>
          <p:nvPr/>
        </p:nvSpPr>
        <p:spPr>
          <a:xfrm>
            <a:off x="9625448" y="3534654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FA030DA2-3C3A-C8FA-45E8-D976D05C940D}"/>
              </a:ext>
            </a:extLst>
          </p:cNvPr>
          <p:cNvCxnSpPr>
            <a:cxnSpLocks/>
          </p:cNvCxnSpPr>
          <p:nvPr/>
        </p:nvCxnSpPr>
        <p:spPr>
          <a:xfrm flipV="1">
            <a:off x="8911895" y="3796784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9D7A6D98-7B9F-A9B5-23AC-FDD7BBE7B7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6590" y="3407535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A910A58C-1179-CA7F-E823-40BDA4D5C934}"/>
                  </a:ext>
                </a:extLst>
              </p:cNvPr>
              <p:cNvSpPr txBox="1"/>
              <p:nvPr/>
            </p:nvSpPr>
            <p:spPr>
              <a:xfrm>
                <a:off x="10669986" y="3939627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A910A58C-1179-CA7F-E823-40BDA4D5C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986" y="3939627"/>
                <a:ext cx="1431825" cy="2616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e 36">
            <a:extLst>
              <a:ext uri="{FF2B5EF4-FFF2-40B4-BE49-F238E27FC236}">
                <a16:creationId xmlns:a16="http://schemas.microsoft.com/office/drawing/2014/main" id="{9BD378B3-7B53-A753-62A4-0FE230E15643}"/>
              </a:ext>
            </a:extLst>
          </p:cNvPr>
          <p:cNvGrpSpPr/>
          <p:nvPr/>
        </p:nvGrpSpPr>
        <p:grpSpPr>
          <a:xfrm>
            <a:off x="12387220" y="3543372"/>
            <a:ext cx="360000" cy="360000"/>
            <a:chOff x="1856523" y="133118"/>
            <a:chExt cx="720000" cy="720000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BB21AE3-2ACD-729F-E350-AFA1D4B8F162}"/>
                </a:ext>
              </a:extLst>
            </p:cNvPr>
            <p:cNvSpPr/>
            <p:nvPr/>
          </p:nvSpPr>
          <p:spPr>
            <a:xfrm>
              <a:off x="1856523" y="133118"/>
              <a:ext cx="720000" cy="72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40" name="Image 39">
              <a:extLst>
                <a:ext uri="{FF2B5EF4-FFF2-40B4-BE49-F238E27FC236}">
                  <a16:creationId xmlns:a16="http://schemas.microsoft.com/office/drawing/2014/main" id="{560049D0-4921-DFB2-54FC-73843936F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55338" y="231933"/>
              <a:ext cx="522371" cy="522371"/>
            </a:xfrm>
            <a:prstGeom prst="rect">
              <a:avLst/>
            </a:prstGeom>
          </p:spPr>
        </p:pic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B01E63F3-4BF5-704E-6471-BF9A4C55D36A}"/>
              </a:ext>
            </a:extLst>
          </p:cNvPr>
          <p:cNvGrpSpPr/>
          <p:nvPr/>
        </p:nvGrpSpPr>
        <p:grpSpPr>
          <a:xfrm>
            <a:off x="688576" y="1260713"/>
            <a:ext cx="360000" cy="360000"/>
            <a:chOff x="1856523" y="133118"/>
            <a:chExt cx="720000" cy="720000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3BEB3D33-3C61-0F37-D35D-EEEC73101051}"/>
                </a:ext>
              </a:extLst>
            </p:cNvPr>
            <p:cNvSpPr/>
            <p:nvPr/>
          </p:nvSpPr>
          <p:spPr>
            <a:xfrm>
              <a:off x="1856523" y="133118"/>
              <a:ext cx="720000" cy="72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63" name="Image 62">
              <a:extLst>
                <a:ext uri="{FF2B5EF4-FFF2-40B4-BE49-F238E27FC236}">
                  <a16:creationId xmlns:a16="http://schemas.microsoft.com/office/drawing/2014/main" id="{2B956809-6B27-95FF-8FBA-38B4BA6370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55338" y="231933"/>
              <a:ext cx="522371" cy="522371"/>
            </a:xfrm>
            <a:prstGeom prst="rect">
              <a:avLst/>
            </a:prstGeom>
          </p:spPr>
        </p:pic>
      </p:grp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E5D4ED94-FD8A-E9D5-5B49-962CE5C6E25B}"/>
              </a:ext>
            </a:extLst>
          </p:cNvPr>
          <p:cNvGrpSpPr/>
          <p:nvPr/>
        </p:nvGrpSpPr>
        <p:grpSpPr>
          <a:xfrm>
            <a:off x="704165" y="1638298"/>
            <a:ext cx="360000" cy="360000"/>
            <a:chOff x="3056845" y="1528414"/>
            <a:chExt cx="3454284" cy="3454284"/>
          </a:xfrm>
        </p:grpSpPr>
        <p:sp>
          <p:nvSpPr>
            <p:cNvPr id="74" name="Ellipse 73">
              <a:extLst>
                <a:ext uri="{FF2B5EF4-FFF2-40B4-BE49-F238E27FC236}">
                  <a16:creationId xmlns:a16="http://schemas.microsoft.com/office/drawing/2014/main" id="{1A4AFC09-9CB7-634D-3093-CE44DBB23C51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E100991F-29E3-91C0-E698-B6F9D67944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82" name="Groupe 81">
            <a:extLst>
              <a:ext uri="{FF2B5EF4-FFF2-40B4-BE49-F238E27FC236}">
                <a16:creationId xmlns:a16="http://schemas.microsoft.com/office/drawing/2014/main" id="{D490A147-67BA-D5AA-020E-1414E8A0E832}"/>
              </a:ext>
            </a:extLst>
          </p:cNvPr>
          <p:cNvGrpSpPr/>
          <p:nvPr/>
        </p:nvGrpSpPr>
        <p:grpSpPr>
          <a:xfrm>
            <a:off x="5912459" y="4736737"/>
            <a:ext cx="360000" cy="360000"/>
            <a:chOff x="3056845" y="1528414"/>
            <a:chExt cx="3454284" cy="3454284"/>
          </a:xfrm>
        </p:grpSpPr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F455E967-89A5-926B-9569-B0C18BCEFCEB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0" name="Image 89">
              <a:extLst>
                <a:ext uri="{FF2B5EF4-FFF2-40B4-BE49-F238E27FC236}">
                  <a16:creationId xmlns:a16="http://schemas.microsoft.com/office/drawing/2014/main" id="{E22E4030-22B7-70AB-F9A2-07A81EEE8B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102" name="Groupe 101">
            <a:extLst>
              <a:ext uri="{FF2B5EF4-FFF2-40B4-BE49-F238E27FC236}">
                <a16:creationId xmlns:a16="http://schemas.microsoft.com/office/drawing/2014/main" id="{52B43403-7B09-8054-59ED-49F7D05C1B54}"/>
              </a:ext>
            </a:extLst>
          </p:cNvPr>
          <p:cNvGrpSpPr/>
          <p:nvPr/>
        </p:nvGrpSpPr>
        <p:grpSpPr>
          <a:xfrm>
            <a:off x="8000684" y="3973702"/>
            <a:ext cx="463240" cy="360000"/>
            <a:chOff x="4476612" y="5880432"/>
            <a:chExt cx="1010860" cy="720000"/>
          </a:xfrm>
        </p:grpSpPr>
        <p:sp>
          <p:nvSpPr>
            <p:cNvPr id="106" name="Ellipse 105">
              <a:extLst>
                <a:ext uri="{FF2B5EF4-FFF2-40B4-BE49-F238E27FC236}">
                  <a16:creationId xmlns:a16="http://schemas.microsoft.com/office/drawing/2014/main" id="{C7749C57-CAA2-3363-F666-0D5749584068}"/>
                </a:ext>
              </a:extLst>
            </p:cNvPr>
            <p:cNvSpPr/>
            <p:nvPr/>
          </p:nvSpPr>
          <p:spPr>
            <a:xfrm>
              <a:off x="4678466" y="5880432"/>
              <a:ext cx="720000" cy="72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3" name="Image 112">
              <a:extLst>
                <a:ext uri="{FF2B5EF4-FFF2-40B4-BE49-F238E27FC236}">
                  <a16:creationId xmlns:a16="http://schemas.microsoft.com/office/drawing/2014/main" id="{FF5703C6-7107-BB41-D6A5-8F693C9E2D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476612" y="6060432"/>
              <a:ext cx="1010860" cy="360000"/>
            </a:xfrm>
            <a:prstGeom prst="rect">
              <a:avLst/>
            </a:prstGeom>
          </p:spPr>
        </p:pic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DBB3458D-4CEE-E727-4796-FBB9AD6D4CE5}"/>
              </a:ext>
            </a:extLst>
          </p:cNvPr>
          <p:cNvGrpSpPr/>
          <p:nvPr/>
        </p:nvGrpSpPr>
        <p:grpSpPr>
          <a:xfrm>
            <a:off x="10144506" y="3914795"/>
            <a:ext cx="360000" cy="360000"/>
            <a:chOff x="3533664" y="4396133"/>
            <a:chExt cx="1800000" cy="1800000"/>
          </a:xfrm>
        </p:grpSpPr>
        <p:sp>
          <p:nvSpPr>
            <p:cNvPr id="115" name="Ellipse 114">
              <a:extLst>
                <a:ext uri="{FF2B5EF4-FFF2-40B4-BE49-F238E27FC236}">
                  <a16:creationId xmlns:a16="http://schemas.microsoft.com/office/drawing/2014/main" id="{97E301B2-3F02-4877-1A72-C48716EC20AC}"/>
                </a:ext>
              </a:extLst>
            </p:cNvPr>
            <p:cNvSpPr/>
            <p:nvPr/>
          </p:nvSpPr>
          <p:spPr>
            <a:xfrm>
              <a:off x="3533664" y="4396133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6" name="Image 115">
              <a:extLst>
                <a:ext uri="{FF2B5EF4-FFF2-40B4-BE49-F238E27FC236}">
                  <a16:creationId xmlns:a16="http://schemas.microsoft.com/office/drawing/2014/main" id="{DAAD1D66-50CD-ECAA-883C-2A36C76F0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681584" y="4594762"/>
              <a:ext cx="1427962" cy="1471564"/>
            </a:xfrm>
            <a:prstGeom prst="rect">
              <a:avLst/>
            </a:prstGeom>
          </p:spPr>
        </p:pic>
      </p:grpSp>
      <p:cxnSp>
        <p:nvCxnSpPr>
          <p:cNvPr id="3" name="Connecteur droit avec flèche 2">
            <a:extLst>
              <a:ext uri="{FF2B5EF4-FFF2-40B4-BE49-F238E27FC236}">
                <a16:creationId xmlns:a16="http://schemas.microsoft.com/office/drawing/2014/main" id="{4D32D995-368F-910A-03A5-33A843A7C607}"/>
              </a:ext>
            </a:extLst>
          </p:cNvPr>
          <p:cNvCxnSpPr>
            <a:cxnSpLocks/>
          </p:cNvCxnSpPr>
          <p:nvPr/>
        </p:nvCxnSpPr>
        <p:spPr>
          <a:xfrm flipV="1">
            <a:off x="330698" y="3825761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MaxPID</a:t>
            </a:r>
            <a:endParaRPr lang="fr-FR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</a:t>
            </a:r>
            <a:r>
              <a:rPr lang="fr-FR" sz="1400">
                <a:solidFill>
                  <a:srgbClr val="00547F"/>
                </a:solidFill>
              </a:rPr>
              <a:t>les capteurs </a:t>
            </a:r>
            <a:r>
              <a:rPr lang="fr-FR" sz="1400" dirty="0">
                <a:solidFill>
                  <a:srgbClr val="00547F"/>
                </a:solidFill>
              </a:rPr>
              <a:t>sont nécessaires au bon fonctionnement du système.</a:t>
            </a:r>
          </a:p>
        </p:txBody>
      </p:sp>
    </p:spTree>
    <p:extLst>
      <p:ext uri="{BB962C8B-B14F-4D97-AF65-F5344CB8AC3E}">
        <p14:creationId xmlns:p14="http://schemas.microsoft.com/office/powerpoint/2010/main" val="3067843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04</a:t>
            </a:r>
            <a:br>
              <a:rPr lang="fr-FR" dirty="0"/>
            </a:br>
            <a:r>
              <a:rPr lang="fr-FR" dirty="0"/>
              <a:t>Résolution géométrique et cinématique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5227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A5FAF0D2-AFBA-D355-8EFE-C4E73F90DFE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Loi indirecte –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A5FAF0D2-AFBA-D355-8EFE-C4E73F90DF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00" t="-690" b="-3310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4301B76-EFF6-8BBA-FF82-9ABC74701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56486"/>
                <a:ext cx="10809285" cy="5253339"/>
              </a:xfrm>
            </p:spPr>
            <p:txBody>
              <a:bodyPr>
                <a:normAutofit fontScale="550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d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fr-FR" b="0" dirty="0"/>
              </a:p>
              <a:p>
                <a:r>
                  <a:rPr lang="fr-FR" dirty="0"/>
                  <a:t>Dans le triangle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𝐴𝐷𝐶</m:t>
                    </m:r>
                  </m:oMath>
                </a14:m>
                <a:r>
                  <a:rPr lang="fr-FR" dirty="0"/>
                  <a:t>, on a 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𝑏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func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func>
                                  <m:func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sSup>
                                      <m:sSup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p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e>
                                </m:func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</m:e>
                    </m:rad>
                  </m:oMath>
                </a14:m>
                <a:endParaRPr lang="fr-FR" dirty="0"/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fr-FR" b="0" i="1" dirty="0"/>
                  <a:t> varie de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b="0" i="1" dirty="0"/>
                  <a:t> à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fr-FR" b="0" i="1" dirty="0"/>
                  <a:t>.</a:t>
                </a:r>
              </a:p>
              <a:p>
                <a:pPr lvl="1"/>
                <a:endParaRPr lang="fr-FR" b="0" i="1" dirty="0">
                  <a:latin typeface="Cambria Math" panose="02040503050406030204" pitchFamily="18" charset="0"/>
                </a:endParaRPr>
              </a:p>
              <a:p>
                <a:pPr lvl="1"/>
                <a:endParaRPr lang="fr-FR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</m:oMath>
                </a14:m>
                <a:r>
                  <a:rPr lang="fr-FR" dirty="0"/>
                  <a:t> soit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𝜆</m:t>
                        </m:r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×2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fr-FR" dirty="0"/>
              </a:p>
              <a:p>
                <a:pPr lvl="1"/>
                <a:endParaRPr lang="fr-FR" dirty="0"/>
              </a:p>
              <a:p>
                <a:pPr lvl="1"/>
                <a:r>
                  <a:rPr lang="fr-FR" dirty="0"/>
                  <a:t>Au final,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𝛾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func>
                                      <m:func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sSup>
                                          <m:sSup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p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′</m:t>
                                            </m:r>
                                          </m:sup>
                                        </m:sSup>
                                      </m:e>
                                    </m:func>
                                  </m:e>
                                </m:d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</m:e>
                        </m:rad>
                      </m:e>
                    </m:d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func>
                                      <m:func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fr-FR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func>
                                              <m:funcPr>
                                                <m:ctrlP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sSup>
                                                  <m:sSupPr>
                                                    <m:ctrlPr>
                                                      <a:rPr lang="fr-F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m:rPr>
                                                        <m:sty m:val="p"/>
                                                      </m:rPr>
                                                      <a:rPr lang="fr-FR">
                                                        <a:latin typeface="Cambria Math" panose="02040503050406030204" pitchFamily="18" charset="0"/>
                                                      </a:rPr>
                                                      <m:t>tan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fr-F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−1</m:t>
                                                    </m:r>
                                                  </m:sup>
                                                </m:sSup>
                                              </m:fName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fr-F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f>
                                                      <m:fPr>
                                                        <m:ctrlPr>
                                                          <a:rPr lang="fr-F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fPr>
                                                      <m:num>
                                                        <m:r>
                                                          <a:rPr lang="fr-F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𝑑</m:t>
                                                        </m:r>
                                                      </m:num>
                                                      <m:den>
                                                        <m:r>
                                                          <a:rPr lang="fr-F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𝑐</m:t>
                                                        </m:r>
                                                      </m:den>
                                                    </m:f>
                                                  </m:e>
                                                </m:d>
                                              </m:e>
                                            </m:func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𝑡</m:t>
                                                </m:r>
                                              </m:e>
                                            </m:d>
                                          </m:e>
                                        </m:d>
                                      </m:e>
                                    </m:func>
                                  </m:e>
                                </m:d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fName>
                              <m:e>
                                <m:d>
                                  <m:dPr>
                                    <m:ctrlPr>
                                      <a:rPr lang="fr-F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sSup>
                                          <m:sSup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fr-FR">
                                                <a:latin typeface="Cambria Math" panose="02040503050406030204" pitchFamily="18" charset="0"/>
                                              </a:rPr>
                                              <m:t>tan</m:t>
                                            </m:r>
                                          </m:e>
                                          <m:sup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−1</m:t>
                                            </m:r>
                                          </m:sup>
                                        </m:sSup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f>
                                              <m:fPr>
                                                <m:ctrlP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𝑑</m:t>
                                                </m:r>
                                              </m:num>
                                              <m:den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𝑐</m:t>
                                                </m:r>
                                              </m:den>
                                            </m:f>
                                          </m:e>
                                        </m:d>
                                      </m:e>
                                    </m:func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d>
                                      <m:d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func>
                          </m:e>
                        </m:rad>
                      </m:e>
                    </m:d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4301B76-EFF6-8BBA-FF82-9ABC74701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56486"/>
                <a:ext cx="10809285" cy="5253339"/>
              </a:xfrm>
              <a:blipFill>
                <a:blip r:embed="rId3"/>
                <a:stretch>
                  <a:fillRect l="-349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3">
            <a:extLst>
              <a:ext uri="{FF2B5EF4-FFF2-40B4-BE49-F238E27FC236}">
                <a16:creationId xmlns:a16="http://schemas.microsoft.com/office/drawing/2014/main" id="{22B62984-BF0B-DC5D-4B57-636165C7B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5976" y="-502621"/>
            <a:ext cx="4336094" cy="339429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38CD2CCE-C3EE-5884-E969-932D3CD957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0546" y="0"/>
            <a:ext cx="1245430" cy="301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060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2160A-07F8-3F5D-903C-0AC2D4ED1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B8ABBEEF-EFC2-5EFE-2B65-5DABB5053B6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Loi directe –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B8ABBEEF-EFC2-5EFE-2B65-5DABB5053B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00" t="-690" b="-3310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1DF3340F-30C7-B4BD-2F58-A5A9C24622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11718605" cy="5476063"/>
              </a:xfrm>
            </p:spPr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1588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fr-FR" b="0" dirty="0"/>
              </a:p>
              <a:p>
                <a:r>
                  <a:rPr lang="fr-FR" dirty="0"/>
                  <a:t>Dans le triangle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𝐴𝐷𝐶</m:t>
                    </m:r>
                  </m:oMath>
                </a14:m>
                <a:r>
                  <a:rPr lang="fr-FR" dirty="0"/>
                  <a:t>, on a 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𝑏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func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𝑎𝑏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𝑎𝑏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𝑎𝑏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</m:oMath>
                </a14:m>
                <a:endParaRPr lang="fr-FR" dirty="0"/>
              </a:p>
              <a:p>
                <a:pPr lvl="1"/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d>
                                  <m:dPr>
                                    <m:ctrlPr>
                                      <a:rPr lang="fr-F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sSup>
                                          <m:sSup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𝑑</m:t>
                                            </m:r>
                                          </m:e>
                                          <m:sup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d>
                                              <m:dPr>
                                                <m:ctrlP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𝑏</m:t>
                                                </m:r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+</m:t>
                                                </m:r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𝑐</m:t>
                                                </m:r>
                                              </m:e>
                                            </m:d>
                                          </m:e>
                                          <m:sup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r>
                                      <m:rPr>
                                        <m:nor/>
                                      </m:rPr>
                                      <a:rPr lang="fr-FR" i="1" dirty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×</m:t>
                                    </m:r>
                                    <m:f>
                                      <m:f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num>
                                      <m:den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𝑎𝑏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1DF3340F-30C7-B4BD-2F58-A5A9C24622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11718605" cy="5476063"/>
              </a:xfrm>
              <a:blipFill>
                <a:blip r:embed="rId3"/>
                <a:stretch>
                  <a:fillRect l="-98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3">
            <a:extLst>
              <a:ext uri="{FF2B5EF4-FFF2-40B4-BE49-F238E27FC236}">
                <a16:creationId xmlns:a16="http://schemas.microsoft.com/office/drawing/2014/main" id="{C91B98E8-3718-E1A0-1ED8-86D061B0F3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5744" y="-491192"/>
            <a:ext cx="4803486" cy="3760171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741CC39-6838-5C96-8901-625B066FDF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9567" y="86581"/>
            <a:ext cx="1245430" cy="301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817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EAD561-E397-48A3-8A25-608BAFD52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Tracer les courbes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0D81803-23F0-4705-3E30-BE38DBBA89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Voir </a:t>
            </a:r>
            <a:r>
              <a:rPr lang="fr-FR" dirty="0" err="1"/>
              <a:t>capytale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90605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890C1-FE7C-69F3-01BD-1A405BB5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6F0FB32-B016-FED2-32DB-B91BA7AA0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07</a:t>
            </a:r>
            <a:br>
              <a:rPr lang="fr-FR" dirty="0"/>
            </a:br>
            <a:r>
              <a:rPr lang="fr-FR" dirty="0"/>
              <a:t>Modélisation composants ou phénomènes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8C8992F-8C34-F226-1E01-2A59D755ED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158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09</a:t>
            </a:r>
            <a:br>
              <a:rPr lang="fr-FR" dirty="0"/>
            </a:br>
            <a:r>
              <a:rPr lang="fr-FR" dirty="0"/>
              <a:t>Dimensionnement d’un actionneur en dynamique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58229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Objectif :</a:t>
            </a:r>
          </a:p>
          <a:p>
            <a:pPr lvl="1"/>
            <a:r>
              <a:rPr lang="fr-FR" dirty="0"/>
              <a:t> On souhaite déterminer le couple maximal et la vitesse maximale d’un moteur pour pouvoir déplacer une charge de XXX kg en moins de XXXX s. </a:t>
            </a:r>
          </a:p>
          <a:p>
            <a:pPr lvl="1"/>
            <a:endParaRPr lang="fr-FR" dirty="0"/>
          </a:p>
          <a:p>
            <a:r>
              <a:rPr lang="fr-FR" dirty="0"/>
              <a:t>Modèle 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Expérimentation : première approche pour avoir une estimation de la puissance</a:t>
            </a:r>
          </a:p>
          <a:p>
            <a:pPr lvl="1"/>
            <a:r>
              <a:rPr lang="fr-FR" dirty="0"/>
              <a:t>Protocole Expérimental</a:t>
            </a:r>
          </a:p>
          <a:p>
            <a:pPr lvl="2"/>
            <a:r>
              <a:rPr lang="fr-FR" dirty="0"/>
              <a:t>Montée, avec un chargement maximal, et un échelon de position</a:t>
            </a:r>
          </a:p>
          <a:p>
            <a:pPr lvl="2"/>
            <a:r>
              <a:rPr lang="fr-FR" dirty="0"/>
              <a:t>Mesure de la vitesse grâce à la génératrice tachymétrique ou au codeur/potentiomètre</a:t>
            </a:r>
          </a:p>
          <a:p>
            <a:pPr lvl="2"/>
            <a:r>
              <a:rPr lang="fr-FR" dirty="0"/>
              <a:t>Meure du couple moteur grâce au courant…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grpSp>
        <p:nvGrpSpPr>
          <p:cNvPr id="86" name="Groupe 85"/>
          <p:cNvGrpSpPr/>
          <p:nvPr/>
        </p:nvGrpSpPr>
        <p:grpSpPr>
          <a:xfrm>
            <a:off x="3241822" y="2261019"/>
            <a:ext cx="5568476" cy="1462084"/>
            <a:chOff x="4452429" y="3393409"/>
            <a:chExt cx="5568476" cy="1462084"/>
          </a:xfrm>
        </p:grpSpPr>
        <p:sp>
          <p:nvSpPr>
            <p:cNvPr id="48" name="Rectangle : coins arrondis 15">
              <a:extLst>
                <a:ext uri="{FF2B5EF4-FFF2-40B4-BE49-F238E27FC236}">
                  <a16:creationId xmlns:a16="http://schemas.microsoft.com/office/drawing/2014/main" id="{B8181AD4-9AB8-CA7B-EFBF-8B9CD4369264}"/>
                </a:ext>
              </a:extLst>
            </p:cNvPr>
            <p:cNvSpPr/>
            <p:nvPr/>
          </p:nvSpPr>
          <p:spPr>
            <a:xfrm>
              <a:off x="5380883" y="3542688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Convertir</a:t>
              </a:r>
            </a:p>
          </p:txBody>
        </p:sp>
        <p:sp>
          <p:nvSpPr>
            <p:cNvPr id="49" name="Rectangle : coins arrondis 16">
              <a:extLst>
                <a:ext uri="{FF2B5EF4-FFF2-40B4-BE49-F238E27FC236}">
                  <a16:creationId xmlns:a16="http://schemas.microsoft.com/office/drawing/2014/main" id="{7E462E27-42D7-734B-5E6F-B78EF40987B6}"/>
                </a:ext>
              </a:extLst>
            </p:cNvPr>
            <p:cNvSpPr/>
            <p:nvPr/>
          </p:nvSpPr>
          <p:spPr>
            <a:xfrm>
              <a:off x="5389319" y="4223146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C3AED1"/>
            </a:solidFill>
            <a:ln w="19050">
              <a:solidFill>
                <a:srgbClr val="C3AE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Moteur à courant continu</a:t>
              </a:r>
            </a:p>
          </p:txBody>
        </p:sp>
        <p:sp>
          <p:nvSpPr>
            <p:cNvPr id="50" name="Rectangle : coins arrondis 17">
              <a:extLst>
                <a:ext uri="{FF2B5EF4-FFF2-40B4-BE49-F238E27FC236}">
                  <a16:creationId xmlns:a16="http://schemas.microsoft.com/office/drawing/2014/main" id="{AA76E29F-1BCE-DD76-499C-CE8F3E850A8E}"/>
                </a:ext>
              </a:extLst>
            </p:cNvPr>
            <p:cNvSpPr/>
            <p:nvPr/>
          </p:nvSpPr>
          <p:spPr>
            <a:xfrm>
              <a:off x="7542872" y="3545795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51" name="Rectangle : coins arrondis 18">
              <a:extLst>
                <a:ext uri="{FF2B5EF4-FFF2-40B4-BE49-F238E27FC236}">
                  <a16:creationId xmlns:a16="http://schemas.microsoft.com/office/drawing/2014/main" id="{A66FC087-C9BC-9FD1-6C13-AD7571852AD4}"/>
                </a:ext>
              </a:extLst>
            </p:cNvPr>
            <p:cNvSpPr/>
            <p:nvPr/>
          </p:nvSpPr>
          <p:spPr>
            <a:xfrm>
              <a:off x="7549319" y="4202642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Mécanisme</a:t>
              </a:r>
            </a:p>
          </p:txBody>
        </p: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6E52C4D0-B55B-30AA-F92B-6E09F0A4D9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9319" y="3798320"/>
              <a:ext cx="720000" cy="1536"/>
            </a:xfrm>
            <a:prstGeom prst="straightConnector1">
              <a:avLst/>
            </a:prstGeom>
            <a:ln w="25400" cap="rnd">
              <a:solidFill>
                <a:srgbClr val="0C739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5" name="Image 54">
              <a:extLst>
                <a:ext uri="{FF2B5EF4-FFF2-40B4-BE49-F238E27FC236}">
                  <a16:creationId xmlns:a16="http://schemas.microsoft.com/office/drawing/2014/main" id="{F31071D2-3D9A-9512-E018-EA9EA1D5A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8894" y="3393409"/>
              <a:ext cx="360000" cy="360000"/>
            </a:xfrm>
            <a:prstGeom prst="rect">
              <a:avLst/>
            </a:prstGeom>
          </p:spPr>
        </p:pic>
        <p:cxnSp>
          <p:nvCxnSpPr>
            <p:cNvPr id="56" name="Connecteur droit avec flèche 55">
              <a:extLst>
                <a:ext uri="{FF2B5EF4-FFF2-40B4-BE49-F238E27FC236}">
                  <a16:creationId xmlns:a16="http://schemas.microsoft.com/office/drawing/2014/main" id="{75B4C387-2DFC-8DD6-0817-E4B93F7F3F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807925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7" name="Image 56">
              <a:extLst>
                <a:ext uri="{FF2B5EF4-FFF2-40B4-BE49-F238E27FC236}">
                  <a16:creationId xmlns:a16="http://schemas.microsoft.com/office/drawing/2014/main" id="{F1B5964F-3473-92A5-6A3A-F03DA766A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93108" y="3418676"/>
              <a:ext cx="360000" cy="36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/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 xx V </a:t>
                  </a:r>
                  <a14:m>
                    <m:oMath xmlns:m="http://schemas.openxmlformats.org/officeDocument/2006/math">
                      <m:r>
                        <a:rPr lang="fr-FR" sz="1200" b="1" i="0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𝑼𝑰</m:t>
                        </m:r>
                      </m:oMath>
                    </m:oMathPara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A416195-885D-B412-950E-1F349C5CC6AB}"/>
                </a:ext>
              </a:extLst>
            </p:cNvPr>
            <p:cNvGrpSpPr/>
            <p:nvPr/>
          </p:nvGrpSpPr>
          <p:grpSpPr>
            <a:xfrm>
              <a:off x="8079091" y="3940734"/>
              <a:ext cx="360000" cy="360000"/>
              <a:chOff x="5447928" y="2816932"/>
              <a:chExt cx="1800000" cy="1800000"/>
            </a:xfrm>
          </p:grpSpPr>
          <p:sp>
            <p:nvSpPr>
              <p:cNvPr id="72" name="Ellipse 71">
                <a:extLst>
                  <a:ext uri="{FF2B5EF4-FFF2-40B4-BE49-F238E27FC236}">
                    <a16:creationId xmlns:a16="http://schemas.microsoft.com/office/drawing/2014/main" id="{689719FF-319E-F4C6-E150-B6C708728D00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73" name="Image 72">
                <a:extLst>
                  <a:ext uri="{FF2B5EF4-FFF2-40B4-BE49-F238E27FC236}">
                    <a16:creationId xmlns:a16="http://schemas.microsoft.com/office/drawing/2014/main" id="{1AC2262C-D76B-934A-5E65-99DB0E926C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grpSp>
          <p:nvGrpSpPr>
            <p:cNvPr id="74" name="Groupe 73">
              <a:extLst>
                <a:ext uri="{FF2B5EF4-FFF2-40B4-BE49-F238E27FC236}">
                  <a16:creationId xmlns:a16="http://schemas.microsoft.com/office/drawing/2014/main" id="{62B9229E-5DD5-9728-B982-E481189F9BEC}"/>
                </a:ext>
              </a:extLst>
            </p:cNvPr>
            <p:cNvGrpSpPr/>
            <p:nvPr/>
          </p:nvGrpSpPr>
          <p:grpSpPr>
            <a:xfrm>
              <a:off x="5929319" y="3962771"/>
              <a:ext cx="360000" cy="360000"/>
              <a:chOff x="5775745" y="3144183"/>
              <a:chExt cx="1800000" cy="1800000"/>
            </a:xfrm>
          </p:grpSpPr>
          <p:sp>
            <p:nvSpPr>
              <p:cNvPr id="75" name="Ellipse 74">
                <a:extLst>
                  <a:ext uri="{FF2B5EF4-FFF2-40B4-BE49-F238E27FC236}">
                    <a16:creationId xmlns:a16="http://schemas.microsoft.com/office/drawing/2014/main" id="{45D1B4DF-7033-EB1C-DEC9-639AE2145414}"/>
                  </a:ext>
                </a:extLst>
              </p:cNvPr>
              <p:cNvSpPr/>
              <p:nvPr/>
            </p:nvSpPr>
            <p:spPr>
              <a:xfrm>
                <a:off x="5775745" y="314418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6" name="Image 75">
                <a:extLst>
                  <a:ext uri="{FF2B5EF4-FFF2-40B4-BE49-F238E27FC236}">
                    <a16:creationId xmlns:a16="http://schemas.microsoft.com/office/drawing/2014/main" id="{E313AA97-25C8-7CFE-4F0E-0B1EFC00D5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903821" y="3513485"/>
                <a:ext cx="1543848" cy="1061396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/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Connecteur droit avec flèche 79">
              <a:extLst>
                <a:ext uri="{FF2B5EF4-FFF2-40B4-BE49-F238E27FC236}">
                  <a16:creationId xmlns:a16="http://schemas.microsoft.com/office/drawing/2014/main" id="{FA030DA2-3C3A-C8FA-45E8-D976D05C94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895" y="3796784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7CFF18D7-B440-5F98-0242-64155E193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75684" y="3407535"/>
              <a:ext cx="360000" cy="36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/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31153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75FEE8-5C6C-2C21-A4AF-999762DAE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B4AC50B9-08F3-4A73-CFB6-ED0F0C24550E}"/>
              </a:ext>
            </a:extLst>
          </p:cNvPr>
          <p:cNvSpPr/>
          <p:nvPr/>
        </p:nvSpPr>
        <p:spPr>
          <a:xfrm>
            <a:off x="-926947" y="2166427"/>
            <a:ext cx="2498058" cy="2498058"/>
          </a:xfrm>
          <a:prstGeom prst="arc">
            <a:avLst>
              <a:gd name="adj1" fmla="val 987784"/>
              <a:gd name="adj2" fmla="val 2517803"/>
            </a:avLst>
          </a:prstGeom>
          <a:ln w="19050">
            <a:headEnd type="stealth" w="med" len="lg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A7D91E2F-4FDF-D5B5-C6B1-38E915377D4B}"/>
              </a:ext>
            </a:extLst>
          </p:cNvPr>
          <p:cNvGrpSpPr/>
          <p:nvPr/>
        </p:nvGrpSpPr>
        <p:grpSpPr>
          <a:xfrm>
            <a:off x="6171260" y="1724511"/>
            <a:ext cx="1745369" cy="1666470"/>
            <a:chOff x="5262233" y="3152282"/>
            <a:chExt cx="1745369" cy="1666470"/>
          </a:xfrm>
        </p:grpSpPr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54D97C53-FF44-9771-576F-9A8A92C8D0AB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72" name="Connecteur droit avec flèche 71">
                <a:extLst>
                  <a:ext uri="{FF2B5EF4-FFF2-40B4-BE49-F238E27FC236}">
                    <a16:creationId xmlns:a16="http://schemas.microsoft.com/office/drawing/2014/main" id="{0320D4EE-A922-CB37-5EA3-E5E586F36B34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necteur droit avec flèche 72">
                <a:extLst>
                  <a:ext uri="{FF2B5EF4-FFF2-40B4-BE49-F238E27FC236}">
                    <a16:creationId xmlns:a16="http://schemas.microsoft.com/office/drawing/2014/main" id="{DB310BBF-9F31-00DC-9698-D79FA32471F3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AEBC270C-2419-8AA5-276B-ED9A042D4FAE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70" name="Connecteur droit avec flèche 69">
                <a:extLst>
                  <a:ext uri="{FF2B5EF4-FFF2-40B4-BE49-F238E27FC236}">
                    <a16:creationId xmlns:a16="http://schemas.microsoft.com/office/drawing/2014/main" id="{B4EBD561-4D96-E242-04F7-C8A0FFF7618C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necteur droit avec flèche 70">
                <a:extLst>
                  <a:ext uri="{FF2B5EF4-FFF2-40B4-BE49-F238E27FC236}">
                    <a16:creationId xmlns:a16="http://schemas.microsoft.com/office/drawing/2014/main" id="{251D449D-478E-A80A-5B15-D80CD2B5A24A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F3FB8FF8-FE9D-5112-A055-1B4982177882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ZoneTexte 61">
                  <a:extLst>
                    <a:ext uri="{FF2B5EF4-FFF2-40B4-BE49-F238E27FC236}">
                      <a16:creationId xmlns:a16="http://schemas.microsoft.com/office/drawing/2014/main" id="{4F8053E8-8B57-B3D1-7A97-2A5B72C2404C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8" name="ZoneTexte 1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6C71C0DD-0021-7D7F-B5F1-A607D111AA64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9" name="ZoneTexte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A8ADA475-0C3A-45CC-9B75-7DCF67610335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0" name="ZoneTexte 1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blipFill rotWithShape="1"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188BF97F-A207-142A-1AC4-0383E306DE4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1" name="ZoneTexte 1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blipFill rotWithShape="1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E3AF8B67-016F-E790-F1F7-53E61E575CAB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2" name="ZoneTexte 1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blipFill rotWithShape="1">
                  <a:blip r:embed="rId14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E673A9CF-F67C-AF13-C4CF-68AA808FFF97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3" name="ZoneTexte 1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01B086A6-A41D-BDB8-EF88-AB3DCC7B59EF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EE25BE62-B6D9-04FD-DAE1-0E2892C9F9CD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9E54CB3A-7049-6A65-FB45-CC501EB3B1FE}"/>
              </a:ext>
            </a:extLst>
          </p:cNvPr>
          <p:cNvGrpSpPr/>
          <p:nvPr/>
        </p:nvGrpSpPr>
        <p:grpSpPr>
          <a:xfrm>
            <a:off x="6184306" y="3276070"/>
            <a:ext cx="1745369" cy="1666470"/>
            <a:chOff x="5262233" y="3152282"/>
            <a:chExt cx="1745369" cy="1666470"/>
          </a:xfrm>
        </p:grpSpPr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B59C1FC6-ACAE-E06F-CDF8-7FE9A5FA0C33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88" name="Connecteur droit avec flèche 87">
                <a:extLst>
                  <a:ext uri="{FF2B5EF4-FFF2-40B4-BE49-F238E27FC236}">
                    <a16:creationId xmlns:a16="http://schemas.microsoft.com/office/drawing/2014/main" id="{9D344FC2-5413-9C4A-094F-7B76D34A4394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avec flèche 88">
                <a:extLst>
                  <a:ext uri="{FF2B5EF4-FFF2-40B4-BE49-F238E27FC236}">
                    <a16:creationId xmlns:a16="http://schemas.microsoft.com/office/drawing/2014/main" id="{30818A1D-D7F8-D3DC-E4F3-DB61ECC59F22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F6752312-381E-1265-927F-B9C8645153E6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86" name="Connecteur droit avec flèche 85">
                <a:extLst>
                  <a:ext uri="{FF2B5EF4-FFF2-40B4-BE49-F238E27FC236}">
                    <a16:creationId xmlns:a16="http://schemas.microsoft.com/office/drawing/2014/main" id="{16892681-3E83-5BC2-A7D2-70B8744E0E23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necteur droit avec flèche 86">
                <a:extLst>
                  <a:ext uri="{FF2B5EF4-FFF2-40B4-BE49-F238E27FC236}">
                    <a16:creationId xmlns:a16="http://schemas.microsoft.com/office/drawing/2014/main" id="{DF247A63-C7A2-EA49-DF23-8F20E70B8F2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63F2FFD1-BDD1-1CC4-2BA0-4E0D1E13710F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74461E32-D07E-D8CB-8572-F28BC5CE35E4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1" name="ZoneTexte 1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38B6B8FA-AD3E-36D4-665F-804F3106D264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2" name="ZoneTexte 1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13D01B7F-B745-A8E2-6256-44FDF05A4516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3" name="ZoneTexte 1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blipFill rotWithShape="1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41362344-CBB4-6608-1458-C2076362C3B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4" name="ZoneTexte 1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blipFill rotWithShape="1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ZoneTexte 81">
                  <a:extLst>
                    <a:ext uri="{FF2B5EF4-FFF2-40B4-BE49-F238E27FC236}">
                      <a16:creationId xmlns:a16="http://schemas.microsoft.com/office/drawing/2014/main" id="{CF1F85F9-1F46-9DFB-9F49-7E552C595936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5" name="ZoneTexte 1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blipFill rotWithShape="1"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ZoneTexte 82">
                  <a:extLst>
                    <a:ext uri="{FF2B5EF4-FFF2-40B4-BE49-F238E27FC236}">
                      <a16:creationId xmlns:a16="http://schemas.microsoft.com/office/drawing/2014/main" id="{CAE94D89-85A5-5795-746F-A03E73FD7CD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6" name="ZoneTexte 1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Ellipse 83">
              <a:extLst>
                <a:ext uri="{FF2B5EF4-FFF2-40B4-BE49-F238E27FC236}">
                  <a16:creationId xmlns:a16="http://schemas.microsoft.com/office/drawing/2014/main" id="{E619B2F7-C5AF-96C2-A6F5-99C182D26FF2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8B0ED3BE-D3A2-8D4B-8C6F-1D252FBB9E32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36EEDDD4-2DD2-B9F2-E5B9-44CC129CFF9B}"/>
              </a:ext>
            </a:extLst>
          </p:cNvPr>
          <p:cNvGrpSpPr/>
          <p:nvPr/>
        </p:nvGrpSpPr>
        <p:grpSpPr>
          <a:xfrm>
            <a:off x="-165908" y="1447512"/>
            <a:ext cx="5527681" cy="5122785"/>
            <a:chOff x="-165908" y="1447512"/>
            <a:chExt cx="5527681" cy="5122785"/>
          </a:xfrm>
        </p:grpSpPr>
        <p:sp>
          <p:nvSpPr>
            <p:cNvPr id="4" name="Forme libre 17">
              <a:extLst>
                <a:ext uri="{FF2B5EF4-FFF2-40B4-BE49-F238E27FC236}">
                  <a16:creationId xmlns:a16="http://schemas.microsoft.com/office/drawing/2014/main" id="{697E442E-9650-E826-1EAF-0AEC602FD0C9}"/>
                </a:ext>
              </a:extLst>
            </p:cNvPr>
            <p:cNvSpPr/>
            <p:nvPr/>
          </p:nvSpPr>
          <p:spPr>
            <a:xfrm>
              <a:off x="558800" y="5618480"/>
              <a:ext cx="998220" cy="147567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8220" h="147567">
                  <a:moveTo>
                    <a:pt x="0" y="7620"/>
                  </a:moveTo>
                  <a:cubicBezTo>
                    <a:pt x="72390" y="68580"/>
                    <a:pt x="144780" y="129540"/>
                    <a:pt x="220980" y="144780"/>
                  </a:cubicBezTo>
                  <a:cubicBezTo>
                    <a:pt x="297180" y="160020"/>
                    <a:pt x="359410" y="99060"/>
                    <a:pt x="457200" y="99060"/>
                  </a:cubicBezTo>
                  <a:cubicBezTo>
                    <a:pt x="554990" y="99060"/>
                    <a:pt x="717550" y="161290"/>
                    <a:pt x="807720" y="144780"/>
                  </a:cubicBezTo>
                  <a:cubicBezTo>
                    <a:pt x="897890" y="128270"/>
                    <a:pt x="948055" y="64135"/>
                    <a:pt x="998220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CD891EBD-6F18-DDA2-0677-548D2612FE7E}"/>
                </a:ext>
              </a:extLst>
            </p:cNvPr>
            <p:cNvSpPr/>
            <p:nvPr/>
          </p:nvSpPr>
          <p:spPr>
            <a:xfrm>
              <a:off x="75980" y="3370477"/>
              <a:ext cx="3199820" cy="3199820"/>
            </a:xfrm>
            <a:prstGeom prst="arc">
              <a:avLst>
                <a:gd name="adj1" fmla="val 15985282"/>
                <a:gd name="adj2" fmla="val 20640091"/>
              </a:avLst>
            </a:prstGeom>
            <a:ln w="9525">
              <a:solidFill>
                <a:srgbClr val="7030A0"/>
              </a:solidFill>
              <a:prstDash val="lgDashDot"/>
              <a:headEnd type="none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BBF9ABCB-FB39-7582-628F-FF2675545471}"/>
                </a:ext>
              </a:extLst>
            </p:cNvPr>
            <p:cNvCxnSpPr/>
            <p:nvPr/>
          </p:nvCxnSpPr>
          <p:spPr>
            <a:xfrm flipV="1">
              <a:off x="340956" y="2649220"/>
              <a:ext cx="872735" cy="729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avec flèche 6">
              <a:extLst>
                <a:ext uri="{FF2B5EF4-FFF2-40B4-BE49-F238E27FC236}">
                  <a16:creationId xmlns:a16="http://schemas.microsoft.com/office/drawing/2014/main" id="{087BC8B3-45FC-E5C3-F542-749A390C0C2F}"/>
                </a:ext>
              </a:extLst>
            </p:cNvPr>
            <p:cNvCxnSpPr/>
            <p:nvPr/>
          </p:nvCxnSpPr>
          <p:spPr>
            <a:xfrm>
              <a:off x="340956" y="3369331"/>
              <a:ext cx="1759207" cy="21051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1C3DF8A5-C6D6-CB5C-4202-5BDE080027E3}"/>
                </a:ext>
              </a:extLst>
            </p:cNvPr>
            <p:cNvCxnSpPr>
              <a:stCxn id="12" idx="7"/>
            </p:cNvCxnSpPr>
            <p:nvPr/>
          </p:nvCxnSpPr>
          <p:spPr>
            <a:xfrm flipV="1">
              <a:off x="1778895" y="1586012"/>
              <a:ext cx="3210533" cy="3282541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01383E87-550B-E1A4-0C76-38F0A77CA100}"/>
                </a:ext>
              </a:extLst>
            </p:cNvPr>
            <p:cNvCxnSpPr/>
            <p:nvPr/>
          </p:nvCxnSpPr>
          <p:spPr>
            <a:xfrm>
              <a:off x="340956" y="3386216"/>
              <a:ext cx="3208312" cy="60795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A1A12714-EEF6-A821-22A4-9C81DC4A5EE9}"/>
                </a:ext>
              </a:extLst>
            </p:cNvPr>
            <p:cNvCxnSpPr/>
            <p:nvPr/>
          </p:nvCxnSpPr>
          <p:spPr>
            <a:xfrm flipH="1">
              <a:off x="2820033" y="35386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6BF7D29A-3339-BCC2-5610-61A53C8EB4B5}"/>
                </a:ext>
              </a:extLst>
            </p:cNvPr>
            <p:cNvCxnSpPr/>
            <p:nvPr/>
          </p:nvCxnSpPr>
          <p:spPr>
            <a:xfrm flipH="1">
              <a:off x="1994989" y="33862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F70A3F61-F343-6220-B930-0DB0532781E0}"/>
                </a:ext>
              </a:extLst>
            </p:cNvPr>
            <p:cNvSpPr/>
            <p:nvPr/>
          </p:nvSpPr>
          <p:spPr>
            <a:xfrm>
              <a:off x="1533044" y="4826372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84BFF19-F50A-79B4-A353-22B03D0FD807}"/>
                </a:ext>
              </a:extLst>
            </p:cNvPr>
            <p:cNvCxnSpPr>
              <a:stCxn id="25" idx="4"/>
            </p:cNvCxnSpPr>
            <p:nvPr/>
          </p:nvCxnSpPr>
          <p:spPr>
            <a:xfrm>
              <a:off x="340956" y="3530228"/>
              <a:ext cx="0" cy="208823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3BE766AF-84E7-E75C-6493-D5AB18DD6C38}"/>
                </a:ext>
              </a:extLst>
            </p:cNvPr>
            <p:cNvCxnSpPr>
              <a:endCxn id="12" idx="4"/>
            </p:cNvCxnSpPr>
            <p:nvPr/>
          </p:nvCxnSpPr>
          <p:spPr>
            <a:xfrm flipV="1">
              <a:off x="1677060" y="5114404"/>
              <a:ext cx="0" cy="50405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BFC676BC-A2F8-C3B2-9880-DC27E966CCD9}"/>
                </a:ext>
              </a:extLst>
            </p:cNvPr>
            <p:cNvCxnSpPr/>
            <p:nvPr/>
          </p:nvCxnSpPr>
          <p:spPr>
            <a:xfrm flipH="1">
              <a:off x="340956" y="5618460"/>
              <a:ext cx="133610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E72E79E7-85DA-5C72-1DC3-855635F9B398}"/>
                </a:ext>
              </a:extLst>
            </p:cNvPr>
            <p:cNvCxnSpPr/>
            <p:nvPr/>
          </p:nvCxnSpPr>
          <p:spPr>
            <a:xfrm>
              <a:off x="537671" y="3422098"/>
              <a:ext cx="1152128" cy="216435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D57D40DB-D77D-66B4-8A03-989009CFCFD8}"/>
                </a:ext>
              </a:extLst>
            </p:cNvPr>
            <p:cNvCxnSpPr>
              <a:stCxn id="34" idx="2"/>
              <a:endCxn id="12" idx="7"/>
            </p:cNvCxnSpPr>
            <p:nvPr/>
          </p:nvCxnSpPr>
          <p:spPr>
            <a:xfrm flipH="1">
              <a:off x="1778895" y="2445572"/>
              <a:ext cx="2388598" cy="242298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2C8E0B08-BA30-55D2-0E77-8D7DE0BB6BEC}"/>
                </a:ext>
              </a:extLst>
            </p:cNvPr>
            <p:cNvSpPr/>
            <p:nvPr/>
          </p:nvSpPr>
          <p:spPr>
            <a:xfrm>
              <a:off x="2641942" y="3706143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4B0321C-CAF7-2712-901D-82CEB73345DE}"/>
                </a:ext>
              </a:extLst>
            </p:cNvPr>
            <p:cNvSpPr/>
            <p:nvPr/>
          </p:nvSpPr>
          <p:spPr>
            <a:xfrm rot="647236">
              <a:off x="719766" y="3366786"/>
              <a:ext cx="576000" cy="28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5DF080D9-DF3B-BCB8-C9A3-761BC9EDF36F}"/>
                </a:ext>
              </a:extLst>
            </p:cNvPr>
            <p:cNvCxnSpPr/>
            <p:nvPr/>
          </p:nvCxnSpPr>
          <p:spPr>
            <a:xfrm>
              <a:off x="409264" y="3088948"/>
              <a:ext cx="669043" cy="12568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286FA765-BA90-292E-E2C2-4F869B786EBF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34717" y="3197756"/>
              <a:ext cx="32219" cy="171575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27820B-A798-8588-01D3-06078CC73881}"/>
                </a:ext>
              </a:extLst>
            </p:cNvPr>
            <p:cNvCxnSpPr/>
            <p:nvPr/>
          </p:nvCxnSpPr>
          <p:spPr>
            <a:xfrm flipH="1">
              <a:off x="650091" y="3315427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52FD3197-E6FA-D904-1D20-35C4E770AC7E}"/>
                </a:ext>
              </a:extLst>
            </p:cNvPr>
            <p:cNvCxnSpPr/>
            <p:nvPr/>
          </p:nvCxnSpPr>
          <p:spPr>
            <a:xfrm flipH="1">
              <a:off x="1311649" y="3447103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28EAAA1C-4EF5-7128-18E4-E51619DC6C56}"/>
                </a:ext>
              </a:extLst>
            </p:cNvPr>
            <p:cNvCxnSpPr/>
            <p:nvPr/>
          </p:nvCxnSpPr>
          <p:spPr>
            <a:xfrm flipH="1">
              <a:off x="378032" y="3075872"/>
              <a:ext cx="31232" cy="16632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23B2D2C8-DF53-1B9A-572D-E403F841C2B7}"/>
                </a:ext>
              </a:extLst>
            </p:cNvPr>
            <p:cNvSpPr/>
            <p:nvPr/>
          </p:nvSpPr>
          <p:spPr>
            <a:xfrm>
              <a:off x="196940" y="3242196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333F867B-6109-243C-790A-3659DB07B02A}"/>
                </a:ext>
              </a:extLst>
            </p:cNvPr>
            <p:cNvCxnSpPr/>
            <p:nvPr/>
          </p:nvCxnSpPr>
          <p:spPr>
            <a:xfrm>
              <a:off x="2027208" y="3383990"/>
              <a:ext cx="825044" cy="154990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BF26DE70-C43E-4936-5646-D0A58CAB000A}"/>
                </a:ext>
              </a:extLst>
            </p:cNvPr>
            <p:cNvGrpSpPr/>
            <p:nvPr/>
          </p:nvGrpSpPr>
          <p:grpSpPr>
            <a:xfrm rot="604479">
              <a:off x="1682979" y="3565422"/>
              <a:ext cx="576000" cy="288000"/>
              <a:chOff x="2811353" y="2007187"/>
              <a:chExt cx="576000" cy="288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175AA89-C894-CC3A-0B49-577E1023CAE9}"/>
                  </a:ext>
                </a:extLst>
              </p:cNvPr>
              <p:cNvSpPr/>
              <p:nvPr/>
            </p:nvSpPr>
            <p:spPr>
              <a:xfrm>
                <a:off x="2811353" y="2007187"/>
                <a:ext cx="576000" cy="288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ED259E14-E12D-1250-278E-A91FD2C25CB9}"/>
                  </a:ext>
                </a:extLst>
              </p:cNvPr>
              <p:cNvSpPr/>
              <p:nvPr/>
            </p:nvSpPr>
            <p:spPr>
              <a:xfrm>
                <a:off x="2811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43F875C3-A704-3FF7-E213-681D301A0CB9}"/>
                  </a:ext>
                </a:extLst>
              </p:cNvPr>
              <p:cNvSpPr/>
              <p:nvPr/>
            </p:nvSpPr>
            <p:spPr>
              <a:xfrm rot="10800000">
                <a:off x="2955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1" name="Arc 30">
                <a:extLst>
                  <a:ext uri="{FF2B5EF4-FFF2-40B4-BE49-F238E27FC236}">
                    <a16:creationId xmlns:a16="http://schemas.microsoft.com/office/drawing/2014/main" id="{078DAC7B-60BD-0EFE-C670-D45E4FA5E5D9}"/>
                  </a:ext>
                </a:extLst>
              </p:cNvPr>
              <p:cNvSpPr/>
              <p:nvPr/>
            </p:nvSpPr>
            <p:spPr>
              <a:xfrm>
                <a:off x="3099353" y="2079188"/>
                <a:ext cx="144000" cy="144000"/>
              </a:xfrm>
              <a:prstGeom prst="arc">
                <a:avLst>
                  <a:gd name="adj1" fmla="val 10087325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2" name="Arc 31">
                <a:extLst>
                  <a:ext uri="{FF2B5EF4-FFF2-40B4-BE49-F238E27FC236}">
                    <a16:creationId xmlns:a16="http://schemas.microsoft.com/office/drawing/2014/main" id="{2398C4E5-D80A-9D6F-B0CC-2581D8B1EFE9}"/>
                  </a:ext>
                </a:extLst>
              </p:cNvPr>
              <p:cNvSpPr/>
              <p:nvPr/>
            </p:nvSpPr>
            <p:spPr>
              <a:xfrm rot="10800000">
                <a:off x="3243353" y="2079188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</p:grp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685E5AF4-CB59-EF32-E912-C4C7B8FA0A41}"/>
                </a:ext>
              </a:extLst>
            </p:cNvPr>
            <p:cNvCxnSpPr/>
            <p:nvPr/>
          </p:nvCxnSpPr>
          <p:spPr>
            <a:xfrm>
              <a:off x="2267133" y="3754969"/>
              <a:ext cx="134963" cy="25343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3361B41-7F4B-8E3C-9F54-CFECF376E99C}"/>
                </a:ext>
              </a:extLst>
            </p:cNvPr>
            <p:cNvSpPr/>
            <p:nvPr/>
          </p:nvSpPr>
          <p:spPr>
            <a:xfrm rot="2700000">
              <a:off x="3981316" y="2199749"/>
              <a:ext cx="576000" cy="288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/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/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/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/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92B2E61C-0A4F-8BB3-01A7-4335E6F3C574}"/>
                </a:ext>
              </a:extLst>
            </p:cNvPr>
            <p:cNvSpPr/>
            <p:nvPr/>
          </p:nvSpPr>
          <p:spPr>
            <a:xfrm>
              <a:off x="-833" y="53304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A7AC95E5-04B0-0CAF-5FF2-9F21D67DF6D2}"/>
                </a:ext>
              </a:extLst>
            </p:cNvPr>
            <p:cNvSpPr/>
            <p:nvPr/>
          </p:nvSpPr>
          <p:spPr>
            <a:xfrm>
              <a:off x="234016" y="2747659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ED84DDD3-AFF2-1EA4-AFAE-A3C7F5E8F4B7}"/>
                </a:ext>
              </a:extLst>
            </p:cNvPr>
            <p:cNvSpPr/>
            <p:nvPr/>
          </p:nvSpPr>
          <p:spPr>
            <a:xfrm>
              <a:off x="1379341" y="3212000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39E06F63-2CE7-73F4-663D-3B82CEF88CEA}"/>
                </a:ext>
              </a:extLst>
            </p:cNvPr>
            <p:cNvSpPr/>
            <p:nvPr/>
          </p:nvSpPr>
          <p:spPr>
            <a:xfrm>
              <a:off x="2333628" y="312742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FFC000"/>
                  </a:solidFill>
                </a:rPr>
                <a:t>3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0830CA70-004E-830A-CF51-4A80BF53949A}"/>
                </a:ext>
              </a:extLst>
            </p:cNvPr>
            <p:cNvSpPr/>
            <p:nvPr/>
          </p:nvSpPr>
          <p:spPr>
            <a:xfrm>
              <a:off x="3629990" y="300777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7030A0"/>
                  </a:solidFill>
                </a:rPr>
                <a:t>4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/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/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/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/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60FC7889-A51C-0B19-B67D-46531BD6623B}"/>
                </a:ext>
              </a:extLst>
            </p:cNvPr>
            <p:cNvCxnSpPr>
              <a:stCxn id="12" idx="6"/>
            </p:cNvCxnSpPr>
            <p:nvPr/>
          </p:nvCxnSpPr>
          <p:spPr>
            <a:xfrm>
              <a:off x="1821076" y="4970388"/>
              <a:ext cx="6332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/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Arc 49">
              <a:extLst>
                <a:ext uri="{FF2B5EF4-FFF2-40B4-BE49-F238E27FC236}">
                  <a16:creationId xmlns:a16="http://schemas.microsoft.com/office/drawing/2014/main" id="{5D7B64AC-1E74-F111-9000-26604A2B1719}"/>
                </a:ext>
              </a:extLst>
            </p:cNvPr>
            <p:cNvSpPr/>
            <p:nvPr/>
          </p:nvSpPr>
          <p:spPr>
            <a:xfrm>
              <a:off x="899830" y="4187641"/>
              <a:ext cx="1742112" cy="1742112"/>
            </a:xfrm>
            <a:prstGeom prst="arc">
              <a:avLst>
                <a:gd name="adj1" fmla="val 390941"/>
                <a:gd name="adj2" fmla="val 2517803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Arc 50">
              <a:extLst>
                <a:ext uri="{FF2B5EF4-FFF2-40B4-BE49-F238E27FC236}">
                  <a16:creationId xmlns:a16="http://schemas.microsoft.com/office/drawing/2014/main" id="{553FC627-DACE-0FF9-4FB1-3DD0F3956C81}"/>
                </a:ext>
              </a:extLst>
            </p:cNvPr>
            <p:cNvSpPr/>
            <p:nvPr/>
          </p:nvSpPr>
          <p:spPr>
            <a:xfrm>
              <a:off x="1118872" y="4421887"/>
              <a:ext cx="1097002" cy="1097002"/>
            </a:xfrm>
            <a:prstGeom prst="arc">
              <a:avLst>
                <a:gd name="adj1" fmla="val 19296342"/>
                <a:gd name="adj2" fmla="val 2408069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/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blipFill>
                  <a:blip r:embed="rId3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/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blipFill>
                  <a:blip r:embed="rId3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Arc 53">
              <a:extLst>
                <a:ext uri="{FF2B5EF4-FFF2-40B4-BE49-F238E27FC236}">
                  <a16:creationId xmlns:a16="http://schemas.microsoft.com/office/drawing/2014/main" id="{E1864C67-E381-DE84-12A0-DEBD2723DC89}"/>
                </a:ext>
              </a:extLst>
            </p:cNvPr>
            <p:cNvSpPr/>
            <p:nvPr/>
          </p:nvSpPr>
          <p:spPr>
            <a:xfrm>
              <a:off x="1029799" y="4322316"/>
              <a:ext cx="1296144" cy="1296144"/>
            </a:xfrm>
            <a:prstGeom prst="arc">
              <a:avLst>
                <a:gd name="adj1" fmla="val 19296342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/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𝛼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/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blipFill>
                  <a:blip r:embed="rId3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46E1FF21-1299-59D0-4AB2-020F00239AEB}"/>
                </a:ext>
              </a:extLst>
            </p:cNvPr>
            <p:cNvGrpSpPr/>
            <p:nvPr/>
          </p:nvGrpSpPr>
          <p:grpSpPr>
            <a:xfrm>
              <a:off x="3045212" y="4789848"/>
              <a:ext cx="1889428" cy="913183"/>
              <a:chOff x="6385074" y="4040548"/>
              <a:chExt cx="1889428" cy="913183"/>
            </a:xfrm>
            <a:noFill/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ZoneTexte 90">
                    <a:extLst>
                      <a:ext uri="{FF2B5EF4-FFF2-40B4-BE49-F238E27FC236}">
                        <a16:creationId xmlns:a16="http://schemas.microsoft.com/office/drawing/2014/main" id="{60F1D485-44BC-567F-3B29-CC1E6BA6993B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𝐴𝐷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𝑎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  <m:sup>
                              <m:r>
                                <a:rPr lang="fr-FR" sz="1200" b="0" i="1" smtClean="0">
                                  <a:latin typeface="Cambria Math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𝑐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3" name="ZoneTexte 15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08759DB4-EE82-60C9-3A3D-84EC7C62663F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𝐷𝐶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𝑏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4" name="ZoneTexte 15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ZoneTexte 92">
                    <a:extLst>
                      <a:ext uri="{FF2B5EF4-FFF2-40B4-BE49-F238E27FC236}">
                        <a16:creationId xmlns:a16="http://schemas.microsoft.com/office/drawing/2014/main" id="{9C67464F-E508-56D0-3BD8-6D0A7F63FDAF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𝜆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5" name="ZoneTexte 1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/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𝒃</m:t>
                        </m:r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849ABDC3-E11E-CF66-322B-9E5E57B053B4}"/>
                </a:ext>
              </a:extLst>
            </p:cNvPr>
            <p:cNvCxnSpPr/>
            <p:nvPr/>
          </p:nvCxnSpPr>
          <p:spPr>
            <a:xfrm>
              <a:off x="322082" y="5330428"/>
              <a:ext cx="1352743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/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𝑐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/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𝑑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Connecteur droit avec flèche 97">
              <a:extLst>
                <a:ext uri="{FF2B5EF4-FFF2-40B4-BE49-F238E27FC236}">
                  <a16:creationId xmlns:a16="http://schemas.microsoft.com/office/drawing/2014/main" id="{7FF2DA26-809D-6F93-381B-44A814259AE9}"/>
                </a:ext>
              </a:extLst>
            </p:cNvPr>
            <p:cNvCxnSpPr/>
            <p:nvPr/>
          </p:nvCxnSpPr>
          <p:spPr>
            <a:xfrm>
              <a:off x="132937" y="3371577"/>
              <a:ext cx="0" cy="1681852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/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𝑎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5B2F3329-E006-C26E-B112-F927730EB550}"/>
              </a:ext>
            </a:extLst>
          </p:cNvPr>
          <p:cNvGrpSpPr/>
          <p:nvPr/>
        </p:nvGrpSpPr>
        <p:grpSpPr>
          <a:xfrm>
            <a:off x="6184306" y="4609702"/>
            <a:ext cx="1703306" cy="1666470"/>
            <a:chOff x="5262233" y="3152282"/>
            <a:chExt cx="1703306" cy="1666470"/>
          </a:xfrm>
        </p:grpSpPr>
        <p:grpSp>
          <p:nvGrpSpPr>
            <p:cNvPr id="101" name="Groupe 100">
              <a:extLst>
                <a:ext uri="{FF2B5EF4-FFF2-40B4-BE49-F238E27FC236}">
                  <a16:creationId xmlns:a16="http://schemas.microsoft.com/office/drawing/2014/main" id="{C8FC85F7-AB8C-E465-40A3-82D1FA26AE59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114" name="Connecteur droit avec flèche 113">
                <a:extLst>
                  <a:ext uri="{FF2B5EF4-FFF2-40B4-BE49-F238E27FC236}">
                    <a16:creationId xmlns:a16="http://schemas.microsoft.com/office/drawing/2014/main" id="{BDEF5556-1340-5306-3BB8-11C2D07A04E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avec flèche 114">
                <a:extLst>
                  <a:ext uri="{FF2B5EF4-FFF2-40B4-BE49-F238E27FC236}">
                    <a16:creationId xmlns:a16="http://schemas.microsoft.com/office/drawing/2014/main" id="{E1473FF3-9854-18A3-CE29-290692BF2EFC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" name="Groupe 101">
              <a:extLst>
                <a:ext uri="{FF2B5EF4-FFF2-40B4-BE49-F238E27FC236}">
                  <a16:creationId xmlns:a16="http://schemas.microsoft.com/office/drawing/2014/main" id="{A30A28B1-3D72-9184-27C9-F88834BF8899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112" name="Connecteur droit avec flèche 111">
                <a:extLst>
                  <a:ext uri="{FF2B5EF4-FFF2-40B4-BE49-F238E27FC236}">
                    <a16:creationId xmlns:a16="http://schemas.microsoft.com/office/drawing/2014/main" id="{36E443D4-83EC-443E-74C8-7C8E3E53D89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necteur droit avec flèche 112">
                <a:extLst>
                  <a:ext uri="{FF2B5EF4-FFF2-40B4-BE49-F238E27FC236}">
                    <a16:creationId xmlns:a16="http://schemas.microsoft.com/office/drawing/2014/main" id="{73D4458F-B62D-E43F-3E93-416601E9CB3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3" name="Arc 102">
              <a:extLst>
                <a:ext uri="{FF2B5EF4-FFF2-40B4-BE49-F238E27FC236}">
                  <a16:creationId xmlns:a16="http://schemas.microsoft.com/office/drawing/2014/main" id="{58BA35A9-17B5-F84A-B97E-B467A23E6143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ZoneTexte 103">
                  <a:extLst>
                    <a:ext uri="{FF2B5EF4-FFF2-40B4-BE49-F238E27FC236}">
                      <a16:creationId xmlns:a16="http://schemas.microsoft.com/office/drawing/2014/main" id="{D5F0034A-A9F3-3A96-394A-1B2F7B4D2E2D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B14415B5-2458-9378-29FB-C9245F150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ZoneTexte 104">
                  <a:extLst>
                    <a:ext uri="{FF2B5EF4-FFF2-40B4-BE49-F238E27FC236}">
                      <a16:creationId xmlns:a16="http://schemas.microsoft.com/office/drawing/2014/main" id="{330A9353-CDAC-73F1-AA72-022F462EBCAB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E58A37D5-C0E8-13B9-581B-43351546D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ZoneTexte 105">
                  <a:extLst>
                    <a:ext uri="{FF2B5EF4-FFF2-40B4-BE49-F238E27FC236}">
                      <a16:creationId xmlns:a16="http://schemas.microsoft.com/office/drawing/2014/main" id="{A08ACE0E-816A-D0EE-3D3C-C4AF0062C12B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B278FC2-3EF8-12BD-1AF3-1217D7AEBE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ZoneTexte 106">
                  <a:extLst>
                    <a:ext uri="{FF2B5EF4-FFF2-40B4-BE49-F238E27FC236}">
                      <a16:creationId xmlns:a16="http://schemas.microsoft.com/office/drawing/2014/main" id="{744DCA75-F5ED-0DB7-FCFB-3ACAB4BCE8F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32649DB7-9C1E-492F-C7DF-9E9E635038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ZoneTexte 107">
                  <a:extLst>
                    <a:ext uri="{FF2B5EF4-FFF2-40B4-BE49-F238E27FC236}">
                      <a16:creationId xmlns:a16="http://schemas.microsoft.com/office/drawing/2014/main" id="{DB3B09F9-6CCD-D98B-7A0F-1F51EFA4DEBB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0" name="ZoneTexte 19">
                  <a:extLst>
                    <a:ext uri="{FF2B5EF4-FFF2-40B4-BE49-F238E27FC236}">
                      <a16:creationId xmlns:a16="http://schemas.microsoft.com/office/drawing/2014/main" id="{9D6DB790-EBC8-1493-E81D-1435CDEB9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ZoneTexte 108">
                  <a:extLst>
                    <a:ext uri="{FF2B5EF4-FFF2-40B4-BE49-F238E27FC236}">
                      <a16:creationId xmlns:a16="http://schemas.microsoft.com/office/drawing/2014/main" id="{F4AD2701-4B91-E704-659D-413298254306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D0591B87-F4E2-906E-B7E0-6D1408D3F0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Ellipse 109">
              <a:extLst>
                <a:ext uri="{FF2B5EF4-FFF2-40B4-BE49-F238E27FC236}">
                  <a16:creationId xmlns:a16="http://schemas.microsoft.com/office/drawing/2014/main" id="{3227E749-EE6D-6896-28FE-0C625335B50D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1" name="Ellipse 110">
              <a:extLst>
                <a:ext uri="{FF2B5EF4-FFF2-40B4-BE49-F238E27FC236}">
                  <a16:creationId xmlns:a16="http://schemas.microsoft.com/office/drawing/2014/main" id="{3AEC1CDB-0797-3433-A40B-C1F195D6040D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16" name="Éclair 115">
            <a:extLst>
              <a:ext uri="{FF2B5EF4-FFF2-40B4-BE49-F238E27FC236}">
                <a16:creationId xmlns:a16="http://schemas.microsoft.com/office/drawing/2014/main" id="{6100EBE7-FD19-F8CA-8428-9993BEEEDBA4}"/>
              </a:ext>
            </a:extLst>
          </p:cNvPr>
          <p:cNvSpPr/>
          <p:nvPr/>
        </p:nvSpPr>
        <p:spPr>
          <a:xfrm rot="643800">
            <a:off x="8305510" y="2131544"/>
            <a:ext cx="322911" cy="548372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Ellipse 116">
            <a:extLst>
              <a:ext uri="{FF2B5EF4-FFF2-40B4-BE49-F238E27FC236}">
                <a16:creationId xmlns:a16="http://schemas.microsoft.com/office/drawing/2014/main" id="{6AFBB909-E8E4-A44E-A381-778250AE7342}"/>
              </a:ext>
            </a:extLst>
          </p:cNvPr>
          <p:cNvSpPr/>
          <p:nvPr/>
        </p:nvSpPr>
        <p:spPr>
          <a:xfrm>
            <a:off x="8532293" y="2777975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18" name="Ellipse 117">
            <a:extLst>
              <a:ext uri="{FF2B5EF4-FFF2-40B4-BE49-F238E27FC236}">
                <a16:creationId xmlns:a16="http://schemas.microsoft.com/office/drawing/2014/main" id="{6F3CACFA-E0E0-B002-AB33-50F998BB9EA4}"/>
              </a:ext>
            </a:extLst>
          </p:cNvPr>
          <p:cNvSpPr/>
          <p:nvPr/>
        </p:nvSpPr>
        <p:spPr>
          <a:xfrm>
            <a:off x="9319032" y="2175398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19" name="Ellipse 118">
            <a:extLst>
              <a:ext uri="{FF2B5EF4-FFF2-40B4-BE49-F238E27FC236}">
                <a16:creationId xmlns:a16="http://schemas.microsoft.com/office/drawing/2014/main" id="{31932129-FEC4-1DB9-C53B-67256AB1AE6B}"/>
              </a:ext>
            </a:extLst>
          </p:cNvPr>
          <p:cNvSpPr/>
          <p:nvPr/>
        </p:nvSpPr>
        <p:spPr>
          <a:xfrm>
            <a:off x="10098183" y="2777975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FFC000"/>
                </a:solidFill>
              </a:rPr>
              <a:t>3</a:t>
            </a:r>
          </a:p>
        </p:txBody>
      </p:sp>
      <p:sp>
        <p:nvSpPr>
          <p:cNvPr id="120" name="Ellipse 119">
            <a:extLst>
              <a:ext uri="{FF2B5EF4-FFF2-40B4-BE49-F238E27FC236}">
                <a16:creationId xmlns:a16="http://schemas.microsoft.com/office/drawing/2014/main" id="{DCE1BCEC-20C4-83D3-B0CA-90130A12E7AE}"/>
              </a:ext>
            </a:extLst>
          </p:cNvPr>
          <p:cNvSpPr/>
          <p:nvPr/>
        </p:nvSpPr>
        <p:spPr>
          <a:xfrm>
            <a:off x="9810151" y="3671418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7030A0"/>
                </a:solidFill>
              </a:rPr>
              <a:t>4</a:t>
            </a:r>
          </a:p>
        </p:txBody>
      </p:sp>
      <p:grpSp>
        <p:nvGrpSpPr>
          <p:cNvPr id="121" name="Groupe 120">
            <a:extLst>
              <a:ext uri="{FF2B5EF4-FFF2-40B4-BE49-F238E27FC236}">
                <a16:creationId xmlns:a16="http://schemas.microsoft.com/office/drawing/2014/main" id="{9AE7BD09-5476-2A53-1C48-26F37B8573B7}"/>
              </a:ext>
            </a:extLst>
          </p:cNvPr>
          <p:cNvGrpSpPr/>
          <p:nvPr/>
        </p:nvGrpSpPr>
        <p:grpSpPr>
          <a:xfrm>
            <a:off x="8710695" y="3686485"/>
            <a:ext cx="398433" cy="398419"/>
            <a:chOff x="1048248" y="4581128"/>
            <a:chExt cx="398433" cy="398419"/>
          </a:xfrm>
        </p:grpSpPr>
        <p:sp>
          <p:nvSpPr>
            <p:cNvPr id="122" name="Forme libre 9">
              <a:extLst>
                <a:ext uri="{FF2B5EF4-FFF2-40B4-BE49-F238E27FC236}">
                  <a16:creationId xmlns:a16="http://schemas.microsoft.com/office/drawing/2014/main" id="{065580E5-3D79-D76B-934B-60BCFAAB493C}"/>
                </a:ext>
              </a:extLst>
            </p:cNvPr>
            <p:cNvSpPr/>
            <p:nvPr/>
          </p:nvSpPr>
          <p:spPr>
            <a:xfrm>
              <a:off x="1048248" y="4663401"/>
              <a:ext cx="398433" cy="316146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  <a:gd name="connsiteX0" fmla="*/ 0 w 1104901"/>
                <a:gd name="connsiteY0" fmla="*/ 0 h 368029"/>
                <a:gd name="connsiteX1" fmla="*/ 327661 w 1104901"/>
                <a:gd name="connsiteY1" fmla="*/ 353090 h 368029"/>
                <a:gd name="connsiteX2" fmla="*/ 563881 w 1104901"/>
                <a:gd name="connsiteY2" fmla="*/ 307370 h 368029"/>
                <a:gd name="connsiteX3" fmla="*/ 914401 w 1104901"/>
                <a:gd name="connsiteY3" fmla="*/ 353090 h 368029"/>
                <a:gd name="connsiteX4" fmla="*/ 1104901 w 1104901"/>
                <a:gd name="connsiteY4" fmla="*/ 208310 h 368029"/>
                <a:gd name="connsiteX0" fmla="*/ 0 w 1104901"/>
                <a:gd name="connsiteY0" fmla="*/ 0 h 355877"/>
                <a:gd name="connsiteX1" fmla="*/ 563881 w 1104901"/>
                <a:gd name="connsiteY1" fmla="*/ 307370 h 355877"/>
                <a:gd name="connsiteX2" fmla="*/ 914401 w 1104901"/>
                <a:gd name="connsiteY2" fmla="*/ 353090 h 355877"/>
                <a:gd name="connsiteX3" fmla="*/ 1104901 w 1104901"/>
                <a:gd name="connsiteY3" fmla="*/ 208310 h 355877"/>
                <a:gd name="connsiteX0" fmla="*/ 0 w 1104901"/>
                <a:gd name="connsiteY0" fmla="*/ 0 h 371223"/>
                <a:gd name="connsiteX1" fmla="*/ 121919 w 1104901"/>
                <a:gd name="connsiteY1" fmla="*/ 369064 h 371223"/>
                <a:gd name="connsiteX2" fmla="*/ 914401 w 1104901"/>
                <a:gd name="connsiteY2" fmla="*/ 353090 h 371223"/>
                <a:gd name="connsiteX3" fmla="*/ 1104901 w 1104901"/>
                <a:gd name="connsiteY3" fmla="*/ 208310 h 371223"/>
                <a:gd name="connsiteX0" fmla="*/ 313732 w 991910"/>
                <a:gd name="connsiteY0" fmla="*/ 0 h 297687"/>
                <a:gd name="connsiteX1" fmla="*/ 8928 w 991910"/>
                <a:gd name="connsiteY1" fmla="*/ 276523 h 297687"/>
                <a:gd name="connsiteX2" fmla="*/ 801410 w 991910"/>
                <a:gd name="connsiteY2" fmla="*/ 260549 h 297687"/>
                <a:gd name="connsiteX3" fmla="*/ 991910 w 991910"/>
                <a:gd name="connsiteY3" fmla="*/ 115769 h 297687"/>
                <a:gd name="connsiteX0" fmla="*/ 313732 w 841603"/>
                <a:gd name="connsiteY0" fmla="*/ 53889 h 359753"/>
                <a:gd name="connsiteX1" fmla="*/ 8928 w 841603"/>
                <a:gd name="connsiteY1" fmla="*/ 330412 h 359753"/>
                <a:gd name="connsiteX2" fmla="*/ 801410 w 841603"/>
                <a:gd name="connsiteY2" fmla="*/ 314438 h 359753"/>
                <a:gd name="connsiteX3" fmla="*/ 763309 w 841603"/>
                <a:gd name="connsiteY3" fmla="*/ 0 h 359753"/>
                <a:gd name="connsiteX0" fmla="*/ 312538 w 762115"/>
                <a:gd name="connsiteY0" fmla="*/ 53889 h 330677"/>
                <a:gd name="connsiteX1" fmla="*/ 7734 w 762115"/>
                <a:gd name="connsiteY1" fmla="*/ 330412 h 330677"/>
                <a:gd name="connsiteX2" fmla="*/ 762115 w 762115"/>
                <a:gd name="connsiteY2" fmla="*/ 0 h 330677"/>
                <a:gd name="connsiteX0" fmla="*/ 0 w 449577"/>
                <a:gd name="connsiteY0" fmla="*/ 53889 h 415434"/>
                <a:gd name="connsiteX1" fmla="*/ 243840 w 449577"/>
                <a:gd name="connsiteY1" fmla="*/ 415241 h 415434"/>
                <a:gd name="connsiteX2" fmla="*/ 449577 w 449577"/>
                <a:gd name="connsiteY2" fmla="*/ 0 h 415434"/>
                <a:gd name="connsiteX0" fmla="*/ 576 w 462001"/>
                <a:gd name="connsiteY0" fmla="*/ 53889 h 417438"/>
                <a:gd name="connsiteX1" fmla="*/ 244416 w 462001"/>
                <a:gd name="connsiteY1" fmla="*/ 415241 h 417438"/>
                <a:gd name="connsiteX2" fmla="*/ 450153 w 462001"/>
                <a:gd name="connsiteY2" fmla="*/ 0 h 417438"/>
                <a:gd name="connsiteX0" fmla="*/ 0 w 449577"/>
                <a:gd name="connsiteY0" fmla="*/ 53889 h 433229"/>
                <a:gd name="connsiteX1" fmla="*/ 243840 w 449577"/>
                <a:gd name="connsiteY1" fmla="*/ 415241 h 433229"/>
                <a:gd name="connsiteX2" fmla="*/ 277712 w 449577"/>
                <a:gd name="connsiteY2" fmla="*/ 339356 h 433229"/>
                <a:gd name="connsiteX3" fmla="*/ 449577 w 449577"/>
                <a:gd name="connsiteY3" fmla="*/ 0 h 433229"/>
                <a:gd name="connsiteX0" fmla="*/ 0 w 517979"/>
                <a:gd name="connsiteY0" fmla="*/ 53889 h 433229"/>
                <a:gd name="connsiteX1" fmla="*/ 243840 w 517979"/>
                <a:gd name="connsiteY1" fmla="*/ 415241 h 433229"/>
                <a:gd name="connsiteX2" fmla="*/ 277712 w 517979"/>
                <a:gd name="connsiteY2" fmla="*/ 339356 h 433229"/>
                <a:gd name="connsiteX3" fmla="*/ 449577 w 517979"/>
                <a:gd name="connsiteY3" fmla="*/ 0 h 433229"/>
                <a:gd name="connsiteX0" fmla="*/ 0 w 449577"/>
                <a:gd name="connsiteY0" fmla="*/ 53889 h 415434"/>
                <a:gd name="connsiteX1" fmla="*/ 243840 w 449577"/>
                <a:gd name="connsiteY1" fmla="*/ 415241 h 415434"/>
                <a:gd name="connsiteX2" fmla="*/ 449577 w 449577"/>
                <a:gd name="connsiteY2" fmla="*/ 0 h 415434"/>
                <a:gd name="connsiteX0" fmla="*/ 25754 w 547758"/>
                <a:gd name="connsiteY0" fmla="*/ 53889 h 415434"/>
                <a:gd name="connsiteX1" fmla="*/ 269594 w 547758"/>
                <a:gd name="connsiteY1" fmla="*/ 415241 h 415434"/>
                <a:gd name="connsiteX2" fmla="*/ 475331 w 547758"/>
                <a:gd name="connsiteY2" fmla="*/ 0 h 415434"/>
                <a:gd name="connsiteX0" fmla="*/ 44670 w 549184"/>
                <a:gd name="connsiteY0" fmla="*/ 53889 h 315272"/>
                <a:gd name="connsiteX1" fmla="*/ 258030 w 549184"/>
                <a:gd name="connsiteY1" fmla="*/ 314988 h 315272"/>
                <a:gd name="connsiteX2" fmla="*/ 494247 w 549184"/>
                <a:gd name="connsiteY2" fmla="*/ 0 h 315272"/>
                <a:gd name="connsiteX0" fmla="*/ 170875 w 796872"/>
                <a:gd name="connsiteY0" fmla="*/ 53889 h 319952"/>
                <a:gd name="connsiteX1" fmla="*/ 384235 w 796872"/>
                <a:gd name="connsiteY1" fmla="*/ 314988 h 319952"/>
                <a:gd name="connsiteX2" fmla="*/ 620452 w 796872"/>
                <a:gd name="connsiteY2" fmla="*/ 0 h 31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96872" h="319952">
                  <a:moveTo>
                    <a:pt x="170875" y="53889"/>
                  </a:moveTo>
                  <a:cubicBezTo>
                    <a:pt x="288350" y="117924"/>
                    <a:pt x="-406979" y="269987"/>
                    <a:pt x="384235" y="314988"/>
                  </a:cubicBezTo>
                  <a:cubicBezTo>
                    <a:pt x="1175449" y="359989"/>
                    <a:pt x="577590" y="86509"/>
                    <a:pt x="620452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3" name="Ellipse 122">
              <a:extLst>
                <a:ext uri="{FF2B5EF4-FFF2-40B4-BE49-F238E27FC236}">
                  <a16:creationId xmlns:a16="http://schemas.microsoft.com/office/drawing/2014/main" id="{33901DB5-57A8-8210-4114-FAC4867D076E}"/>
                </a:ext>
              </a:extLst>
            </p:cNvPr>
            <p:cNvSpPr/>
            <p:nvPr/>
          </p:nvSpPr>
          <p:spPr>
            <a:xfrm>
              <a:off x="1103448" y="45811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</p:grpSp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B8A65046-F68A-3240-0F54-242A72F6958B}"/>
              </a:ext>
            </a:extLst>
          </p:cNvPr>
          <p:cNvCxnSpPr>
            <a:stCxn id="123" idx="0"/>
            <a:endCxn id="117" idx="4"/>
          </p:cNvCxnSpPr>
          <p:nvPr/>
        </p:nvCxnSpPr>
        <p:spPr>
          <a:xfrm flipH="1" flipV="1">
            <a:off x="8676309" y="3066007"/>
            <a:ext cx="233602" cy="620478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eur droit 124">
            <a:extLst>
              <a:ext uri="{FF2B5EF4-FFF2-40B4-BE49-F238E27FC236}">
                <a16:creationId xmlns:a16="http://schemas.microsoft.com/office/drawing/2014/main" id="{8F51B521-1D07-3D84-A0E0-2BEA409EDE7A}"/>
              </a:ext>
            </a:extLst>
          </p:cNvPr>
          <p:cNvCxnSpPr>
            <a:stCxn id="118" idx="3"/>
            <a:endCxn id="117" idx="7"/>
          </p:cNvCxnSpPr>
          <p:nvPr/>
        </p:nvCxnSpPr>
        <p:spPr>
          <a:xfrm flipH="1">
            <a:off x="8778144" y="2421249"/>
            <a:ext cx="583069" cy="39890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eur droit 125">
            <a:extLst>
              <a:ext uri="{FF2B5EF4-FFF2-40B4-BE49-F238E27FC236}">
                <a16:creationId xmlns:a16="http://schemas.microsoft.com/office/drawing/2014/main" id="{B3928EB3-F05C-B5E6-F525-EF1CFA90E926}"/>
              </a:ext>
            </a:extLst>
          </p:cNvPr>
          <p:cNvCxnSpPr>
            <a:stCxn id="119" idx="1"/>
            <a:endCxn id="118" idx="5"/>
          </p:cNvCxnSpPr>
          <p:nvPr/>
        </p:nvCxnSpPr>
        <p:spPr>
          <a:xfrm flipH="1" flipV="1">
            <a:off x="9564883" y="2421249"/>
            <a:ext cx="575481" cy="39890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126">
            <a:extLst>
              <a:ext uri="{FF2B5EF4-FFF2-40B4-BE49-F238E27FC236}">
                <a16:creationId xmlns:a16="http://schemas.microsoft.com/office/drawing/2014/main" id="{B68EF18C-C8F5-AC61-E888-4C313A4CFD24}"/>
              </a:ext>
            </a:extLst>
          </p:cNvPr>
          <p:cNvCxnSpPr>
            <a:stCxn id="123" idx="6"/>
            <a:endCxn id="120" idx="2"/>
          </p:cNvCxnSpPr>
          <p:nvPr/>
        </p:nvCxnSpPr>
        <p:spPr>
          <a:xfrm flipV="1">
            <a:off x="9053927" y="3815434"/>
            <a:ext cx="756224" cy="1506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necteur droit 127">
            <a:extLst>
              <a:ext uri="{FF2B5EF4-FFF2-40B4-BE49-F238E27FC236}">
                <a16:creationId xmlns:a16="http://schemas.microsoft.com/office/drawing/2014/main" id="{785AD09D-9CB4-E2AE-45D1-5B049F0D8F5A}"/>
              </a:ext>
            </a:extLst>
          </p:cNvPr>
          <p:cNvCxnSpPr>
            <a:stCxn id="120" idx="7"/>
            <a:endCxn id="119" idx="4"/>
          </p:cNvCxnSpPr>
          <p:nvPr/>
        </p:nvCxnSpPr>
        <p:spPr>
          <a:xfrm flipV="1">
            <a:off x="10056002" y="3066007"/>
            <a:ext cx="186197" cy="647592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ZoneTexte 128">
                <a:extLst>
                  <a:ext uri="{FF2B5EF4-FFF2-40B4-BE49-F238E27FC236}">
                    <a16:creationId xmlns:a16="http://schemas.microsoft.com/office/drawing/2014/main" id="{E45C96BD-4853-1734-2568-313A5A901F4E}"/>
                  </a:ext>
                </a:extLst>
              </p:cNvPr>
              <p:cNvSpPr txBox="1"/>
              <p:nvPr/>
            </p:nvSpPr>
            <p:spPr>
              <a:xfrm>
                <a:off x="7752449" y="3269698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29" name="ZoneTexte 128">
                <a:extLst>
                  <a:ext uri="{FF2B5EF4-FFF2-40B4-BE49-F238E27FC236}">
                    <a16:creationId xmlns:a16="http://schemas.microsoft.com/office/drawing/2014/main" id="{E45C96BD-4853-1734-2568-313A5A901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449" y="3269698"/>
                <a:ext cx="1080120" cy="288031"/>
              </a:xfrm>
              <a:prstGeom prst="rect">
                <a:avLst/>
              </a:prstGeom>
              <a:blipFill>
                <a:blip r:embed="rId52"/>
                <a:stretch>
                  <a:fillRect t="-2083" b="-1041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ZoneTexte 129">
                <a:extLst>
                  <a:ext uri="{FF2B5EF4-FFF2-40B4-BE49-F238E27FC236}">
                    <a16:creationId xmlns:a16="http://schemas.microsoft.com/office/drawing/2014/main" id="{9F114DCB-0577-6C7B-B945-41CD450F2520}"/>
                  </a:ext>
                </a:extLst>
              </p:cNvPr>
              <p:cNvSpPr txBox="1"/>
              <p:nvPr/>
            </p:nvSpPr>
            <p:spPr>
              <a:xfrm>
                <a:off x="8888961" y="2608053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0" name="ZoneTexte 129">
                <a:extLst>
                  <a:ext uri="{FF2B5EF4-FFF2-40B4-BE49-F238E27FC236}">
                    <a16:creationId xmlns:a16="http://schemas.microsoft.com/office/drawing/2014/main" id="{9F114DCB-0577-6C7B-B945-41CD450F2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8961" y="2608053"/>
                <a:ext cx="1080120" cy="276999"/>
              </a:xfrm>
              <a:prstGeom prst="rect">
                <a:avLst/>
              </a:prstGeom>
              <a:blipFill>
                <a:blip r:embed="rId53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889076A9-1212-B845-16A8-4042AE2FBCAB}"/>
                  </a:ext>
                </a:extLst>
              </p:cNvPr>
              <p:cNvSpPr txBox="1"/>
              <p:nvPr/>
            </p:nvSpPr>
            <p:spPr>
              <a:xfrm>
                <a:off x="9702139" y="2017869"/>
                <a:ext cx="108012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Glissière hélicoïdale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889076A9-1212-B845-16A8-4042AE2FBC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2139" y="2017869"/>
                <a:ext cx="1080120" cy="646331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ZoneTexte 131">
                <a:extLst>
                  <a:ext uri="{FF2B5EF4-FFF2-40B4-BE49-F238E27FC236}">
                    <a16:creationId xmlns:a16="http://schemas.microsoft.com/office/drawing/2014/main" id="{BB728A79-3237-5449-3336-2FDA8A0B7AF5}"/>
                  </a:ext>
                </a:extLst>
              </p:cNvPr>
              <p:cNvSpPr txBox="1"/>
              <p:nvPr/>
            </p:nvSpPr>
            <p:spPr>
              <a:xfrm>
                <a:off x="10164792" y="3278082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2" name="ZoneTexte 131">
                <a:extLst>
                  <a:ext uri="{FF2B5EF4-FFF2-40B4-BE49-F238E27FC236}">
                    <a16:creationId xmlns:a16="http://schemas.microsoft.com/office/drawing/2014/main" id="{BB728A79-3237-5449-3336-2FDA8A0B7A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4792" y="3278082"/>
                <a:ext cx="1080120" cy="288031"/>
              </a:xfrm>
              <a:prstGeom prst="rect">
                <a:avLst/>
              </a:prstGeom>
              <a:blipFill>
                <a:blip r:embed="rId55"/>
                <a:stretch>
                  <a:fillRect t="-2128" r="-562" b="-127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ZoneTexte 132">
                <a:extLst>
                  <a:ext uri="{FF2B5EF4-FFF2-40B4-BE49-F238E27FC236}">
                    <a16:creationId xmlns:a16="http://schemas.microsoft.com/office/drawing/2014/main" id="{BCF21973-0772-834C-0C9D-2C75C8F0597C}"/>
                  </a:ext>
                </a:extLst>
              </p:cNvPr>
              <p:cNvSpPr txBox="1"/>
              <p:nvPr/>
            </p:nvSpPr>
            <p:spPr>
              <a:xfrm>
                <a:off x="8973895" y="3926831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3" name="ZoneTexte 132">
                <a:extLst>
                  <a:ext uri="{FF2B5EF4-FFF2-40B4-BE49-F238E27FC236}">
                    <a16:creationId xmlns:a16="http://schemas.microsoft.com/office/drawing/2014/main" id="{BCF21973-0772-834C-0C9D-2C75C8F059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3895" y="3926831"/>
                <a:ext cx="1080120" cy="288031"/>
              </a:xfrm>
              <a:prstGeom prst="rect">
                <a:avLst/>
              </a:prstGeom>
              <a:blipFill>
                <a:blip r:embed="rId56"/>
                <a:stretch>
                  <a:fillRect t="-2128" r="-1695" b="-127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Éclair 133">
            <a:extLst>
              <a:ext uri="{FF2B5EF4-FFF2-40B4-BE49-F238E27FC236}">
                <a16:creationId xmlns:a16="http://schemas.microsoft.com/office/drawing/2014/main" id="{23BD6B85-7008-3192-5DA5-335833456D9C}"/>
              </a:ext>
            </a:extLst>
          </p:cNvPr>
          <p:cNvSpPr/>
          <p:nvPr/>
        </p:nvSpPr>
        <p:spPr>
          <a:xfrm rot="19305786">
            <a:off x="8810122" y="1873956"/>
            <a:ext cx="322911" cy="548372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5" name="Éclair 134">
            <a:extLst>
              <a:ext uri="{FF2B5EF4-FFF2-40B4-BE49-F238E27FC236}">
                <a16:creationId xmlns:a16="http://schemas.microsoft.com/office/drawing/2014/main" id="{326421F0-E2B1-2225-8872-7D8D084749EC}"/>
              </a:ext>
            </a:extLst>
          </p:cNvPr>
          <p:cNvSpPr/>
          <p:nvPr/>
        </p:nvSpPr>
        <p:spPr>
          <a:xfrm rot="4881763" flipH="1">
            <a:off x="10295794" y="3702994"/>
            <a:ext cx="323460" cy="543046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1FD64334-3B80-ADCD-2B68-41F03E11ECBC}"/>
              </a:ext>
            </a:extLst>
          </p:cNvPr>
          <p:cNvSpPr txBox="1"/>
          <p:nvPr/>
        </p:nvSpPr>
        <p:spPr>
          <a:xfrm>
            <a:off x="7893775" y="1713733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Couple moteur</a:t>
            </a:r>
          </a:p>
        </p:txBody>
      </p:sp>
      <p:sp>
        <p:nvSpPr>
          <p:cNvPr id="137" name="ZoneTexte 136">
            <a:extLst>
              <a:ext uri="{FF2B5EF4-FFF2-40B4-BE49-F238E27FC236}">
                <a16:creationId xmlns:a16="http://schemas.microsoft.com/office/drawing/2014/main" id="{24370952-BD6F-1638-A55A-5309F3013774}"/>
              </a:ext>
            </a:extLst>
          </p:cNvPr>
          <p:cNvSpPr txBox="1"/>
          <p:nvPr/>
        </p:nvSpPr>
        <p:spPr>
          <a:xfrm>
            <a:off x="10564235" y="3937863"/>
            <a:ext cx="10801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Pesanteur</a:t>
            </a:r>
          </a:p>
        </p:txBody>
      </p:sp>
    </p:spTree>
    <p:extLst>
      <p:ext uri="{BB962C8B-B14F-4D97-AF65-F5344CB8AC3E}">
        <p14:creationId xmlns:p14="http://schemas.microsoft.com/office/powerpoint/2010/main" val="1827987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Stratégie – TEC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7795" y="981887"/>
            <a:ext cx="5978205" cy="5253339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Energie cinétique</a:t>
            </a:r>
          </a:p>
          <a:p>
            <a:pPr lvl="1"/>
            <a:r>
              <a:rPr lang="fr-FR" dirty="0"/>
              <a:t>Ensemble stator</a:t>
            </a:r>
          </a:p>
          <a:p>
            <a:pPr lvl="1"/>
            <a:r>
              <a:rPr lang="fr-FR" dirty="0"/>
              <a:t>Ensemble rotor</a:t>
            </a:r>
          </a:p>
          <a:p>
            <a:pPr lvl="1"/>
            <a:r>
              <a:rPr lang="fr-FR" dirty="0"/>
              <a:t>Ecrou</a:t>
            </a:r>
          </a:p>
          <a:p>
            <a:pPr lvl="1"/>
            <a:r>
              <a:rPr lang="fr-FR" dirty="0"/>
              <a:t>Ensemble bras</a:t>
            </a:r>
          </a:p>
          <a:p>
            <a:r>
              <a:rPr lang="fr-FR" dirty="0"/>
              <a:t>Puissance intérieure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dirty="0"/>
              <a:t>Puissance du moteur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dirty="0"/>
              <a:t>Puissance extérieure</a:t>
            </a:r>
          </a:p>
          <a:p>
            <a:pPr lvl="1"/>
            <a:r>
              <a:rPr lang="fr-FR" dirty="0"/>
              <a:t>Puissance de la pesanteur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b="1" dirty="0">
                <a:solidFill>
                  <a:srgbClr val="FF0000"/>
                </a:solidFill>
              </a:rPr>
              <a:t>Puissance dissipée par frottements (intérieurs et extérieurs)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4602F5FE-C78A-4ABD-DF80-81031D8364CC}"/>
              </a:ext>
            </a:extLst>
          </p:cNvPr>
          <p:cNvSpPr txBox="1">
            <a:spLocks/>
          </p:cNvSpPr>
          <p:nvPr/>
        </p:nvSpPr>
        <p:spPr>
          <a:xfrm>
            <a:off x="6002868" y="2090057"/>
            <a:ext cx="5978206" cy="414516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271463" indent="-2698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q"/>
              <a:defRPr lang="fr-FR"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49263" indent="-24923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q"/>
              <a:defRPr lang="fr-FR"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27063" indent="-24288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4863" indent="-238125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3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233363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4"/>
              </a:buClr>
              <a:buSzPct val="80000"/>
              <a:buFont typeface="Wingdings" panose="05000000000000000000" pitchFamily="2" charset="2"/>
              <a:buChar char="q"/>
              <a:defRPr lang="en-US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fr-FR" sz="2400" dirty="0"/>
              <a:t>Il est rarement possible de déterminer les frottements dans chacune des liaisons. On cherche donc souvent un modèle de frottement « ramené » à un des mouvements.</a:t>
            </a:r>
          </a:p>
          <a:p>
            <a:pPr algn="just"/>
            <a:endParaRPr lang="fr-FR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47778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4541291" cy="5253339"/>
          </a:xfrm>
        </p:spPr>
        <p:txBody>
          <a:bodyPr>
            <a:normAutofit/>
          </a:bodyPr>
          <a:lstStyle/>
          <a:p>
            <a:r>
              <a:rPr lang="fr-FR" sz="2400" dirty="0"/>
              <a:t> Energie cinétique</a:t>
            </a:r>
          </a:p>
          <a:p>
            <a:pPr lvl="1"/>
            <a:r>
              <a:rPr lang="fr-FR" sz="2000" dirty="0"/>
              <a:t>Relation cinématique</a:t>
            </a:r>
          </a:p>
          <a:p>
            <a:pPr lvl="2"/>
            <a:r>
              <a:rPr lang="fr-FR" sz="1600" dirty="0"/>
              <a:t>Expérimentalement</a:t>
            </a:r>
          </a:p>
          <a:p>
            <a:pPr lvl="2"/>
            <a:r>
              <a:rPr lang="fr-FR" sz="1600" dirty="0"/>
              <a:t>Avec la documentation</a:t>
            </a:r>
          </a:p>
          <a:p>
            <a:pPr lvl="1"/>
            <a:r>
              <a:rPr lang="fr-FR" sz="2000" dirty="0"/>
              <a:t>Energie cinétique ensemble stator</a:t>
            </a:r>
          </a:p>
          <a:p>
            <a:pPr lvl="2"/>
            <a:r>
              <a:rPr lang="fr-FR" sz="1600" dirty="0"/>
              <a:t>Inertie stator : peser stator + SW</a:t>
            </a:r>
          </a:p>
          <a:p>
            <a:pPr lvl="1"/>
            <a:r>
              <a:rPr lang="fr-FR" sz="2000" dirty="0"/>
              <a:t>Energie cinétique ensemble rotor</a:t>
            </a:r>
          </a:p>
          <a:p>
            <a:pPr lvl="1"/>
            <a:r>
              <a:rPr lang="fr-FR" sz="2000" dirty="0"/>
              <a:t>Energie cinétique écrou</a:t>
            </a:r>
          </a:p>
          <a:p>
            <a:pPr lvl="1"/>
            <a:r>
              <a:rPr lang="fr-FR" sz="2000" dirty="0"/>
              <a:t>Energie cinétique ensemble bras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6" y="981887"/>
                <a:ext cx="7532913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 lnSpcReduction="10000"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b="0" dirty="0">
                    <a:ea typeface="Cambria Math" panose="02040503050406030204" pitchFamily="18" charset="0"/>
                  </a:rPr>
                  <a:t> Ensemble stator</a:t>
                </a:r>
                <a:endParaRPr lang="fr-FR" sz="2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</m:sSub>
                    <m:sSup>
                      <m:sSup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p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sz="2200" b="0" dirty="0">
                  <a:ea typeface="Cambria Math" panose="02040503050406030204" pitchFamily="18" charset="0"/>
                </a:endParaRPr>
              </a:p>
              <a:p>
                <a:r>
                  <a:rPr lang="fr-FR" sz="2200" dirty="0">
                    <a:ea typeface="Cambria Math" panose="02040503050406030204" pitchFamily="18" charset="0"/>
                  </a:rPr>
                  <a:t>Ensemble rotor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</m:oMath>
                </a14:m>
                <a:endParaRPr lang="fr-FR" sz="2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acc>
                          <m:accPr>
                            <m:chr m:val="⃗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func>
                        <m:acc>
                          <m:accPr>
                            <m:chr m:val="⃗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/>
                                <m:e/>
                              </m:mr>
                              <m:mr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/>
                              </m:mr>
                              <m:mr>
                                <m:e/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acc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acc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fr-FR" sz="1200" dirty="0"/>
                  <a:t>(Le rotor est un solide de révolution, on peut faire le calcul dans la base 1).</a:t>
                </a:r>
              </a:p>
              <a:p>
                <a:pPr lvl="2"/>
                <a:endParaRPr lang="fr-FR" sz="1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p>
                        <m: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acc>
                              <m:accPr>
                                <m:chr m:val="⃗"/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G</m:t>
                                </m:r>
                              </m:e>
                            </m:acc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  <m:sup>
                            <m:r>
                              <a:rPr lang="fr-FR" sz="1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acc>
                          <m:accPr>
                            <m:chr m:val="̇"/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</m:sSub>
                    <m:sSubSup>
                      <m:sSubSup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  <m:sup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acc>
                      <m:accPr>
                        <m:chr m:val="̇"/>
                        <m:ctrlP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fr-FR" sz="1800" dirty="0"/>
                  <a:t>Finalement, pour l’ensemble rotor 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𝐽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acc>
                              <m:accPr>
                                <m:chr m:val="̇"/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  <m:sup>
                            <m:r>
                              <a:rPr lang="fr-FR" sz="12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𝐽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sub>
                            </m:sSub>
                          </m:e>
                        </m:d>
                        <m:acc>
                          <m:accPr>
                            <m:chr m:val="̇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:endParaRPr lang="fr-FR" sz="1200" dirty="0"/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6" y="981887"/>
                <a:ext cx="7532913" cy="5253339"/>
              </a:xfrm>
              <a:prstGeom prst="rect">
                <a:avLst/>
              </a:prstGeom>
              <a:blipFill>
                <a:blip r:embed="rId2"/>
                <a:stretch>
                  <a:fillRect l="-1699" t="-197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4EEAA727-7B1C-B8C6-9B1B-D7D0415184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9085" y="162267"/>
            <a:ext cx="2405120" cy="1882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3223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7AA1B3-B619-A026-C886-675B75D5F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00C2A37C-9472-0536-CF9E-87103B8DF0A9}"/>
              </a:ext>
            </a:extLst>
          </p:cNvPr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4591913"/>
              </p:ext>
            </p:extLst>
          </p:nvPr>
        </p:nvGraphicFramePr>
        <p:xfrm>
          <a:off x="1201738" y="1933575"/>
          <a:ext cx="9786937" cy="3349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7549965" imgH="2584362" progId="Excel.Sheet.12">
                  <p:embed/>
                </p:oleObj>
              </mc:Choice>
              <mc:Fallback>
                <p:oleObj name="Worksheet" r:id="rId2" imgW="7549965" imgH="2584362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201738" y="1933575"/>
                        <a:ext cx="9786937" cy="3349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Image 2">
            <a:extLst>
              <a:ext uri="{FF2B5EF4-FFF2-40B4-BE49-F238E27FC236}">
                <a16:creationId xmlns:a16="http://schemas.microsoft.com/office/drawing/2014/main" id="{EDA591C3-78E7-7BDE-7777-AB7DFF3C3D53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0599279" y="306095"/>
            <a:ext cx="778792" cy="1102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2309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4541291" cy="5253339"/>
          </a:xfrm>
        </p:spPr>
        <p:txBody>
          <a:bodyPr>
            <a:normAutofit fontScale="85000" lnSpcReduction="20000"/>
          </a:bodyPr>
          <a:lstStyle/>
          <a:p>
            <a:r>
              <a:rPr lang="fr-FR" dirty="0"/>
              <a:t> Energie cinétique</a:t>
            </a:r>
          </a:p>
          <a:p>
            <a:pPr lvl="1"/>
            <a:r>
              <a:rPr lang="fr-FR" dirty="0"/>
              <a:t>Relation cinématique</a:t>
            </a:r>
          </a:p>
          <a:p>
            <a:pPr lvl="2"/>
            <a:r>
              <a:rPr lang="fr-FR" dirty="0"/>
              <a:t>Expérimentalement</a:t>
            </a:r>
          </a:p>
          <a:p>
            <a:pPr lvl="2"/>
            <a:r>
              <a:rPr lang="fr-FR" dirty="0"/>
              <a:t>Avec la documentation</a:t>
            </a:r>
          </a:p>
          <a:p>
            <a:pPr lvl="1"/>
            <a:r>
              <a:rPr lang="fr-FR" dirty="0"/>
              <a:t>Energie cinétique ensemble stator</a:t>
            </a:r>
          </a:p>
          <a:p>
            <a:pPr lvl="2"/>
            <a:r>
              <a:rPr lang="fr-FR" dirty="0"/>
              <a:t>Inertie stator : peser stator + SW</a:t>
            </a:r>
          </a:p>
          <a:p>
            <a:pPr lvl="1"/>
            <a:r>
              <a:rPr lang="fr-FR" dirty="0"/>
              <a:t>Energie cinétique ensemble rotor</a:t>
            </a:r>
          </a:p>
          <a:p>
            <a:pPr lvl="1"/>
            <a:r>
              <a:rPr lang="fr-FR" dirty="0"/>
              <a:t>Energie cinétique écrou</a:t>
            </a:r>
          </a:p>
          <a:p>
            <a:pPr lvl="1"/>
            <a:r>
              <a:rPr lang="fr-FR" dirty="0"/>
              <a:t>Energie cinétique ensemble bras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du réducteur</a:t>
            </a:r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de la poulie</a:t>
            </a:r>
          </a:p>
          <a:p>
            <a:pPr lvl="1"/>
            <a:r>
              <a:rPr lang="fr-FR" dirty="0"/>
              <a:t>Inertie codeur ?</a:t>
            </a:r>
          </a:p>
          <a:p>
            <a:pPr lvl="1"/>
            <a:r>
              <a:rPr lang="fr-FR" dirty="0"/>
              <a:t>Masse en translation</a:t>
            </a:r>
          </a:p>
          <a:p>
            <a:pPr lvl="2"/>
            <a:r>
              <a:rPr lang="fr-FR" dirty="0"/>
              <a:t>Documentation</a:t>
            </a:r>
          </a:p>
          <a:p>
            <a:pPr lvl="2"/>
            <a:r>
              <a:rPr lang="fr-FR" dirty="0"/>
              <a:t>Expérimentation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7" y="981887"/>
                <a:ext cx="7184570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dirty="0">
                    <a:ea typeface="Cambria Math" panose="02040503050406030204" pitchFamily="18" charset="0"/>
                  </a:rPr>
                  <a:t>Ensemble écrou (E=3)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</m:oMath>
                </a14:m>
                <a:endParaRPr lang="fr-FR" sz="2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/>
                                <m:e/>
                              </m:mr>
                              <m:mr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/>
                              </m:mr>
                              <m:mr>
                                <m:e/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30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30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endParaRPr lang="fr-FR" sz="1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sSubSup>
                      <m:sSubSup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b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acc>
                              <m:accPr>
                                <m:chr m:val="⃗"/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DC</m:t>
                                </m:r>
                              </m:e>
                            </m:acc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200" dirty="0">
                    <a:ea typeface="Cambria Math" panose="02040503050406030204" pitchFamily="18" charset="0"/>
                  </a:rPr>
                  <a:t> - Hypothèse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fr-FR" sz="1200" dirty="0">
                    <a:ea typeface="Cambria Math" panose="02040503050406030204" pitchFamily="18" charset="0"/>
                  </a:rPr>
                  <a:t> écrou est en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sSubSup>
                          <m:sSub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30</m:t>
                            </m:r>
                          </m:sub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p>
                          <m:s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p>
                                <m:r>
                                  <a:rPr lang="fr-F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  <a:p>
                <a:r>
                  <a:rPr lang="fr-FR" sz="2200" dirty="0">
                    <a:ea typeface="Cambria Math" panose="02040503050406030204" pitchFamily="18" charset="0"/>
                  </a:rPr>
                  <a:t>Bras : rotation autour d’un axe fixe</a:t>
                </a: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Inertie du bras en </a:t>
                </a:r>
                <a14:m>
                  <m:oMath xmlns:m="http://schemas.openxmlformats.org/officeDocument/2006/math"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fr-FR" sz="1800" dirty="0">
                    <a:ea typeface="Cambria Math" panose="02040503050406030204" pitchFamily="18" charset="0"/>
                  </a:rPr>
                  <a:t> sur l’axe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fr-FR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800" dirty="0">
                    <a:ea typeface="Cambria Math" panose="02040503050406030204" pitchFamily="18" charset="0"/>
                  </a:rPr>
                  <a:t>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fr-FR" sz="1800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Masses ponctuelles </a:t>
                </a: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acc>
                      <m:accPr>
                        <m:chr m:val="̇"/>
                        <m:ctrlP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7" y="981887"/>
                <a:ext cx="7184570" cy="5253339"/>
              </a:xfrm>
              <a:prstGeom prst="rect">
                <a:avLst/>
              </a:prstGeom>
              <a:blipFill>
                <a:blip r:embed="rId2"/>
                <a:stretch>
                  <a:fillRect l="-1781" t="-150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74223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26409C-663F-3CCA-AD2B-00D7EBE11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Hypothèses – cinématique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AEEF773-FB9F-681C-9BFA-69EF1BD78D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≃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300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2,5</m:t>
                        </m:r>
                      </m:den>
                    </m:f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=120 </m:t>
                    </m:r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≃−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200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1000×2,5</m:t>
                        </m:r>
                      </m:den>
                    </m:f>
                    <m:acc>
                      <m:accPr>
                        <m:chr m:val="̇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=0,08</m:t>
                    </m:r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  <m:r>
                      <a:rPr lang="fr-FR" i="1">
                        <a:latin typeface="Cambria Math" panose="02040503050406030204" pitchFamily="18" charset="0"/>
                      </a:rPr>
                      <m:t>≃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2,5</m:t>
                        </m:r>
                      </m:den>
                    </m:f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≃0,4</m:t>
                    </m:r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1588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AEEF773-FB9F-681C-9BFA-69EF1BD78D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Espace réservé du contenu 3">
            <a:extLst>
              <a:ext uri="{FF2B5EF4-FFF2-40B4-BE49-F238E27FC236}">
                <a16:creationId xmlns:a16="http://schemas.microsoft.com/office/drawing/2014/main" id="{BB894528-9978-F6ED-7249-C4F488375D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1168" y="982189"/>
            <a:ext cx="5253037" cy="5253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186664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Puissances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Puissances dans les liaisons</a:t>
                </a:r>
              </a:p>
              <a:p>
                <a:pPr lvl="1"/>
                <a:r>
                  <a:rPr lang="fr-FR" dirty="0"/>
                  <a:t>Hypothèses des liaisons parfaites</a:t>
                </a:r>
              </a:p>
              <a:p>
                <a:pPr lvl="1"/>
                <a:r>
                  <a:rPr lang="fr-FR" dirty="0"/>
                  <a:t>Savoir montrer que hypothèse RSG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fr-FR" dirty="0"/>
                  <a:t> puissance nulle</a:t>
                </a:r>
              </a:p>
              <a:p>
                <a:pPr lvl="1"/>
                <a:r>
                  <a:rPr lang="fr-FR" dirty="0"/>
                  <a:t>Hypothèse de courroie non déformable</a:t>
                </a:r>
              </a:p>
              <a:p>
                <a:endParaRPr lang="fr-FR" dirty="0"/>
              </a:p>
              <a:p>
                <a:r>
                  <a:rPr lang="fr-FR" dirty="0"/>
                  <a:t>Puissance du moteur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𝓟</m:t>
                    </m:r>
                    <m:d>
                      <m:d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𝒔𝒕𝒂𝒕𝒐𝒓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𝒓𝒐𝒕𝒐𝒓</m:t>
                        </m:r>
                        <m:r>
                          <m:rPr>
                            <m:lit/>
                          </m:r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e>
                    </m:d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𝒓</m:t>
                    </m:r>
                    <m:r>
                      <m:rPr>
                        <m:lit/>
                      </m:rP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fr-FR" b="1" dirty="0"/>
              </a:p>
              <a:p>
                <a:pPr lvl="1"/>
                <a:r>
                  <a:rPr lang="fr-FR" dirty="0"/>
                  <a:t>Dans le moteur à courant continu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𝑲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</m:oMath>
                </a14:m>
                <a:endParaRPr lang="fr-FR" b="1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59869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18BF2D-7072-31F5-F37F-A28315397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118CD3-F507-A984-9F92-3AD2998D51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18163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B24450-578A-883B-C938-C55292701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3200" dirty="0"/>
              <a:t>Stratégie TEC</a:t>
            </a:r>
            <a:br>
              <a:rPr lang="fr-FR" sz="3200" dirty="0"/>
            </a:br>
            <a:r>
              <a:rPr lang="fr-FR" sz="3200" dirty="0"/>
              <a:t>Evaluation de la puissance dissipée par frottement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4888545" cy="5253339"/>
              </a:xfrm>
            </p:spPr>
            <p:txBody>
              <a:bodyPr/>
              <a:lstStyle/>
              <a:p>
                <a:r>
                  <a:rPr lang="fr-FR" dirty="0"/>
                  <a:t> Choix d’un modèle</a:t>
                </a:r>
              </a:p>
              <a:p>
                <a:r>
                  <a:rPr lang="fr-F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𝑓𝑠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Vérifier expérimentalement si les frottements dépendent de la vitesse ou non.</a:t>
                </a:r>
              </a:p>
              <a:p>
                <a:pPr lvl="1"/>
                <a:r>
                  <a:rPr lang="fr-FR" dirty="0"/>
                  <a:t>Les évaluer le cas échéant… </a:t>
                </a:r>
              </a:p>
              <a:p>
                <a:pPr lvl="1"/>
                <a:r>
                  <a:rPr lang="fr-FR" dirty="0"/>
                  <a:t>On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=0,0328+0,0006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fr-FR" dirty="0"/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4888545" cy="5253339"/>
              </a:xfrm>
              <a:blipFill>
                <a:blip r:embed="rId2"/>
                <a:stretch>
                  <a:fillRect l="-3242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Graphique 3">
            <a:extLst>
              <a:ext uri="{FF2B5EF4-FFF2-40B4-BE49-F238E27FC236}">
                <a16:creationId xmlns:a16="http://schemas.microsoft.com/office/drawing/2014/main" id="{77573DB8-3BB3-FB54-F1C8-5B7E1CA4D80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5618916"/>
              </p:ext>
            </p:extLst>
          </p:nvPr>
        </p:nvGraphicFramePr>
        <p:xfrm>
          <a:off x="5992177" y="981887"/>
          <a:ext cx="5991225" cy="28892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115667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8511E6-20C9-643E-A16D-C1D48E030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Stratégie TEC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7F8CA8C-F436-7229-8DB1-CC9B063AC8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fr-FR" dirty="0"/>
                  <a:t>Système isolé : Tout</a:t>
                </a:r>
              </a:p>
              <a:p>
                <a:r>
                  <a:rPr lang="fr-FR" dirty="0"/>
                  <a:t>Hypothèses :</a:t>
                </a:r>
              </a:p>
              <a:p>
                <a:pPr lvl="1"/>
                <a:r>
                  <a:rPr lang="fr-FR" dirty="0"/>
                  <a:t>Inertie de l’ensemble rotor</a:t>
                </a:r>
              </a:p>
              <a:p>
                <a:pPr lvl="1"/>
                <a:r>
                  <a:rPr lang="fr-FR" dirty="0"/>
                  <a:t>Masses ponctuelles en bout de bras</a:t>
                </a:r>
              </a:p>
              <a:p>
                <a:r>
                  <a:rPr lang="fr-FR" b="0" dirty="0">
                    <a:ea typeface="Cambria Math" panose="02040503050406030204" pitchFamily="18" charset="0"/>
                  </a:rPr>
                  <a:t>Energie cinétique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et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ℰ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  <m:r>
                              <m:rPr>
                                <m:lit/>
                              </m:r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num>
                      <m:den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fr-F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̈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acc>
                      <m:accPr>
                        <m:chr m:val="̈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endParaRPr lang="fr-FR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fr-FR" dirty="0">
                    <a:ea typeface="Cambria Math" panose="02040503050406030204" pitchFamily="18" charset="0"/>
                  </a:rPr>
                  <a:t>Puissances</a:t>
                </a:r>
                <a:endParaRPr lang="fr-FR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↔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↔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d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</m:oMath>
                </a14:m>
                <a:endParaRPr lang="fr-FR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𝑝𝑒𝑠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𝑏𝑟𝑎𝑠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𝑀𝑔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acc>
                              </m:e>
                            </m:eqAr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acc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acc>
                              </m:e>
                            </m:eqAr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𝑀𝑔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∧−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𝑀𝑔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eqAr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acc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acc>
                              </m:e>
                            </m:eqAr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𝑀𝑔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𝑀𝑔𝑅</m:t>
                                </m:r>
                                <m:func>
                                  <m:func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eqAr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acc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acc>
                              </m:e>
                            </m:eqAr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𝑀𝑔𝑅</m:t>
                    </m:r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fr-FR" dirty="0">
                  <a:ea typeface="Cambria Math" panose="02040503050406030204" pitchFamily="18" charset="0"/>
                </a:endParaRPr>
              </a:p>
              <a:p>
                <a:r>
                  <a:rPr lang="fr-FR" dirty="0"/>
                  <a:t>TEC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fr-F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̈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acc>
                      <m:accPr>
                        <m:chr m:val="̈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𝑀𝑔𝑅</m:t>
                    </m:r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d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</m:oMath>
                </a14:m>
                <a:endParaRPr lang="fr-FR">
                  <a:ea typeface="Cambria Math" panose="02040503050406030204" pitchFamily="18" charset="0"/>
                </a:endParaRPr>
              </a:p>
              <a:p>
                <a:pPr lvl="1"/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7F8CA8C-F436-7229-8DB1-CC9B063AC8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24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26732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AE1D6-F4E2-D014-DE92-23274B59B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820450-38F1-7C5F-9C24-48731BD94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Puissance de la pesanteur</a:t>
            </a:r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0E9D9BAF-602E-A7B2-4F87-823E0902E16F}"/>
              </a:ext>
            </a:extLst>
          </p:cNvPr>
          <p:cNvSpPr/>
          <p:nvPr/>
        </p:nvSpPr>
        <p:spPr>
          <a:xfrm>
            <a:off x="-926947" y="2166427"/>
            <a:ext cx="2498058" cy="2498058"/>
          </a:xfrm>
          <a:prstGeom prst="arc">
            <a:avLst>
              <a:gd name="adj1" fmla="val 987784"/>
              <a:gd name="adj2" fmla="val 2517803"/>
            </a:avLst>
          </a:prstGeom>
          <a:ln w="19050">
            <a:headEnd type="stealth" w="med" len="lg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D82AEA51-EA2D-03B1-9F00-0BF8F162F788}"/>
              </a:ext>
            </a:extLst>
          </p:cNvPr>
          <p:cNvGrpSpPr/>
          <p:nvPr/>
        </p:nvGrpSpPr>
        <p:grpSpPr>
          <a:xfrm>
            <a:off x="4707797" y="1817772"/>
            <a:ext cx="1745369" cy="1666470"/>
            <a:chOff x="5262233" y="3152282"/>
            <a:chExt cx="1745369" cy="1666470"/>
          </a:xfrm>
        </p:grpSpPr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9B0F7B19-7F5A-16B6-070E-4B408A83C7CE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72" name="Connecteur droit avec flèche 71">
                <a:extLst>
                  <a:ext uri="{FF2B5EF4-FFF2-40B4-BE49-F238E27FC236}">
                    <a16:creationId xmlns:a16="http://schemas.microsoft.com/office/drawing/2014/main" id="{37F9CBEE-36F8-F7FE-E460-FF294CF254EB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necteur droit avec flèche 72">
                <a:extLst>
                  <a:ext uri="{FF2B5EF4-FFF2-40B4-BE49-F238E27FC236}">
                    <a16:creationId xmlns:a16="http://schemas.microsoft.com/office/drawing/2014/main" id="{E47F7CFF-FD0E-6733-ED74-52507880F5A0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D5B40AFC-6F39-B9CF-5354-A10BDEC61534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70" name="Connecteur droit avec flèche 69">
                <a:extLst>
                  <a:ext uri="{FF2B5EF4-FFF2-40B4-BE49-F238E27FC236}">
                    <a16:creationId xmlns:a16="http://schemas.microsoft.com/office/drawing/2014/main" id="{BEDB217B-10EF-0516-179D-005B07F2D2B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necteur droit avec flèche 70">
                <a:extLst>
                  <a:ext uri="{FF2B5EF4-FFF2-40B4-BE49-F238E27FC236}">
                    <a16:creationId xmlns:a16="http://schemas.microsoft.com/office/drawing/2014/main" id="{FDC7E77D-8698-B6B5-6C05-980F66D9B5A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D678537C-DE8D-6352-CC5A-B73EC91F865B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ZoneTexte 61">
                  <a:extLst>
                    <a:ext uri="{FF2B5EF4-FFF2-40B4-BE49-F238E27FC236}">
                      <a16:creationId xmlns:a16="http://schemas.microsoft.com/office/drawing/2014/main" id="{8290612B-20F1-B3B6-394C-82B6A71166D9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8" name="ZoneTexte 1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D610CC1D-3120-3AE0-E2DF-818BBA400C85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9" name="ZoneTexte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7DF9D2B1-C0BC-D7C4-7387-0DA6A3D7CDAF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0" name="ZoneTexte 1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blipFill rotWithShape="1"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00A96ED7-FA7A-FBB4-357A-306F00DF5EE4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1" name="ZoneTexte 1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blipFill rotWithShape="1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B5756996-52D1-4F5C-513D-EB4585294D3A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2" name="ZoneTexte 1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blipFill rotWithShape="1">
                  <a:blip r:embed="rId14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5888A864-F829-78F2-6316-A9F5CAE7F9E8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3" name="ZoneTexte 1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A606DE65-1CF5-1AB2-E527-C51B94980D5D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880A71D6-9CF7-F15C-8F20-C2F01D15ED53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E299FF81-C7D5-84BF-2634-BA35DD4D6FA2}"/>
              </a:ext>
            </a:extLst>
          </p:cNvPr>
          <p:cNvGrpSpPr/>
          <p:nvPr/>
        </p:nvGrpSpPr>
        <p:grpSpPr>
          <a:xfrm>
            <a:off x="4720843" y="3369331"/>
            <a:ext cx="1745369" cy="1666470"/>
            <a:chOff x="5262233" y="3152282"/>
            <a:chExt cx="1745369" cy="1666470"/>
          </a:xfrm>
        </p:grpSpPr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3172EB0C-538B-1D06-295E-C31D8EC32C6F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88" name="Connecteur droit avec flèche 87">
                <a:extLst>
                  <a:ext uri="{FF2B5EF4-FFF2-40B4-BE49-F238E27FC236}">
                    <a16:creationId xmlns:a16="http://schemas.microsoft.com/office/drawing/2014/main" id="{EDBB5B8B-5B9F-0EDC-80C9-889CEBA5291A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avec flèche 88">
                <a:extLst>
                  <a:ext uri="{FF2B5EF4-FFF2-40B4-BE49-F238E27FC236}">
                    <a16:creationId xmlns:a16="http://schemas.microsoft.com/office/drawing/2014/main" id="{979B216F-2403-B5C8-61E1-53EBB55F4462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F06270A8-3697-0E48-5054-7D8D5F0A222C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86" name="Connecteur droit avec flèche 85">
                <a:extLst>
                  <a:ext uri="{FF2B5EF4-FFF2-40B4-BE49-F238E27FC236}">
                    <a16:creationId xmlns:a16="http://schemas.microsoft.com/office/drawing/2014/main" id="{B5A98948-8066-B660-82C3-BC29FCD1D72C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necteur droit avec flèche 86">
                <a:extLst>
                  <a:ext uri="{FF2B5EF4-FFF2-40B4-BE49-F238E27FC236}">
                    <a16:creationId xmlns:a16="http://schemas.microsoft.com/office/drawing/2014/main" id="{6C86933F-BE4A-BC1C-3B85-407270322E94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EA0869A1-DDE8-BA0F-2CF2-BA03C014B366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F4A4B356-4DF8-88D3-F99A-9054DB403EEC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1" name="ZoneTexte 1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3F3BCBEB-5C12-BC72-0CED-80C63D6DB4F9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2" name="ZoneTexte 1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CD9B81F7-25A9-558D-3F5F-5DD92EF98718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3" name="ZoneTexte 1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blipFill rotWithShape="1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A0DA5AC5-F333-77D7-102D-CAD27572109C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4" name="ZoneTexte 1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blipFill rotWithShape="1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ZoneTexte 81">
                  <a:extLst>
                    <a:ext uri="{FF2B5EF4-FFF2-40B4-BE49-F238E27FC236}">
                      <a16:creationId xmlns:a16="http://schemas.microsoft.com/office/drawing/2014/main" id="{C46581E2-0087-598A-CDC6-8145666DE306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5" name="ZoneTexte 1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blipFill rotWithShape="1"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ZoneTexte 82">
                  <a:extLst>
                    <a:ext uri="{FF2B5EF4-FFF2-40B4-BE49-F238E27FC236}">
                      <a16:creationId xmlns:a16="http://schemas.microsoft.com/office/drawing/2014/main" id="{D79FDD74-13B0-B0FA-1206-631293E152E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6" name="ZoneTexte 1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Ellipse 83">
              <a:extLst>
                <a:ext uri="{FF2B5EF4-FFF2-40B4-BE49-F238E27FC236}">
                  <a16:creationId xmlns:a16="http://schemas.microsoft.com/office/drawing/2014/main" id="{2166D6D7-9735-4A19-5EFA-FCFBF8417D01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67011553-0D15-628D-F41A-F694874E2DB3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4732884E-12F2-735C-2F9A-E05707DD4DB2}"/>
              </a:ext>
            </a:extLst>
          </p:cNvPr>
          <p:cNvGrpSpPr/>
          <p:nvPr/>
        </p:nvGrpSpPr>
        <p:grpSpPr>
          <a:xfrm>
            <a:off x="-165908" y="1447512"/>
            <a:ext cx="5527681" cy="5122785"/>
            <a:chOff x="-165908" y="1447512"/>
            <a:chExt cx="5527681" cy="5122785"/>
          </a:xfrm>
        </p:grpSpPr>
        <p:sp>
          <p:nvSpPr>
            <p:cNvPr id="4" name="Forme libre 17">
              <a:extLst>
                <a:ext uri="{FF2B5EF4-FFF2-40B4-BE49-F238E27FC236}">
                  <a16:creationId xmlns:a16="http://schemas.microsoft.com/office/drawing/2014/main" id="{7B4B5531-9797-BCA6-1548-C5B31CFBB8F9}"/>
                </a:ext>
              </a:extLst>
            </p:cNvPr>
            <p:cNvSpPr/>
            <p:nvPr/>
          </p:nvSpPr>
          <p:spPr>
            <a:xfrm>
              <a:off x="558800" y="5618480"/>
              <a:ext cx="998220" cy="147567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8220" h="147567">
                  <a:moveTo>
                    <a:pt x="0" y="7620"/>
                  </a:moveTo>
                  <a:cubicBezTo>
                    <a:pt x="72390" y="68580"/>
                    <a:pt x="144780" y="129540"/>
                    <a:pt x="220980" y="144780"/>
                  </a:cubicBezTo>
                  <a:cubicBezTo>
                    <a:pt x="297180" y="160020"/>
                    <a:pt x="359410" y="99060"/>
                    <a:pt x="457200" y="99060"/>
                  </a:cubicBezTo>
                  <a:cubicBezTo>
                    <a:pt x="554990" y="99060"/>
                    <a:pt x="717550" y="161290"/>
                    <a:pt x="807720" y="144780"/>
                  </a:cubicBezTo>
                  <a:cubicBezTo>
                    <a:pt x="897890" y="128270"/>
                    <a:pt x="948055" y="64135"/>
                    <a:pt x="998220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D4F11B45-237A-6656-AF14-85D5E26D887F}"/>
                </a:ext>
              </a:extLst>
            </p:cNvPr>
            <p:cNvSpPr/>
            <p:nvPr/>
          </p:nvSpPr>
          <p:spPr>
            <a:xfrm>
              <a:off x="75980" y="3370477"/>
              <a:ext cx="3199820" cy="3199820"/>
            </a:xfrm>
            <a:prstGeom prst="arc">
              <a:avLst>
                <a:gd name="adj1" fmla="val 15985282"/>
                <a:gd name="adj2" fmla="val 20640091"/>
              </a:avLst>
            </a:prstGeom>
            <a:ln w="9525">
              <a:solidFill>
                <a:srgbClr val="7030A0"/>
              </a:solidFill>
              <a:prstDash val="lgDashDot"/>
              <a:headEnd type="none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AB669280-5138-5CFC-8717-494896030678}"/>
                </a:ext>
              </a:extLst>
            </p:cNvPr>
            <p:cNvCxnSpPr/>
            <p:nvPr/>
          </p:nvCxnSpPr>
          <p:spPr>
            <a:xfrm flipV="1">
              <a:off x="340956" y="2649220"/>
              <a:ext cx="872735" cy="729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avec flèche 6">
              <a:extLst>
                <a:ext uri="{FF2B5EF4-FFF2-40B4-BE49-F238E27FC236}">
                  <a16:creationId xmlns:a16="http://schemas.microsoft.com/office/drawing/2014/main" id="{B5886C24-5CDE-D61D-9248-BB2574A0F7AB}"/>
                </a:ext>
              </a:extLst>
            </p:cNvPr>
            <p:cNvCxnSpPr/>
            <p:nvPr/>
          </p:nvCxnSpPr>
          <p:spPr>
            <a:xfrm>
              <a:off x="340956" y="3369331"/>
              <a:ext cx="1759207" cy="21051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25F15DF3-E872-7F8E-E70A-0525C9E97858}"/>
                </a:ext>
              </a:extLst>
            </p:cNvPr>
            <p:cNvCxnSpPr>
              <a:stCxn id="12" idx="7"/>
            </p:cNvCxnSpPr>
            <p:nvPr/>
          </p:nvCxnSpPr>
          <p:spPr>
            <a:xfrm flipV="1">
              <a:off x="1778895" y="1586012"/>
              <a:ext cx="3210533" cy="3282541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96A184B2-35C0-5720-2187-6ED1E2A411D5}"/>
                </a:ext>
              </a:extLst>
            </p:cNvPr>
            <p:cNvCxnSpPr/>
            <p:nvPr/>
          </p:nvCxnSpPr>
          <p:spPr>
            <a:xfrm>
              <a:off x="340956" y="3386216"/>
              <a:ext cx="3208312" cy="60795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64F0D37A-0B9D-18EF-4EFF-2B1C8D8C8792}"/>
                </a:ext>
              </a:extLst>
            </p:cNvPr>
            <p:cNvCxnSpPr/>
            <p:nvPr/>
          </p:nvCxnSpPr>
          <p:spPr>
            <a:xfrm flipH="1">
              <a:off x="2820033" y="35386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6C9D9B50-1617-455A-0D32-C1D142756C0C}"/>
                </a:ext>
              </a:extLst>
            </p:cNvPr>
            <p:cNvCxnSpPr/>
            <p:nvPr/>
          </p:nvCxnSpPr>
          <p:spPr>
            <a:xfrm flipH="1">
              <a:off x="1994989" y="33862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64F9577C-6201-6A49-C58F-786D848491F4}"/>
                </a:ext>
              </a:extLst>
            </p:cNvPr>
            <p:cNvSpPr/>
            <p:nvPr/>
          </p:nvSpPr>
          <p:spPr>
            <a:xfrm>
              <a:off x="1533044" y="4826372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ED56209C-D97F-8BCB-9D20-738AD913A7B8}"/>
                </a:ext>
              </a:extLst>
            </p:cNvPr>
            <p:cNvCxnSpPr>
              <a:stCxn id="25" idx="4"/>
            </p:cNvCxnSpPr>
            <p:nvPr/>
          </p:nvCxnSpPr>
          <p:spPr>
            <a:xfrm>
              <a:off x="340956" y="3530228"/>
              <a:ext cx="0" cy="208823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0CE38E41-F489-8C06-E658-B0C2EA74E0E2}"/>
                </a:ext>
              </a:extLst>
            </p:cNvPr>
            <p:cNvCxnSpPr>
              <a:endCxn id="12" idx="4"/>
            </p:cNvCxnSpPr>
            <p:nvPr/>
          </p:nvCxnSpPr>
          <p:spPr>
            <a:xfrm flipV="1">
              <a:off x="1677060" y="5114404"/>
              <a:ext cx="0" cy="50405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EB360549-3691-EA10-97F1-BE2C78EAAFEB}"/>
                </a:ext>
              </a:extLst>
            </p:cNvPr>
            <p:cNvCxnSpPr/>
            <p:nvPr/>
          </p:nvCxnSpPr>
          <p:spPr>
            <a:xfrm flipH="1">
              <a:off x="340956" y="5618460"/>
              <a:ext cx="133610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273F8275-B4A9-7B5C-81DE-097791CD4293}"/>
                </a:ext>
              </a:extLst>
            </p:cNvPr>
            <p:cNvCxnSpPr/>
            <p:nvPr/>
          </p:nvCxnSpPr>
          <p:spPr>
            <a:xfrm>
              <a:off x="537671" y="3422098"/>
              <a:ext cx="1152128" cy="216435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6A381556-09EF-FEBE-E177-D2B3CBE2975D}"/>
                </a:ext>
              </a:extLst>
            </p:cNvPr>
            <p:cNvCxnSpPr>
              <a:stCxn id="34" idx="2"/>
              <a:endCxn id="12" idx="7"/>
            </p:cNvCxnSpPr>
            <p:nvPr/>
          </p:nvCxnSpPr>
          <p:spPr>
            <a:xfrm flipH="1">
              <a:off x="1778895" y="2445572"/>
              <a:ext cx="2388598" cy="242298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3AFBC5C5-597A-421D-95D3-E57261D90BE6}"/>
                </a:ext>
              </a:extLst>
            </p:cNvPr>
            <p:cNvSpPr/>
            <p:nvPr/>
          </p:nvSpPr>
          <p:spPr>
            <a:xfrm>
              <a:off x="2641942" y="3706143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6328BD1-238A-22AB-A99C-D645748DB668}"/>
                </a:ext>
              </a:extLst>
            </p:cNvPr>
            <p:cNvSpPr/>
            <p:nvPr/>
          </p:nvSpPr>
          <p:spPr>
            <a:xfrm rot="647236">
              <a:off x="719766" y="3366786"/>
              <a:ext cx="576000" cy="28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B4A54694-A6F3-32FB-6D94-ABB1C4A0D830}"/>
                </a:ext>
              </a:extLst>
            </p:cNvPr>
            <p:cNvCxnSpPr/>
            <p:nvPr/>
          </p:nvCxnSpPr>
          <p:spPr>
            <a:xfrm>
              <a:off x="409264" y="3088948"/>
              <a:ext cx="669043" cy="12568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635FFAAA-F8D8-AF09-0098-372B7D51EB05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34717" y="3197756"/>
              <a:ext cx="32219" cy="171575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6FE5B111-9011-82CE-F01D-679CCBBC8AD8}"/>
                </a:ext>
              </a:extLst>
            </p:cNvPr>
            <p:cNvCxnSpPr/>
            <p:nvPr/>
          </p:nvCxnSpPr>
          <p:spPr>
            <a:xfrm flipH="1">
              <a:off x="650091" y="3315427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C48F8B1A-A6E1-66CF-82B0-D23F1707BF56}"/>
                </a:ext>
              </a:extLst>
            </p:cNvPr>
            <p:cNvCxnSpPr/>
            <p:nvPr/>
          </p:nvCxnSpPr>
          <p:spPr>
            <a:xfrm flipH="1">
              <a:off x="1311649" y="3447103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8D019764-D156-F089-7C30-F48D4150280B}"/>
                </a:ext>
              </a:extLst>
            </p:cNvPr>
            <p:cNvCxnSpPr/>
            <p:nvPr/>
          </p:nvCxnSpPr>
          <p:spPr>
            <a:xfrm flipH="1">
              <a:off x="378032" y="3075872"/>
              <a:ext cx="31232" cy="16632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487F4830-1B38-BC0B-8316-E2BADC7BA4FA}"/>
                </a:ext>
              </a:extLst>
            </p:cNvPr>
            <p:cNvSpPr/>
            <p:nvPr/>
          </p:nvSpPr>
          <p:spPr>
            <a:xfrm>
              <a:off x="196940" y="3242196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2FD8CA8E-9505-ED08-EC68-6ED41C869DDB}"/>
                </a:ext>
              </a:extLst>
            </p:cNvPr>
            <p:cNvCxnSpPr/>
            <p:nvPr/>
          </p:nvCxnSpPr>
          <p:spPr>
            <a:xfrm>
              <a:off x="2027208" y="3383990"/>
              <a:ext cx="825044" cy="154990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EE2FCB79-B9DE-5AFF-3F39-B8E61AB8E4AB}"/>
                </a:ext>
              </a:extLst>
            </p:cNvPr>
            <p:cNvGrpSpPr/>
            <p:nvPr/>
          </p:nvGrpSpPr>
          <p:grpSpPr>
            <a:xfrm rot="604479">
              <a:off x="1682979" y="3565422"/>
              <a:ext cx="576000" cy="288000"/>
              <a:chOff x="2811353" y="2007187"/>
              <a:chExt cx="576000" cy="288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6D372AF-BEB6-5386-06A1-AA20E4CDFA30}"/>
                  </a:ext>
                </a:extLst>
              </p:cNvPr>
              <p:cNvSpPr/>
              <p:nvPr/>
            </p:nvSpPr>
            <p:spPr>
              <a:xfrm>
                <a:off x="2811353" y="2007187"/>
                <a:ext cx="576000" cy="288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76BB78C0-3EE1-59BF-08E3-2967511EF4F9}"/>
                  </a:ext>
                </a:extLst>
              </p:cNvPr>
              <p:cNvSpPr/>
              <p:nvPr/>
            </p:nvSpPr>
            <p:spPr>
              <a:xfrm>
                <a:off x="2811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EB65ED79-1F81-3D00-30F4-59A28B7E6D2C}"/>
                  </a:ext>
                </a:extLst>
              </p:cNvPr>
              <p:cNvSpPr/>
              <p:nvPr/>
            </p:nvSpPr>
            <p:spPr>
              <a:xfrm rot="10800000">
                <a:off x="2955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1" name="Arc 30">
                <a:extLst>
                  <a:ext uri="{FF2B5EF4-FFF2-40B4-BE49-F238E27FC236}">
                    <a16:creationId xmlns:a16="http://schemas.microsoft.com/office/drawing/2014/main" id="{12147B5A-3EF0-6E41-B357-01C091596F26}"/>
                  </a:ext>
                </a:extLst>
              </p:cNvPr>
              <p:cNvSpPr/>
              <p:nvPr/>
            </p:nvSpPr>
            <p:spPr>
              <a:xfrm>
                <a:off x="3099353" y="2079188"/>
                <a:ext cx="144000" cy="144000"/>
              </a:xfrm>
              <a:prstGeom prst="arc">
                <a:avLst>
                  <a:gd name="adj1" fmla="val 10087325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2" name="Arc 31">
                <a:extLst>
                  <a:ext uri="{FF2B5EF4-FFF2-40B4-BE49-F238E27FC236}">
                    <a16:creationId xmlns:a16="http://schemas.microsoft.com/office/drawing/2014/main" id="{730BDC26-4BD9-938A-C2F9-4935372D2318}"/>
                  </a:ext>
                </a:extLst>
              </p:cNvPr>
              <p:cNvSpPr/>
              <p:nvPr/>
            </p:nvSpPr>
            <p:spPr>
              <a:xfrm rot="10800000">
                <a:off x="3243353" y="2079188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</p:grp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6A974C89-4AB5-AE9C-2ADB-61FF7041F9E8}"/>
                </a:ext>
              </a:extLst>
            </p:cNvPr>
            <p:cNvCxnSpPr/>
            <p:nvPr/>
          </p:nvCxnSpPr>
          <p:spPr>
            <a:xfrm>
              <a:off x="2267133" y="3754969"/>
              <a:ext cx="134963" cy="25343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0930C3-1F27-A8FF-2B21-2AACC2D26056}"/>
                </a:ext>
              </a:extLst>
            </p:cNvPr>
            <p:cNvSpPr/>
            <p:nvPr/>
          </p:nvSpPr>
          <p:spPr>
            <a:xfrm rot="2700000">
              <a:off x="3981316" y="2199749"/>
              <a:ext cx="576000" cy="288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0C86C158-BE97-B29C-F159-AD01E81F21DD}"/>
                    </a:ext>
                  </a:extLst>
                </p:cNvPr>
                <p:cNvSpPr txBox="1"/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DB9D1D72-A12B-63AE-6F27-D0D2D20B5C08}"/>
                    </a:ext>
                  </a:extLst>
                </p:cNvPr>
                <p:cNvSpPr txBox="1"/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DA24E14F-9ED5-00B6-691E-036487087FDE}"/>
                    </a:ext>
                  </a:extLst>
                </p:cNvPr>
                <p:cNvSpPr txBox="1"/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760195DB-90FD-C1E0-CA8D-7FF549714F3B}"/>
                    </a:ext>
                  </a:extLst>
                </p:cNvPr>
                <p:cNvSpPr txBox="1"/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634B4DBE-F9BA-428F-AC28-C3AF5E1452A7}"/>
                </a:ext>
              </a:extLst>
            </p:cNvPr>
            <p:cNvSpPr/>
            <p:nvPr/>
          </p:nvSpPr>
          <p:spPr>
            <a:xfrm>
              <a:off x="-833" y="53304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6F2CECAF-C4E9-5E2F-3D8F-1239D3ED5BA4}"/>
                </a:ext>
              </a:extLst>
            </p:cNvPr>
            <p:cNvSpPr/>
            <p:nvPr/>
          </p:nvSpPr>
          <p:spPr>
            <a:xfrm>
              <a:off x="234016" y="2747659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B1F84492-3154-0CC4-F9F7-AAA64964A283}"/>
                </a:ext>
              </a:extLst>
            </p:cNvPr>
            <p:cNvSpPr/>
            <p:nvPr/>
          </p:nvSpPr>
          <p:spPr>
            <a:xfrm>
              <a:off x="1379341" y="3212000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E2F8AEF0-6051-A5AC-6A44-359326A833BE}"/>
                </a:ext>
              </a:extLst>
            </p:cNvPr>
            <p:cNvSpPr/>
            <p:nvPr/>
          </p:nvSpPr>
          <p:spPr>
            <a:xfrm>
              <a:off x="2333628" y="312742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FFC000"/>
                  </a:solidFill>
                </a:rPr>
                <a:t>3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94B3207E-A42A-5C7A-5FBB-13B9FFEA71CB}"/>
                </a:ext>
              </a:extLst>
            </p:cNvPr>
            <p:cNvSpPr/>
            <p:nvPr/>
          </p:nvSpPr>
          <p:spPr>
            <a:xfrm>
              <a:off x="3629990" y="300777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7030A0"/>
                  </a:solidFill>
                </a:rPr>
                <a:t>4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76E1F364-AFFB-DB74-4099-5EF44DD2100A}"/>
                    </a:ext>
                  </a:extLst>
                </p:cNvPr>
                <p:cNvSpPr txBox="1"/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1ED16B10-4144-6BA9-0612-A0230BD459D5}"/>
                    </a:ext>
                  </a:extLst>
                </p:cNvPr>
                <p:cNvSpPr txBox="1"/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0F6C2A80-6C2E-8E63-FF42-46F249FDC4ED}"/>
                    </a:ext>
                  </a:extLst>
                </p:cNvPr>
                <p:cNvSpPr txBox="1"/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51A36117-A8B9-D4D9-2A5F-47759DD980B3}"/>
                    </a:ext>
                  </a:extLst>
                </p:cNvPr>
                <p:cNvSpPr txBox="1"/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59198552-9E34-1746-1647-27F71013D0EA}"/>
                </a:ext>
              </a:extLst>
            </p:cNvPr>
            <p:cNvCxnSpPr>
              <a:stCxn id="12" idx="6"/>
            </p:cNvCxnSpPr>
            <p:nvPr/>
          </p:nvCxnSpPr>
          <p:spPr>
            <a:xfrm>
              <a:off x="1821076" y="4970388"/>
              <a:ext cx="6332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91F8490D-6128-8521-BB20-E1056982B76C}"/>
                    </a:ext>
                  </a:extLst>
                </p:cNvPr>
                <p:cNvSpPr txBox="1"/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Arc 49">
              <a:extLst>
                <a:ext uri="{FF2B5EF4-FFF2-40B4-BE49-F238E27FC236}">
                  <a16:creationId xmlns:a16="http://schemas.microsoft.com/office/drawing/2014/main" id="{531696A8-0278-DD44-E255-9C1741600298}"/>
                </a:ext>
              </a:extLst>
            </p:cNvPr>
            <p:cNvSpPr/>
            <p:nvPr/>
          </p:nvSpPr>
          <p:spPr>
            <a:xfrm>
              <a:off x="899830" y="4187641"/>
              <a:ext cx="1742112" cy="1742112"/>
            </a:xfrm>
            <a:prstGeom prst="arc">
              <a:avLst>
                <a:gd name="adj1" fmla="val 390941"/>
                <a:gd name="adj2" fmla="val 2517803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Arc 50">
              <a:extLst>
                <a:ext uri="{FF2B5EF4-FFF2-40B4-BE49-F238E27FC236}">
                  <a16:creationId xmlns:a16="http://schemas.microsoft.com/office/drawing/2014/main" id="{7DF2413F-3FE7-C7B3-4DFB-6701AA98F4CA}"/>
                </a:ext>
              </a:extLst>
            </p:cNvPr>
            <p:cNvSpPr/>
            <p:nvPr/>
          </p:nvSpPr>
          <p:spPr>
            <a:xfrm>
              <a:off x="1118872" y="4421887"/>
              <a:ext cx="1097002" cy="1097002"/>
            </a:xfrm>
            <a:prstGeom prst="arc">
              <a:avLst>
                <a:gd name="adj1" fmla="val 19296342"/>
                <a:gd name="adj2" fmla="val 2408069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999A45EC-8F33-0778-1FAE-0646BB6649E1}"/>
                    </a:ext>
                  </a:extLst>
                </p:cNvPr>
                <p:cNvSpPr txBox="1"/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blipFill>
                  <a:blip r:embed="rId3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88141E40-BB1C-4144-BD7A-65DA4D2C2179}"/>
                    </a:ext>
                  </a:extLst>
                </p:cNvPr>
                <p:cNvSpPr txBox="1"/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blipFill>
                  <a:blip r:embed="rId3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Arc 53">
              <a:extLst>
                <a:ext uri="{FF2B5EF4-FFF2-40B4-BE49-F238E27FC236}">
                  <a16:creationId xmlns:a16="http://schemas.microsoft.com/office/drawing/2014/main" id="{FDA7754E-B76A-6A6E-0420-32A59004A00A}"/>
                </a:ext>
              </a:extLst>
            </p:cNvPr>
            <p:cNvSpPr/>
            <p:nvPr/>
          </p:nvSpPr>
          <p:spPr>
            <a:xfrm>
              <a:off x="1029799" y="4322316"/>
              <a:ext cx="1296144" cy="1296144"/>
            </a:xfrm>
            <a:prstGeom prst="arc">
              <a:avLst>
                <a:gd name="adj1" fmla="val 19296342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3F948F40-D796-BBF5-3C2B-AF3F99650F7C}"/>
                    </a:ext>
                  </a:extLst>
                </p:cNvPr>
                <p:cNvSpPr txBox="1"/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𝛼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9BB4B860-6645-D56F-8227-273C72E147B4}"/>
                    </a:ext>
                  </a:extLst>
                </p:cNvPr>
                <p:cNvSpPr txBox="1"/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blipFill>
                  <a:blip r:embed="rId3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7B931E8D-CC9E-4A37-07A7-632A9DC6F4D7}"/>
                </a:ext>
              </a:extLst>
            </p:cNvPr>
            <p:cNvGrpSpPr/>
            <p:nvPr/>
          </p:nvGrpSpPr>
          <p:grpSpPr>
            <a:xfrm>
              <a:off x="3045212" y="4789848"/>
              <a:ext cx="1889428" cy="913183"/>
              <a:chOff x="6385074" y="4040548"/>
              <a:chExt cx="1889428" cy="913183"/>
            </a:xfrm>
            <a:noFill/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ZoneTexte 90">
                    <a:extLst>
                      <a:ext uri="{FF2B5EF4-FFF2-40B4-BE49-F238E27FC236}">
                        <a16:creationId xmlns:a16="http://schemas.microsoft.com/office/drawing/2014/main" id="{DDF08133-E66C-DC6C-3218-1631D7E4F64C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𝐴𝐷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𝑎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  <m:sup>
                              <m:r>
                                <a:rPr lang="fr-FR" sz="1200" b="0" i="1" smtClean="0">
                                  <a:latin typeface="Cambria Math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𝑐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3" name="ZoneTexte 15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F3D1BE13-5FF4-A723-A7BA-40FED6AF0BBA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𝐷𝐶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𝑏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4" name="ZoneTexte 15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ZoneTexte 92">
                    <a:extLst>
                      <a:ext uri="{FF2B5EF4-FFF2-40B4-BE49-F238E27FC236}">
                        <a16:creationId xmlns:a16="http://schemas.microsoft.com/office/drawing/2014/main" id="{530D884E-F7E7-F8C6-41B1-5A219B55FADC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𝜆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5" name="ZoneTexte 1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E10A7393-1DDF-7640-411B-2C38A9B51601}"/>
                    </a:ext>
                  </a:extLst>
                </p:cNvPr>
                <p:cNvSpPr txBox="1"/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𝒃</m:t>
                        </m:r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4B54002A-3DB5-DD9C-D125-0AB7FA5B98D5}"/>
                </a:ext>
              </a:extLst>
            </p:cNvPr>
            <p:cNvCxnSpPr/>
            <p:nvPr/>
          </p:nvCxnSpPr>
          <p:spPr>
            <a:xfrm>
              <a:off x="322082" y="5330428"/>
              <a:ext cx="1352743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54BCCCE-0A3C-ABF6-F4E6-893AB759E210}"/>
                    </a:ext>
                  </a:extLst>
                </p:cNvPr>
                <p:cNvSpPr txBox="1"/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𝑐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8046809E-5E49-8991-BBE7-3940F35A2CD5}"/>
                    </a:ext>
                  </a:extLst>
                </p:cNvPr>
                <p:cNvSpPr txBox="1"/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𝑑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Connecteur droit avec flèche 97">
              <a:extLst>
                <a:ext uri="{FF2B5EF4-FFF2-40B4-BE49-F238E27FC236}">
                  <a16:creationId xmlns:a16="http://schemas.microsoft.com/office/drawing/2014/main" id="{E48429AC-9088-0DB9-2F24-DCCCD4FDF8E5}"/>
                </a:ext>
              </a:extLst>
            </p:cNvPr>
            <p:cNvCxnSpPr/>
            <p:nvPr/>
          </p:nvCxnSpPr>
          <p:spPr>
            <a:xfrm>
              <a:off x="132937" y="3371577"/>
              <a:ext cx="0" cy="1681852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925E5135-4E3B-2F19-3294-15B46886DFAA}"/>
                    </a:ext>
                  </a:extLst>
                </p:cNvPr>
                <p:cNvSpPr txBox="1"/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𝑎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886FDF65-FA0A-0862-2971-422FFEA74050}"/>
              </a:ext>
            </a:extLst>
          </p:cNvPr>
          <p:cNvGrpSpPr/>
          <p:nvPr/>
        </p:nvGrpSpPr>
        <p:grpSpPr>
          <a:xfrm>
            <a:off x="4720843" y="4702963"/>
            <a:ext cx="1703306" cy="1666470"/>
            <a:chOff x="5262233" y="3152282"/>
            <a:chExt cx="1703306" cy="1666470"/>
          </a:xfrm>
        </p:grpSpPr>
        <p:grpSp>
          <p:nvGrpSpPr>
            <p:cNvPr id="101" name="Groupe 100">
              <a:extLst>
                <a:ext uri="{FF2B5EF4-FFF2-40B4-BE49-F238E27FC236}">
                  <a16:creationId xmlns:a16="http://schemas.microsoft.com/office/drawing/2014/main" id="{155BD71F-0764-4474-FE26-7D991ADBCC52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114" name="Connecteur droit avec flèche 113">
                <a:extLst>
                  <a:ext uri="{FF2B5EF4-FFF2-40B4-BE49-F238E27FC236}">
                    <a16:creationId xmlns:a16="http://schemas.microsoft.com/office/drawing/2014/main" id="{FC818CA9-6760-7F70-FC4D-E443D020AA2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avec flèche 114">
                <a:extLst>
                  <a:ext uri="{FF2B5EF4-FFF2-40B4-BE49-F238E27FC236}">
                    <a16:creationId xmlns:a16="http://schemas.microsoft.com/office/drawing/2014/main" id="{6650242B-817B-A775-9F6C-CC308A38219A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" name="Groupe 101">
              <a:extLst>
                <a:ext uri="{FF2B5EF4-FFF2-40B4-BE49-F238E27FC236}">
                  <a16:creationId xmlns:a16="http://schemas.microsoft.com/office/drawing/2014/main" id="{29756F41-F30A-F3CC-06B0-5F23C9267D03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112" name="Connecteur droit avec flèche 111">
                <a:extLst>
                  <a:ext uri="{FF2B5EF4-FFF2-40B4-BE49-F238E27FC236}">
                    <a16:creationId xmlns:a16="http://schemas.microsoft.com/office/drawing/2014/main" id="{94152629-8271-C8A5-F99A-C3115A681F3D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necteur droit avec flèche 112">
                <a:extLst>
                  <a:ext uri="{FF2B5EF4-FFF2-40B4-BE49-F238E27FC236}">
                    <a16:creationId xmlns:a16="http://schemas.microsoft.com/office/drawing/2014/main" id="{B76F3B09-36B8-94C4-923E-A4D72BB8C4C8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3" name="Arc 102">
              <a:extLst>
                <a:ext uri="{FF2B5EF4-FFF2-40B4-BE49-F238E27FC236}">
                  <a16:creationId xmlns:a16="http://schemas.microsoft.com/office/drawing/2014/main" id="{E8CCF5E8-19E9-8910-FF24-66233DBDEE1A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ZoneTexte 103">
                  <a:extLst>
                    <a:ext uri="{FF2B5EF4-FFF2-40B4-BE49-F238E27FC236}">
                      <a16:creationId xmlns:a16="http://schemas.microsoft.com/office/drawing/2014/main" id="{AC7C7F39-6D5C-AC1C-D500-E2767960C4AA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B14415B5-2458-9378-29FB-C9245F150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ZoneTexte 104">
                  <a:extLst>
                    <a:ext uri="{FF2B5EF4-FFF2-40B4-BE49-F238E27FC236}">
                      <a16:creationId xmlns:a16="http://schemas.microsoft.com/office/drawing/2014/main" id="{99A185F9-A614-CEEE-2F24-A4FCAB3DE8E9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E58A37D5-C0E8-13B9-581B-43351546D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ZoneTexte 105">
                  <a:extLst>
                    <a:ext uri="{FF2B5EF4-FFF2-40B4-BE49-F238E27FC236}">
                      <a16:creationId xmlns:a16="http://schemas.microsoft.com/office/drawing/2014/main" id="{4132C1A0-8FEE-CBD8-5314-BD5D9D2AE8C4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B278FC2-3EF8-12BD-1AF3-1217D7AEBE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ZoneTexte 106">
                  <a:extLst>
                    <a:ext uri="{FF2B5EF4-FFF2-40B4-BE49-F238E27FC236}">
                      <a16:creationId xmlns:a16="http://schemas.microsoft.com/office/drawing/2014/main" id="{BFE04F17-0A0D-EDAC-1744-B98570A33F3A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32649DB7-9C1E-492F-C7DF-9E9E635038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ZoneTexte 107">
                  <a:extLst>
                    <a:ext uri="{FF2B5EF4-FFF2-40B4-BE49-F238E27FC236}">
                      <a16:creationId xmlns:a16="http://schemas.microsoft.com/office/drawing/2014/main" id="{51C72DB5-D8DD-1BC5-1717-529F23C69222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0" name="ZoneTexte 19">
                  <a:extLst>
                    <a:ext uri="{FF2B5EF4-FFF2-40B4-BE49-F238E27FC236}">
                      <a16:creationId xmlns:a16="http://schemas.microsoft.com/office/drawing/2014/main" id="{9D6DB790-EBC8-1493-E81D-1435CDEB9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ZoneTexte 108">
                  <a:extLst>
                    <a:ext uri="{FF2B5EF4-FFF2-40B4-BE49-F238E27FC236}">
                      <a16:creationId xmlns:a16="http://schemas.microsoft.com/office/drawing/2014/main" id="{6DB4AB63-C685-EEED-B58F-F94F5774A00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D0591B87-F4E2-906E-B7E0-6D1408D3F0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Ellipse 109">
              <a:extLst>
                <a:ext uri="{FF2B5EF4-FFF2-40B4-BE49-F238E27FC236}">
                  <a16:creationId xmlns:a16="http://schemas.microsoft.com/office/drawing/2014/main" id="{EA1B6426-196E-91E2-66F2-F55D48C44A15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1" name="Ellipse 110">
              <a:extLst>
                <a:ext uri="{FF2B5EF4-FFF2-40B4-BE49-F238E27FC236}">
                  <a16:creationId xmlns:a16="http://schemas.microsoft.com/office/drawing/2014/main" id="{36561AC8-0C8F-E213-38EA-FB386BDB3BF6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141" name="Image 140">
            <a:extLst>
              <a:ext uri="{FF2B5EF4-FFF2-40B4-BE49-F238E27FC236}">
                <a16:creationId xmlns:a16="http://schemas.microsoft.com/office/drawing/2014/main" id="{1A75DA21-8734-E940-1019-1D4D533FAA7B}"/>
              </a:ext>
            </a:extLst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0" y="1023255"/>
            <a:ext cx="2101805" cy="13770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6" name="Espace réservé du contenu 2">
                <a:extLst>
                  <a:ext uri="{FF2B5EF4-FFF2-40B4-BE49-F238E27FC236}">
                    <a16:creationId xmlns:a16="http://schemas.microsoft.com/office/drawing/2014/main" id="{A6E8A5B7-FDD0-A611-F00F-E144F3585F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92289" y="981887"/>
                <a:ext cx="5181915" cy="5253339"/>
              </a:xfrm>
            </p:spPr>
            <p:txBody>
              <a:bodyPr/>
              <a:lstStyle/>
              <a:p>
                <a:r>
                  <a:rPr lang="fr-FR" dirty="0"/>
                  <a:t>Hypothèse</a:t>
                </a:r>
              </a:p>
              <a:p>
                <a:pPr lvl="1"/>
                <a:r>
                  <a:rPr lang="fr-FR" dirty="0"/>
                  <a:t>Masse ponctuelle 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fr-FR" b="0" dirty="0"/>
                  <a:t> et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𝑝𝑒𝑠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→4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R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𝑝𝑒𝑠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→4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𝑝𝑒𝑠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→4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̇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  <m:acc>
                              <m:accPr>
                                <m:chr m:val="⃗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acc>
                          </m:e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acc>
                              <m:accPr>
                                <m:chr m:val="̇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𝑔</m:t>
                            </m:r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acc>
                          </m:e>
                        </m:eqAr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fr-FR" dirty="0"/>
              </a:p>
              <a:p>
                <a:pPr lvl="1"/>
                <a:endParaRPr lang="fr-FR" b="0" dirty="0"/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166" name="Espace réservé du contenu 2">
                <a:extLst>
                  <a:ext uri="{FF2B5EF4-FFF2-40B4-BE49-F238E27FC236}">
                    <a16:creationId xmlns:a16="http://schemas.microsoft.com/office/drawing/2014/main" id="{A6E8A5B7-FDD0-A611-F00F-E144F3585F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92289" y="981887"/>
                <a:ext cx="5181915" cy="5253339"/>
              </a:xfrm>
              <a:blipFill>
                <a:blip r:embed="rId53"/>
                <a:stretch>
                  <a:fillRect l="-3176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57229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8FDE20-93E3-0D25-74B8-84694B246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MaxPID horizontal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58689C8-B04E-768F-DC86-88F37C99A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24453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491D6-C30D-4041-AAB9-8B41C8DB5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A9797BC-DF94-583D-CE82-B98D90BA7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11</a:t>
            </a:r>
            <a:br>
              <a:rPr lang="fr-FR" dirty="0"/>
            </a:br>
            <a:r>
              <a:rPr lang="fr-FR" dirty="0"/>
              <a:t>Modèle de comportement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3BA2C2E-4D83-A9A1-9E80-52C6039976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18487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B7658-D2BF-EE02-E5AB-0AB28687D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17988C-5122-5269-8E8D-98EA162A5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MaxPID horizontal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CD40C3B-A559-5530-7226-C7B2C1AFB2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8"/>
            <a:ext cx="11956410" cy="4346770"/>
          </a:xfrm>
        </p:spPr>
        <p:txBody>
          <a:bodyPr>
            <a:normAutofit lnSpcReduction="10000"/>
          </a:bodyPr>
          <a:lstStyle/>
          <a:p>
            <a:r>
              <a:rPr lang="fr-FR" dirty="0"/>
              <a:t>Activité 1 – Schéma bloc</a:t>
            </a:r>
          </a:p>
          <a:p>
            <a:endParaRPr lang="fr-FR" dirty="0"/>
          </a:p>
          <a:p>
            <a:endParaRPr lang="fr-FR" dirty="0"/>
          </a:p>
          <a:p>
            <a:pPr marL="1588" indent="0">
              <a:buNone/>
            </a:pPr>
            <a:endParaRPr lang="fr-FR" dirty="0"/>
          </a:p>
          <a:p>
            <a:r>
              <a:rPr lang="fr-FR" dirty="0"/>
              <a:t>Activité 2</a:t>
            </a:r>
          </a:p>
          <a:p>
            <a:pPr lvl="1"/>
            <a:r>
              <a:rPr lang="fr-FR" dirty="0"/>
              <a:t>Si on trace la réponse en BO à un échelon de courant, l’écart statique est nul</a:t>
            </a:r>
          </a:p>
          <a:p>
            <a:pPr lvl="1"/>
            <a:r>
              <a:rPr lang="fr-FR" dirty="0"/>
              <a:t>Le temps de réponse est très court par rapport à la dynamique du système</a:t>
            </a:r>
          </a:p>
          <a:p>
            <a:pPr lvl="1"/>
            <a:r>
              <a:rPr lang="fr-FR" dirty="0"/>
              <a:t>On peut modéliser la boucle de courant par un gain de 1 V/A.</a:t>
            </a:r>
          </a:p>
          <a:p>
            <a:pPr lvl="1"/>
            <a:r>
              <a:rPr lang="fr-FR" dirty="0"/>
              <a:t>La précision était prévisible en raison de la correction PI. </a:t>
            </a:r>
          </a:p>
          <a:p>
            <a:pPr lvl="1"/>
            <a:r>
              <a:rPr lang="fr-FR" dirty="0"/>
              <a:t>Le temps de réponse peu prévisible.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C48D89DA-A5B7-FDBF-C482-8E0E9218092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" t="28946" r="1680" b="21484"/>
          <a:stretch>
            <a:fillRect/>
          </a:stretch>
        </p:blipFill>
        <p:spPr bwMode="auto">
          <a:xfrm>
            <a:off x="8584880" y="129613"/>
            <a:ext cx="3489325" cy="1370965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01B43CE-DCBE-E4F6-B4C4-36FDE78600C7}"/>
              </a:ext>
            </a:extLst>
          </p:cNvPr>
          <p:cNvSpPr/>
          <p:nvPr/>
        </p:nvSpPr>
        <p:spPr>
          <a:xfrm>
            <a:off x="2478705" y="1766484"/>
            <a:ext cx="1074420" cy="457200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ysClr val="windowText" lastClr="000000"/>
                </a:solidFill>
              </a:rPr>
              <a:t>Correcteur de position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6905F47E-71ED-DD6D-242C-689B6F59F6FC}"/>
              </a:ext>
            </a:extLst>
          </p:cNvPr>
          <p:cNvSpPr/>
          <p:nvPr/>
        </p:nvSpPr>
        <p:spPr>
          <a:xfrm>
            <a:off x="1829647" y="1851084"/>
            <a:ext cx="288000" cy="288000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CED31-BD95-72C5-0A95-E531E60B0298}"/>
              </a:ext>
            </a:extLst>
          </p:cNvPr>
          <p:cNvSpPr/>
          <p:nvPr/>
        </p:nvSpPr>
        <p:spPr>
          <a:xfrm>
            <a:off x="4563241" y="1766484"/>
            <a:ext cx="1074420" cy="457200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ysClr val="windowText" lastClr="000000"/>
                </a:solidFill>
              </a:rPr>
              <a:t>Correcteur de courant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7086C168-42D3-58B8-A581-557ADDCE8A3F}"/>
              </a:ext>
            </a:extLst>
          </p:cNvPr>
          <p:cNvSpPr/>
          <p:nvPr/>
        </p:nvSpPr>
        <p:spPr>
          <a:xfrm>
            <a:off x="3914183" y="1851084"/>
            <a:ext cx="288000" cy="288000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757F3A-F600-A45C-2122-93B2F6356827}"/>
              </a:ext>
            </a:extLst>
          </p:cNvPr>
          <p:cNvSpPr/>
          <p:nvPr/>
        </p:nvSpPr>
        <p:spPr>
          <a:xfrm>
            <a:off x="5998719" y="1766484"/>
            <a:ext cx="1074420" cy="457200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ysClr val="windowText" lastClr="000000"/>
                </a:solidFill>
              </a:rPr>
              <a:t>Moteur CC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854A30-577B-5137-EA24-65DA40229170}"/>
              </a:ext>
            </a:extLst>
          </p:cNvPr>
          <p:cNvSpPr/>
          <p:nvPr/>
        </p:nvSpPr>
        <p:spPr>
          <a:xfrm>
            <a:off x="7434197" y="1766484"/>
            <a:ext cx="1394907" cy="457200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ysClr val="windowText" lastClr="000000"/>
                </a:solidFill>
              </a:rPr>
              <a:t>Transformateur de mouvement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756818-A830-0E43-CE44-994F582378A9}"/>
              </a:ext>
            </a:extLst>
          </p:cNvPr>
          <p:cNvSpPr/>
          <p:nvPr/>
        </p:nvSpPr>
        <p:spPr>
          <a:xfrm>
            <a:off x="9190162" y="1766484"/>
            <a:ext cx="1074420" cy="457200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ysClr val="windowText" lastClr="000000"/>
                </a:solidFill>
              </a:rPr>
              <a:t>Intégrateur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EC2B31-978F-1CEE-38EB-8DFF83A1DADD}"/>
              </a:ext>
            </a:extLst>
          </p:cNvPr>
          <p:cNvSpPr/>
          <p:nvPr/>
        </p:nvSpPr>
        <p:spPr>
          <a:xfrm>
            <a:off x="10625641" y="1766484"/>
            <a:ext cx="1074420" cy="457200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ysClr val="windowText" lastClr="000000"/>
                </a:solidFill>
              </a:rPr>
              <a:t>Conversion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B6E681-58CD-9E61-ABD1-FFB9E1BBF44B}"/>
              </a:ext>
            </a:extLst>
          </p:cNvPr>
          <p:cNvSpPr/>
          <p:nvPr/>
        </p:nvSpPr>
        <p:spPr>
          <a:xfrm>
            <a:off x="6130037" y="2704433"/>
            <a:ext cx="1074420" cy="457200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ysClr val="windowText" lastClr="000000"/>
                </a:solidFill>
              </a:rPr>
              <a:t>Capteur de position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83FD2FAA-7E5F-BDC2-1487-E2BA22A956D6}"/>
              </a:ext>
            </a:extLst>
          </p:cNvPr>
          <p:cNvCxnSpPr>
            <a:cxnSpLocks/>
          </p:cNvCxnSpPr>
          <p:nvPr/>
        </p:nvCxnSpPr>
        <p:spPr>
          <a:xfrm>
            <a:off x="1479035" y="1995488"/>
            <a:ext cx="350612" cy="0"/>
          </a:xfrm>
          <a:prstGeom prst="straightConnector1">
            <a:avLst/>
          </a:prstGeom>
          <a:noFill/>
          <a:ln w="28575"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EE174F1D-327D-0879-C3BE-4475D63FEBF7}"/>
              </a:ext>
            </a:extLst>
          </p:cNvPr>
          <p:cNvCxnSpPr>
            <a:cxnSpLocks/>
            <a:endCxn id="5" idx="4"/>
          </p:cNvCxnSpPr>
          <p:nvPr/>
        </p:nvCxnSpPr>
        <p:spPr>
          <a:xfrm flipV="1">
            <a:off x="1973647" y="2139084"/>
            <a:ext cx="0" cy="783357"/>
          </a:xfrm>
          <a:prstGeom prst="straightConnector1">
            <a:avLst/>
          </a:prstGeom>
          <a:noFill/>
          <a:ln w="28575"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92CB3498-5646-11C1-9CCD-946D6AD3B1C7}"/>
              </a:ext>
            </a:extLst>
          </p:cNvPr>
          <p:cNvCxnSpPr>
            <a:cxnSpLocks/>
          </p:cNvCxnSpPr>
          <p:nvPr/>
        </p:nvCxnSpPr>
        <p:spPr>
          <a:xfrm flipV="1">
            <a:off x="4054642" y="2139084"/>
            <a:ext cx="0" cy="386383"/>
          </a:xfrm>
          <a:prstGeom prst="straightConnector1">
            <a:avLst/>
          </a:prstGeom>
          <a:noFill/>
          <a:ln w="28575"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7182FC0B-72EE-0F09-07C3-90797506DD5F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2117647" y="1995084"/>
            <a:ext cx="361058" cy="0"/>
          </a:xfrm>
          <a:prstGeom prst="straightConnector1">
            <a:avLst/>
          </a:prstGeom>
          <a:noFill/>
          <a:ln w="28575"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36E7AB8A-C6B2-B4E4-94D4-BCE849F70F2B}"/>
              </a:ext>
            </a:extLst>
          </p:cNvPr>
          <p:cNvCxnSpPr>
            <a:cxnSpLocks/>
          </p:cNvCxnSpPr>
          <p:nvPr/>
        </p:nvCxnSpPr>
        <p:spPr>
          <a:xfrm>
            <a:off x="3553125" y="1995084"/>
            <a:ext cx="361058" cy="0"/>
          </a:xfrm>
          <a:prstGeom prst="straightConnector1">
            <a:avLst/>
          </a:prstGeom>
          <a:noFill/>
          <a:ln w="28575"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8DAF41E9-7199-E8D6-92B4-2C58A80DA20B}"/>
              </a:ext>
            </a:extLst>
          </p:cNvPr>
          <p:cNvCxnSpPr>
            <a:cxnSpLocks/>
          </p:cNvCxnSpPr>
          <p:nvPr/>
        </p:nvCxnSpPr>
        <p:spPr>
          <a:xfrm>
            <a:off x="4202183" y="1995084"/>
            <a:ext cx="361058" cy="0"/>
          </a:xfrm>
          <a:prstGeom prst="straightConnector1">
            <a:avLst/>
          </a:prstGeom>
          <a:noFill/>
          <a:ln w="28575"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BAAF7B5F-9810-6BB2-1575-D19910A25D7A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5637661" y="1995084"/>
            <a:ext cx="361058" cy="0"/>
          </a:xfrm>
          <a:prstGeom prst="straightConnector1">
            <a:avLst/>
          </a:prstGeom>
          <a:noFill/>
          <a:ln w="28575"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239D9B59-E7B9-8566-587C-FC03B5B718B1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7073139" y="1995084"/>
            <a:ext cx="361058" cy="0"/>
          </a:xfrm>
          <a:prstGeom prst="straightConnector1">
            <a:avLst/>
          </a:prstGeom>
          <a:noFill/>
          <a:ln w="28575"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5C2FF298-EFC8-63CA-7441-DF5E7AC08AA7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8829104" y="1995084"/>
            <a:ext cx="361058" cy="0"/>
          </a:xfrm>
          <a:prstGeom prst="straightConnector1">
            <a:avLst/>
          </a:prstGeom>
          <a:noFill/>
          <a:ln w="28575"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EE9A205C-51FB-AE10-BA18-30A31525BF15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10264582" y="1995084"/>
            <a:ext cx="361059" cy="0"/>
          </a:xfrm>
          <a:prstGeom prst="straightConnector1">
            <a:avLst/>
          </a:prstGeom>
          <a:noFill/>
          <a:ln w="28575"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0BF580F5-CEE3-0A4B-9FDE-C3CD877198C2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11700061" y="1995084"/>
            <a:ext cx="361058" cy="0"/>
          </a:xfrm>
          <a:prstGeom prst="straightConnector1">
            <a:avLst/>
          </a:prstGeom>
          <a:noFill/>
          <a:ln w="28575"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EED8AD9A-AF6D-D786-E214-BEDC61C2DCB0}"/>
              </a:ext>
            </a:extLst>
          </p:cNvPr>
          <p:cNvCxnSpPr>
            <a:cxnSpLocks/>
            <a:endCxn id="10" idx="2"/>
          </p:cNvCxnSpPr>
          <p:nvPr/>
        </p:nvCxnSpPr>
        <p:spPr>
          <a:xfrm flipV="1">
            <a:off x="6535929" y="2223684"/>
            <a:ext cx="0" cy="301783"/>
          </a:xfrm>
          <a:prstGeom prst="straightConnector1">
            <a:avLst/>
          </a:prstGeom>
          <a:noFill/>
          <a:ln w="28575"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68CFCABB-6C66-AA33-85EA-60C758D5602F}"/>
              </a:ext>
            </a:extLst>
          </p:cNvPr>
          <p:cNvSpPr/>
          <p:nvPr/>
        </p:nvSpPr>
        <p:spPr>
          <a:xfrm>
            <a:off x="4563241" y="2296867"/>
            <a:ext cx="1074420" cy="457200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ysClr val="windowText" lastClr="000000"/>
                </a:solidFill>
              </a:rPr>
              <a:t>Capteur de courant</a:t>
            </a:r>
          </a:p>
        </p:txBody>
      </p: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C5DA7B12-830E-AE70-ABF8-F7C037E61DCE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4054642" y="2525467"/>
            <a:ext cx="508599" cy="0"/>
          </a:xfrm>
          <a:prstGeom prst="straightConnector1">
            <a:avLst/>
          </a:prstGeom>
          <a:noFill/>
          <a:ln w="28575"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id="{31396FA1-BEA7-4E7A-0B70-350E53EB773F}"/>
              </a:ext>
            </a:extLst>
          </p:cNvPr>
          <p:cNvCxnSpPr>
            <a:cxnSpLocks/>
          </p:cNvCxnSpPr>
          <p:nvPr/>
        </p:nvCxnSpPr>
        <p:spPr>
          <a:xfrm flipH="1" flipV="1">
            <a:off x="1973647" y="2933033"/>
            <a:ext cx="4156390" cy="0"/>
          </a:xfrm>
          <a:prstGeom prst="straightConnector1">
            <a:avLst/>
          </a:prstGeom>
          <a:noFill/>
          <a:ln w="28575"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1" name="Connecteur droit avec flèche 70">
            <a:extLst>
              <a:ext uri="{FF2B5EF4-FFF2-40B4-BE49-F238E27FC236}">
                <a16:creationId xmlns:a16="http://schemas.microsoft.com/office/drawing/2014/main" id="{3431187A-0FFE-7F81-B3C4-6B77638CC4CB}"/>
              </a:ext>
            </a:extLst>
          </p:cNvPr>
          <p:cNvCxnSpPr>
            <a:cxnSpLocks/>
          </p:cNvCxnSpPr>
          <p:nvPr/>
        </p:nvCxnSpPr>
        <p:spPr>
          <a:xfrm flipV="1">
            <a:off x="11853832" y="1995084"/>
            <a:ext cx="0" cy="937949"/>
          </a:xfrm>
          <a:prstGeom prst="straightConnector1">
            <a:avLst/>
          </a:prstGeom>
          <a:noFill/>
          <a:ln w="28575"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2" name="Connecteur droit avec flèche 71">
            <a:extLst>
              <a:ext uri="{FF2B5EF4-FFF2-40B4-BE49-F238E27FC236}">
                <a16:creationId xmlns:a16="http://schemas.microsoft.com/office/drawing/2014/main" id="{CB09E671-E38C-A4AF-D9FC-8372199D59BA}"/>
              </a:ext>
            </a:extLst>
          </p:cNvPr>
          <p:cNvCxnSpPr>
            <a:cxnSpLocks/>
            <a:endCxn id="52" idx="3"/>
          </p:cNvCxnSpPr>
          <p:nvPr/>
        </p:nvCxnSpPr>
        <p:spPr>
          <a:xfrm flipH="1">
            <a:off x="5637661" y="2525467"/>
            <a:ext cx="894235" cy="0"/>
          </a:xfrm>
          <a:prstGeom prst="straightConnector1">
            <a:avLst/>
          </a:prstGeom>
          <a:noFill/>
          <a:ln w="28575"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E649F312-63EE-BD6E-320C-9A3C74004B77}"/>
              </a:ext>
            </a:extLst>
          </p:cNvPr>
          <p:cNvCxnSpPr>
            <a:cxnSpLocks/>
            <a:endCxn id="15" idx="3"/>
          </p:cNvCxnSpPr>
          <p:nvPr/>
        </p:nvCxnSpPr>
        <p:spPr>
          <a:xfrm flipH="1">
            <a:off x="7204457" y="2933033"/>
            <a:ext cx="4649549" cy="0"/>
          </a:xfrm>
          <a:prstGeom prst="straightConnector1">
            <a:avLst/>
          </a:prstGeom>
          <a:noFill/>
          <a:ln w="28575"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7E920264-7617-8E93-CF3C-C14ADA1168A5}"/>
              </a:ext>
            </a:extLst>
          </p:cNvPr>
          <p:cNvCxnSpPr>
            <a:cxnSpLocks/>
            <a:stCxn id="9" idx="5"/>
            <a:endCxn id="9" idx="1"/>
          </p:cNvCxnSpPr>
          <p:nvPr/>
        </p:nvCxnSpPr>
        <p:spPr>
          <a:xfrm flipH="1" flipV="1">
            <a:off x="3956360" y="1893261"/>
            <a:ext cx="203646" cy="203646"/>
          </a:xfrm>
          <a:prstGeom prst="straightConnector1">
            <a:avLst/>
          </a:prstGeom>
          <a:noFill/>
          <a:ln w="28575"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79FFAB12-54C1-E3EA-9317-72E06F9961DC}"/>
              </a:ext>
            </a:extLst>
          </p:cNvPr>
          <p:cNvCxnSpPr>
            <a:cxnSpLocks/>
            <a:stCxn id="9" idx="7"/>
            <a:endCxn id="9" idx="3"/>
          </p:cNvCxnSpPr>
          <p:nvPr/>
        </p:nvCxnSpPr>
        <p:spPr>
          <a:xfrm flipH="1">
            <a:off x="3956360" y="1893261"/>
            <a:ext cx="203646" cy="203646"/>
          </a:xfrm>
          <a:prstGeom prst="straightConnector1">
            <a:avLst/>
          </a:prstGeom>
          <a:noFill/>
          <a:ln w="28575"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5" name="Connecteur droit avec flèche 84">
            <a:extLst>
              <a:ext uri="{FF2B5EF4-FFF2-40B4-BE49-F238E27FC236}">
                <a16:creationId xmlns:a16="http://schemas.microsoft.com/office/drawing/2014/main" id="{6A7E49A7-0B66-7E95-4ECA-61BD39180AA1}"/>
              </a:ext>
            </a:extLst>
          </p:cNvPr>
          <p:cNvCxnSpPr>
            <a:cxnSpLocks/>
            <a:stCxn id="5" idx="1"/>
            <a:endCxn id="5" idx="5"/>
          </p:cNvCxnSpPr>
          <p:nvPr/>
        </p:nvCxnSpPr>
        <p:spPr>
          <a:xfrm>
            <a:off x="1871824" y="1893261"/>
            <a:ext cx="203646" cy="203646"/>
          </a:xfrm>
          <a:prstGeom prst="straightConnector1">
            <a:avLst/>
          </a:prstGeom>
          <a:noFill/>
          <a:ln w="28575"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8" name="Connecteur droit avec flèche 87">
            <a:extLst>
              <a:ext uri="{FF2B5EF4-FFF2-40B4-BE49-F238E27FC236}">
                <a16:creationId xmlns:a16="http://schemas.microsoft.com/office/drawing/2014/main" id="{A9BAAC35-9D6D-3992-85FC-C2B980F35933}"/>
              </a:ext>
            </a:extLst>
          </p:cNvPr>
          <p:cNvCxnSpPr>
            <a:cxnSpLocks/>
            <a:stCxn id="5" idx="3"/>
            <a:endCxn id="5" idx="7"/>
          </p:cNvCxnSpPr>
          <p:nvPr/>
        </p:nvCxnSpPr>
        <p:spPr>
          <a:xfrm flipV="1">
            <a:off x="1871824" y="1893261"/>
            <a:ext cx="203646" cy="203646"/>
          </a:xfrm>
          <a:prstGeom prst="straightConnector1">
            <a:avLst/>
          </a:prstGeom>
          <a:noFill/>
          <a:ln w="28575"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2" name="ZoneTexte 91">
            <a:extLst>
              <a:ext uri="{FF2B5EF4-FFF2-40B4-BE49-F238E27FC236}">
                <a16:creationId xmlns:a16="http://schemas.microsoft.com/office/drawing/2014/main" id="{8157EFA6-C1A1-2CB3-A375-F3BCF287293C}"/>
              </a:ext>
            </a:extLst>
          </p:cNvPr>
          <p:cNvSpPr txBox="1"/>
          <p:nvPr/>
        </p:nvSpPr>
        <p:spPr>
          <a:xfrm>
            <a:off x="1721899" y="1820708"/>
            <a:ext cx="3381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800" dirty="0">
                <a:solidFill>
                  <a:sysClr val="windowText" lastClr="000000"/>
                </a:solidFill>
              </a:rPr>
              <a:t>+</a:t>
            </a:r>
            <a:endParaRPr lang="fr-FR" dirty="0"/>
          </a:p>
        </p:txBody>
      </p:sp>
      <p:sp>
        <p:nvSpPr>
          <p:cNvPr id="93" name="ZoneTexte 92">
            <a:extLst>
              <a:ext uri="{FF2B5EF4-FFF2-40B4-BE49-F238E27FC236}">
                <a16:creationId xmlns:a16="http://schemas.microsoft.com/office/drawing/2014/main" id="{54A62977-D3AA-7002-4836-E0CBC22EE3B4}"/>
              </a:ext>
            </a:extLst>
          </p:cNvPr>
          <p:cNvSpPr txBox="1"/>
          <p:nvPr/>
        </p:nvSpPr>
        <p:spPr>
          <a:xfrm>
            <a:off x="1805886" y="1902018"/>
            <a:ext cx="3381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800" dirty="0">
                <a:solidFill>
                  <a:sysClr val="windowText" lastClr="000000"/>
                </a:solidFill>
              </a:rPr>
              <a:t>-</a:t>
            </a:r>
            <a:endParaRPr lang="fr-FR" dirty="0"/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2ABAB93A-08A2-C667-FE01-CBDB93DE2A0F}"/>
              </a:ext>
            </a:extLst>
          </p:cNvPr>
          <p:cNvSpPr txBox="1"/>
          <p:nvPr/>
        </p:nvSpPr>
        <p:spPr>
          <a:xfrm>
            <a:off x="3795989" y="1823877"/>
            <a:ext cx="3381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800" dirty="0">
                <a:solidFill>
                  <a:sysClr val="windowText" lastClr="000000"/>
                </a:solidFill>
              </a:rPr>
              <a:t>+</a:t>
            </a:r>
            <a:endParaRPr lang="fr-FR" dirty="0"/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id="{49D0CC13-F9CC-9CF1-7451-FFB7AA4BA5A0}"/>
              </a:ext>
            </a:extLst>
          </p:cNvPr>
          <p:cNvSpPr txBox="1"/>
          <p:nvPr/>
        </p:nvSpPr>
        <p:spPr>
          <a:xfrm>
            <a:off x="3895870" y="1893710"/>
            <a:ext cx="3381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800" dirty="0">
                <a:solidFill>
                  <a:sysClr val="windowText" lastClr="000000"/>
                </a:solidFill>
              </a:rPr>
              <a:t>-</a:t>
            </a:r>
            <a:endParaRPr lang="fr-FR" dirty="0"/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E72E0411-95DB-E9D5-2D0D-F4159564532D}"/>
              </a:ext>
            </a:extLst>
          </p:cNvPr>
          <p:cNvSpPr txBox="1"/>
          <p:nvPr/>
        </p:nvSpPr>
        <p:spPr>
          <a:xfrm>
            <a:off x="-135280" y="1671493"/>
            <a:ext cx="104758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>
                <a:solidFill>
                  <a:sysClr val="windowText" lastClr="000000"/>
                </a:solidFill>
              </a:rPr>
              <a:t>Consigne [°]</a:t>
            </a:r>
            <a:endParaRPr lang="fr-FR" sz="1100" dirty="0"/>
          </a:p>
        </p:txBody>
      </p:sp>
      <p:sp>
        <p:nvSpPr>
          <p:cNvPr id="97" name="ZoneTexte 96">
            <a:extLst>
              <a:ext uri="{FF2B5EF4-FFF2-40B4-BE49-F238E27FC236}">
                <a16:creationId xmlns:a16="http://schemas.microsoft.com/office/drawing/2014/main" id="{BB89258F-AD9A-BB33-AC0F-2526AA6C47BB}"/>
              </a:ext>
            </a:extLst>
          </p:cNvPr>
          <p:cNvSpPr txBox="1"/>
          <p:nvPr/>
        </p:nvSpPr>
        <p:spPr>
          <a:xfrm>
            <a:off x="5474130" y="1740562"/>
            <a:ext cx="6059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>
                <a:solidFill>
                  <a:sysClr val="windowText" lastClr="000000"/>
                </a:solidFill>
              </a:rPr>
              <a:t> [V]</a:t>
            </a:r>
            <a:endParaRPr lang="fr-FR" sz="1100" dirty="0"/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CF220849-A49A-0CDF-D97E-BF35914D2FF8}"/>
              </a:ext>
            </a:extLst>
          </p:cNvPr>
          <p:cNvSpPr txBox="1"/>
          <p:nvPr/>
        </p:nvSpPr>
        <p:spPr>
          <a:xfrm>
            <a:off x="3393120" y="1708331"/>
            <a:ext cx="6059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>
                <a:solidFill>
                  <a:sysClr val="windowText" lastClr="000000"/>
                </a:solidFill>
              </a:rPr>
              <a:t> [A]</a:t>
            </a:r>
            <a:endParaRPr lang="fr-FR" sz="1100" dirty="0"/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F11B8BB7-265F-6D90-7CEE-DD24CD84FC2B}"/>
              </a:ext>
            </a:extLst>
          </p:cNvPr>
          <p:cNvSpPr txBox="1"/>
          <p:nvPr/>
        </p:nvSpPr>
        <p:spPr>
          <a:xfrm>
            <a:off x="6889701" y="1529342"/>
            <a:ext cx="6059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>
                <a:solidFill>
                  <a:sysClr val="windowText" lastClr="000000"/>
                </a:solidFill>
              </a:rPr>
              <a:t> [rad/s]</a:t>
            </a:r>
            <a:endParaRPr lang="fr-FR" sz="1100" dirty="0"/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2E6CD67C-1708-3A9E-25E6-E4D02B528723}"/>
              </a:ext>
            </a:extLst>
          </p:cNvPr>
          <p:cNvSpPr txBox="1"/>
          <p:nvPr/>
        </p:nvSpPr>
        <p:spPr>
          <a:xfrm>
            <a:off x="8652733" y="1552609"/>
            <a:ext cx="6059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>
                <a:solidFill>
                  <a:sysClr val="windowText" lastClr="000000"/>
                </a:solidFill>
              </a:rPr>
              <a:t> [rad/s]</a:t>
            </a:r>
            <a:endParaRPr lang="fr-FR" sz="1100" dirty="0"/>
          </a:p>
        </p:txBody>
      </p:sp>
      <p:sp>
        <p:nvSpPr>
          <p:cNvPr id="101" name="ZoneTexte 100">
            <a:extLst>
              <a:ext uri="{FF2B5EF4-FFF2-40B4-BE49-F238E27FC236}">
                <a16:creationId xmlns:a16="http://schemas.microsoft.com/office/drawing/2014/main" id="{14F34BFC-45E3-8B55-13F7-A70A0369B154}"/>
              </a:ext>
            </a:extLst>
          </p:cNvPr>
          <p:cNvSpPr txBox="1"/>
          <p:nvPr/>
        </p:nvSpPr>
        <p:spPr>
          <a:xfrm>
            <a:off x="10118082" y="1627819"/>
            <a:ext cx="6059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>
                <a:solidFill>
                  <a:sysClr val="windowText" lastClr="000000"/>
                </a:solidFill>
              </a:rPr>
              <a:t> [rad]</a:t>
            </a:r>
            <a:endParaRPr lang="fr-FR" sz="1100" dirty="0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DBB4808D-5C0F-10E8-EFD5-0E8D3176CB29}"/>
              </a:ext>
            </a:extLst>
          </p:cNvPr>
          <p:cNvSpPr txBox="1"/>
          <p:nvPr/>
        </p:nvSpPr>
        <p:spPr>
          <a:xfrm>
            <a:off x="1503765" y="2254845"/>
            <a:ext cx="6059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>
                <a:solidFill>
                  <a:sysClr val="windowText" lastClr="000000"/>
                </a:solidFill>
              </a:rPr>
              <a:t> [</a:t>
            </a:r>
            <a:r>
              <a:rPr lang="fr-FR" sz="1100" dirty="0" err="1">
                <a:solidFill>
                  <a:sysClr val="windowText" lastClr="000000"/>
                </a:solidFill>
              </a:rPr>
              <a:t>qc</a:t>
            </a:r>
            <a:r>
              <a:rPr lang="fr-FR" sz="1100" dirty="0">
                <a:solidFill>
                  <a:sysClr val="windowText" lastClr="000000"/>
                </a:solidFill>
              </a:rPr>
              <a:t>]</a:t>
            </a:r>
            <a:endParaRPr lang="fr-FR" sz="1100" dirty="0"/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8CCB1AD2-3BC5-A722-09D4-DC7C41B7A0D9}"/>
              </a:ext>
            </a:extLst>
          </p:cNvPr>
          <p:cNvSpPr txBox="1"/>
          <p:nvPr/>
        </p:nvSpPr>
        <p:spPr>
          <a:xfrm>
            <a:off x="1935346" y="1679602"/>
            <a:ext cx="6059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>
                <a:solidFill>
                  <a:sysClr val="windowText" lastClr="000000"/>
                </a:solidFill>
              </a:rPr>
              <a:t> [</a:t>
            </a:r>
            <a:r>
              <a:rPr lang="fr-FR" sz="1100" dirty="0" err="1">
                <a:solidFill>
                  <a:sysClr val="windowText" lastClr="000000"/>
                </a:solidFill>
              </a:rPr>
              <a:t>qc</a:t>
            </a:r>
            <a:r>
              <a:rPr lang="fr-FR" sz="1100" dirty="0">
                <a:solidFill>
                  <a:sysClr val="windowText" lastClr="000000"/>
                </a:solidFill>
              </a:rPr>
              <a:t>]</a:t>
            </a:r>
            <a:endParaRPr lang="fr-FR" sz="1100" dirty="0"/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F2CCA1DA-FDF4-9638-D723-2FB99A229402}"/>
              </a:ext>
            </a:extLst>
          </p:cNvPr>
          <p:cNvSpPr txBox="1"/>
          <p:nvPr/>
        </p:nvSpPr>
        <p:spPr>
          <a:xfrm>
            <a:off x="11550844" y="1689903"/>
            <a:ext cx="6059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>
                <a:solidFill>
                  <a:sysClr val="windowText" lastClr="000000"/>
                </a:solidFill>
              </a:rPr>
              <a:t> [°]</a:t>
            </a:r>
            <a:endParaRPr lang="fr-FR" sz="1100" dirty="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A26CE4F8-05BE-5B8E-E51F-C5EBBB330E13}"/>
              </a:ext>
            </a:extLst>
          </p:cNvPr>
          <p:cNvSpPr/>
          <p:nvPr/>
        </p:nvSpPr>
        <p:spPr>
          <a:xfrm>
            <a:off x="747296" y="1758624"/>
            <a:ext cx="721740" cy="457200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ysClr val="windowText" lastClr="000000"/>
                </a:solidFill>
              </a:rPr>
              <a:t>Conversion</a:t>
            </a:r>
          </a:p>
        </p:txBody>
      </p:sp>
      <p:cxnSp>
        <p:nvCxnSpPr>
          <p:cNvPr id="110" name="Connecteur droit avec flèche 109">
            <a:extLst>
              <a:ext uri="{FF2B5EF4-FFF2-40B4-BE49-F238E27FC236}">
                <a16:creationId xmlns:a16="http://schemas.microsoft.com/office/drawing/2014/main" id="{7D4473F7-2F32-8722-1AA6-881F19525E25}"/>
              </a:ext>
            </a:extLst>
          </p:cNvPr>
          <p:cNvCxnSpPr>
            <a:cxnSpLocks/>
          </p:cNvCxnSpPr>
          <p:nvPr/>
        </p:nvCxnSpPr>
        <p:spPr>
          <a:xfrm>
            <a:off x="396684" y="1986272"/>
            <a:ext cx="350612" cy="0"/>
          </a:xfrm>
          <a:prstGeom prst="straightConnector1">
            <a:avLst/>
          </a:prstGeom>
          <a:noFill/>
          <a:ln w="28575"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462482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1F468-B900-CB9F-754B-0AB876BDA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1F732A-212C-39DA-1245-BD7ACC056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MaxPID horizontal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ce réservé du contenu 5">
                <a:extLst>
                  <a:ext uri="{FF2B5EF4-FFF2-40B4-BE49-F238E27FC236}">
                    <a16:creationId xmlns:a16="http://schemas.microsoft.com/office/drawing/2014/main" id="{F6A84CD4-6CEC-8AC5-E61C-C44B32904D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8"/>
                <a:ext cx="7726794" cy="5281752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fr-FR" dirty="0"/>
                  <a:t>Activité 3</a:t>
                </a:r>
              </a:p>
              <a:p>
                <a:pPr lvl="1"/>
                <a:r>
                  <a:rPr lang="fr-FR" dirty="0"/>
                  <a:t>Tangente horizontale non nulle</a:t>
                </a:r>
              </a:p>
              <a:p>
                <a:pPr lvl="1"/>
                <a:r>
                  <a:rPr lang="fr-FR" dirty="0"/>
                  <a:t>Comportement d’un premier ordre</a:t>
                </a:r>
              </a:p>
              <a:p>
                <a:pPr lvl="1"/>
                <a:r>
                  <a:rPr lang="fr-FR" dirty="0"/>
                  <a:t>Gain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178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2,5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rad</m:t>
                    </m:r>
                    <m:r>
                      <m:rPr>
                        <m:lit/>
                      </m:rPr>
                      <a:rPr lang="fr-FR" b="0" i="0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fr-FR" dirty="0"/>
              </a:p>
              <a:p>
                <a:pPr lvl="1"/>
                <a:r>
                  <a:rPr lang="fr-FR" dirty="0"/>
                  <a:t>Constante de temps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0,1 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fr-FR" dirty="0"/>
              </a:p>
              <a:p>
                <a:pPr marL="1588" indent="0">
                  <a:buNone/>
                </a:pPr>
                <a:endParaRPr lang="fr-FR" dirty="0"/>
              </a:p>
              <a:p>
                <a:r>
                  <a:rPr lang="fr-FR" dirty="0"/>
                  <a:t>Activité 4</a:t>
                </a:r>
              </a:p>
              <a:p>
                <a:pPr lvl="1"/>
                <a:r>
                  <a:rPr lang="fr-FR" dirty="0"/>
                  <a:t>Le bloc mécanisme est un bloc non linéaire permettant la transformation de la vitesse de rotation du rotor en vitesse de rotation du bras. </a:t>
                </a:r>
              </a:p>
              <a:p>
                <a:pPr lvl="1"/>
                <a:r>
                  <a:rPr lang="fr-FR" dirty="0"/>
                  <a:t>On peut linéariser le comportement sur un certain intervalle d’angulaire du bras. Ordre de grandeur 0,01.</a:t>
                </a:r>
              </a:p>
              <a:p>
                <a:pPr lvl="1"/>
                <a:r>
                  <a:rPr lang="fr-FR" dirty="0"/>
                  <a:t>Il faudrait alors solliciter le système que sur cet intervalle angulaire.</a:t>
                </a:r>
              </a:p>
              <a:p>
                <a:pPr lvl="1"/>
                <a:endParaRPr lang="fr-FR" dirty="0"/>
              </a:p>
              <a:p>
                <a:r>
                  <a:rPr lang="fr-FR" dirty="0"/>
                  <a:t>Activité 5 : Correcteur PID</a:t>
                </a:r>
              </a:p>
              <a:p>
                <a:pPr lvl="1"/>
                <a:r>
                  <a:rPr lang="fr-FR" dirty="0"/>
                  <a:t>Intégrateur nécessaire pour annuler l’écart statique dû aux perturbations comme le poids ou les frottements. </a:t>
                </a:r>
              </a:p>
            </p:txBody>
          </p:sp>
        </mc:Choice>
        <mc:Fallback>
          <p:sp>
            <p:nvSpPr>
              <p:cNvPr id="6" name="Espace réservé du contenu 5">
                <a:extLst>
                  <a:ext uri="{FF2B5EF4-FFF2-40B4-BE49-F238E27FC236}">
                    <a16:creationId xmlns:a16="http://schemas.microsoft.com/office/drawing/2014/main" id="{F6A84CD4-6CEC-8AC5-E61C-C44B32904D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8"/>
                <a:ext cx="7726794" cy="5281752"/>
              </a:xfrm>
              <a:blipFill>
                <a:blip r:embed="rId2"/>
                <a:stretch>
                  <a:fillRect l="-1735" t="-2653" b="-46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 2">
            <a:extLst>
              <a:ext uri="{FF2B5EF4-FFF2-40B4-BE49-F238E27FC236}">
                <a16:creationId xmlns:a16="http://schemas.microsoft.com/office/drawing/2014/main" id="{AD9DD450-DCA1-E0FE-9107-87110AF8CE0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" t="28946" r="1680" b="21484"/>
          <a:stretch>
            <a:fillRect/>
          </a:stretch>
        </p:blipFill>
        <p:spPr bwMode="auto">
          <a:xfrm>
            <a:off x="8584880" y="129613"/>
            <a:ext cx="3489325" cy="1370965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9DF17667-77C0-FE1B-3EA0-5F597980F8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671" y="1793566"/>
            <a:ext cx="3508329" cy="210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0436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CAA2D5-1F90-835F-08C1-60CDDBBF3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Activité 6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BFEDC5FF-452F-E910-54D5-DAC3AEBF1F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651" y="3918320"/>
            <a:ext cx="5650170" cy="201676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2859A5E-9A7B-8375-F5EF-83BA45F796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836" y="1685097"/>
            <a:ext cx="5090399" cy="3560832"/>
          </a:xfrm>
          <a:prstGeom prst="rect">
            <a:avLst/>
          </a:prstGeom>
        </p:spPr>
      </p:pic>
      <p:pic>
        <p:nvPicPr>
          <p:cNvPr id="55" name="Image 54">
            <a:extLst>
              <a:ext uri="{FF2B5EF4-FFF2-40B4-BE49-F238E27FC236}">
                <a16:creationId xmlns:a16="http://schemas.microsoft.com/office/drawing/2014/main" id="{F6C13415-161C-3AEC-E0A8-7FDA85E189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574055"/>
            <a:ext cx="6356348" cy="891458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CC7C72EA-2FE6-B932-AE09-C3EEF29B86D3}"/>
              </a:ext>
            </a:extLst>
          </p:cNvPr>
          <p:cNvSpPr/>
          <p:nvPr/>
        </p:nvSpPr>
        <p:spPr>
          <a:xfrm>
            <a:off x="2059806" y="2541069"/>
            <a:ext cx="2589196" cy="71227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F89ACE0-C83D-0696-C4E6-CAFE014B1C48}"/>
              </a:ext>
            </a:extLst>
          </p:cNvPr>
          <p:cNvSpPr/>
          <p:nvPr/>
        </p:nvSpPr>
        <p:spPr>
          <a:xfrm>
            <a:off x="3580598" y="4706754"/>
            <a:ext cx="1145406" cy="683393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745D51D-C553-0B78-3378-16EF1FDEA1D3}"/>
              </a:ext>
            </a:extLst>
          </p:cNvPr>
          <p:cNvSpPr/>
          <p:nvPr/>
        </p:nvSpPr>
        <p:spPr>
          <a:xfrm>
            <a:off x="5210942" y="4706754"/>
            <a:ext cx="275458" cy="68339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1DF4D91-CB75-954E-83F5-E861CFA96141}"/>
              </a:ext>
            </a:extLst>
          </p:cNvPr>
          <p:cNvSpPr/>
          <p:nvPr/>
        </p:nvSpPr>
        <p:spPr>
          <a:xfrm>
            <a:off x="4726003" y="2647577"/>
            <a:ext cx="594013" cy="336256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B3BECA8-2DD9-7F2F-210F-6D36222CFC45}"/>
              </a:ext>
            </a:extLst>
          </p:cNvPr>
          <p:cNvSpPr/>
          <p:nvPr/>
        </p:nvSpPr>
        <p:spPr>
          <a:xfrm>
            <a:off x="1324608" y="2641430"/>
            <a:ext cx="594013" cy="33625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0FD66C6-627B-31A5-9C6F-24F66095CFF1}"/>
              </a:ext>
            </a:extLst>
          </p:cNvPr>
          <p:cNvSpPr/>
          <p:nvPr/>
        </p:nvSpPr>
        <p:spPr>
          <a:xfrm>
            <a:off x="2315570" y="4926702"/>
            <a:ext cx="594013" cy="33625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8CEB814-454E-1030-8916-44CD9C9FE0AC}"/>
              </a:ext>
            </a:extLst>
          </p:cNvPr>
          <p:cNvSpPr/>
          <p:nvPr/>
        </p:nvSpPr>
        <p:spPr>
          <a:xfrm>
            <a:off x="3235466" y="5316734"/>
            <a:ext cx="594013" cy="336256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BA4BDF34-128E-E06E-EFC1-F6195E79775A}"/>
              </a:ext>
            </a:extLst>
          </p:cNvPr>
          <p:cNvSpPr/>
          <p:nvPr/>
        </p:nvSpPr>
        <p:spPr>
          <a:xfrm>
            <a:off x="3178174" y="3129257"/>
            <a:ext cx="651305" cy="36924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4132908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1497</Words>
  <Application>Microsoft Office PowerPoint</Application>
  <PresentationFormat>Grand écran</PresentationFormat>
  <Paragraphs>353</Paragraphs>
  <Slides>28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5" baseType="lpstr">
      <vt:lpstr>Arial Nova</vt:lpstr>
      <vt:lpstr>Calibri</vt:lpstr>
      <vt:lpstr>Calibri Light</vt:lpstr>
      <vt:lpstr>Cambria Math</vt:lpstr>
      <vt:lpstr>Wingdings</vt:lpstr>
      <vt:lpstr>Rétrospective</vt:lpstr>
      <vt:lpstr>Worksheet</vt:lpstr>
      <vt:lpstr>MaxPID</vt:lpstr>
      <vt:lpstr>Présentation PowerPoint</vt:lpstr>
      <vt:lpstr>02 Chaîne fonctionnelle</vt:lpstr>
      <vt:lpstr>Chaine fonctionnelle du MaxPID</vt:lpstr>
      <vt:lpstr>Chaine fonctionnelle du MaxPID</vt:lpstr>
      <vt:lpstr>04 Résolution géométrique et cinématique</vt:lpstr>
      <vt:lpstr>Loi indirecte – γ=f(θ)</vt:lpstr>
      <vt:lpstr>Loi directe – θ=f(γ)</vt:lpstr>
      <vt:lpstr>Tracer les courbes</vt:lpstr>
      <vt:lpstr>07 Modélisation composants ou phénomènes</vt:lpstr>
      <vt:lpstr>09 Dimensionnement d’un actionneur en dynamique</vt:lpstr>
      <vt:lpstr>Présentation PowerPoint</vt:lpstr>
      <vt:lpstr>Présentation PowerPoint</vt:lpstr>
      <vt:lpstr>Stratégie – TEC</vt:lpstr>
      <vt:lpstr>Stratégie TEC Energie cinétique</vt:lpstr>
      <vt:lpstr>Présentation PowerPoint</vt:lpstr>
      <vt:lpstr>Stratégie TEC Energie cinétique</vt:lpstr>
      <vt:lpstr>Hypothèses – cinématique </vt:lpstr>
      <vt:lpstr>Stratégie TEC Puissances</vt:lpstr>
      <vt:lpstr>Présentation PowerPoint</vt:lpstr>
      <vt:lpstr>Stratégie TEC Evaluation de la puissance dissipée par frottement</vt:lpstr>
      <vt:lpstr>Stratégie TEC</vt:lpstr>
      <vt:lpstr>Puissance de la pesanteur</vt:lpstr>
      <vt:lpstr>MaxPID horizontal</vt:lpstr>
      <vt:lpstr>11 Modèle de comportement</vt:lpstr>
      <vt:lpstr>MaxPID horizontal</vt:lpstr>
      <vt:lpstr>MaxPID horizontal</vt:lpstr>
      <vt:lpstr>Activité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101</cp:revision>
  <dcterms:created xsi:type="dcterms:W3CDTF">2023-03-22T10:05:05Z</dcterms:created>
  <dcterms:modified xsi:type="dcterms:W3CDTF">2026-03-31T20:07:55Z</dcterms:modified>
</cp:coreProperties>
</file>