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6" r:id="rId8"/>
    <p:sldId id="287" r:id="rId9"/>
    <p:sldId id="284" r:id="rId10"/>
    <p:sldId id="272" r:id="rId11"/>
    <p:sldId id="271" r:id="rId12"/>
    <p:sldId id="280" r:id="rId13"/>
    <p:sldId id="274" r:id="rId14"/>
    <p:sldId id="275" r:id="rId15"/>
    <p:sldId id="281" r:id="rId16"/>
    <p:sldId id="278" r:id="rId17"/>
    <p:sldId id="276" r:id="rId18"/>
    <p:sldId id="277" r:id="rId19"/>
    <p:sldId id="282" r:id="rId20"/>
    <p:sldId id="28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288" y="-360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24/02/2026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17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23" Type="http://schemas.openxmlformats.org/officeDocument/2006/relationships/image" Target="../media/image20.png"/><Relationship Id="rId10" Type="http://schemas.openxmlformats.org/officeDocument/2006/relationships/image" Target="../media/image10.png"/><Relationship Id="rId19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1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29.png"/><Relationship Id="rId5" Type="http://schemas.openxmlformats.org/officeDocument/2006/relationships/image" Target="../media/image261.png"/></Relationships>
</file>

<file path=ppt/slides/_rels/slide1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55" Type="http://schemas.openxmlformats.org/officeDocument/2006/relationships/image" Target="../media/image48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46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45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6" Type="http://schemas.openxmlformats.org/officeDocument/2006/relationships/image" Target="../media/image49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tif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540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51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MaxPID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Mécanisme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Stator + Rotor – Vis + Ecrou + Bras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(Codeur sur le </a:t>
            </a:r>
            <a:r>
              <a:rPr lang="fr-FR" sz="800" dirty="0" err="1">
                <a:solidFill>
                  <a:srgbClr val="004F77"/>
                </a:solidFill>
                <a:latin typeface="Arial Nova" panose="020B0504020202020204" pitchFamily="34" charset="0"/>
              </a:rPr>
              <a:t>Maxpid</a:t>
            </a:r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-E)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traitement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de </a:t>
            </a:r>
            <a:r>
              <a:rPr lang="fr-FR" sz="1100" dirty="0" err="1">
                <a:solidFill>
                  <a:srgbClr val="08A559"/>
                </a:solidFill>
                <a:latin typeface="Arial Nova" panose="020B0504020202020204" pitchFamily="34" charset="0"/>
              </a:rPr>
              <a:t>comm</a:t>
            </a:r>
            <a:endParaRPr lang="fr-FR" sz="1100" dirty="0">
              <a:solidFill>
                <a:srgbClr val="08A559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à billes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4 mm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666221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669319" y="1818298"/>
            <a:ext cx="169575" cy="1062861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2914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9025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Bras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Continu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Modulé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D7A6D98-7B9F-A9B5-23AC-FDD7BBE7B7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6590" y="340753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/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e 36">
            <a:extLst>
              <a:ext uri="{FF2B5EF4-FFF2-40B4-BE49-F238E27FC236}">
                <a16:creationId xmlns:a16="http://schemas.microsoft.com/office/drawing/2014/main" id="{9BD378B3-7B53-A753-62A4-0FE230E15643}"/>
              </a:ext>
            </a:extLst>
          </p:cNvPr>
          <p:cNvGrpSpPr/>
          <p:nvPr/>
        </p:nvGrpSpPr>
        <p:grpSpPr>
          <a:xfrm>
            <a:off x="12387220" y="3543372"/>
            <a:ext cx="360000" cy="360000"/>
            <a:chOff x="1856523" y="133118"/>
            <a:chExt cx="720000" cy="720000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BB21AE3-2ACD-729F-E350-AFA1D4B8F162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560049D0-4921-DFB2-54FC-73843936F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B01E63F3-4BF5-704E-6471-BF9A4C55D36A}"/>
              </a:ext>
            </a:extLst>
          </p:cNvPr>
          <p:cNvGrpSpPr/>
          <p:nvPr/>
        </p:nvGrpSpPr>
        <p:grpSpPr>
          <a:xfrm>
            <a:off x="688576" y="1260713"/>
            <a:ext cx="360000" cy="360000"/>
            <a:chOff x="1856523" y="133118"/>
            <a:chExt cx="720000" cy="72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BEB3D33-3C61-0F37-D35D-EEEC73101051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2B956809-6B27-95FF-8FBA-38B4BA637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E5D4ED94-FD8A-E9D5-5B49-962CE5C6E25B}"/>
              </a:ext>
            </a:extLst>
          </p:cNvPr>
          <p:cNvGrpSpPr/>
          <p:nvPr/>
        </p:nvGrpSpPr>
        <p:grpSpPr>
          <a:xfrm>
            <a:off x="704165" y="1638298"/>
            <a:ext cx="360000" cy="360000"/>
            <a:chOff x="3056845" y="1528414"/>
            <a:chExt cx="3454284" cy="3454284"/>
          </a:xfrm>
        </p:grpSpPr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1A4AFC09-9CB7-634D-3093-CE44DBB23C51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100991F-29E3-91C0-E698-B6F9D6794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D490A147-67BA-D5AA-020E-1414E8A0E832}"/>
              </a:ext>
            </a:extLst>
          </p:cNvPr>
          <p:cNvGrpSpPr/>
          <p:nvPr/>
        </p:nvGrpSpPr>
        <p:grpSpPr>
          <a:xfrm>
            <a:off x="5912459" y="4736737"/>
            <a:ext cx="360000" cy="360000"/>
            <a:chOff x="3056845" y="1528414"/>
            <a:chExt cx="3454284" cy="3454284"/>
          </a:xfrm>
        </p:grpSpPr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F455E967-89A5-926B-9569-B0C18BCEFCEB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E22E4030-22B7-70AB-F9A2-07A81EEE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52B43403-7B09-8054-59ED-49F7D05C1B54}"/>
              </a:ext>
            </a:extLst>
          </p:cNvPr>
          <p:cNvGrpSpPr/>
          <p:nvPr/>
        </p:nvGrpSpPr>
        <p:grpSpPr>
          <a:xfrm>
            <a:off x="8000684" y="3973702"/>
            <a:ext cx="463240" cy="360000"/>
            <a:chOff x="4476612" y="5880432"/>
            <a:chExt cx="1010860" cy="720000"/>
          </a:xfrm>
        </p:grpSpPr>
        <p:sp>
          <p:nvSpPr>
            <p:cNvPr id="106" name="Ellipse 105">
              <a:extLst>
                <a:ext uri="{FF2B5EF4-FFF2-40B4-BE49-F238E27FC236}">
                  <a16:creationId xmlns:a16="http://schemas.microsoft.com/office/drawing/2014/main" id="{C7749C57-CAA2-3363-F666-0D5749584068}"/>
                </a:ext>
              </a:extLst>
            </p:cNvPr>
            <p:cNvSpPr/>
            <p:nvPr/>
          </p:nvSpPr>
          <p:spPr>
            <a:xfrm>
              <a:off x="4678466" y="5880432"/>
              <a:ext cx="720000" cy="72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FF5703C6-7107-BB41-D6A5-8F693C9E2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476612" y="6060432"/>
              <a:ext cx="1010860" cy="36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DBB3458D-4CEE-E727-4796-FBB9AD6D4CE5}"/>
              </a:ext>
            </a:extLst>
          </p:cNvPr>
          <p:cNvGrpSpPr/>
          <p:nvPr/>
        </p:nvGrpSpPr>
        <p:grpSpPr>
          <a:xfrm>
            <a:off x="10144506" y="3914795"/>
            <a:ext cx="360000" cy="360000"/>
            <a:chOff x="3533664" y="4396133"/>
            <a:chExt cx="1800000" cy="1800000"/>
          </a:xfrm>
        </p:grpSpPr>
        <p:sp>
          <p:nvSpPr>
            <p:cNvPr id="115" name="Ellipse 114">
              <a:extLst>
                <a:ext uri="{FF2B5EF4-FFF2-40B4-BE49-F238E27FC236}">
                  <a16:creationId xmlns:a16="http://schemas.microsoft.com/office/drawing/2014/main" id="{97E301B2-3F02-4877-1A72-C48716EC20AC}"/>
                </a:ext>
              </a:extLst>
            </p:cNvPr>
            <p:cNvSpPr/>
            <p:nvPr/>
          </p:nvSpPr>
          <p:spPr>
            <a:xfrm>
              <a:off x="3533664" y="4396133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DAAD1D66-50CD-ECAA-883C-2A36C76F0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681584" y="4594762"/>
              <a:ext cx="1427962" cy="14715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86" y="1564459"/>
            <a:ext cx="11455228" cy="375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843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</a:t>
            </a:r>
            <a:br>
              <a:rPr lang="fr-FR" dirty="0"/>
            </a:br>
            <a:r>
              <a:rPr lang="fr-FR" dirty="0"/>
              <a:t>Résolution géométrique et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indirecte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56486"/>
                <a:ext cx="9197655" cy="5253339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func>
                                  <m:func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sSup>
                                      <m:sSup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</m:e>
                    </m:rad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/>
                        </m:ctrlPr>
                      </m:sSupPr>
                      <m:e>
                        <m:r>
                          <a:rPr lang="fr-FR" b="0" i="1" smtClean="0"/>
                          <m:t>𝜃</m:t>
                        </m:r>
                      </m:e>
                      <m:sup>
                        <m:r>
                          <a:rPr lang="fr-FR" b="0" i="1" smtClean="0"/>
                          <m:t>′</m:t>
                        </m:r>
                      </m:sup>
                    </m:sSup>
                  </m:oMath>
                </a14:m>
                <a:r>
                  <a:rPr lang="fr-FR" b="0" i="1" dirty="0"/>
                  <a:t> varie de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b="0" i="1" dirty="0"/>
                  <a:t> à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b="0" i="1" dirty="0"/>
                  <a:t>.</a:t>
                </a: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r>
                  <a:rPr lang="fr-FR" dirty="0"/>
                  <a:t> soit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56486"/>
                <a:ext cx="9197655" cy="5253339"/>
              </a:xfrm>
              <a:blipFill>
                <a:blip r:embed="rId3"/>
                <a:stretch>
                  <a:fillRect l="-125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22B62984-BF0B-DC5D-4B57-636165C7B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976" y="-502621"/>
            <a:ext cx="4336094" cy="339429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8CD2CCE-C3EE-5884-E969-932D3CD95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467" y="109441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60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2160A-07F8-3F5D-903C-0AC2D4ED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1718605" cy="5253339"/>
              </a:xfrm>
            </p:spPr>
            <p:txBody>
              <a:bodyPr>
                <a:normAutofit fontScale="92500"/>
              </a:bodyPr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1718605" cy="5253339"/>
              </a:xfrm>
              <a:blipFill>
                <a:blip r:embed="rId3"/>
                <a:stretch>
                  <a:fillRect l="-124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C91B98E8-3718-E1A0-1ED8-86D061B0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976" y="-502621"/>
            <a:ext cx="4336094" cy="339429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741CC39-6838-5C96-8901-625B066FD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467" y="109441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17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890C1-FE7C-69F3-01BD-1A405BB5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F0FB32-B016-FED2-32DB-B91BA7AA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8C8992F-8C34-F226-1E01-2A59D755E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158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à la génératrice tachymétrique ou au codeur/potentiomètre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5568476" cy="1462084"/>
            <a:chOff x="4452429" y="3393409"/>
            <a:chExt cx="5568476" cy="1462084"/>
          </a:xfrm>
        </p:grpSpPr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Mécanisme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75FEE8-5C6C-2C21-A4AF-999762DAE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B4AC50B9-08F3-4A73-CFB6-ED0F0C24550E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A7D91E2F-4FDF-D5B5-C6B1-38E915377D4B}"/>
              </a:ext>
            </a:extLst>
          </p:cNvPr>
          <p:cNvGrpSpPr/>
          <p:nvPr/>
        </p:nvGrpSpPr>
        <p:grpSpPr>
          <a:xfrm>
            <a:off x="6171260" y="1724511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54D97C53-FF44-9771-576F-9A8A92C8D0AB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0320D4EE-A922-CB37-5EA3-E5E586F36B3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DB310BBF-9F31-00DC-9698-D79FA32471F3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AEBC270C-2419-8AA5-276B-ED9A042D4FAE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4EBD561-4D96-E242-04F7-C8A0FFF7618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251D449D-478E-A80A-5B15-D80CD2B5A24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F3FB8FF8-FE9D-5112-A055-1B4982177882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F8053E8-8B57-B3D1-7A97-2A5B72C2404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C71C0DD-0021-7D7F-B5F1-A607D111AA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8ADA475-0C3A-45CC-9B75-7DCF67610335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188BF97F-A207-142A-1AC4-0383E306DE4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E3AF8B67-016F-E790-F1F7-53E61E575CA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E673A9CF-F67C-AF13-C4CF-68AA808FFF97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01B086A6-A41D-BDB8-EF88-AB3DCC7B59EF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EE25BE62-B6D9-04FD-DAE1-0E2892C9F9C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9E54CB3A-7049-6A65-FB45-CC501EB3B1FE}"/>
              </a:ext>
            </a:extLst>
          </p:cNvPr>
          <p:cNvGrpSpPr/>
          <p:nvPr/>
        </p:nvGrpSpPr>
        <p:grpSpPr>
          <a:xfrm>
            <a:off x="6184306" y="3276070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B59C1FC6-ACAE-E06F-CDF8-7FE9A5FA0C33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9D344FC2-5413-9C4A-094F-7B76D34A439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0818A1D-D7F8-D3DC-E4F3-DB61ECC59F2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6752312-381E-1265-927F-B9C8645153E6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16892681-3E83-5BC2-A7D2-70B8744E0E23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DF247A63-C7A2-EA49-DF23-8F20E70B8F2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63F2FFD1-BDD1-1CC4-2BA0-4E0D1E13710F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74461E32-D07E-D8CB-8572-F28BC5CE35E4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8B6B8FA-AD3E-36D4-665F-804F3106D2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13D01B7F-B745-A8E2-6256-44FDF05A4516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41362344-CBB4-6608-1458-C2076362C3B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F1F85F9-1F46-9DFB-9F49-7E552C59593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CAE94D89-85A5-5795-746F-A03E73FD7CD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E619B2F7-C5AF-96C2-A6F5-99C182D26FF2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B0ED3BE-D3A2-8D4B-8C6F-1D252FBB9E32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36EEDDD4-2DD2-B9F2-E5B9-44CC129CFF9B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697E442E-9650-E826-1EAF-0AEC602FD0C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CD891EBD-6F18-DDA2-0677-548D2612FE7E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BBF9ABCB-FB39-7582-628F-FF2675545471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087BC8B3-45FC-E5C3-F542-749A390C0C2F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1C3DF8A5-C6D6-CB5C-4202-5BDE080027E3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1383E87-550B-E1A4-0C76-38F0A77CA100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A1A12714-EEF6-A821-22A4-9C81DC4A5EE9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BF7D29A-3339-BCC2-5610-61A53C8EB4B5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70A3F61-F343-6220-B930-0DB0532781E0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84BFF19-F50A-79B4-A353-22B03D0FD807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3BE766AF-84E7-E75C-6493-D5AB18DD6C38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BFC676BC-A2F8-C3B2-9880-DC27E966CCD9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E72E79E7-85DA-5C72-1DC3-855635F9B398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D57D40DB-D77D-66B4-8A03-989009CFCFD8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C8E0B08-BA30-55D2-0E77-8D7DE0BB6BEC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4B0321C-CAF7-2712-901D-82CEB73345DE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5DF080D9-DF3B-BCB8-C9A3-761BC9EDF36F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86FA765-BA90-292E-E2C2-4F869B786EBF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27820B-A798-8588-01D3-06078CC73881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52FD3197-E6FA-D904-1D20-35C4E770AC7E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28EAAA1C-4EF5-7128-18E4-E51619DC6C56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B2D2C8-DF53-1B9A-572D-E403F841C2B7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333F867B-6109-243C-790A-3659DB07B02A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BF26DE70-C43E-4936-5646-D0A58CAB000A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75AA89-C894-CC3A-0B49-577E1023CAE9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D259E14-E12D-1250-278E-A91FD2C25CB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43F875C3-A704-3FF7-E213-681D301A0CB9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078DAC7B-60BD-0EFE-C670-D45E4FA5E5D9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2398C4E5-D80A-9D6F-B0CC-2581D8B1EFE9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85E5AF4-CB59-EF32-E912-C4C7B8FA0A41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3361B41-7F4B-8E3C-9F54-CFECF376E99C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2B2E61C-0A4F-8BB3-01A7-4335E6F3C574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7AC95E5-04B0-0CAF-5FF2-9F21D67DF6D2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ED84DDD3-AFF2-1EA4-AFAE-A3C7F5E8F4B7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39E06F63-2CE7-73F4-663D-3B82CEF88CEA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0830CA70-004E-830A-CF51-4A80BF53949A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60FC7889-A51C-0B19-B67D-46531BD6623B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D7B64AC-1E74-F111-9000-26604A2B1719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553FC627-DACE-0FF9-4FB1-3DD0F3956C81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E1864C67-E381-DE84-12A0-DEBD2723DC89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6E1FF21-1299-59D0-4AB2-020F00239AEB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60F1D485-44BC-567F-3B29-CC1E6BA6993B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08759DB4-EE82-60C9-3A3D-84EC7C62663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9C67464F-E508-56D0-3BD8-6D0A7F63FDA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849ABDC3-E11E-CF66-322B-9E5E57B053B4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7FF2DA26-809D-6F93-381B-44A814259AE9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5B2F3329-E006-C26E-B112-F927730EB550}"/>
              </a:ext>
            </a:extLst>
          </p:cNvPr>
          <p:cNvGrpSpPr/>
          <p:nvPr/>
        </p:nvGrpSpPr>
        <p:grpSpPr>
          <a:xfrm>
            <a:off x="6184306" y="4609702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C8FC85F7-AB8C-E465-40A3-82D1FA26AE59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BDEF5556-1340-5306-3BB8-11C2D07A04E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E1473FF3-9854-18A3-CE29-290692BF2EFC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A30A28B1-3D72-9184-27C9-F88834BF8899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36E443D4-83EC-443E-74C8-7C8E3E53D89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73D4458F-B62D-E43F-3E93-416601E9CB3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58BA35A9-17B5-F84A-B97E-B467A23E6143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D5F0034A-A9F3-3A96-394A-1B2F7B4D2E2D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330A9353-CDAC-73F1-AA72-022F462EBCAB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A08ACE0E-816A-D0EE-3D3C-C4AF0062C12B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744DCA75-F5ED-0DB7-FCFB-3ACAB4BCE8F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DB3B09F9-6CCD-D98B-7A0F-1F51EFA4DEB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F4AD2701-4B91-E704-659D-413298254306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3227E749-EE6D-6896-28FE-0C625335B50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AEC1CDB-0797-3433-A40B-C1F195D6040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16" name="Éclair 115">
            <a:extLst>
              <a:ext uri="{FF2B5EF4-FFF2-40B4-BE49-F238E27FC236}">
                <a16:creationId xmlns:a16="http://schemas.microsoft.com/office/drawing/2014/main" id="{6100EBE7-FD19-F8CA-8428-9993BEEEDBA4}"/>
              </a:ext>
            </a:extLst>
          </p:cNvPr>
          <p:cNvSpPr/>
          <p:nvPr/>
        </p:nvSpPr>
        <p:spPr>
          <a:xfrm rot="643800">
            <a:off x="8305510" y="2131544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6AFBB909-E8E4-A44E-A381-778250AE7342}"/>
              </a:ext>
            </a:extLst>
          </p:cNvPr>
          <p:cNvSpPr/>
          <p:nvPr/>
        </p:nvSpPr>
        <p:spPr>
          <a:xfrm>
            <a:off x="853229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6F3CACFA-E0E0-B002-AB33-50F998BB9EA4}"/>
              </a:ext>
            </a:extLst>
          </p:cNvPr>
          <p:cNvSpPr/>
          <p:nvPr/>
        </p:nvSpPr>
        <p:spPr>
          <a:xfrm>
            <a:off x="9319032" y="217539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31932129-FEC4-1DB9-C53B-67256AB1AE6B}"/>
              </a:ext>
            </a:extLst>
          </p:cNvPr>
          <p:cNvSpPr/>
          <p:nvPr/>
        </p:nvSpPr>
        <p:spPr>
          <a:xfrm>
            <a:off x="1009818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FFC000"/>
                </a:solidFill>
              </a:rPr>
              <a:t>3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DCE1BCEC-20C4-83D3-B0CA-90130A12E7AE}"/>
              </a:ext>
            </a:extLst>
          </p:cNvPr>
          <p:cNvSpPr/>
          <p:nvPr/>
        </p:nvSpPr>
        <p:spPr>
          <a:xfrm>
            <a:off x="9810151" y="367141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7030A0"/>
                </a:solidFill>
              </a:rPr>
              <a:t>4</a:t>
            </a:r>
          </a:p>
        </p:txBody>
      </p: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9AE7BD09-5476-2A53-1C48-26F37B8573B7}"/>
              </a:ext>
            </a:extLst>
          </p:cNvPr>
          <p:cNvGrpSpPr/>
          <p:nvPr/>
        </p:nvGrpSpPr>
        <p:grpSpPr>
          <a:xfrm>
            <a:off x="8710695" y="3686485"/>
            <a:ext cx="398433" cy="398419"/>
            <a:chOff x="1048248" y="4581128"/>
            <a:chExt cx="398433" cy="398419"/>
          </a:xfrm>
        </p:grpSpPr>
        <p:sp>
          <p:nvSpPr>
            <p:cNvPr id="122" name="Forme libre 9">
              <a:extLst>
                <a:ext uri="{FF2B5EF4-FFF2-40B4-BE49-F238E27FC236}">
                  <a16:creationId xmlns:a16="http://schemas.microsoft.com/office/drawing/2014/main" id="{065580E5-3D79-D76B-934B-60BCFAAB493C}"/>
                </a:ext>
              </a:extLst>
            </p:cNvPr>
            <p:cNvSpPr/>
            <p:nvPr/>
          </p:nvSpPr>
          <p:spPr>
            <a:xfrm>
              <a:off x="1048248" y="4663401"/>
              <a:ext cx="398433" cy="316146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  <a:gd name="connsiteX0" fmla="*/ 0 w 1104901"/>
                <a:gd name="connsiteY0" fmla="*/ 0 h 368029"/>
                <a:gd name="connsiteX1" fmla="*/ 327661 w 1104901"/>
                <a:gd name="connsiteY1" fmla="*/ 353090 h 368029"/>
                <a:gd name="connsiteX2" fmla="*/ 563881 w 1104901"/>
                <a:gd name="connsiteY2" fmla="*/ 307370 h 368029"/>
                <a:gd name="connsiteX3" fmla="*/ 914401 w 1104901"/>
                <a:gd name="connsiteY3" fmla="*/ 353090 h 368029"/>
                <a:gd name="connsiteX4" fmla="*/ 1104901 w 1104901"/>
                <a:gd name="connsiteY4" fmla="*/ 208310 h 368029"/>
                <a:gd name="connsiteX0" fmla="*/ 0 w 1104901"/>
                <a:gd name="connsiteY0" fmla="*/ 0 h 355877"/>
                <a:gd name="connsiteX1" fmla="*/ 563881 w 1104901"/>
                <a:gd name="connsiteY1" fmla="*/ 307370 h 355877"/>
                <a:gd name="connsiteX2" fmla="*/ 914401 w 1104901"/>
                <a:gd name="connsiteY2" fmla="*/ 353090 h 355877"/>
                <a:gd name="connsiteX3" fmla="*/ 1104901 w 1104901"/>
                <a:gd name="connsiteY3" fmla="*/ 208310 h 355877"/>
                <a:gd name="connsiteX0" fmla="*/ 0 w 1104901"/>
                <a:gd name="connsiteY0" fmla="*/ 0 h 371223"/>
                <a:gd name="connsiteX1" fmla="*/ 121919 w 1104901"/>
                <a:gd name="connsiteY1" fmla="*/ 369064 h 371223"/>
                <a:gd name="connsiteX2" fmla="*/ 914401 w 1104901"/>
                <a:gd name="connsiteY2" fmla="*/ 353090 h 371223"/>
                <a:gd name="connsiteX3" fmla="*/ 1104901 w 1104901"/>
                <a:gd name="connsiteY3" fmla="*/ 208310 h 371223"/>
                <a:gd name="connsiteX0" fmla="*/ 313732 w 991910"/>
                <a:gd name="connsiteY0" fmla="*/ 0 h 297687"/>
                <a:gd name="connsiteX1" fmla="*/ 8928 w 991910"/>
                <a:gd name="connsiteY1" fmla="*/ 276523 h 297687"/>
                <a:gd name="connsiteX2" fmla="*/ 801410 w 991910"/>
                <a:gd name="connsiteY2" fmla="*/ 260549 h 297687"/>
                <a:gd name="connsiteX3" fmla="*/ 991910 w 991910"/>
                <a:gd name="connsiteY3" fmla="*/ 115769 h 297687"/>
                <a:gd name="connsiteX0" fmla="*/ 313732 w 841603"/>
                <a:gd name="connsiteY0" fmla="*/ 53889 h 359753"/>
                <a:gd name="connsiteX1" fmla="*/ 8928 w 841603"/>
                <a:gd name="connsiteY1" fmla="*/ 330412 h 359753"/>
                <a:gd name="connsiteX2" fmla="*/ 801410 w 841603"/>
                <a:gd name="connsiteY2" fmla="*/ 314438 h 359753"/>
                <a:gd name="connsiteX3" fmla="*/ 763309 w 841603"/>
                <a:gd name="connsiteY3" fmla="*/ 0 h 359753"/>
                <a:gd name="connsiteX0" fmla="*/ 312538 w 762115"/>
                <a:gd name="connsiteY0" fmla="*/ 53889 h 330677"/>
                <a:gd name="connsiteX1" fmla="*/ 7734 w 762115"/>
                <a:gd name="connsiteY1" fmla="*/ 330412 h 330677"/>
                <a:gd name="connsiteX2" fmla="*/ 762115 w 762115"/>
                <a:gd name="connsiteY2" fmla="*/ 0 h 330677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576 w 462001"/>
                <a:gd name="connsiteY0" fmla="*/ 53889 h 417438"/>
                <a:gd name="connsiteX1" fmla="*/ 244416 w 462001"/>
                <a:gd name="connsiteY1" fmla="*/ 415241 h 417438"/>
                <a:gd name="connsiteX2" fmla="*/ 450153 w 462001"/>
                <a:gd name="connsiteY2" fmla="*/ 0 h 417438"/>
                <a:gd name="connsiteX0" fmla="*/ 0 w 449577"/>
                <a:gd name="connsiteY0" fmla="*/ 53889 h 433229"/>
                <a:gd name="connsiteX1" fmla="*/ 243840 w 449577"/>
                <a:gd name="connsiteY1" fmla="*/ 415241 h 433229"/>
                <a:gd name="connsiteX2" fmla="*/ 277712 w 449577"/>
                <a:gd name="connsiteY2" fmla="*/ 339356 h 433229"/>
                <a:gd name="connsiteX3" fmla="*/ 449577 w 449577"/>
                <a:gd name="connsiteY3" fmla="*/ 0 h 433229"/>
                <a:gd name="connsiteX0" fmla="*/ 0 w 517979"/>
                <a:gd name="connsiteY0" fmla="*/ 53889 h 433229"/>
                <a:gd name="connsiteX1" fmla="*/ 243840 w 517979"/>
                <a:gd name="connsiteY1" fmla="*/ 415241 h 433229"/>
                <a:gd name="connsiteX2" fmla="*/ 277712 w 517979"/>
                <a:gd name="connsiteY2" fmla="*/ 339356 h 433229"/>
                <a:gd name="connsiteX3" fmla="*/ 449577 w 517979"/>
                <a:gd name="connsiteY3" fmla="*/ 0 h 433229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25754 w 547758"/>
                <a:gd name="connsiteY0" fmla="*/ 53889 h 415434"/>
                <a:gd name="connsiteX1" fmla="*/ 269594 w 547758"/>
                <a:gd name="connsiteY1" fmla="*/ 415241 h 415434"/>
                <a:gd name="connsiteX2" fmla="*/ 475331 w 547758"/>
                <a:gd name="connsiteY2" fmla="*/ 0 h 415434"/>
                <a:gd name="connsiteX0" fmla="*/ 44670 w 549184"/>
                <a:gd name="connsiteY0" fmla="*/ 53889 h 315272"/>
                <a:gd name="connsiteX1" fmla="*/ 258030 w 549184"/>
                <a:gd name="connsiteY1" fmla="*/ 314988 h 315272"/>
                <a:gd name="connsiteX2" fmla="*/ 494247 w 549184"/>
                <a:gd name="connsiteY2" fmla="*/ 0 h 315272"/>
                <a:gd name="connsiteX0" fmla="*/ 170875 w 796872"/>
                <a:gd name="connsiteY0" fmla="*/ 53889 h 319952"/>
                <a:gd name="connsiteX1" fmla="*/ 384235 w 796872"/>
                <a:gd name="connsiteY1" fmla="*/ 314988 h 319952"/>
                <a:gd name="connsiteX2" fmla="*/ 620452 w 796872"/>
                <a:gd name="connsiteY2" fmla="*/ 0 h 31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6872" h="319952">
                  <a:moveTo>
                    <a:pt x="170875" y="53889"/>
                  </a:moveTo>
                  <a:cubicBezTo>
                    <a:pt x="288350" y="117924"/>
                    <a:pt x="-406979" y="269987"/>
                    <a:pt x="384235" y="314988"/>
                  </a:cubicBezTo>
                  <a:cubicBezTo>
                    <a:pt x="1175449" y="359989"/>
                    <a:pt x="577590" y="86509"/>
                    <a:pt x="620452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33901DB5-57A8-8210-4114-FAC4867D076E}"/>
                </a:ext>
              </a:extLst>
            </p:cNvPr>
            <p:cNvSpPr/>
            <p:nvPr/>
          </p:nvSpPr>
          <p:spPr>
            <a:xfrm>
              <a:off x="1103448" y="45811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B8A65046-F68A-3240-0F54-242A72F6958B}"/>
              </a:ext>
            </a:extLst>
          </p:cNvPr>
          <p:cNvCxnSpPr>
            <a:stCxn id="123" idx="0"/>
            <a:endCxn id="117" idx="4"/>
          </p:cNvCxnSpPr>
          <p:nvPr/>
        </p:nvCxnSpPr>
        <p:spPr>
          <a:xfrm flipH="1" flipV="1">
            <a:off x="8676309" y="3066007"/>
            <a:ext cx="233602" cy="620478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8F51B521-1D07-3D84-A0E0-2BEA409EDE7A}"/>
              </a:ext>
            </a:extLst>
          </p:cNvPr>
          <p:cNvCxnSpPr>
            <a:stCxn id="118" idx="3"/>
            <a:endCxn id="117" idx="7"/>
          </p:cNvCxnSpPr>
          <p:nvPr/>
        </p:nvCxnSpPr>
        <p:spPr>
          <a:xfrm flipH="1">
            <a:off x="8778144" y="2421249"/>
            <a:ext cx="583069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B3928EB3-F05C-B5E6-F525-EF1CFA90E926}"/>
              </a:ext>
            </a:extLst>
          </p:cNvPr>
          <p:cNvCxnSpPr>
            <a:stCxn id="119" idx="1"/>
            <a:endCxn id="118" idx="5"/>
          </p:cNvCxnSpPr>
          <p:nvPr/>
        </p:nvCxnSpPr>
        <p:spPr>
          <a:xfrm flipH="1" flipV="1">
            <a:off x="9564883" y="2421249"/>
            <a:ext cx="575481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B68EF18C-C8F5-AC61-E888-4C313A4CFD24}"/>
              </a:ext>
            </a:extLst>
          </p:cNvPr>
          <p:cNvCxnSpPr>
            <a:stCxn id="123" idx="6"/>
            <a:endCxn id="120" idx="2"/>
          </p:cNvCxnSpPr>
          <p:nvPr/>
        </p:nvCxnSpPr>
        <p:spPr>
          <a:xfrm flipV="1">
            <a:off x="9053927" y="3815434"/>
            <a:ext cx="756224" cy="1506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>
            <a:extLst>
              <a:ext uri="{FF2B5EF4-FFF2-40B4-BE49-F238E27FC236}">
                <a16:creationId xmlns:a16="http://schemas.microsoft.com/office/drawing/2014/main" id="{785AD09D-9CB4-E2AE-45D1-5B049F0D8F5A}"/>
              </a:ext>
            </a:extLst>
          </p:cNvPr>
          <p:cNvCxnSpPr>
            <a:stCxn id="120" idx="7"/>
            <a:endCxn id="119" idx="4"/>
          </p:cNvCxnSpPr>
          <p:nvPr/>
        </p:nvCxnSpPr>
        <p:spPr>
          <a:xfrm flipV="1">
            <a:off x="10056002" y="3066007"/>
            <a:ext cx="186197" cy="647592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/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blipFill>
                <a:blip r:embed="rId5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/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blipFill>
                <a:blip r:embed="rId53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/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Glissière hélicoïdale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/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blipFill>
                <a:blip r:embed="rId55"/>
                <a:stretch>
                  <a:fillRect t="-2128" r="-562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/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blipFill>
                <a:blip r:embed="rId56"/>
                <a:stretch>
                  <a:fillRect t="-2128" r="-1695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Éclair 133">
            <a:extLst>
              <a:ext uri="{FF2B5EF4-FFF2-40B4-BE49-F238E27FC236}">
                <a16:creationId xmlns:a16="http://schemas.microsoft.com/office/drawing/2014/main" id="{23BD6B85-7008-3192-5DA5-335833456D9C}"/>
              </a:ext>
            </a:extLst>
          </p:cNvPr>
          <p:cNvSpPr/>
          <p:nvPr/>
        </p:nvSpPr>
        <p:spPr>
          <a:xfrm rot="19305786">
            <a:off x="8810122" y="1873956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5" name="Éclair 134">
            <a:extLst>
              <a:ext uri="{FF2B5EF4-FFF2-40B4-BE49-F238E27FC236}">
                <a16:creationId xmlns:a16="http://schemas.microsoft.com/office/drawing/2014/main" id="{326421F0-E2B1-2225-8872-7D8D084749EC}"/>
              </a:ext>
            </a:extLst>
          </p:cNvPr>
          <p:cNvSpPr/>
          <p:nvPr/>
        </p:nvSpPr>
        <p:spPr>
          <a:xfrm rot="4881763" flipH="1">
            <a:off x="10295794" y="3702994"/>
            <a:ext cx="323460" cy="543046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1FD64334-3B80-ADCD-2B68-41F03E11ECBC}"/>
              </a:ext>
            </a:extLst>
          </p:cNvPr>
          <p:cNvSpPr txBox="1"/>
          <p:nvPr/>
        </p:nvSpPr>
        <p:spPr>
          <a:xfrm>
            <a:off x="7893775" y="1713733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Couple moteur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4370952-BD6F-1638-A55A-5309F3013774}"/>
              </a:ext>
            </a:extLst>
          </p:cNvPr>
          <p:cNvSpPr txBox="1"/>
          <p:nvPr/>
        </p:nvSpPr>
        <p:spPr>
          <a:xfrm>
            <a:off x="10564235" y="3937863"/>
            <a:ext cx="10801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Pesanteur</a:t>
            </a:r>
          </a:p>
        </p:txBody>
      </p:sp>
    </p:spTree>
    <p:extLst>
      <p:ext uri="{BB962C8B-B14F-4D97-AF65-F5344CB8AC3E}">
        <p14:creationId xmlns:p14="http://schemas.microsoft.com/office/powerpoint/2010/main" val="1827987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Ensemble stator</a:t>
            </a:r>
          </a:p>
          <a:p>
            <a:pPr lvl="1"/>
            <a:r>
              <a:rPr lang="fr-FR" dirty="0"/>
              <a:t>Ensemble rotor</a:t>
            </a:r>
          </a:p>
          <a:p>
            <a:pPr lvl="1"/>
            <a:r>
              <a:rPr lang="fr-FR" dirty="0"/>
              <a:t>Ecrou</a:t>
            </a:r>
          </a:p>
          <a:p>
            <a:pPr lvl="1"/>
            <a:r>
              <a:rPr lang="fr-FR" dirty="0"/>
              <a:t>Ensemble bras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de la pesanteur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02868" y="2090057"/>
            <a:ext cx="5978206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lnSpcReduction="1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0" dirty="0">
                    <a:ea typeface="Cambria Math" panose="02040503050406030204" pitchFamily="18" charset="0"/>
                  </a:rPr>
                  <a:t> Ensemble stator</a:t>
                </a:r>
                <a:endParaRPr lang="fr-FR" sz="2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p>
                      <m:s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p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2200" b="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Ensemble rotor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200" dirty="0"/>
                  <a:t>(Le stator est un solide de révolution, on peut faire le calcul dans la base 1).</a:t>
                </a:r>
              </a:p>
              <a:p>
                <a:pPr lvl="2"/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/>
                  <a:t>Finalement, pour l’ensemble rotor 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:endParaRPr lang="fr-FR" sz="1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  <a:blipFill>
                <a:blip r:embed="rId2"/>
                <a:stretch>
                  <a:fillRect l="-1699" t="-1972" r="-6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4EEAA727-7B1C-B8C6-9B1B-D7D041518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85" y="162267"/>
            <a:ext cx="2405120" cy="18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7AA1B3-B619-A026-C886-675B75D5F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00C2A37C-9472-0536-CF9E-87103B8DF0A9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635360"/>
              </p:ext>
            </p:extLst>
          </p:nvPr>
        </p:nvGraphicFramePr>
        <p:xfrm>
          <a:off x="1201738" y="1933575"/>
          <a:ext cx="9786937" cy="334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549965" imgH="2584362" progId="Excel.Sheet.12">
                  <p:embed/>
                </p:oleObj>
              </mc:Choice>
              <mc:Fallback>
                <p:oleObj name="Worksheet" r:id="rId2" imgW="7549965" imgH="258436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01738" y="1933575"/>
                        <a:ext cx="9786937" cy="3349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EDA591C3-78E7-7BDE-7777-AB7DFF3C3D53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599279" y="306095"/>
            <a:ext cx="778792" cy="110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30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dirty="0">
                    <a:ea typeface="Cambria Math" panose="02040503050406030204" pitchFamily="18" charset="0"/>
                  </a:rPr>
                  <a:t>Ensemble écrou (E=3)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DC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- Hypothèse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écrou est en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sSubSup>
                          <m:sSub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30</m:t>
                            </m:r>
                          </m:sub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Bras : rotation autour d’un axe fixe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Inertie du bras en </a:t>
                </a:r>
                <a14:m>
                  <m:oMath xmlns:m="http://schemas.openxmlformats.org/officeDocument/2006/math"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sur l’axe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fr-F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fr-FR" sz="18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Masses ponctuelles 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  <a:blipFill>
                <a:blip r:embed="rId2"/>
                <a:stretch>
                  <a:fillRect l="-1781" t="-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422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E1D6-F4E2-D014-DE92-23274B59B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820450-38F1-7C5F-9C24-48731BD94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Puissance de la pesanteur</a:t>
            </a: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0E9D9BAF-602E-A7B2-4F87-823E0902E16F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D82AEA51-EA2D-03B1-9F00-0BF8F162F788}"/>
              </a:ext>
            </a:extLst>
          </p:cNvPr>
          <p:cNvGrpSpPr/>
          <p:nvPr/>
        </p:nvGrpSpPr>
        <p:grpSpPr>
          <a:xfrm>
            <a:off x="4707797" y="1817772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9B0F7B19-7F5A-16B6-070E-4B408A83C7CE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37F9CBEE-36F8-F7FE-E460-FF294CF254EB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E47F7CFF-FD0E-6733-ED74-52507880F5A0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D5B40AFC-6F39-B9CF-5354-A10BDEC61534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EDB217B-10EF-0516-179D-005B07F2D2B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FDC7E77D-8698-B6B5-6C05-980F66D9B5A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D678537C-DE8D-6352-CC5A-B73EC91F865B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8290612B-20F1-B3B6-394C-82B6A71166D9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D610CC1D-3120-3AE0-E2DF-818BBA400C85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7DF9D2B1-C0BC-D7C4-7387-0DA6A3D7CDAF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00A96ED7-FA7A-FBB4-357A-306F00DF5EE4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B5756996-52D1-4F5C-513D-EB4585294D3A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5888A864-F829-78F2-6316-A9F5CAE7F9E8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A606DE65-1CF5-1AB2-E527-C51B94980D5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880A71D6-9CF7-F15C-8F20-C2F01D15ED5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299FF81-C7D5-84BF-2634-BA35DD4D6FA2}"/>
              </a:ext>
            </a:extLst>
          </p:cNvPr>
          <p:cNvGrpSpPr/>
          <p:nvPr/>
        </p:nvGrpSpPr>
        <p:grpSpPr>
          <a:xfrm>
            <a:off x="4720843" y="3369331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3172EB0C-538B-1D06-295E-C31D8EC32C6F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EDBB5B8B-5B9F-0EDC-80C9-889CEBA5291A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979B216F-2403-B5C8-61E1-53EBB55F446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06270A8-3697-0E48-5054-7D8D5F0A222C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B5A98948-8066-B660-82C3-BC29FCD1D72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6C86933F-BE4A-BC1C-3B85-407270322E94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EA0869A1-DDE8-BA0F-2CF2-BA03C014B366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4A4B356-4DF8-88D3-F99A-9054DB403EE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F3BCBEB-5C12-BC72-0CED-80C63D6DB4F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CD9B81F7-25A9-558D-3F5F-5DD92EF98718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0DA5AC5-F333-77D7-102D-CAD27572109C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46581E2-0087-598A-CDC6-8145666DE30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D79FDD74-13B0-B0FA-1206-631293E152E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2166D6D7-9735-4A19-5EFA-FCFBF8417D01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67011553-0D15-628D-F41A-F694874E2DB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4732884E-12F2-735C-2F9A-E05707DD4DB2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7B4B5531-9797-BCA6-1548-C5B31CFBB8F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D4F11B45-237A-6656-AF14-85D5E26D887F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AB669280-5138-5CFC-8717-494896030678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B5886C24-5CDE-D61D-9248-BB2574A0F7AB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25F15DF3-E872-7F8E-E70A-0525C9E97858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96A184B2-35C0-5720-2187-6ED1E2A411D5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4F0D37A-0B9D-18EF-4EFF-2B1C8D8C8792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C9D9B50-1617-455A-0D32-C1D142756C0C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4F9577C-6201-6A49-C58F-786D848491F4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ED56209C-D97F-8BCB-9D20-738AD913A7B8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CE38E41-F489-8C06-E658-B0C2EA74E0E2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EB360549-3691-EA10-97F1-BE2C78EAAFEB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273F8275-B4A9-7B5C-81DE-097791CD4293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6A381556-09EF-FEBE-E177-D2B3CBE2975D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AFBC5C5-597A-421D-95D3-E57261D90BE6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6328BD1-238A-22AB-A99C-D645748DB668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B4A54694-A6F3-32FB-6D94-ABB1C4A0D830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635FFAAA-F8D8-AF09-0098-372B7D51EB05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6FE5B111-9011-82CE-F01D-679CCBBC8AD8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C48F8B1A-A6E1-66CF-82B0-D23F1707BF56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8D019764-D156-F089-7C30-F48D4150280B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87F4830-1B38-BC0B-8316-E2BADC7BA4FA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FD8CA8E-9505-ED08-EC68-6ED41C869DDB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EE2FCB79-B9DE-5AFF-3F39-B8E61AB8E4AB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6D372AF-BEB6-5386-06A1-AA20E4CDFA30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76BB78C0-3EE1-59BF-08E3-2967511EF4F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EB65ED79-1F81-3D00-30F4-59A28B7E6D2C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12147B5A-3EF0-6E41-B357-01C091596F26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730BDC26-4BD9-938A-C2F9-4935372D2318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A974C89-4AB5-AE9C-2ADB-61FF7041F9E8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0930C3-1F27-A8FF-2B21-2AACC2D26056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0C86C158-BE97-B29C-F159-AD01E81F21DD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DB9D1D72-A12B-63AE-6F27-D0D2D20B5C08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DA24E14F-9ED5-00B6-691E-036487087FDE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760195DB-90FD-C1E0-CA8D-7FF549714F3B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634B4DBE-F9BA-428F-AC28-C3AF5E1452A7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F2CECAF-C4E9-5E2F-3D8F-1239D3ED5BA4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B1F84492-3154-0CC4-F9F7-AAA64964A283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E2F8AEF0-6051-A5AC-6A44-359326A833BE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4B3207E-A42A-5C7A-5FBB-13B9FFEA71CB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76E1F364-AFFB-DB74-4099-5EF44DD2100A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1ED16B10-4144-6BA9-0612-A0230BD459D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0F6C2A80-6C2E-8E63-FF42-46F249FDC4ED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51A36117-A8B9-D4D9-2A5F-47759DD980B3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59198552-9E34-1746-1647-27F71013D0EA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91F8490D-6128-8521-BB20-E1056982B76C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31696A8-0278-DD44-E255-9C1741600298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7DF2413F-3FE7-C7B3-4DFB-6701AA98F4CA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999A45EC-8F33-0778-1FAE-0646BB6649E1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88141E40-BB1C-4144-BD7A-65DA4D2C2179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FDA7754E-B76A-6A6E-0420-32A59004A00A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3F948F40-D796-BBF5-3C2B-AF3F99650F7C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9BB4B860-6645-D56F-8227-273C72E147B4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7B931E8D-CC9E-4A37-07A7-632A9DC6F4D7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DDF08133-E66C-DC6C-3218-1631D7E4F64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F3D1BE13-5FF4-A723-A7BA-40FED6AF0BBA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530D884E-F7E7-F8C6-41B1-5A219B55FAD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E10A7393-1DDF-7640-411B-2C38A9B51601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B54002A-3DB5-DD9C-D125-0AB7FA5B98D5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54BCCCE-0A3C-ABF6-F4E6-893AB759E21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8046809E-5E49-8991-BBE7-3940F35A2CD5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E48429AC-9088-0DB9-2F24-DCCCD4FDF8E5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925E5135-4E3B-2F19-3294-15B46886DF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886FDF65-FA0A-0862-2971-422FFEA74050}"/>
              </a:ext>
            </a:extLst>
          </p:cNvPr>
          <p:cNvGrpSpPr/>
          <p:nvPr/>
        </p:nvGrpSpPr>
        <p:grpSpPr>
          <a:xfrm>
            <a:off x="4720843" y="4702963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155BD71F-0764-4474-FE26-7D991ADBCC52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FC818CA9-6760-7F70-FC4D-E443D020AA2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6650242B-817B-A775-9F6C-CC308A38219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29756F41-F30A-F3CC-06B0-5F23C9267D03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94152629-8271-C8A5-F99A-C3115A681F3D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B76F3B09-36B8-94C4-923E-A4D72BB8C4C8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E8CCF5E8-19E9-8910-FF24-66233DBDEE1A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AC7C7F39-6D5C-AC1C-D500-E2767960C4AA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99A185F9-A614-CEEE-2F24-A4FCAB3DE8E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4132C1A0-8FEE-CBD8-5314-BD5D9D2AE8C4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BFE04F17-0A0D-EDAC-1744-B98570A33F3A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51C72DB5-D8DD-1BC5-1717-529F23C69222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6DB4AB63-C685-EEED-B58F-F94F5774A00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EA1B6426-196E-91E2-66F2-F55D48C44A15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6561AC8-0C8F-E213-38EA-FB386BDB3BF6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41" name="Image 140">
            <a:extLst>
              <a:ext uri="{FF2B5EF4-FFF2-40B4-BE49-F238E27FC236}">
                <a16:creationId xmlns:a16="http://schemas.microsoft.com/office/drawing/2014/main" id="{1A75DA21-8734-E940-1019-1D4D533FAA7B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0" y="1023255"/>
            <a:ext cx="2101805" cy="13770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</p:spPr>
            <p:txBody>
              <a:bodyPr/>
              <a:lstStyle/>
              <a:p>
                <a:r>
                  <a:rPr lang="fr-FR" dirty="0"/>
                  <a:t>Hypothèse</a:t>
                </a:r>
              </a:p>
              <a:p>
                <a:pPr lvl="1"/>
                <a:r>
                  <a:rPr lang="fr-FR" dirty="0"/>
                  <a:t>Masse ponctuelle 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r-FR" b="0" dirty="0"/>
                  <a:t>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→4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R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acc>
                          </m:e>
                        </m:eqAr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/>
              </a:p>
              <a:p>
                <a:pPr lvl="1"/>
                <a:endParaRPr lang="fr-FR" b="0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  <a:blipFill>
                <a:blip r:embed="rId53"/>
                <a:stretch>
                  <a:fillRect l="-3176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22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8FDE20-93E3-0D25-74B8-84694B246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MaxPID horizontal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57C7BD-D03F-35FF-CA8A-060B4E802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82445317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1096</Words>
  <Application>Microsoft Office PowerPoint</Application>
  <PresentationFormat>Grand écran</PresentationFormat>
  <Paragraphs>272</Paragraphs>
  <Slides>20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7" baseType="lpstr">
      <vt:lpstr>Arial Nova</vt:lpstr>
      <vt:lpstr>Calibri</vt:lpstr>
      <vt:lpstr>Calibri Light</vt:lpstr>
      <vt:lpstr>Cambria Math</vt:lpstr>
      <vt:lpstr>Wingdings</vt:lpstr>
      <vt:lpstr>Rétrospective</vt:lpstr>
      <vt:lpstr>Worksheet</vt:lpstr>
      <vt:lpstr>MaxPID</vt:lpstr>
      <vt:lpstr>Présentation PowerPoint</vt:lpstr>
      <vt:lpstr>02 Chaîne fonctionnelle</vt:lpstr>
      <vt:lpstr>Chaine fonctionnelle du MaxPID</vt:lpstr>
      <vt:lpstr>Chaine fonctionnelle du MaxPID</vt:lpstr>
      <vt:lpstr>04 Résolution géométrique et cinématique</vt:lpstr>
      <vt:lpstr>Loi indirecte – γ=f(θ)</vt:lpstr>
      <vt:lpstr>Loi directe – θ=f(γ)</vt:lpstr>
      <vt:lpstr>07 Modélisation composants ou phénomènes</vt:lpstr>
      <vt:lpstr>09 Dimensionnement d’un actionneur en dynamique</vt:lpstr>
      <vt:lpstr>Présentation PowerPoint</vt:lpstr>
      <vt:lpstr>Présentation PowerPoint</vt:lpstr>
      <vt:lpstr>Stratégie – TEC</vt:lpstr>
      <vt:lpstr>Stratégie TEC Energie cinétique</vt:lpstr>
      <vt:lpstr>Présentation PowerPoint</vt:lpstr>
      <vt:lpstr>Stratégie TEC Energie cinétique</vt:lpstr>
      <vt:lpstr>Stratégie TEC Puissances</vt:lpstr>
      <vt:lpstr>Stratégie TEC Evaluation de la puissance dissipée par frottement</vt:lpstr>
      <vt:lpstr>Puissance de la pesanteur</vt:lpstr>
      <vt:lpstr>MaxPID horizontal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83</cp:revision>
  <dcterms:created xsi:type="dcterms:W3CDTF">2023-03-22T10:05:05Z</dcterms:created>
  <dcterms:modified xsi:type="dcterms:W3CDTF">2026-02-24T21:00:06Z</dcterms:modified>
</cp:coreProperties>
</file>